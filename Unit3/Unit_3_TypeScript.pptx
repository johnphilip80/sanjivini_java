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6"/>
  </p:notesMasterIdLst>
  <p:sldIdLst>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 id="318" r:id="rId74"/>
    <p:sldId id="319" r:id="rId75"/>
    <p:sldId id="320" r:id="rId76"/>
    <p:sldId id="321" r:id="rId77"/>
    <p:sldId id="322" r:id="rId78"/>
    <p:sldId id="323" r:id="rId79"/>
    <p:sldId id="324" r:id="rId80"/>
    <p:sldId id="325" r:id="rId81"/>
    <p:sldId id="326" r:id="rId82"/>
    <p:sldId id="327" r:id="rId83"/>
    <p:sldId id="328" r:id="rId84"/>
    <p:sldId id="329" r:id="rId85"/>
    <p:sldId id="330" r:id="rId86"/>
    <p:sldId id="331" r:id="rId87"/>
    <p:sldId id="332" r:id="rId88"/>
    <p:sldId id="333" r:id="rId89"/>
  </p:sldIdLst>
  <p:sldSz cx="9144000" cy="5143500" type="screen16x9"/>
  <p:notesSz cx="6858000" cy="9144000"/>
  <p:embeddedFontLst>
    <p:embeddedFont>
      <p:font typeface="Poppins SemiBold" panose="00000700000000000000" pitchFamily="2" charset="0"/>
      <p:regular r:id="rId17"/>
      <p:bold r:id="rId18"/>
      <p:italic r:id="rId19"/>
      <p:boldItalic r:id="rId20"/>
    </p:embeddedFont>
    <p:embeddedFont>
      <p:font typeface="Roboto" panose="02000000000000000000" pitchFamily="2"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60"/>
  </p:normalViewPr>
  <p:slideViewPr>
    <p:cSldViewPr snapToGrid="0">
      <p:cViewPr varScale="1">
        <p:scale>
          <a:sx n="103" d="100"/>
          <a:sy n="103" d="100"/>
        </p:scale>
        <p:origin x="898" y="9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16" Type="http://schemas.openxmlformats.org/officeDocument/2006/relationships/notesMaster" Target="notesMasters/notesMaster1.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  <Relationship Id="rId59" Type="http://schemas.openxmlformats.org/officeDocument/2006/relationships/slide" Target="slides/slide45.xml"/>
  <Relationship Id="rId60" Type="http://schemas.openxmlformats.org/officeDocument/2006/relationships/slide" Target="slides/slide46.xml"/>
  <Relationship Id="rId61" Type="http://schemas.openxmlformats.org/officeDocument/2006/relationships/slide" Target="slides/slide47.xml"/>
  <Relationship Id="rId62" Type="http://schemas.openxmlformats.org/officeDocument/2006/relationships/slide" Target="slides/slide48.xml"/>
  <Relationship Id="rId63" Type="http://schemas.openxmlformats.org/officeDocument/2006/relationships/slide" Target="slides/slide49.xml"/>
  <Relationship Id="rId64" Type="http://schemas.openxmlformats.org/officeDocument/2006/relationships/slide" Target="slides/slide50.xml"/>
  <Relationship Id="rId65" Type="http://schemas.openxmlformats.org/officeDocument/2006/relationships/slide" Target="slides/slide51.xml"/>
  <Relationship Id="rId66" Type="http://schemas.openxmlformats.org/officeDocument/2006/relationships/slide" Target="slides/slide52.xml"/>
  <Relationship Id="rId67" Type="http://schemas.openxmlformats.org/officeDocument/2006/relationships/slide" Target="slides/slide53.xml"/>
  <Relationship Id="rId68" Type="http://schemas.openxmlformats.org/officeDocument/2006/relationships/slide" Target="slides/slide54.xml"/>
  <Relationship Id="rId69" Type="http://schemas.openxmlformats.org/officeDocument/2006/relationships/slide" Target="slides/slide55.xml"/>
  <Relationship Id="rId70" Type="http://schemas.openxmlformats.org/officeDocument/2006/relationships/slide" Target="slides/slide56.xml"/>
  <Relationship Id="rId71" Type="http://schemas.openxmlformats.org/officeDocument/2006/relationships/slide" Target="slides/slide57.xml"/>
  <Relationship Id="rId72" Type="http://schemas.openxmlformats.org/officeDocument/2006/relationships/slide" Target="slides/slide58.xml"/>
  <Relationship Id="rId73" Type="http://schemas.openxmlformats.org/officeDocument/2006/relationships/slide" Target="slides/slide59.xml"/>
  <Relationship Id="rId74" Type="http://schemas.openxmlformats.org/officeDocument/2006/relationships/slide" Target="slides/slide60.xml"/>
  <Relationship Id="rId75" Type="http://schemas.openxmlformats.org/officeDocument/2006/relationships/slide" Target="slides/slide61.xml"/>
  <Relationship Id="rId76" Type="http://schemas.openxmlformats.org/officeDocument/2006/relationships/slide" Target="slides/slide62.xml"/>
  <Relationship Id="rId77" Type="http://schemas.openxmlformats.org/officeDocument/2006/relationships/slide" Target="slides/slide63.xml"/>
  <Relationship Id="rId78" Type="http://schemas.openxmlformats.org/officeDocument/2006/relationships/slide" Target="slides/slide64.xml"/>
  <Relationship Id="rId79" Type="http://schemas.openxmlformats.org/officeDocument/2006/relationships/slide" Target="slides/slide65.xml"/>
  <Relationship Id="rId80" Type="http://schemas.openxmlformats.org/officeDocument/2006/relationships/slide" Target="slides/slide66.xml"/>
  <Relationship Id="rId81" Type="http://schemas.openxmlformats.org/officeDocument/2006/relationships/slide" Target="slides/slide67.xml"/>
  <Relationship Id="rId82" Type="http://schemas.openxmlformats.org/officeDocument/2006/relationships/slide" Target="slides/slide68.xml"/>
  <Relationship Id="rId83" Type="http://schemas.openxmlformats.org/officeDocument/2006/relationships/slide" Target="slides/slide69.xml"/>
  <Relationship Id="rId84" Type="http://schemas.openxmlformats.org/officeDocument/2006/relationships/slide" Target="slides/slide70.xml"/>
  <Relationship Id="rId85" Type="http://schemas.openxmlformats.org/officeDocument/2006/relationships/slide" Target="slides/slide71.xml"/>
  <Relationship Id="rId86" Type="http://schemas.openxmlformats.org/officeDocument/2006/relationships/slide" Target="slides/slide72.xml"/>
  <Relationship Id="rId87" Type="http://schemas.openxmlformats.org/officeDocument/2006/relationships/slide" Target="slides/slide73.xml"/>
  <Relationship Id="rId88" Type="http://schemas.openxmlformats.org/officeDocument/2006/relationships/slide" Target="slides/slide74.xml"/>
  <Relationship Id="rId89" Type="http://schemas.openxmlformats.org/officeDocument/2006/relationships/slide" Target="slides/slide75.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0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0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0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0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0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0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0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0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0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1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1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1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1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11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11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11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11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12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12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12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12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12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12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12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12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12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12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13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13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bb0358ceff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bb0358cef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Welcome slide. By the end of this session, attendees will understand what TypeScript is, why the industry has adopted it so widely, and how to write, compile, and configure TypeScript code. No prior TypeScript knowledge is needed - basic JavaScript familiarity is helpful.</a:t>
            </a: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bb0358ceff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bb0358cef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Emphasize the superset concept: TypeScript = JavaScript + Types. Everything students already know about JavaScript still applies. TypeScript does not replace JavaScript - it enhances it. Browsers cannot run TypeScript directly; it must first be compiled to JavaScript.</a:t>
            </a: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bb0358ceff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bb0358cef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Walk through the code example. The JavaScript version silently produces '510' instead of 15 - a classic bug. TypeScript catches it immediately. This is the single biggest selling point: bugs move from runtime (production, users affected) to compile time (before the code ever runs).</a:t>
            </a: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bb0358ceff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bb0358cef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Frame TypeScript as a career investment. In surveys (Stack Overflow, State of JS), TypeScript consistently ranks among the most loved languages. Explain gradual adoption - because TS is a superset, you can rename a .js file to .ts and migrate piece by piece. This lowers the barrier to entry for teams.</a:t>
            </a: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bb0358ceff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bb0358cef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Hands-on slide. Demonstrate the full workflow live if possible: write the .ts file, run tsc, and show that a .js file appears. Open the generated .js file and show that it is plain JavaScript. tsc stands for TypeScript Compiler. Later we will use ts-node and build tools to avoid this manual step.</a:t>
            </a: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bb0358ceff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bb0358cef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Introduce the mental model: types are a contract or blueprint describing data. Explain structural typing with an example - an object with name: string and age: number satisfies any interface requiring those fields, regardless of what it is called. Types vanish at runtime; they cost nothing in performance and exist purely to help developers.</a:t>
            </a: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bb0358ceff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bb0358cef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Cover the three workhorse types - string, number, boolean - and note that TypeScript has just one number type (unlike Java/C#, there is no separate int/float). Show both array syntaxes. Point out the error line: TypeScript IDEs underline mistakes in red before the file is even saved.</a:t>
            </a: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bb0358ceff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bb0358cef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common beginner misconception is that every variable needs a type annotation. Inference makes TypeScript ergonomic - you get safety without verbosity. However, explicit annotations on functions serve as live documentation and catch accidental return-type changes during refactoring.</a:t>
            </a: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bb0358ceff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bb0358cef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slide teaches safety philosophy. any turns TypeScript back into JavaScript - treat it as a last resort. unknown forces the developer to validate before use, which is why it is recommended for external data such as API responses. void means returns nothing meaningful; never means this function can never return at all.</a:t>
            </a: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bb0358ceff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bb0358cef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Arrays enforce homogeneous data, while tuples model structured records - like an HTTP response [statusCode, message] or coordinates [latitude, longitude]. Warn that tuples are positional: swapping [string, number] to [30, 'Alice'] causes an error.</a:t>
            </a: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bb0358ceff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bb0358cef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Enums replace magic strings and numbers with readable names such as Direction.Up. Recommend string enums for debugging clarity. Literal types are a lighter-weight alternative to enums and preview the union type concept covered later. Mention const enum as an advanced optimization, but keep it brief for beginners.</a:t>
            </a: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bb0358ceff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bb0358cef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Functions are where type annotations deliver the most value. TypeScript validates three things: what goes in (parameters), what comes out (return), and how many arguments are passed. Recommend always annotating the return type of public or exported functions, even though inference works - it documents intent.</a:t>
            </a: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bb0358ceff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bb0358cef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Optional parameters can be omitted and are typed as T | undefined, while default parameters get their type from the default value and never need a question mark. TypeScript passes default values when arguments are omitted - same as modern JavaScript, but now type-checked.</a:t>
            </a: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bb0358ceff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bb0358cef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Rest parameters bring type safety to variadic functions - inside the function, nums is simply a typed array. Function types are the foundation for callbacks: when a library says onClick: (event: MouseEvent) =&gt; void, that is a function type. This becomes essential when working with event handlers and APIs.</a:t>
            </a: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bb0358ceff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bb0358cef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Overloading lets one function name handle different input shapes with accurate return types - the caller sees string + string gives string and number + number gives number instead of a vague mixed type. DOM APIs and libraries use overloads heavily, for example document.createElement returns different element types based on the tag string.</a:t>
            </a: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bb0358ceff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bb0358cef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If students know ES6 classes, TypeScript classes will feel familiar - the difference is every member is typed. Emphasize that class fields must be declared with a type and then assigned. Mention the modern shorthand covered on the next slide that removes boilerplate. Mistakes like assigning a string to a numeric field are caught instantly.</a:t>
            </a: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bb0358ceff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bb0358cef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Access modifiers implement encapsulation. Protect internal state (balance) and expose controlled methods (deposit, getBalance). Highlight the parameter-property shorthand: writing private id: string in the constructor both declares and assigns the field in one line - very common in real-world Angular code.</a:t>
            </a: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bb0358ceff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bb0358cef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Inheritance models an is-a relationship (a Dog is an Animal). Walk through super() - the child must initialize the parent before using this. Show overriding: the child replaces makeSound, which is the essence of polymorphism. Note that name stays hidden from outside code because it is protected, not public.</a:t>
            </a: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bb0358ceff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bb0358cef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Abstract classes answer the question: how do I force every subclass to provide certain functionality? Shape says every shape must know how to compute its area, while providing shared describe() logic for free. The final loop demonstrates polymorphism - one array of mixed shapes, one method call, different results.</a:t>
            </a: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bb0358ceff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bb0358cef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Getters and setters give controlled access to private data - here, the setter blocks physically impossible temperatures. Reading temp.celsius looks like a property but runs a method. Static members (like Math.PI or Array.from) are called on the class itself - useful for utilities and factory methods that do not need an instance.</a:t>
            </a: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bb0358ceff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bb0358cef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Interfaces are the most-used TypeScript feature in real projects - they describe API responses, component props, configuration objects. Demonstrate structural typing: the object does not need to declare itself as a Person; it just needs the right shape. Note the third call: TypeScript also flags extra properties in object literals - excess property checking.</a:t>
            </a: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bb0358ceff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bb0358cef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Optional and readonly appear constantly in real APIs - user profiles often have optional fields like a middle name. Interface extension composes contracts cleanly without repeating yourself, and unlike classes, an interface can extend multiple interfaces.</a:t>
            </a: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bb0358ceff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bb0358cef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Type aliases are the flexible sibling of interfaces. Their killer feature is union composition - ID = string | number cannot be expressed with an interface. Theme = 'light' | 'dark' combines literal types into a safe, autocomplete-friendly set of options - a pattern used everywhere in modern libraries.</a:t>
            </a: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bb0358ceff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bb0358cef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Resolve the classic beginner question. Interfaces support declaration merging (crucial for extending global types like Window or third-party library types), while type aliases support unions and primitives. Recommend: default to interface for object contracts, reach for type when you need unions or composition tricks. Consistency within a team matters more than the choice itself.</a:t>
            </a: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bb0358ceff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bb0358cef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Unions model either/or data (a response is either a success or a failure; an ID is a string or a number). Inside the if (typeof ...), the editor's autocomplete only offers string methods - that is narrowing, TypeScript tracking which branch of the union you are in. Intersections are the opposite logic: combining requirements, often used for mixins and extending object types.</a:t>
            </a: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bb0358ceff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bb0358cef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Demystify &lt;T&gt;: it is just a variable for a type, like a function parameter but for types. Compare the two first functions - the generic version remembers what you put in, so first([1,2,3]) is known to return a number. Show extends constraints as a way to say any type, as long as it has these features. Reassure beginners they have already used generics every time they wrote string[].</a:t>
            </a: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bb0358ceff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bb0358cef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Utility types are type functions - they take a type in and produce a transformed type out, eliminating duplicate interface definitions. Partial&lt;User&gt; for update payloads and Pick/Omit for API views are daily-use patterns in professional codebases. Pair this slide with a live demo in the TypeScript Playground so students watch autocomplete adapt as types transform.</a:t>
            </a: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bb0358ceff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bb0358cef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Once a tsconfig.json exists, tsc alone compiles the whole project using these settings. strict: true is the single most important flag - it enables strictNullChecks, noImplicitAny, and other guards that deliver TypeScript's real value; never disable it in new projects. Demonstrate the src to dist folder structure and the watch-mode loop that feels like live coding.</a:t>
            </a: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bb0358ceff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bb0358cef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Reassure beginners: nobody manually runs tsc file.ts in production projects - build tools automate everything. Babel and Vite transpile (remove types for speed) but do not type-check, which is why projects run tsc --noEmit separately, usually in CI pipelines. Recommend beginners start with Vite: npm create vite@latest, choose TypeScript, done.</a:t>
            </a: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bb0358ceff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bb0358cef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Recap slide - walk through the journey from what is a type to configuring a real project. Close with a motivational message: TypeScript's learning curve pays for itself within weeks through fewer bugs and better editor support. Encourage immediate practice: take one old JavaScript file, rename it to .ts, fix every red squiggle, and experience the value firsthand. Q&amp;A.</a:t>
            </a: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bb0358ceff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bb0358cef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Thank the learners and point to the contact details for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 Id="rId4" Type="http://schemas.openxmlformats.org/officeDocument/2006/relationships/image" Target="../media/image2.png"/><Relationship Id="rIdNotes" Type="http://schemas.openxmlformats.org/officeDocument/2006/relationships/notesSlide" Target="../notesSlides/notesSlide10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image" Target="../media/image3.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28.png"/><Relationship Id="rId11" Type="http://schemas.openxmlformats.org/officeDocument/2006/relationships/image" Target="../media/image29.png"/><Relationship Id="rIdNotes" Type="http://schemas.openxmlformats.org/officeDocument/2006/relationships/notesSlide" Target="../notesSlides/notesSlide10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3.png"/><Relationship Id="rIdNotes" Type="http://schemas.openxmlformats.org/officeDocument/2006/relationships/notesSlide" Target="../notesSlides/notesSlide10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image" Target="../media/image3.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28.png"/><Relationship Id="rId11" Type="http://schemas.openxmlformats.org/officeDocument/2006/relationships/image" Target="../media/image29.png"/><Relationship Id="rIdNotes" Type="http://schemas.openxmlformats.org/officeDocument/2006/relationships/notesSlide" Target="../notesSlides/notesSlide10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3.png"/><Relationship Id="rIdNotes" Type="http://schemas.openxmlformats.org/officeDocument/2006/relationships/notesSlide" Target="../notesSlides/notesSlide10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image" Target="../media/image3.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28.png"/><Relationship Id="rId11" Type="http://schemas.openxmlformats.org/officeDocument/2006/relationships/image" Target="../media/image29.png"/><Relationship Id="rIdNotes" Type="http://schemas.openxmlformats.org/officeDocument/2006/relationships/notesSlide" Target="../notesSlides/notesSlide10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3.png"/><Relationship Id="rIdNotes" Type="http://schemas.openxmlformats.org/officeDocument/2006/relationships/notesSlide" Target="../notesSlides/notesSlide10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3.png"/><Relationship Id="rIdNotes" Type="http://schemas.openxmlformats.org/officeDocument/2006/relationships/notesSlide" Target="../notesSlides/notesSlide10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3.png"/><Relationship Id="rIdNotes" Type="http://schemas.openxmlformats.org/officeDocument/2006/relationships/notesSlide" Target="../notesSlides/notesSlide10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3.png"/><Relationship Id="rIdNotes" Type="http://schemas.openxmlformats.org/officeDocument/2006/relationships/notesSlide" Target="../notesSlides/notesSlide11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3.png"/><Relationship Id="rIdNotes" Type="http://schemas.openxmlformats.org/officeDocument/2006/relationships/notesSlide" Target="../notesSlides/notesSlide11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3.png"/><Relationship Id="rIdNotes" Type="http://schemas.openxmlformats.org/officeDocument/2006/relationships/notesSlide" Target="../notesSlides/notesSlide1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3.png"/><Relationship Id="rIdNotes" Type="http://schemas.openxmlformats.org/officeDocument/2006/relationships/notesSlide" Target="../notesSlides/notesSlide1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3.png"/><Relationship Id="rIdNotes" Type="http://schemas.openxmlformats.org/officeDocument/2006/relationships/notesSlide" Target="../notesSlides/notesSlide11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3.png"/><Relationship Id="rIdNotes" Type="http://schemas.openxmlformats.org/officeDocument/2006/relationships/notesSlide" Target="../notesSlides/notesSlide11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3.png"/><Relationship Id="rIdNotes" Type="http://schemas.openxmlformats.org/officeDocument/2006/relationships/notesSlide" Target="../notesSlides/notesSlide11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3.png"/><Relationship Id="rIdNotes" Type="http://schemas.openxmlformats.org/officeDocument/2006/relationships/notesSlide" Target="../notesSlides/notesSlide11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3.png"/><Relationship Id="rIdNotes" Type="http://schemas.openxmlformats.org/officeDocument/2006/relationships/notesSlide" Target="../notesSlides/notesSlide11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3.png"/><Relationship Id="rIdNotes" Type="http://schemas.openxmlformats.org/officeDocument/2006/relationships/notesSlide" Target="../notesSlides/notesSlide11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3.png"/><Relationship Id="rIdNotes" Type="http://schemas.openxmlformats.org/officeDocument/2006/relationships/notesSlide" Target="../notesSlides/notesSlide12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3.png"/><Relationship Id="rIdNotes" Type="http://schemas.openxmlformats.org/officeDocument/2006/relationships/notesSlide" Target="../notesSlides/notesSlide12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3.png"/><Relationship Id="rIdNotes" Type="http://schemas.openxmlformats.org/officeDocument/2006/relationships/notesSlide" Target="../notesSlides/notesSlide12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3.png"/><Relationship Id="rIdNotes" Type="http://schemas.openxmlformats.org/officeDocument/2006/relationships/notesSlide" Target="../notesSlides/notesSlide12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3.png"/><Relationship Id="rIdNotes" Type="http://schemas.openxmlformats.org/officeDocument/2006/relationships/notesSlide" Target="../notesSlides/notesSlide12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3.png"/><Relationship Id="rIdNotes" Type="http://schemas.openxmlformats.org/officeDocument/2006/relationships/notesSlide" Target="../notesSlides/notesSlide12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3.png"/><Relationship Id="rIdNotes" Type="http://schemas.openxmlformats.org/officeDocument/2006/relationships/notesSlide" Target="../notesSlides/notesSlide12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3.png"/><Relationship Id="rIdNotes" Type="http://schemas.openxmlformats.org/officeDocument/2006/relationships/notesSlide" Target="../notesSlides/notesSlide12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3.png"/><Relationship Id="rIdNotes" Type="http://schemas.openxmlformats.org/officeDocument/2006/relationships/notesSlide" Target="../notesSlides/notesSlide12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3.png"/><Relationship Id="rIdNotes" Type="http://schemas.openxmlformats.org/officeDocument/2006/relationships/notesSlide" Target="../notesSlides/notesSlide12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image" Target="../media/image3.png"/><Relationship Id="rId5" Type="http://schemas.openxmlformats.org/officeDocument/2006/relationships/image" Target="../media/image43.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 Id="rId9" Type="http://schemas.openxmlformats.org/officeDocument/2006/relationships/image" Target="../media/image61.png"/><Relationship Id="rId10" Type="http://schemas.openxmlformats.org/officeDocument/2006/relationships/image" Target="../media/image62.png"/><Relationship Id="rId11" Type="http://schemas.openxmlformats.org/officeDocument/2006/relationships/image" Target="../media/image63.png"/><Relationship Id="rId12" Type="http://schemas.openxmlformats.org/officeDocument/2006/relationships/image" Target="../media/image64.png"/><Relationship Id="rIdChkB" Type="http://schemas.openxmlformats.org/officeDocument/2006/relationships/image" Target="../media/chk_blue.png"/><Relationship Id="rIdChkR" Type="http://schemas.openxmlformats.org/officeDocument/2006/relationships/image" Target="../media/chk_red.png"/><Relationship Id="rIdNotes" Type="http://schemas.openxmlformats.org/officeDocument/2006/relationships/notesSlide" Target="../notesSlides/notesSlide13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image" Target="../media/image18.png"/><Relationship Id="rId4" Type="http://schemas.openxmlformats.org/officeDocument/2006/relationships/image" Target="../media/image19.jp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Notes" Type="http://schemas.openxmlformats.org/officeDocument/2006/relationships/notesSlide" Target="../notesSlides/notesSlide131.xml"/></Relationships>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p:nvPr/>
        </p:nvSpPr>
        <p:spPr>
          <a:xfrm flipH="1">
            <a:off x="4504500" y="503853"/>
            <a:ext cx="4639500" cy="4639500"/>
          </a:xfrm>
          <a:prstGeom prst="rtTriangle">
            <a:avLst/>
          </a:prstGeom>
          <a:solidFill>
            <a:srgbClr val="0053A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Calibri"/>
              <a:ea typeface="Calibri"/>
              <a:cs typeface="Calibri"/>
              <a:sym typeface="Calibri"/>
            </a:endParaRPr>
          </a:p>
        </p:txBody>
      </p:sp>
      <p:sp>
        <p:nvSpPr>
          <p:cNvPr id="55" name="Google Shape;55;p13"/>
          <p:cNvSpPr/>
          <p:nvPr/>
        </p:nvSpPr>
        <p:spPr>
          <a:xfrm>
            <a:off x="5678039" y="1994396"/>
            <a:ext cx="4389900" cy="3149100"/>
          </a:xfrm>
          <a:prstGeom prst="parallelogram">
            <a:avLst>
              <a:gd name="adj" fmla="val 104167"/>
            </a:avLst>
          </a:prstGeom>
          <a:gradFill>
            <a:gsLst>
              <a:gs pos="0">
                <a:srgbClr val="003E78"/>
              </a:gs>
              <a:gs pos="15000">
                <a:srgbClr val="003E78"/>
              </a:gs>
              <a:gs pos="64000">
                <a:srgbClr val="0053A1">
                  <a:alpha val="0"/>
                </a:srgbClr>
              </a:gs>
              <a:gs pos="100000">
                <a:srgbClr val="0053A1">
                  <a:alpha val="0"/>
                </a:srgbClr>
              </a:gs>
            </a:gsLst>
            <a:lin ang="18000042"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Calibri"/>
              <a:ea typeface="Calibri"/>
              <a:cs typeface="Calibri"/>
              <a:sym typeface="Calibri"/>
            </a:endParaRPr>
          </a:p>
        </p:txBody>
      </p:sp>
      <p:grpSp>
        <p:nvGrpSpPr>
          <p:cNvPr id="56" name="Google Shape;56;p13"/>
          <p:cNvGrpSpPr/>
          <p:nvPr/>
        </p:nvGrpSpPr>
        <p:grpSpPr>
          <a:xfrm>
            <a:off x="4921084" y="3098170"/>
            <a:ext cx="469705" cy="722606"/>
            <a:chOff x="1549" y="475"/>
            <a:chExt cx="589" cy="906"/>
          </a:xfrm>
        </p:grpSpPr>
        <p:sp>
          <p:nvSpPr>
            <p:cNvPr id="57" name="Google Shape;57;p13"/>
            <p:cNvSpPr/>
            <p:nvPr/>
          </p:nvSpPr>
          <p:spPr>
            <a:xfrm>
              <a:off x="1549" y="475"/>
              <a:ext cx="589" cy="673"/>
            </a:xfrm>
            <a:custGeom>
              <a:avLst/>
              <a:gdLst/>
              <a:ahLst/>
              <a:cxnLst/>
              <a:rect l="l" t="t" r="r" b="b"/>
              <a:pathLst>
                <a:path w="2355" h="2692" extrusionOk="0">
                  <a:moveTo>
                    <a:pt x="1177" y="0"/>
                  </a:moveTo>
                  <a:lnTo>
                    <a:pt x="1261" y="3"/>
                  </a:lnTo>
                  <a:lnTo>
                    <a:pt x="1345" y="12"/>
                  </a:lnTo>
                  <a:lnTo>
                    <a:pt x="1426" y="26"/>
                  </a:lnTo>
                  <a:lnTo>
                    <a:pt x="1508" y="47"/>
                  </a:lnTo>
                  <a:lnTo>
                    <a:pt x="1586" y="74"/>
                  </a:lnTo>
                  <a:lnTo>
                    <a:pt x="1663" y="105"/>
                  </a:lnTo>
                  <a:lnTo>
                    <a:pt x="1738" y="142"/>
                  </a:lnTo>
                  <a:lnTo>
                    <a:pt x="1809" y="184"/>
                  </a:lnTo>
                  <a:lnTo>
                    <a:pt x="1877" y="231"/>
                  </a:lnTo>
                  <a:lnTo>
                    <a:pt x="1943" y="283"/>
                  </a:lnTo>
                  <a:lnTo>
                    <a:pt x="2005" y="340"/>
                  </a:lnTo>
                  <a:lnTo>
                    <a:pt x="2063" y="401"/>
                  </a:lnTo>
                  <a:lnTo>
                    <a:pt x="2113" y="461"/>
                  </a:lnTo>
                  <a:lnTo>
                    <a:pt x="2158" y="524"/>
                  </a:lnTo>
                  <a:lnTo>
                    <a:pt x="2197" y="589"/>
                  </a:lnTo>
                  <a:lnTo>
                    <a:pt x="2234" y="657"/>
                  </a:lnTo>
                  <a:lnTo>
                    <a:pt x="2265" y="726"/>
                  </a:lnTo>
                  <a:lnTo>
                    <a:pt x="2292" y="799"/>
                  </a:lnTo>
                  <a:lnTo>
                    <a:pt x="2315" y="873"/>
                  </a:lnTo>
                  <a:lnTo>
                    <a:pt x="2333" y="948"/>
                  </a:lnTo>
                  <a:lnTo>
                    <a:pt x="2345" y="1025"/>
                  </a:lnTo>
                  <a:lnTo>
                    <a:pt x="2352" y="1102"/>
                  </a:lnTo>
                  <a:lnTo>
                    <a:pt x="2355" y="1180"/>
                  </a:lnTo>
                  <a:lnTo>
                    <a:pt x="2352" y="1258"/>
                  </a:lnTo>
                  <a:lnTo>
                    <a:pt x="2345" y="1336"/>
                  </a:lnTo>
                  <a:lnTo>
                    <a:pt x="2333" y="1413"/>
                  </a:lnTo>
                  <a:lnTo>
                    <a:pt x="2315" y="1488"/>
                  </a:lnTo>
                  <a:lnTo>
                    <a:pt x="2292" y="1562"/>
                  </a:lnTo>
                  <a:lnTo>
                    <a:pt x="2265" y="1633"/>
                  </a:lnTo>
                  <a:lnTo>
                    <a:pt x="2234" y="1704"/>
                  </a:lnTo>
                  <a:lnTo>
                    <a:pt x="2197" y="1771"/>
                  </a:lnTo>
                  <a:lnTo>
                    <a:pt x="2158" y="1837"/>
                  </a:lnTo>
                  <a:lnTo>
                    <a:pt x="2113" y="1900"/>
                  </a:lnTo>
                  <a:lnTo>
                    <a:pt x="2063" y="1959"/>
                  </a:lnTo>
                  <a:lnTo>
                    <a:pt x="2014" y="2011"/>
                  </a:lnTo>
                  <a:lnTo>
                    <a:pt x="1962" y="2060"/>
                  </a:lnTo>
                  <a:lnTo>
                    <a:pt x="1919" y="2101"/>
                  </a:lnTo>
                  <a:lnTo>
                    <a:pt x="1884" y="2142"/>
                  </a:lnTo>
                  <a:lnTo>
                    <a:pt x="1853" y="2184"/>
                  </a:lnTo>
                  <a:lnTo>
                    <a:pt x="1830" y="2225"/>
                  </a:lnTo>
                  <a:lnTo>
                    <a:pt x="1811" y="2268"/>
                  </a:lnTo>
                  <a:lnTo>
                    <a:pt x="1798" y="2313"/>
                  </a:lnTo>
                  <a:lnTo>
                    <a:pt x="1790" y="2362"/>
                  </a:lnTo>
                  <a:lnTo>
                    <a:pt x="1788" y="2411"/>
                  </a:lnTo>
                  <a:lnTo>
                    <a:pt x="1788" y="2413"/>
                  </a:lnTo>
                  <a:lnTo>
                    <a:pt x="1788" y="2414"/>
                  </a:lnTo>
                  <a:lnTo>
                    <a:pt x="1788" y="2415"/>
                  </a:lnTo>
                  <a:lnTo>
                    <a:pt x="1787" y="2560"/>
                  </a:lnTo>
                  <a:lnTo>
                    <a:pt x="1784" y="2586"/>
                  </a:lnTo>
                  <a:lnTo>
                    <a:pt x="1776" y="2612"/>
                  </a:lnTo>
                  <a:lnTo>
                    <a:pt x="1764" y="2634"/>
                  </a:lnTo>
                  <a:lnTo>
                    <a:pt x="1747" y="2654"/>
                  </a:lnTo>
                  <a:lnTo>
                    <a:pt x="1728" y="2670"/>
                  </a:lnTo>
                  <a:lnTo>
                    <a:pt x="1705" y="2682"/>
                  </a:lnTo>
                  <a:lnTo>
                    <a:pt x="1680" y="2690"/>
                  </a:lnTo>
                  <a:lnTo>
                    <a:pt x="1654" y="2692"/>
                  </a:lnTo>
                  <a:lnTo>
                    <a:pt x="1652" y="2692"/>
                  </a:lnTo>
                  <a:lnTo>
                    <a:pt x="1625" y="2689"/>
                  </a:lnTo>
                  <a:lnTo>
                    <a:pt x="1600" y="2681"/>
                  </a:lnTo>
                  <a:lnTo>
                    <a:pt x="1578" y="2669"/>
                  </a:lnTo>
                  <a:lnTo>
                    <a:pt x="1558" y="2652"/>
                  </a:lnTo>
                  <a:lnTo>
                    <a:pt x="1542" y="2632"/>
                  </a:lnTo>
                  <a:lnTo>
                    <a:pt x="1530" y="2610"/>
                  </a:lnTo>
                  <a:lnTo>
                    <a:pt x="1523" y="2584"/>
                  </a:lnTo>
                  <a:lnTo>
                    <a:pt x="1520" y="2557"/>
                  </a:lnTo>
                  <a:lnTo>
                    <a:pt x="1522" y="2411"/>
                  </a:lnTo>
                  <a:lnTo>
                    <a:pt x="1524" y="2349"/>
                  </a:lnTo>
                  <a:lnTo>
                    <a:pt x="1532" y="2287"/>
                  </a:lnTo>
                  <a:lnTo>
                    <a:pt x="1545" y="2229"/>
                  </a:lnTo>
                  <a:lnTo>
                    <a:pt x="1563" y="2171"/>
                  </a:lnTo>
                  <a:lnTo>
                    <a:pt x="1587" y="2116"/>
                  </a:lnTo>
                  <a:lnTo>
                    <a:pt x="1615" y="2063"/>
                  </a:lnTo>
                  <a:lnTo>
                    <a:pt x="1650" y="2011"/>
                  </a:lnTo>
                  <a:lnTo>
                    <a:pt x="1689" y="1960"/>
                  </a:lnTo>
                  <a:lnTo>
                    <a:pt x="1734" y="1911"/>
                  </a:lnTo>
                  <a:lnTo>
                    <a:pt x="1785" y="1862"/>
                  </a:lnTo>
                  <a:lnTo>
                    <a:pt x="1824" y="1824"/>
                  </a:lnTo>
                  <a:lnTo>
                    <a:pt x="1863" y="1783"/>
                  </a:lnTo>
                  <a:lnTo>
                    <a:pt x="1908" y="1728"/>
                  </a:lnTo>
                  <a:lnTo>
                    <a:pt x="1949" y="1670"/>
                  </a:lnTo>
                  <a:lnTo>
                    <a:pt x="1984" y="1609"/>
                  </a:lnTo>
                  <a:lnTo>
                    <a:pt x="2015" y="1546"/>
                  </a:lnTo>
                  <a:lnTo>
                    <a:pt x="2039" y="1483"/>
                  </a:lnTo>
                  <a:lnTo>
                    <a:pt x="2060" y="1416"/>
                  </a:lnTo>
                  <a:lnTo>
                    <a:pt x="2075" y="1350"/>
                  </a:lnTo>
                  <a:lnTo>
                    <a:pt x="2085" y="1283"/>
                  </a:lnTo>
                  <a:lnTo>
                    <a:pt x="2089" y="1215"/>
                  </a:lnTo>
                  <a:lnTo>
                    <a:pt x="2089" y="1147"/>
                  </a:lnTo>
                  <a:lnTo>
                    <a:pt x="2085" y="1080"/>
                  </a:lnTo>
                  <a:lnTo>
                    <a:pt x="2075" y="1011"/>
                  </a:lnTo>
                  <a:lnTo>
                    <a:pt x="2060" y="945"/>
                  </a:lnTo>
                  <a:lnTo>
                    <a:pt x="2040" y="879"/>
                  </a:lnTo>
                  <a:lnTo>
                    <a:pt x="2015" y="816"/>
                  </a:lnTo>
                  <a:lnTo>
                    <a:pt x="1985" y="753"/>
                  </a:lnTo>
                  <a:lnTo>
                    <a:pt x="1950" y="692"/>
                  </a:lnTo>
                  <a:lnTo>
                    <a:pt x="1909" y="634"/>
                  </a:lnTo>
                  <a:lnTo>
                    <a:pt x="1864" y="578"/>
                  </a:lnTo>
                  <a:lnTo>
                    <a:pt x="1815" y="526"/>
                  </a:lnTo>
                  <a:lnTo>
                    <a:pt x="1762" y="479"/>
                  </a:lnTo>
                  <a:lnTo>
                    <a:pt x="1706" y="436"/>
                  </a:lnTo>
                  <a:lnTo>
                    <a:pt x="1647" y="397"/>
                  </a:lnTo>
                  <a:lnTo>
                    <a:pt x="1586" y="363"/>
                  </a:lnTo>
                  <a:lnTo>
                    <a:pt x="1522" y="335"/>
                  </a:lnTo>
                  <a:lnTo>
                    <a:pt x="1456" y="310"/>
                  </a:lnTo>
                  <a:lnTo>
                    <a:pt x="1389" y="292"/>
                  </a:lnTo>
                  <a:lnTo>
                    <a:pt x="1320" y="278"/>
                  </a:lnTo>
                  <a:lnTo>
                    <a:pt x="1249" y="270"/>
                  </a:lnTo>
                  <a:lnTo>
                    <a:pt x="1178" y="266"/>
                  </a:lnTo>
                  <a:lnTo>
                    <a:pt x="1107" y="270"/>
                  </a:lnTo>
                  <a:lnTo>
                    <a:pt x="1037" y="278"/>
                  </a:lnTo>
                  <a:lnTo>
                    <a:pt x="968" y="292"/>
                  </a:lnTo>
                  <a:lnTo>
                    <a:pt x="901" y="310"/>
                  </a:lnTo>
                  <a:lnTo>
                    <a:pt x="835" y="335"/>
                  </a:lnTo>
                  <a:lnTo>
                    <a:pt x="771" y="363"/>
                  </a:lnTo>
                  <a:lnTo>
                    <a:pt x="709" y="397"/>
                  </a:lnTo>
                  <a:lnTo>
                    <a:pt x="650" y="436"/>
                  </a:lnTo>
                  <a:lnTo>
                    <a:pt x="594" y="479"/>
                  </a:lnTo>
                  <a:lnTo>
                    <a:pt x="541" y="526"/>
                  </a:lnTo>
                  <a:lnTo>
                    <a:pt x="493" y="578"/>
                  </a:lnTo>
                  <a:lnTo>
                    <a:pt x="446" y="634"/>
                  </a:lnTo>
                  <a:lnTo>
                    <a:pt x="407" y="692"/>
                  </a:lnTo>
                  <a:lnTo>
                    <a:pt x="371" y="753"/>
                  </a:lnTo>
                  <a:lnTo>
                    <a:pt x="341" y="816"/>
                  </a:lnTo>
                  <a:lnTo>
                    <a:pt x="316" y="880"/>
                  </a:lnTo>
                  <a:lnTo>
                    <a:pt x="296" y="945"/>
                  </a:lnTo>
                  <a:lnTo>
                    <a:pt x="280" y="1013"/>
                  </a:lnTo>
                  <a:lnTo>
                    <a:pt x="271" y="1080"/>
                  </a:lnTo>
                  <a:lnTo>
                    <a:pt x="265" y="1148"/>
                  </a:lnTo>
                  <a:lnTo>
                    <a:pt x="266" y="1216"/>
                  </a:lnTo>
                  <a:lnTo>
                    <a:pt x="271" y="1284"/>
                  </a:lnTo>
                  <a:lnTo>
                    <a:pt x="282" y="1352"/>
                  </a:lnTo>
                  <a:lnTo>
                    <a:pt x="296" y="1419"/>
                  </a:lnTo>
                  <a:lnTo>
                    <a:pt x="317" y="1484"/>
                  </a:lnTo>
                  <a:lnTo>
                    <a:pt x="342" y="1549"/>
                  </a:lnTo>
                  <a:lnTo>
                    <a:pt x="373" y="1611"/>
                  </a:lnTo>
                  <a:lnTo>
                    <a:pt x="408" y="1672"/>
                  </a:lnTo>
                  <a:lnTo>
                    <a:pt x="449" y="1730"/>
                  </a:lnTo>
                  <a:lnTo>
                    <a:pt x="495" y="1785"/>
                  </a:lnTo>
                  <a:lnTo>
                    <a:pt x="532" y="1825"/>
                  </a:lnTo>
                  <a:lnTo>
                    <a:pt x="572" y="1862"/>
                  </a:lnTo>
                  <a:lnTo>
                    <a:pt x="622" y="1912"/>
                  </a:lnTo>
                  <a:lnTo>
                    <a:pt x="669" y="1962"/>
                  </a:lnTo>
                  <a:lnTo>
                    <a:pt x="709" y="2013"/>
                  </a:lnTo>
                  <a:lnTo>
                    <a:pt x="743" y="2066"/>
                  </a:lnTo>
                  <a:lnTo>
                    <a:pt x="772" y="2120"/>
                  </a:lnTo>
                  <a:lnTo>
                    <a:pt x="796" y="2176"/>
                  </a:lnTo>
                  <a:lnTo>
                    <a:pt x="814" y="2234"/>
                  </a:lnTo>
                  <a:lnTo>
                    <a:pt x="827" y="2294"/>
                  </a:lnTo>
                  <a:lnTo>
                    <a:pt x="835" y="2355"/>
                  </a:lnTo>
                  <a:lnTo>
                    <a:pt x="837" y="2419"/>
                  </a:lnTo>
                  <a:lnTo>
                    <a:pt x="837" y="2420"/>
                  </a:lnTo>
                  <a:lnTo>
                    <a:pt x="835" y="2559"/>
                  </a:lnTo>
                  <a:lnTo>
                    <a:pt x="832" y="2585"/>
                  </a:lnTo>
                  <a:lnTo>
                    <a:pt x="824" y="2611"/>
                  </a:lnTo>
                  <a:lnTo>
                    <a:pt x="812" y="2633"/>
                  </a:lnTo>
                  <a:lnTo>
                    <a:pt x="795" y="2652"/>
                  </a:lnTo>
                  <a:lnTo>
                    <a:pt x="776" y="2668"/>
                  </a:lnTo>
                  <a:lnTo>
                    <a:pt x="753" y="2680"/>
                  </a:lnTo>
                  <a:lnTo>
                    <a:pt x="728" y="2688"/>
                  </a:lnTo>
                  <a:lnTo>
                    <a:pt x="702" y="2691"/>
                  </a:lnTo>
                  <a:lnTo>
                    <a:pt x="701" y="2691"/>
                  </a:lnTo>
                  <a:lnTo>
                    <a:pt x="673" y="2688"/>
                  </a:lnTo>
                  <a:lnTo>
                    <a:pt x="649" y="2680"/>
                  </a:lnTo>
                  <a:lnTo>
                    <a:pt x="626" y="2667"/>
                  </a:lnTo>
                  <a:lnTo>
                    <a:pt x="607" y="2650"/>
                  </a:lnTo>
                  <a:lnTo>
                    <a:pt x="591" y="2630"/>
                  </a:lnTo>
                  <a:lnTo>
                    <a:pt x="578" y="2607"/>
                  </a:lnTo>
                  <a:lnTo>
                    <a:pt x="571" y="2583"/>
                  </a:lnTo>
                  <a:lnTo>
                    <a:pt x="569" y="2556"/>
                  </a:lnTo>
                  <a:lnTo>
                    <a:pt x="570" y="2417"/>
                  </a:lnTo>
                  <a:lnTo>
                    <a:pt x="567" y="2366"/>
                  </a:lnTo>
                  <a:lnTo>
                    <a:pt x="560" y="2318"/>
                  </a:lnTo>
                  <a:lnTo>
                    <a:pt x="547" y="2273"/>
                  </a:lnTo>
                  <a:lnTo>
                    <a:pt x="528" y="2229"/>
                  </a:lnTo>
                  <a:lnTo>
                    <a:pt x="504" y="2186"/>
                  </a:lnTo>
                  <a:lnTo>
                    <a:pt x="473" y="2144"/>
                  </a:lnTo>
                  <a:lnTo>
                    <a:pt x="437" y="2102"/>
                  </a:lnTo>
                  <a:lnTo>
                    <a:pt x="394" y="2061"/>
                  </a:lnTo>
                  <a:lnTo>
                    <a:pt x="343" y="2013"/>
                  </a:lnTo>
                  <a:lnTo>
                    <a:pt x="295" y="1962"/>
                  </a:lnTo>
                  <a:lnTo>
                    <a:pt x="245" y="1902"/>
                  </a:lnTo>
                  <a:lnTo>
                    <a:pt x="199" y="1839"/>
                  </a:lnTo>
                  <a:lnTo>
                    <a:pt x="158" y="1774"/>
                  </a:lnTo>
                  <a:lnTo>
                    <a:pt x="122" y="1706"/>
                  </a:lnTo>
                  <a:lnTo>
                    <a:pt x="90" y="1637"/>
                  </a:lnTo>
                  <a:lnTo>
                    <a:pt x="63" y="1564"/>
                  </a:lnTo>
                  <a:lnTo>
                    <a:pt x="41" y="1490"/>
                  </a:lnTo>
                  <a:lnTo>
                    <a:pt x="23" y="1415"/>
                  </a:lnTo>
                  <a:lnTo>
                    <a:pt x="10" y="1338"/>
                  </a:lnTo>
                  <a:lnTo>
                    <a:pt x="2" y="1261"/>
                  </a:lnTo>
                  <a:lnTo>
                    <a:pt x="0" y="1182"/>
                  </a:lnTo>
                  <a:lnTo>
                    <a:pt x="2" y="1104"/>
                  </a:lnTo>
                  <a:lnTo>
                    <a:pt x="10" y="1026"/>
                  </a:lnTo>
                  <a:lnTo>
                    <a:pt x="22" y="950"/>
                  </a:lnTo>
                  <a:lnTo>
                    <a:pt x="40" y="874"/>
                  </a:lnTo>
                  <a:lnTo>
                    <a:pt x="62" y="800"/>
                  </a:lnTo>
                  <a:lnTo>
                    <a:pt x="88" y="728"/>
                  </a:lnTo>
                  <a:lnTo>
                    <a:pt x="120" y="658"/>
                  </a:lnTo>
                  <a:lnTo>
                    <a:pt x="156" y="590"/>
                  </a:lnTo>
                  <a:lnTo>
                    <a:pt x="197" y="524"/>
                  </a:lnTo>
                  <a:lnTo>
                    <a:pt x="242" y="461"/>
                  </a:lnTo>
                  <a:lnTo>
                    <a:pt x="291" y="402"/>
                  </a:lnTo>
                  <a:lnTo>
                    <a:pt x="350" y="340"/>
                  </a:lnTo>
                  <a:lnTo>
                    <a:pt x="411" y="283"/>
                  </a:lnTo>
                  <a:lnTo>
                    <a:pt x="477" y="231"/>
                  </a:lnTo>
                  <a:lnTo>
                    <a:pt x="545" y="184"/>
                  </a:lnTo>
                  <a:lnTo>
                    <a:pt x="617" y="142"/>
                  </a:lnTo>
                  <a:lnTo>
                    <a:pt x="692" y="105"/>
                  </a:lnTo>
                  <a:lnTo>
                    <a:pt x="769" y="74"/>
                  </a:lnTo>
                  <a:lnTo>
                    <a:pt x="847" y="47"/>
                  </a:lnTo>
                  <a:lnTo>
                    <a:pt x="927" y="26"/>
                  </a:lnTo>
                  <a:lnTo>
                    <a:pt x="1010" y="12"/>
                  </a:lnTo>
                  <a:lnTo>
                    <a:pt x="1093" y="3"/>
                  </a:lnTo>
                  <a:lnTo>
                    <a:pt x="1177" y="0"/>
                  </a:lnTo>
                  <a:close/>
                </a:path>
              </a:pathLst>
            </a:custGeom>
            <a:solidFill>
              <a:srgbClr val="F2F2F2">
                <a:alpha val="60000"/>
              </a:srgbClr>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58" name="Google Shape;58;p13"/>
            <p:cNvSpPr/>
            <p:nvPr/>
          </p:nvSpPr>
          <p:spPr>
            <a:xfrm>
              <a:off x="1691" y="1203"/>
              <a:ext cx="304" cy="67"/>
            </a:xfrm>
            <a:custGeom>
              <a:avLst/>
              <a:gdLst/>
              <a:ahLst/>
              <a:cxnLst/>
              <a:rect l="l" t="t" r="r" b="b"/>
              <a:pathLst>
                <a:path w="1217" h="268" extrusionOk="0">
                  <a:moveTo>
                    <a:pt x="133" y="0"/>
                  </a:moveTo>
                  <a:lnTo>
                    <a:pt x="1084" y="0"/>
                  </a:lnTo>
                  <a:lnTo>
                    <a:pt x="1110" y="4"/>
                  </a:lnTo>
                  <a:lnTo>
                    <a:pt x="1136" y="11"/>
                  </a:lnTo>
                  <a:lnTo>
                    <a:pt x="1158" y="23"/>
                  </a:lnTo>
                  <a:lnTo>
                    <a:pt x="1177" y="40"/>
                  </a:lnTo>
                  <a:lnTo>
                    <a:pt x="1194" y="60"/>
                  </a:lnTo>
                  <a:lnTo>
                    <a:pt x="1207" y="83"/>
                  </a:lnTo>
                  <a:lnTo>
                    <a:pt x="1215" y="107"/>
                  </a:lnTo>
                  <a:lnTo>
                    <a:pt x="1217" y="135"/>
                  </a:lnTo>
                  <a:lnTo>
                    <a:pt x="1215" y="161"/>
                  </a:lnTo>
                  <a:lnTo>
                    <a:pt x="1207" y="186"/>
                  </a:lnTo>
                  <a:lnTo>
                    <a:pt x="1195" y="209"/>
                  </a:lnTo>
                  <a:lnTo>
                    <a:pt x="1178" y="229"/>
                  </a:lnTo>
                  <a:lnTo>
                    <a:pt x="1159" y="245"/>
                  </a:lnTo>
                  <a:lnTo>
                    <a:pt x="1136" y="257"/>
                  </a:lnTo>
                  <a:lnTo>
                    <a:pt x="1111" y="264"/>
                  </a:lnTo>
                  <a:lnTo>
                    <a:pt x="1085" y="268"/>
                  </a:lnTo>
                  <a:lnTo>
                    <a:pt x="133" y="268"/>
                  </a:lnTo>
                  <a:lnTo>
                    <a:pt x="106" y="264"/>
                  </a:lnTo>
                  <a:lnTo>
                    <a:pt x="81" y="257"/>
                  </a:lnTo>
                  <a:lnTo>
                    <a:pt x="58" y="245"/>
                  </a:lnTo>
                  <a:lnTo>
                    <a:pt x="39" y="228"/>
                  </a:lnTo>
                  <a:lnTo>
                    <a:pt x="23" y="208"/>
                  </a:lnTo>
                  <a:lnTo>
                    <a:pt x="9" y="186"/>
                  </a:lnTo>
                  <a:lnTo>
                    <a:pt x="2" y="161"/>
                  </a:lnTo>
                  <a:lnTo>
                    <a:pt x="0" y="135"/>
                  </a:lnTo>
                  <a:lnTo>
                    <a:pt x="2" y="107"/>
                  </a:lnTo>
                  <a:lnTo>
                    <a:pt x="9" y="83"/>
                  </a:lnTo>
                  <a:lnTo>
                    <a:pt x="23" y="60"/>
                  </a:lnTo>
                  <a:lnTo>
                    <a:pt x="39" y="40"/>
                  </a:lnTo>
                  <a:lnTo>
                    <a:pt x="58" y="23"/>
                  </a:lnTo>
                  <a:lnTo>
                    <a:pt x="81" y="11"/>
                  </a:lnTo>
                  <a:lnTo>
                    <a:pt x="106" y="4"/>
                  </a:lnTo>
                  <a:lnTo>
                    <a:pt x="133" y="0"/>
                  </a:lnTo>
                  <a:close/>
                </a:path>
              </a:pathLst>
            </a:custGeom>
            <a:solidFill>
              <a:srgbClr val="F2F2F2">
                <a:alpha val="60000"/>
              </a:srgbClr>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59" name="Google Shape;59;p13"/>
            <p:cNvSpPr/>
            <p:nvPr/>
          </p:nvSpPr>
          <p:spPr>
            <a:xfrm>
              <a:off x="1746" y="1314"/>
              <a:ext cx="195" cy="67"/>
            </a:xfrm>
            <a:custGeom>
              <a:avLst/>
              <a:gdLst/>
              <a:ahLst/>
              <a:cxnLst/>
              <a:rect l="l" t="t" r="r" b="b"/>
              <a:pathLst>
                <a:path w="780" h="267" extrusionOk="0">
                  <a:moveTo>
                    <a:pt x="133" y="0"/>
                  </a:moveTo>
                  <a:lnTo>
                    <a:pt x="646" y="0"/>
                  </a:lnTo>
                  <a:lnTo>
                    <a:pt x="673" y="3"/>
                  </a:lnTo>
                  <a:lnTo>
                    <a:pt x="699" y="11"/>
                  </a:lnTo>
                  <a:lnTo>
                    <a:pt x="721" y="23"/>
                  </a:lnTo>
                  <a:lnTo>
                    <a:pt x="741" y="39"/>
                  </a:lnTo>
                  <a:lnTo>
                    <a:pt x="757" y="59"/>
                  </a:lnTo>
                  <a:lnTo>
                    <a:pt x="769" y="81"/>
                  </a:lnTo>
                  <a:lnTo>
                    <a:pt x="777" y="106"/>
                  </a:lnTo>
                  <a:lnTo>
                    <a:pt x="780" y="133"/>
                  </a:lnTo>
                  <a:lnTo>
                    <a:pt x="777" y="160"/>
                  </a:lnTo>
                  <a:lnTo>
                    <a:pt x="769" y="185"/>
                  </a:lnTo>
                  <a:lnTo>
                    <a:pt x="757" y="208"/>
                  </a:lnTo>
                  <a:lnTo>
                    <a:pt x="741" y="227"/>
                  </a:lnTo>
                  <a:lnTo>
                    <a:pt x="721" y="244"/>
                  </a:lnTo>
                  <a:lnTo>
                    <a:pt x="699" y="256"/>
                  </a:lnTo>
                  <a:lnTo>
                    <a:pt x="673" y="264"/>
                  </a:lnTo>
                  <a:lnTo>
                    <a:pt x="646" y="267"/>
                  </a:lnTo>
                  <a:lnTo>
                    <a:pt x="133" y="267"/>
                  </a:lnTo>
                  <a:lnTo>
                    <a:pt x="106" y="264"/>
                  </a:lnTo>
                  <a:lnTo>
                    <a:pt x="82" y="256"/>
                  </a:lnTo>
                  <a:lnTo>
                    <a:pt x="59" y="244"/>
                  </a:lnTo>
                  <a:lnTo>
                    <a:pt x="39" y="227"/>
                  </a:lnTo>
                  <a:lnTo>
                    <a:pt x="22" y="208"/>
                  </a:lnTo>
                  <a:lnTo>
                    <a:pt x="10" y="185"/>
                  </a:lnTo>
                  <a:lnTo>
                    <a:pt x="3" y="160"/>
                  </a:lnTo>
                  <a:lnTo>
                    <a:pt x="0" y="133"/>
                  </a:lnTo>
                  <a:lnTo>
                    <a:pt x="3" y="106"/>
                  </a:lnTo>
                  <a:lnTo>
                    <a:pt x="10" y="81"/>
                  </a:lnTo>
                  <a:lnTo>
                    <a:pt x="22" y="59"/>
                  </a:lnTo>
                  <a:lnTo>
                    <a:pt x="39" y="39"/>
                  </a:lnTo>
                  <a:lnTo>
                    <a:pt x="59" y="23"/>
                  </a:lnTo>
                  <a:lnTo>
                    <a:pt x="82" y="11"/>
                  </a:lnTo>
                  <a:lnTo>
                    <a:pt x="106" y="3"/>
                  </a:lnTo>
                  <a:lnTo>
                    <a:pt x="133" y="0"/>
                  </a:lnTo>
                  <a:close/>
                </a:path>
              </a:pathLst>
            </a:custGeom>
            <a:solidFill>
              <a:srgbClr val="F2F2F2">
                <a:alpha val="60000"/>
              </a:srgbClr>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60" name="Google Shape;60;p13"/>
            <p:cNvSpPr/>
            <p:nvPr/>
          </p:nvSpPr>
          <p:spPr>
            <a:xfrm>
              <a:off x="1718" y="764"/>
              <a:ext cx="159" cy="383"/>
            </a:xfrm>
            <a:custGeom>
              <a:avLst/>
              <a:gdLst/>
              <a:ahLst/>
              <a:cxnLst/>
              <a:rect l="l" t="t" r="r" b="b"/>
              <a:pathLst>
                <a:path w="636" h="1533" extrusionOk="0">
                  <a:moveTo>
                    <a:pt x="134" y="0"/>
                  </a:moveTo>
                  <a:lnTo>
                    <a:pt x="160" y="2"/>
                  </a:lnTo>
                  <a:lnTo>
                    <a:pt x="184" y="9"/>
                  </a:lnTo>
                  <a:lnTo>
                    <a:pt x="207" y="22"/>
                  </a:lnTo>
                  <a:lnTo>
                    <a:pt x="228" y="38"/>
                  </a:lnTo>
                  <a:lnTo>
                    <a:pt x="596" y="407"/>
                  </a:lnTo>
                  <a:lnTo>
                    <a:pt x="608" y="421"/>
                  </a:lnTo>
                  <a:lnTo>
                    <a:pt x="619" y="439"/>
                  </a:lnTo>
                  <a:lnTo>
                    <a:pt x="628" y="460"/>
                  </a:lnTo>
                  <a:lnTo>
                    <a:pt x="634" y="484"/>
                  </a:lnTo>
                  <a:lnTo>
                    <a:pt x="636" y="512"/>
                  </a:lnTo>
                  <a:lnTo>
                    <a:pt x="636" y="1399"/>
                  </a:lnTo>
                  <a:lnTo>
                    <a:pt x="633" y="1426"/>
                  </a:lnTo>
                  <a:lnTo>
                    <a:pt x="625" y="1452"/>
                  </a:lnTo>
                  <a:lnTo>
                    <a:pt x="613" y="1474"/>
                  </a:lnTo>
                  <a:lnTo>
                    <a:pt x="596" y="1493"/>
                  </a:lnTo>
                  <a:lnTo>
                    <a:pt x="576" y="1510"/>
                  </a:lnTo>
                  <a:lnTo>
                    <a:pt x="554" y="1522"/>
                  </a:lnTo>
                  <a:lnTo>
                    <a:pt x="529" y="1530"/>
                  </a:lnTo>
                  <a:lnTo>
                    <a:pt x="502" y="1533"/>
                  </a:lnTo>
                  <a:lnTo>
                    <a:pt x="475" y="1530"/>
                  </a:lnTo>
                  <a:lnTo>
                    <a:pt x="450" y="1522"/>
                  </a:lnTo>
                  <a:lnTo>
                    <a:pt x="428" y="1510"/>
                  </a:lnTo>
                  <a:lnTo>
                    <a:pt x="408" y="1493"/>
                  </a:lnTo>
                  <a:lnTo>
                    <a:pt x="392" y="1474"/>
                  </a:lnTo>
                  <a:lnTo>
                    <a:pt x="380" y="1452"/>
                  </a:lnTo>
                  <a:lnTo>
                    <a:pt x="372" y="1426"/>
                  </a:lnTo>
                  <a:lnTo>
                    <a:pt x="369" y="1399"/>
                  </a:lnTo>
                  <a:lnTo>
                    <a:pt x="369" y="557"/>
                  </a:lnTo>
                  <a:lnTo>
                    <a:pt x="40" y="228"/>
                  </a:lnTo>
                  <a:lnTo>
                    <a:pt x="22" y="207"/>
                  </a:lnTo>
                  <a:lnTo>
                    <a:pt x="10" y="183"/>
                  </a:lnTo>
                  <a:lnTo>
                    <a:pt x="2" y="158"/>
                  </a:lnTo>
                  <a:lnTo>
                    <a:pt x="0" y="133"/>
                  </a:lnTo>
                  <a:lnTo>
                    <a:pt x="2" y="107"/>
                  </a:lnTo>
                  <a:lnTo>
                    <a:pt x="10" y="82"/>
                  </a:lnTo>
                  <a:lnTo>
                    <a:pt x="22" y="59"/>
                  </a:lnTo>
                  <a:lnTo>
                    <a:pt x="40" y="38"/>
                  </a:lnTo>
                  <a:lnTo>
                    <a:pt x="61" y="22"/>
                  </a:lnTo>
                  <a:lnTo>
                    <a:pt x="84" y="9"/>
                  </a:lnTo>
                  <a:lnTo>
                    <a:pt x="108" y="2"/>
                  </a:lnTo>
                  <a:lnTo>
                    <a:pt x="134" y="0"/>
                  </a:lnTo>
                  <a:close/>
                </a:path>
              </a:pathLst>
            </a:custGeom>
            <a:solidFill>
              <a:srgbClr val="F2F2F2">
                <a:alpha val="60000"/>
              </a:srgbClr>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61" name="Google Shape;61;p13"/>
            <p:cNvSpPr/>
            <p:nvPr/>
          </p:nvSpPr>
          <p:spPr>
            <a:xfrm>
              <a:off x="1884" y="764"/>
              <a:ext cx="85" cy="85"/>
            </a:xfrm>
            <a:custGeom>
              <a:avLst/>
              <a:gdLst/>
              <a:ahLst/>
              <a:cxnLst/>
              <a:rect l="l" t="t" r="r" b="b"/>
              <a:pathLst>
                <a:path w="337" h="338" extrusionOk="0">
                  <a:moveTo>
                    <a:pt x="204" y="0"/>
                  </a:moveTo>
                  <a:lnTo>
                    <a:pt x="230" y="2"/>
                  </a:lnTo>
                  <a:lnTo>
                    <a:pt x="254" y="10"/>
                  </a:lnTo>
                  <a:lnTo>
                    <a:pt x="277" y="22"/>
                  </a:lnTo>
                  <a:lnTo>
                    <a:pt x="298" y="38"/>
                  </a:lnTo>
                  <a:lnTo>
                    <a:pt x="315" y="59"/>
                  </a:lnTo>
                  <a:lnTo>
                    <a:pt x="327" y="83"/>
                  </a:lnTo>
                  <a:lnTo>
                    <a:pt x="335" y="108"/>
                  </a:lnTo>
                  <a:lnTo>
                    <a:pt x="337" y="133"/>
                  </a:lnTo>
                  <a:lnTo>
                    <a:pt x="335" y="159"/>
                  </a:lnTo>
                  <a:lnTo>
                    <a:pt x="327" y="184"/>
                  </a:lnTo>
                  <a:lnTo>
                    <a:pt x="315" y="207"/>
                  </a:lnTo>
                  <a:lnTo>
                    <a:pt x="298" y="228"/>
                  </a:lnTo>
                  <a:lnTo>
                    <a:pt x="227" y="298"/>
                  </a:lnTo>
                  <a:lnTo>
                    <a:pt x="206" y="316"/>
                  </a:lnTo>
                  <a:lnTo>
                    <a:pt x="183" y="328"/>
                  </a:lnTo>
                  <a:lnTo>
                    <a:pt x="158" y="335"/>
                  </a:lnTo>
                  <a:lnTo>
                    <a:pt x="133" y="338"/>
                  </a:lnTo>
                  <a:lnTo>
                    <a:pt x="107" y="334"/>
                  </a:lnTo>
                  <a:lnTo>
                    <a:pt x="83" y="328"/>
                  </a:lnTo>
                  <a:lnTo>
                    <a:pt x="60" y="316"/>
                  </a:lnTo>
                  <a:lnTo>
                    <a:pt x="39" y="298"/>
                  </a:lnTo>
                  <a:lnTo>
                    <a:pt x="22" y="277"/>
                  </a:lnTo>
                  <a:lnTo>
                    <a:pt x="10" y="254"/>
                  </a:lnTo>
                  <a:lnTo>
                    <a:pt x="3" y="229"/>
                  </a:lnTo>
                  <a:lnTo>
                    <a:pt x="0" y="203"/>
                  </a:lnTo>
                  <a:lnTo>
                    <a:pt x="3" y="178"/>
                  </a:lnTo>
                  <a:lnTo>
                    <a:pt x="10" y="153"/>
                  </a:lnTo>
                  <a:lnTo>
                    <a:pt x="22" y="130"/>
                  </a:lnTo>
                  <a:lnTo>
                    <a:pt x="39" y="109"/>
                  </a:lnTo>
                  <a:lnTo>
                    <a:pt x="110" y="38"/>
                  </a:lnTo>
                  <a:lnTo>
                    <a:pt x="131" y="22"/>
                  </a:lnTo>
                  <a:lnTo>
                    <a:pt x="154" y="10"/>
                  </a:lnTo>
                  <a:lnTo>
                    <a:pt x="179" y="2"/>
                  </a:lnTo>
                  <a:lnTo>
                    <a:pt x="204" y="0"/>
                  </a:lnTo>
                  <a:close/>
                </a:path>
              </a:pathLst>
            </a:custGeom>
            <a:solidFill>
              <a:srgbClr val="F2F2F2">
                <a:alpha val="60000"/>
              </a:srgbClr>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grpSp>
      <p:sp>
        <p:nvSpPr>
          <p:cNvPr id="62" name="Google Shape;62;p13"/>
          <p:cNvSpPr/>
          <p:nvPr/>
        </p:nvSpPr>
        <p:spPr>
          <a:xfrm>
            <a:off x="7328101" y="1646338"/>
            <a:ext cx="649500" cy="649500"/>
          </a:xfrm>
          <a:prstGeom prst="ellipse">
            <a:avLst/>
          </a:prstGeom>
          <a:solidFill>
            <a:srgbClr val="CC00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Calibri"/>
              <a:ea typeface="Calibri"/>
              <a:cs typeface="Calibri"/>
              <a:sym typeface="Calibri"/>
            </a:endParaRPr>
          </a:p>
        </p:txBody>
      </p:sp>
      <p:sp>
        <p:nvSpPr>
          <p:cNvPr id="63" name="Google Shape;63;p13"/>
          <p:cNvSpPr/>
          <p:nvPr/>
        </p:nvSpPr>
        <p:spPr>
          <a:xfrm rot="2700000">
            <a:off x="5131719" y="1237653"/>
            <a:ext cx="2702986" cy="2702986"/>
          </a:xfrm>
          <a:prstGeom prst="roundRect">
            <a:avLst>
              <a:gd name="adj" fmla="val 5268"/>
            </a:avLst>
          </a:prstGeom>
          <a:solidFill>
            <a:srgbClr val="FFFFFF"/>
          </a:solidFill>
          <a:ln>
            <a:noFill/>
          </a:ln>
          <a:effectLst>
            <a:outerShdw blurRad="367307" dist="38100" dir="2700000" algn="tl" rotWithShape="0">
              <a:srgbClr val="000000">
                <a:alpha val="40000"/>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Calibri"/>
              <a:ea typeface="Calibri"/>
              <a:cs typeface="Calibri"/>
              <a:sym typeface="Calibri"/>
            </a:endParaRPr>
          </a:p>
        </p:txBody>
      </p:sp>
      <p:grpSp>
        <p:nvGrpSpPr>
          <p:cNvPr id="64" name="Google Shape;64;p13"/>
          <p:cNvGrpSpPr/>
          <p:nvPr/>
        </p:nvGrpSpPr>
        <p:grpSpPr>
          <a:xfrm>
            <a:off x="7543214" y="677846"/>
            <a:ext cx="469705" cy="722606"/>
            <a:chOff x="1549" y="475"/>
            <a:chExt cx="589" cy="906"/>
          </a:xfrm>
        </p:grpSpPr>
        <p:sp>
          <p:nvSpPr>
            <p:cNvPr id="65" name="Google Shape;65;p13"/>
            <p:cNvSpPr/>
            <p:nvPr/>
          </p:nvSpPr>
          <p:spPr>
            <a:xfrm>
              <a:off x="1549" y="475"/>
              <a:ext cx="589" cy="673"/>
            </a:xfrm>
            <a:custGeom>
              <a:avLst/>
              <a:gdLst/>
              <a:ahLst/>
              <a:cxnLst/>
              <a:rect l="l" t="t" r="r" b="b"/>
              <a:pathLst>
                <a:path w="2355" h="2692" extrusionOk="0">
                  <a:moveTo>
                    <a:pt x="1177" y="0"/>
                  </a:moveTo>
                  <a:lnTo>
                    <a:pt x="1261" y="3"/>
                  </a:lnTo>
                  <a:lnTo>
                    <a:pt x="1345" y="12"/>
                  </a:lnTo>
                  <a:lnTo>
                    <a:pt x="1426" y="26"/>
                  </a:lnTo>
                  <a:lnTo>
                    <a:pt x="1508" y="47"/>
                  </a:lnTo>
                  <a:lnTo>
                    <a:pt x="1586" y="74"/>
                  </a:lnTo>
                  <a:lnTo>
                    <a:pt x="1663" y="105"/>
                  </a:lnTo>
                  <a:lnTo>
                    <a:pt x="1738" y="142"/>
                  </a:lnTo>
                  <a:lnTo>
                    <a:pt x="1809" y="184"/>
                  </a:lnTo>
                  <a:lnTo>
                    <a:pt x="1877" y="231"/>
                  </a:lnTo>
                  <a:lnTo>
                    <a:pt x="1943" y="283"/>
                  </a:lnTo>
                  <a:lnTo>
                    <a:pt x="2005" y="340"/>
                  </a:lnTo>
                  <a:lnTo>
                    <a:pt x="2063" y="401"/>
                  </a:lnTo>
                  <a:lnTo>
                    <a:pt x="2113" y="461"/>
                  </a:lnTo>
                  <a:lnTo>
                    <a:pt x="2158" y="524"/>
                  </a:lnTo>
                  <a:lnTo>
                    <a:pt x="2197" y="589"/>
                  </a:lnTo>
                  <a:lnTo>
                    <a:pt x="2234" y="657"/>
                  </a:lnTo>
                  <a:lnTo>
                    <a:pt x="2265" y="726"/>
                  </a:lnTo>
                  <a:lnTo>
                    <a:pt x="2292" y="799"/>
                  </a:lnTo>
                  <a:lnTo>
                    <a:pt x="2315" y="873"/>
                  </a:lnTo>
                  <a:lnTo>
                    <a:pt x="2333" y="948"/>
                  </a:lnTo>
                  <a:lnTo>
                    <a:pt x="2345" y="1025"/>
                  </a:lnTo>
                  <a:lnTo>
                    <a:pt x="2352" y="1102"/>
                  </a:lnTo>
                  <a:lnTo>
                    <a:pt x="2355" y="1180"/>
                  </a:lnTo>
                  <a:lnTo>
                    <a:pt x="2352" y="1258"/>
                  </a:lnTo>
                  <a:lnTo>
                    <a:pt x="2345" y="1336"/>
                  </a:lnTo>
                  <a:lnTo>
                    <a:pt x="2333" y="1413"/>
                  </a:lnTo>
                  <a:lnTo>
                    <a:pt x="2315" y="1488"/>
                  </a:lnTo>
                  <a:lnTo>
                    <a:pt x="2292" y="1562"/>
                  </a:lnTo>
                  <a:lnTo>
                    <a:pt x="2265" y="1633"/>
                  </a:lnTo>
                  <a:lnTo>
                    <a:pt x="2234" y="1704"/>
                  </a:lnTo>
                  <a:lnTo>
                    <a:pt x="2197" y="1771"/>
                  </a:lnTo>
                  <a:lnTo>
                    <a:pt x="2158" y="1837"/>
                  </a:lnTo>
                  <a:lnTo>
                    <a:pt x="2113" y="1900"/>
                  </a:lnTo>
                  <a:lnTo>
                    <a:pt x="2063" y="1959"/>
                  </a:lnTo>
                  <a:lnTo>
                    <a:pt x="2014" y="2011"/>
                  </a:lnTo>
                  <a:lnTo>
                    <a:pt x="1962" y="2060"/>
                  </a:lnTo>
                  <a:lnTo>
                    <a:pt x="1919" y="2101"/>
                  </a:lnTo>
                  <a:lnTo>
                    <a:pt x="1884" y="2142"/>
                  </a:lnTo>
                  <a:lnTo>
                    <a:pt x="1853" y="2184"/>
                  </a:lnTo>
                  <a:lnTo>
                    <a:pt x="1830" y="2225"/>
                  </a:lnTo>
                  <a:lnTo>
                    <a:pt x="1811" y="2268"/>
                  </a:lnTo>
                  <a:lnTo>
                    <a:pt x="1798" y="2313"/>
                  </a:lnTo>
                  <a:lnTo>
                    <a:pt x="1790" y="2362"/>
                  </a:lnTo>
                  <a:lnTo>
                    <a:pt x="1788" y="2411"/>
                  </a:lnTo>
                  <a:lnTo>
                    <a:pt x="1788" y="2413"/>
                  </a:lnTo>
                  <a:lnTo>
                    <a:pt x="1788" y="2414"/>
                  </a:lnTo>
                  <a:lnTo>
                    <a:pt x="1788" y="2415"/>
                  </a:lnTo>
                  <a:lnTo>
                    <a:pt x="1787" y="2560"/>
                  </a:lnTo>
                  <a:lnTo>
                    <a:pt x="1784" y="2586"/>
                  </a:lnTo>
                  <a:lnTo>
                    <a:pt x="1776" y="2612"/>
                  </a:lnTo>
                  <a:lnTo>
                    <a:pt x="1764" y="2634"/>
                  </a:lnTo>
                  <a:lnTo>
                    <a:pt x="1747" y="2654"/>
                  </a:lnTo>
                  <a:lnTo>
                    <a:pt x="1728" y="2670"/>
                  </a:lnTo>
                  <a:lnTo>
                    <a:pt x="1705" y="2682"/>
                  </a:lnTo>
                  <a:lnTo>
                    <a:pt x="1680" y="2690"/>
                  </a:lnTo>
                  <a:lnTo>
                    <a:pt x="1654" y="2692"/>
                  </a:lnTo>
                  <a:lnTo>
                    <a:pt x="1652" y="2692"/>
                  </a:lnTo>
                  <a:lnTo>
                    <a:pt x="1625" y="2689"/>
                  </a:lnTo>
                  <a:lnTo>
                    <a:pt x="1600" y="2681"/>
                  </a:lnTo>
                  <a:lnTo>
                    <a:pt x="1578" y="2669"/>
                  </a:lnTo>
                  <a:lnTo>
                    <a:pt x="1558" y="2652"/>
                  </a:lnTo>
                  <a:lnTo>
                    <a:pt x="1542" y="2632"/>
                  </a:lnTo>
                  <a:lnTo>
                    <a:pt x="1530" y="2610"/>
                  </a:lnTo>
                  <a:lnTo>
                    <a:pt x="1523" y="2584"/>
                  </a:lnTo>
                  <a:lnTo>
                    <a:pt x="1520" y="2557"/>
                  </a:lnTo>
                  <a:lnTo>
                    <a:pt x="1522" y="2411"/>
                  </a:lnTo>
                  <a:lnTo>
                    <a:pt x="1524" y="2349"/>
                  </a:lnTo>
                  <a:lnTo>
                    <a:pt x="1532" y="2287"/>
                  </a:lnTo>
                  <a:lnTo>
                    <a:pt x="1545" y="2229"/>
                  </a:lnTo>
                  <a:lnTo>
                    <a:pt x="1563" y="2171"/>
                  </a:lnTo>
                  <a:lnTo>
                    <a:pt x="1587" y="2116"/>
                  </a:lnTo>
                  <a:lnTo>
                    <a:pt x="1615" y="2063"/>
                  </a:lnTo>
                  <a:lnTo>
                    <a:pt x="1650" y="2011"/>
                  </a:lnTo>
                  <a:lnTo>
                    <a:pt x="1689" y="1960"/>
                  </a:lnTo>
                  <a:lnTo>
                    <a:pt x="1734" y="1911"/>
                  </a:lnTo>
                  <a:lnTo>
                    <a:pt x="1785" y="1862"/>
                  </a:lnTo>
                  <a:lnTo>
                    <a:pt x="1824" y="1824"/>
                  </a:lnTo>
                  <a:lnTo>
                    <a:pt x="1863" y="1783"/>
                  </a:lnTo>
                  <a:lnTo>
                    <a:pt x="1908" y="1728"/>
                  </a:lnTo>
                  <a:lnTo>
                    <a:pt x="1949" y="1670"/>
                  </a:lnTo>
                  <a:lnTo>
                    <a:pt x="1984" y="1609"/>
                  </a:lnTo>
                  <a:lnTo>
                    <a:pt x="2015" y="1546"/>
                  </a:lnTo>
                  <a:lnTo>
                    <a:pt x="2039" y="1483"/>
                  </a:lnTo>
                  <a:lnTo>
                    <a:pt x="2060" y="1416"/>
                  </a:lnTo>
                  <a:lnTo>
                    <a:pt x="2075" y="1350"/>
                  </a:lnTo>
                  <a:lnTo>
                    <a:pt x="2085" y="1283"/>
                  </a:lnTo>
                  <a:lnTo>
                    <a:pt x="2089" y="1215"/>
                  </a:lnTo>
                  <a:lnTo>
                    <a:pt x="2089" y="1147"/>
                  </a:lnTo>
                  <a:lnTo>
                    <a:pt x="2085" y="1080"/>
                  </a:lnTo>
                  <a:lnTo>
                    <a:pt x="2075" y="1011"/>
                  </a:lnTo>
                  <a:lnTo>
                    <a:pt x="2060" y="945"/>
                  </a:lnTo>
                  <a:lnTo>
                    <a:pt x="2040" y="879"/>
                  </a:lnTo>
                  <a:lnTo>
                    <a:pt x="2015" y="816"/>
                  </a:lnTo>
                  <a:lnTo>
                    <a:pt x="1985" y="753"/>
                  </a:lnTo>
                  <a:lnTo>
                    <a:pt x="1950" y="692"/>
                  </a:lnTo>
                  <a:lnTo>
                    <a:pt x="1909" y="634"/>
                  </a:lnTo>
                  <a:lnTo>
                    <a:pt x="1864" y="578"/>
                  </a:lnTo>
                  <a:lnTo>
                    <a:pt x="1815" y="526"/>
                  </a:lnTo>
                  <a:lnTo>
                    <a:pt x="1762" y="479"/>
                  </a:lnTo>
                  <a:lnTo>
                    <a:pt x="1706" y="436"/>
                  </a:lnTo>
                  <a:lnTo>
                    <a:pt x="1647" y="397"/>
                  </a:lnTo>
                  <a:lnTo>
                    <a:pt x="1586" y="363"/>
                  </a:lnTo>
                  <a:lnTo>
                    <a:pt x="1522" y="335"/>
                  </a:lnTo>
                  <a:lnTo>
                    <a:pt x="1456" y="310"/>
                  </a:lnTo>
                  <a:lnTo>
                    <a:pt x="1389" y="292"/>
                  </a:lnTo>
                  <a:lnTo>
                    <a:pt x="1320" y="278"/>
                  </a:lnTo>
                  <a:lnTo>
                    <a:pt x="1249" y="270"/>
                  </a:lnTo>
                  <a:lnTo>
                    <a:pt x="1178" y="266"/>
                  </a:lnTo>
                  <a:lnTo>
                    <a:pt x="1107" y="270"/>
                  </a:lnTo>
                  <a:lnTo>
                    <a:pt x="1037" y="278"/>
                  </a:lnTo>
                  <a:lnTo>
                    <a:pt x="968" y="292"/>
                  </a:lnTo>
                  <a:lnTo>
                    <a:pt x="901" y="310"/>
                  </a:lnTo>
                  <a:lnTo>
                    <a:pt x="835" y="335"/>
                  </a:lnTo>
                  <a:lnTo>
                    <a:pt x="771" y="363"/>
                  </a:lnTo>
                  <a:lnTo>
                    <a:pt x="709" y="397"/>
                  </a:lnTo>
                  <a:lnTo>
                    <a:pt x="650" y="436"/>
                  </a:lnTo>
                  <a:lnTo>
                    <a:pt x="594" y="479"/>
                  </a:lnTo>
                  <a:lnTo>
                    <a:pt x="541" y="526"/>
                  </a:lnTo>
                  <a:lnTo>
                    <a:pt x="493" y="578"/>
                  </a:lnTo>
                  <a:lnTo>
                    <a:pt x="446" y="634"/>
                  </a:lnTo>
                  <a:lnTo>
                    <a:pt x="407" y="692"/>
                  </a:lnTo>
                  <a:lnTo>
                    <a:pt x="371" y="753"/>
                  </a:lnTo>
                  <a:lnTo>
                    <a:pt x="341" y="816"/>
                  </a:lnTo>
                  <a:lnTo>
                    <a:pt x="316" y="880"/>
                  </a:lnTo>
                  <a:lnTo>
                    <a:pt x="296" y="945"/>
                  </a:lnTo>
                  <a:lnTo>
                    <a:pt x="280" y="1013"/>
                  </a:lnTo>
                  <a:lnTo>
                    <a:pt x="271" y="1080"/>
                  </a:lnTo>
                  <a:lnTo>
                    <a:pt x="265" y="1148"/>
                  </a:lnTo>
                  <a:lnTo>
                    <a:pt x="266" y="1216"/>
                  </a:lnTo>
                  <a:lnTo>
                    <a:pt x="271" y="1284"/>
                  </a:lnTo>
                  <a:lnTo>
                    <a:pt x="282" y="1352"/>
                  </a:lnTo>
                  <a:lnTo>
                    <a:pt x="296" y="1419"/>
                  </a:lnTo>
                  <a:lnTo>
                    <a:pt x="317" y="1484"/>
                  </a:lnTo>
                  <a:lnTo>
                    <a:pt x="342" y="1549"/>
                  </a:lnTo>
                  <a:lnTo>
                    <a:pt x="373" y="1611"/>
                  </a:lnTo>
                  <a:lnTo>
                    <a:pt x="408" y="1672"/>
                  </a:lnTo>
                  <a:lnTo>
                    <a:pt x="449" y="1730"/>
                  </a:lnTo>
                  <a:lnTo>
                    <a:pt x="495" y="1785"/>
                  </a:lnTo>
                  <a:lnTo>
                    <a:pt x="532" y="1825"/>
                  </a:lnTo>
                  <a:lnTo>
                    <a:pt x="572" y="1862"/>
                  </a:lnTo>
                  <a:lnTo>
                    <a:pt x="622" y="1912"/>
                  </a:lnTo>
                  <a:lnTo>
                    <a:pt x="669" y="1962"/>
                  </a:lnTo>
                  <a:lnTo>
                    <a:pt x="709" y="2013"/>
                  </a:lnTo>
                  <a:lnTo>
                    <a:pt x="743" y="2066"/>
                  </a:lnTo>
                  <a:lnTo>
                    <a:pt x="772" y="2120"/>
                  </a:lnTo>
                  <a:lnTo>
                    <a:pt x="796" y="2176"/>
                  </a:lnTo>
                  <a:lnTo>
                    <a:pt x="814" y="2234"/>
                  </a:lnTo>
                  <a:lnTo>
                    <a:pt x="827" y="2294"/>
                  </a:lnTo>
                  <a:lnTo>
                    <a:pt x="835" y="2355"/>
                  </a:lnTo>
                  <a:lnTo>
                    <a:pt x="837" y="2419"/>
                  </a:lnTo>
                  <a:lnTo>
                    <a:pt x="837" y="2420"/>
                  </a:lnTo>
                  <a:lnTo>
                    <a:pt x="835" y="2559"/>
                  </a:lnTo>
                  <a:lnTo>
                    <a:pt x="832" y="2585"/>
                  </a:lnTo>
                  <a:lnTo>
                    <a:pt x="824" y="2611"/>
                  </a:lnTo>
                  <a:lnTo>
                    <a:pt x="812" y="2633"/>
                  </a:lnTo>
                  <a:lnTo>
                    <a:pt x="795" y="2652"/>
                  </a:lnTo>
                  <a:lnTo>
                    <a:pt x="776" y="2668"/>
                  </a:lnTo>
                  <a:lnTo>
                    <a:pt x="753" y="2680"/>
                  </a:lnTo>
                  <a:lnTo>
                    <a:pt x="728" y="2688"/>
                  </a:lnTo>
                  <a:lnTo>
                    <a:pt x="702" y="2691"/>
                  </a:lnTo>
                  <a:lnTo>
                    <a:pt x="701" y="2691"/>
                  </a:lnTo>
                  <a:lnTo>
                    <a:pt x="673" y="2688"/>
                  </a:lnTo>
                  <a:lnTo>
                    <a:pt x="649" y="2680"/>
                  </a:lnTo>
                  <a:lnTo>
                    <a:pt x="626" y="2667"/>
                  </a:lnTo>
                  <a:lnTo>
                    <a:pt x="607" y="2650"/>
                  </a:lnTo>
                  <a:lnTo>
                    <a:pt x="591" y="2630"/>
                  </a:lnTo>
                  <a:lnTo>
                    <a:pt x="578" y="2607"/>
                  </a:lnTo>
                  <a:lnTo>
                    <a:pt x="571" y="2583"/>
                  </a:lnTo>
                  <a:lnTo>
                    <a:pt x="569" y="2556"/>
                  </a:lnTo>
                  <a:lnTo>
                    <a:pt x="570" y="2417"/>
                  </a:lnTo>
                  <a:lnTo>
                    <a:pt x="567" y="2366"/>
                  </a:lnTo>
                  <a:lnTo>
                    <a:pt x="560" y="2318"/>
                  </a:lnTo>
                  <a:lnTo>
                    <a:pt x="547" y="2273"/>
                  </a:lnTo>
                  <a:lnTo>
                    <a:pt x="528" y="2229"/>
                  </a:lnTo>
                  <a:lnTo>
                    <a:pt x="504" y="2186"/>
                  </a:lnTo>
                  <a:lnTo>
                    <a:pt x="473" y="2144"/>
                  </a:lnTo>
                  <a:lnTo>
                    <a:pt x="437" y="2102"/>
                  </a:lnTo>
                  <a:lnTo>
                    <a:pt x="394" y="2061"/>
                  </a:lnTo>
                  <a:lnTo>
                    <a:pt x="343" y="2013"/>
                  </a:lnTo>
                  <a:lnTo>
                    <a:pt x="295" y="1962"/>
                  </a:lnTo>
                  <a:lnTo>
                    <a:pt x="245" y="1902"/>
                  </a:lnTo>
                  <a:lnTo>
                    <a:pt x="199" y="1839"/>
                  </a:lnTo>
                  <a:lnTo>
                    <a:pt x="158" y="1774"/>
                  </a:lnTo>
                  <a:lnTo>
                    <a:pt x="122" y="1706"/>
                  </a:lnTo>
                  <a:lnTo>
                    <a:pt x="90" y="1637"/>
                  </a:lnTo>
                  <a:lnTo>
                    <a:pt x="63" y="1564"/>
                  </a:lnTo>
                  <a:lnTo>
                    <a:pt x="41" y="1490"/>
                  </a:lnTo>
                  <a:lnTo>
                    <a:pt x="23" y="1415"/>
                  </a:lnTo>
                  <a:lnTo>
                    <a:pt x="10" y="1338"/>
                  </a:lnTo>
                  <a:lnTo>
                    <a:pt x="2" y="1261"/>
                  </a:lnTo>
                  <a:lnTo>
                    <a:pt x="0" y="1182"/>
                  </a:lnTo>
                  <a:lnTo>
                    <a:pt x="2" y="1104"/>
                  </a:lnTo>
                  <a:lnTo>
                    <a:pt x="10" y="1026"/>
                  </a:lnTo>
                  <a:lnTo>
                    <a:pt x="22" y="950"/>
                  </a:lnTo>
                  <a:lnTo>
                    <a:pt x="40" y="874"/>
                  </a:lnTo>
                  <a:lnTo>
                    <a:pt x="62" y="800"/>
                  </a:lnTo>
                  <a:lnTo>
                    <a:pt x="88" y="728"/>
                  </a:lnTo>
                  <a:lnTo>
                    <a:pt x="120" y="658"/>
                  </a:lnTo>
                  <a:lnTo>
                    <a:pt x="156" y="590"/>
                  </a:lnTo>
                  <a:lnTo>
                    <a:pt x="197" y="524"/>
                  </a:lnTo>
                  <a:lnTo>
                    <a:pt x="242" y="461"/>
                  </a:lnTo>
                  <a:lnTo>
                    <a:pt x="291" y="402"/>
                  </a:lnTo>
                  <a:lnTo>
                    <a:pt x="350" y="340"/>
                  </a:lnTo>
                  <a:lnTo>
                    <a:pt x="411" y="283"/>
                  </a:lnTo>
                  <a:lnTo>
                    <a:pt x="477" y="231"/>
                  </a:lnTo>
                  <a:lnTo>
                    <a:pt x="545" y="184"/>
                  </a:lnTo>
                  <a:lnTo>
                    <a:pt x="617" y="142"/>
                  </a:lnTo>
                  <a:lnTo>
                    <a:pt x="692" y="105"/>
                  </a:lnTo>
                  <a:lnTo>
                    <a:pt x="769" y="74"/>
                  </a:lnTo>
                  <a:lnTo>
                    <a:pt x="847" y="47"/>
                  </a:lnTo>
                  <a:lnTo>
                    <a:pt x="927" y="26"/>
                  </a:lnTo>
                  <a:lnTo>
                    <a:pt x="1010" y="12"/>
                  </a:lnTo>
                  <a:lnTo>
                    <a:pt x="1093" y="3"/>
                  </a:lnTo>
                  <a:lnTo>
                    <a:pt x="1177" y="0"/>
                  </a:lnTo>
                  <a:close/>
                </a:path>
              </a:pathLst>
            </a:custGeom>
            <a:solidFill>
              <a:srgbClr val="F2F2F2">
                <a:alpha val="60000"/>
              </a:srgbClr>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66" name="Google Shape;66;p13"/>
            <p:cNvSpPr/>
            <p:nvPr/>
          </p:nvSpPr>
          <p:spPr>
            <a:xfrm>
              <a:off x="1691" y="1203"/>
              <a:ext cx="304" cy="67"/>
            </a:xfrm>
            <a:custGeom>
              <a:avLst/>
              <a:gdLst/>
              <a:ahLst/>
              <a:cxnLst/>
              <a:rect l="l" t="t" r="r" b="b"/>
              <a:pathLst>
                <a:path w="1217" h="268" extrusionOk="0">
                  <a:moveTo>
                    <a:pt x="133" y="0"/>
                  </a:moveTo>
                  <a:lnTo>
                    <a:pt x="1084" y="0"/>
                  </a:lnTo>
                  <a:lnTo>
                    <a:pt x="1110" y="4"/>
                  </a:lnTo>
                  <a:lnTo>
                    <a:pt x="1136" y="11"/>
                  </a:lnTo>
                  <a:lnTo>
                    <a:pt x="1158" y="23"/>
                  </a:lnTo>
                  <a:lnTo>
                    <a:pt x="1177" y="40"/>
                  </a:lnTo>
                  <a:lnTo>
                    <a:pt x="1194" y="60"/>
                  </a:lnTo>
                  <a:lnTo>
                    <a:pt x="1207" y="83"/>
                  </a:lnTo>
                  <a:lnTo>
                    <a:pt x="1215" y="107"/>
                  </a:lnTo>
                  <a:lnTo>
                    <a:pt x="1217" y="135"/>
                  </a:lnTo>
                  <a:lnTo>
                    <a:pt x="1215" y="161"/>
                  </a:lnTo>
                  <a:lnTo>
                    <a:pt x="1207" y="186"/>
                  </a:lnTo>
                  <a:lnTo>
                    <a:pt x="1195" y="209"/>
                  </a:lnTo>
                  <a:lnTo>
                    <a:pt x="1178" y="229"/>
                  </a:lnTo>
                  <a:lnTo>
                    <a:pt x="1159" y="245"/>
                  </a:lnTo>
                  <a:lnTo>
                    <a:pt x="1136" y="257"/>
                  </a:lnTo>
                  <a:lnTo>
                    <a:pt x="1111" y="264"/>
                  </a:lnTo>
                  <a:lnTo>
                    <a:pt x="1085" y="268"/>
                  </a:lnTo>
                  <a:lnTo>
                    <a:pt x="133" y="268"/>
                  </a:lnTo>
                  <a:lnTo>
                    <a:pt x="106" y="264"/>
                  </a:lnTo>
                  <a:lnTo>
                    <a:pt x="81" y="257"/>
                  </a:lnTo>
                  <a:lnTo>
                    <a:pt x="58" y="245"/>
                  </a:lnTo>
                  <a:lnTo>
                    <a:pt x="39" y="228"/>
                  </a:lnTo>
                  <a:lnTo>
                    <a:pt x="23" y="208"/>
                  </a:lnTo>
                  <a:lnTo>
                    <a:pt x="9" y="186"/>
                  </a:lnTo>
                  <a:lnTo>
                    <a:pt x="2" y="161"/>
                  </a:lnTo>
                  <a:lnTo>
                    <a:pt x="0" y="135"/>
                  </a:lnTo>
                  <a:lnTo>
                    <a:pt x="2" y="107"/>
                  </a:lnTo>
                  <a:lnTo>
                    <a:pt x="9" y="83"/>
                  </a:lnTo>
                  <a:lnTo>
                    <a:pt x="23" y="60"/>
                  </a:lnTo>
                  <a:lnTo>
                    <a:pt x="39" y="40"/>
                  </a:lnTo>
                  <a:lnTo>
                    <a:pt x="58" y="23"/>
                  </a:lnTo>
                  <a:lnTo>
                    <a:pt x="81" y="11"/>
                  </a:lnTo>
                  <a:lnTo>
                    <a:pt x="106" y="4"/>
                  </a:lnTo>
                  <a:lnTo>
                    <a:pt x="133" y="0"/>
                  </a:lnTo>
                  <a:close/>
                </a:path>
              </a:pathLst>
            </a:custGeom>
            <a:solidFill>
              <a:srgbClr val="F2F2F2">
                <a:alpha val="60000"/>
              </a:srgbClr>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67" name="Google Shape;67;p13"/>
            <p:cNvSpPr/>
            <p:nvPr/>
          </p:nvSpPr>
          <p:spPr>
            <a:xfrm>
              <a:off x="1746" y="1314"/>
              <a:ext cx="195" cy="67"/>
            </a:xfrm>
            <a:custGeom>
              <a:avLst/>
              <a:gdLst/>
              <a:ahLst/>
              <a:cxnLst/>
              <a:rect l="l" t="t" r="r" b="b"/>
              <a:pathLst>
                <a:path w="780" h="267" extrusionOk="0">
                  <a:moveTo>
                    <a:pt x="133" y="0"/>
                  </a:moveTo>
                  <a:lnTo>
                    <a:pt x="646" y="0"/>
                  </a:lnTo>
                  <a:lnTo>
                    <a:pt x="673" y="3"/>
                  </a:lnTo>
                  <a:lnTo>
                    <a:pt x="699" y="11"/>
                  </a:lnTo>
                  <a:lnTo>
                    <a:pt x="721" y="23"/>
                  </a:lnTo>
                  <a:lnTo>
                    <a:pt x="741" y="39"/>
                  </a:lnTo>
                  <a:lnTo>
                    <a:pt x="757" y="59"/>
                  </a:lnTo>
                  <a:lnTo>
                    <a:pt x="769" y="81"/>
                  </a:lnTo>
                  <a:lnTo>
                    <a:pt x="777" y="106"/>
                  </a:lnTo>
                  <a:lnTo>
                    <a:pt x="780" y="133"/>
                  </a:lnTo>
                  <a:lnTo>
                    <a:pt x="777" y="160"/>
                  </a:lnTo>
                  <a:lnTo>
                    <a:pt x="769" y="185"/>
                  </a:lnTo>
                  <a:lnTo>
                    <a:pt x="757" y="208"/>
                  </a:lnTo>
                  <a:lnTo>
                    <a:pt x="741" y="227"/>
                  </a:lnTo>
                  <a:lnTo>
                    <a:pt x="721" y="244"/>
                  </a:lnTo>
                  <a:lnTo>
                    <a:pt x="699" y="256"/>
                  </a:lnTo>
                  <a:lnTo>
                    <a:pt x="673" y="264"/>
                  </a:lnTo>
                  <a:lnTo>
                    <a:pt x="646" y="267"/>
                  </a:lnTo>
                  <a:lnTo>
                    <a:pt x="133" y="267"/>
                  </a:lnTo>
                  <a:lnTo>
                    <a:pt x="106" y="264"/>
                  </a:lnTo>
                  <a:lnTo>
                    <a:pt x="82" y="256"/>
                  </a:lnTo>
                  <a:lnTo>
                    <a:pt x="59" y="244"/>
                  </a:lnTo>
                  <a:lnTo>
                    <a:pt x="39" y="227"/>
                  </a:lnTo>
                  <a:lnTo>
                    <a:pt x="22" y="208"/>
                  </a:lnTo>
                  <a:lnTo>
                    <a:pt x="10" y="185"/>
                  </a:lnTo>
                  <a:lnTo>
                    <a:pt x="3" y="160"/>
                  </a:lnTo>
                  <a:lnTo>
                    <a:pt x="0" y="133"/>
                  </a:lnTo>
                  <a:lnTo>
                    <a:pt x="3" y="106"/>
                  </a:lnTo>
                  <a:lnTo>
                    <a:pt x="10" y="81"/>
                  </a:lnTo>
                  <a:lnTo>
                    <a:pt x="22" y="59"/>
                  </a:lnTo>
                  <a:lnTo>
                    <a:pt x="39" y="39"/>
                  </a:lnTo>
                  <a:lnTo>
                    <a:pt x="59" y="23"/>
                  </a:lnTo>
                  <a:lnTo>
                    <a:pt x="82" y="11"/>
                  </a:lnTo>
                  <a:lnTo>
                    <a:pt x="106" y="3"/>
                  </a:lnTo>
                  <a:lnTo>
                    <a:pt x="133" y="0"/>
                  </a:lnTo>
                  <a:close/>
                </a:path>
              </a:pathLst>
            </a:custGeom>
            <a:solidFill>
              <a:srgbClr val="F2F2F2">
                <a:alpha val="60000"/>
              </a:srgbClr>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68" name="Google Shape;68;p13"/>
            <p:cNvSpPr/>
            <p:nvPr/>
          </p:nvSpPr>
          <p:spPr>
            <a:xfrm>
              <a:off x="1718" y="764"/>
              <a:ext cx="159" cy="383"/>
            </a:xfrm>
            <a:custGeom>
              <a:avLst/>
              <a:gdLst/>
              <a:ahLst/>
              <a:cxnLst/>
              <a:rect l="l" t="t" r="r" b="b"/>
              <a:pathLst>
                <a:path w="636" h="1533" extrusionOk="0">
                  <a:moveTo>
                    <a:pt x="134" y="0"/>
                  </a:moveTo>
                  <a:lnTo>
                    <a:pt x="160" y="2"/>
                  </a:lnTo>
                  <a:lnTo>
                    <a:pt x="184" y="9"/>
                  </a:lnTo>
                  <a:lnTo>
                    <a:pt x="207" y="22"/>
                  </a:lnTo>
                  <a:lnTo>
                    <a:pt x="228" y="38"/>
                  </a:lnTo>
                  <a:lnTo>
                    <a:pt x="596" y="407"/>
                  </a:lnTo>
                  <a:lnTo>
                    <a:pt x="608" y="421"/>
                  </a:lnTo>
                  <a:lnTo>
                    <a:pt x="619" y="439"/>
                  </a:lnTo>
                  <a:lnTo>
                    <a:pt x="628" y="460"/>
                  </a:lnTo>
                  <a:lnTo>
                    <a:pt x="634" y="484"/>
                  </a:lnTo>
                  <a:lnTo>
                    <a:pt x="636" y="512"/>
                  </a:lnTo>
                  <a:lnTo>
                    <a:pt x="636" y="1399"/>
                  </a:lnTo>
                  <a:lnTo>
                    <a:pt x="633" y="1426"/>
                  </a:lnTo>
                  <a:lnTo>
                    <a:pt x="625" y="1452"/>
                  </a:lnTo>
                  <a:lnTo>
                    <a:pt x="613" y="1474"/>
                  </a:lnTo>
                  <a:lnTo>
                    <a:pt x="596" y="1493"/>
                  </a:lnTo>
                  <a:lnTo>
                    <a:pt x="576" y="1510"/>
                  </a:lnTo>
                  <a:lnTo>
                    <a:pt x="554" y="1522"/>
                  </a:lnTo>
                  <a:lnTo>
                    <a:pt x="529" y="1530"/>
                  </a:lnTo>
                  <a:lnTo>
                    <a:pt x="502" y="1533"/>
                  </a:lnTo>
                  <a:lnTo>
                    <a:pt x="475" y="1530"/>
                  </a:lnTo>
                  <a:lnTo>
                    <a:pt x="450" y="1522"/>
                  </a:lnTo>
                  <a:lnTo>
                    <a:pt x="428" y="1510"/>
                  </a:lnTo>
                  <a:lnTo>
                    <a:pt x="408" y="1493"/>
                  </a:lnTo>
                  <a:lnTo>
                    <a:pt x="392" y="1474"/>
                  </a:lnTo>
                  <a:lnTo>
                    <a:pt x="380" y="1452"/>
                  </a:lnTo>
                  <a:lnTo>
                    <a:pt x="372" y="1426"/>
                  </a:lnTo>
                  <a:lnTo>
                    <a:pt x="369" y="1399"/>
                  </a:lnTo>
                  <a:lnTo>
                    <a:pt x="369" y="557"/>
                  </a:lnTo>
                  <a:lnTo>
                    <a:pt x="40" y="228"/>
                  </a:lnTo>
                  <a:lnTo>
                    <a:pt x="22" y="207"/>
                  </a:lnTo>
                  <a:lnTo>
                    <a:pt x="10" y="183"/>
                  </a:lnTo>
                  <a:lnTo>
                    <a:pt x="2" y="158"/>
                  </a:lnTo>
                  <a:lnTo>
                    <a:pt x="0" y="133"/>
                  </a:lnTo>
                  <a:lnTo>
                    <a:pt x="2" y="107"/>
                  </a:lnTo>
                  <a:lnTo>
                    <a:pt x="10" y="82"/>
                  </a:lnTo>
                  <a:lnTo>
                    <a:pt x="22" y="59"/>
                  </a:lnTo>
                  <a:lnTo>
                    <a:pt x="40" y="38"/>
                  </a:lnTo>
                  <a:lnTo>
                    <a:pt x="61" y="22"/>
                  </a:lnTo>
                  <a:lnTo>
                    <a:pt x="84" y="9"/>
                  </a:lnTo>
                  <a:lnTo>
                    <a:pt x="108" y="2"/>
                  </a:lnTo>
                  <a:lnTo>
                    <a:pt x="134" y="0"/>
                  </a:lnTo>
                  <a:close/>
                </a:path>
              </a:pathLst>
            </a:custGeom>
            <a:solidFill>
              <a:srgbClr val="F2F2F2">
                <a:alpha val="60000"/>
              </a:srgbClr>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69" name="Google Shape;69;p13"/>
            <p:cNvSpPr/>
            <p:nvPr/>
          </p:nvSpPr>
          <p:spPr>
            <a:xfrm>
              <a:off x="1884" y="764"/>
              <a:ext cx="85" cy="85"/>
            </a:xfrm>
            <a:custGeom>
              <a:avLst/>
              <a:gdLst/>
              <a:ahLst/>
              <a:cxnLst/>
              <a:rect l="l" t="t" r="r" b="b"/>
              <a:pathLst>
                <a:path w="337" h="338" extrusionOk="0">
                  <a:moveTo>
                    <a:pt x="204" y="0"/>
                  </a:moveTo>
                  <a:lnTo>
                    <a:pt x="230" y="2"/>
                  </a:lnTo>
                  <a:lnTo>
                    <a:pt x="254" y="10"/>
                  </a:lnTo>
                  <a:lnTo>
                    <a:pt x="277" y="22"/>
                  </a:lnTo>
                  <a:lnTo>
                    <a:pt x="298" y="38"/>
                  </a:lnTo>
                  <a:lnTo>
                    <a:pt x="315" y="59"/>
                  </a:lnTo>
                  <a:lnTo>
                    <a:pt x="327" y="83"/>
                  </a:lnTo>
                  <a:lnTo>
                    <a:pt x="335" y="108"/>
                  </a:lnTo>
                  <a:lnTo>
                    <a:pt x="337" y="133"/>
                  </a:lnTo>
                  <a:lnTo>
                    <a:pt x="335" y="159"/>
                  </a:lnTo>
                  <a:lnTo>
                    <a:pt x="327" y="184"/>
                  </a:lnTo>
                  <a:lnTo>
                    <a:pt x="315" y="207"/>
                  </a:lnTo>
                  <a:lnTo>
                    <a:pt x="298" y="228"/>
                  </a:lnTo>
                  <a:lnTo>
                    <a:pt x="227" y="298"/>
                  </a:lnTo>
                  <a:lnTo>
                    <a:pt x="206" y="316"/>
                  </a:lnTo>
                  <a:lnTo>
                    <a:pt x="183" y="328"/>
                  </a:lnTo>
                  <a:lnTo>
                    <a:pt x="158" y="335"/>
                  </a:lnTo>
                  <a:lnTo>
                    <a:pt x="133" y="338"/>
                  </a:lnTo>
                  <a:lnTo>
                    <a:pt x="107" y="334"/>
                  </a:lnTo>
                  <a:lnTo>
                    <a:pt x="83" y="328"/>
                  </a:lnTo>
                  <a:lnTo>
                    <a:pt x="60" y="316"/>
                  </a:lnTo>
                  <a:lnTo>
                    <a:pt x="39" y="298"/>
                  </a:lnTo>
                  <a:lnTo>
                    <a:pt x="22" y="277"/>
                  </a:lnTo>
                  <a:lnTo>
                    <a:pt x="10" y="254"/>
                  </a:lnTo>
                  <a:lnTo>
                    <a:pt x="3" y="229"/>
                  </a:lnTo>
                  <a:lnTo>
                    <a:pt x="0" y="203"/>
                  </a:lnTo>
                  <a:lnTo>
                    <a:pt x="3" y="178"/>
                  </a:lnTo>
                  <a:lnTo>
                    <a:pt x="10" y="153"/>
                  </a:lnTo>
                  <a:lnTo>
                    <a:pt x="22" y="130"/>
                  </a:lnTo>
                  <a:lnTo>
                    <a:pt x="39" y="109"/>
                  </a:lnTo>
                  <a:lnTo>
                    <a:pt x="110" y="38"/>
                  </a:lnTo>
                  <a:lnTo>
                    <a:pt x="131" y="22"/>
                  </a:lnTo>
                  <a:lnTo>
                    <a:pt x="154" y="10"/>
                  </a:lnTo>
                  <a:lnTo>
                    <a:pt x="179" y="2"/>
                  </a:lnTo>
                  <a:lnTo>
                    <a:pt x="204" y="0"/>
                  </a:lnTo>
                  <a:close/>
                </a:path>
              </a:pathLst>
            </a:custGeom>
            <a:solidFill>
              <a:srgbClr val="F2F2F2">
                <a:alpha val="60000"/>
              </a:srgbClr>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grpSp>
      <p:pic>
        <p:nvPicPr>
          <p:cNvPr id="70" name="Google Shape;70;p13" title="education-center.png"/>
          <p:cNvPicPr preferRelativeResize="0"/>
          <p:nvPr/>
        </p:nvPicPr>
        <p:blipFill rotWithShape="1">
          <a:blip r:embed="rId3">
            <a:alphaModFix/>
          </a:blip>
          <a:srcRect/>
          <a:stretch/>
        </p:blipFill>
        <p:spPr>
          <a:xfrm>
            <a:off x="4800890" y="906736"/>
            <a:ext cx="3364644" cy="3364644"/>
          </a:xfrm>
          <a:custGeom>
            <a:avLst/>
            <a:gdLst/>
            <a:ahLst/>
            <a:cxnLst/>
            <a:rect l="l" t="t" r="r" b="b"/>
            <a:pathLst>
              <a:path w="4486192" h="4486192" extrusionOk="0">
                <a:moveTo>
                  <a:pt x="2243096" y="0"/>
                </a:moveTo>
                <a:cubicBezTo>
                  <a:pt x="2287226" y="0"/>
                  <a:pt x="2331355" y="16835"/>
                  <a:pt x="2365025" y="50505"/>
                </a:cubicBezTo>
                <a:lnTo>
                  <a:pt x="4435687" y="2121167"/>
                </a:lnTo>
                <a:cubicBezTo>
                  <a:pt x="4503027" y="2188507"/>
                  <a:pt x="4503027" y="2297685"/>
                  <a:pt x="4435687" y="2365025"/>
                </a:cubicBezTo>
                <a:lnTo>
                  <a:pt x="2365025" y="4435687"/>
                </a:lnTo>
                <a:cubicBezTo>
                  <a:pt x="2297685" y="4503027"/>
                  <a:pt x="2188507" y="4503027"/>
                  <a:pt x="2121167" y="4435687"/>
                </a:cubicBezTo>
                <a:lnTo>
                  <a:pt x="50505" y="2365025"/>
                </a:lnTo>
                <a:cubicBezTo>
                  <a:pt x="-16835" y="2297685"/>
                  <a:pt x="-16835" y="2188507"/>
                  <a:pt x="50505" y="2121167"/>
                </a:cubicBezTo>
                <a:lnTo>
                  <a:pt x="2121167" y="50505"/>
                </a:lnTo>
                <a:cubicBezTo>
                  <a:pt x="2154837" y="16835"/>
                  <a:pt x="2198967" y="0"/>
                  <a:pt x="2243096" y="0"/>
                </a:cubicBezTo>
                <a:close/>
              </a:path>
            </a:pathLst>
          </a:custGeom>
          <a:noFill/>
          <a:ln>
            <a:noFill/>
          </a:ln>
        </p:spPr>
      </p:pic>
      <p:sp>
        <p:nvSpPr>
          <p:cNvPr id="71" name="Google Shape;71;p13"/>
          <p:cNvSpPr/>
          <p:nvPr/>
        </p:nvSpPr>
        <p:spPr>
          <a:xfrm>
            <a:off x="3888274" y="1100626"/>
            <a:ext cx="5376900" cy="4042800"/>
          </a:xfrm>
          <a:prstGeom prst="parallelogram">
            <a:avLst>
              <a:gd name="adj" fmla="val 104167"/>
            </a:avLst>
          </a:prstGeom>
          <a:gradFill>
            <a:gsLst>
              <a:gs pos="0">
                <a:srgbClr val="980000"/>
              </a:gs>
              <a:gs pos="15000">
                <a:srgbClr val="CC0000"/>
              </a:gs>
              <a:gs pos="64000">
                <a:srgbClr val="0053A1">
                  <a:alpha val="0"/>
                </a:srgbClr>
              </a:gs>
              <a:gs pos="100000">
                <a:srgbClr val="0053A1">
                  <a:alpha val="0"/>
                </a:srgbClr>
              </a:gs>
            </a:gsLst>
            <a:lin ang="18000042"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Calibri"/>
              <a:ea typeface="Calibri"/>
              <a:cs typeface="Calibri"/>
              <a:sym typeface="Calibri"/>
            </a:endParaRPr>
          </a:p>
        </p:txBody>
      </p:sp>
      <p:sp>
        <p:nvSpPr>
          <p:cNvPr id="72" name="Google Shape;72;p13"/>
          <p:cNvSpPr txBox="1"/>
          <p:nvPr/>
        </p:nvSpPr>
        <p:spPr>
          <a:xfrm>
            <a:off x="463487" y="1529413"/>
            <a:ext cx="3964800" cy="1361881"/>
          </a:xfrm>
          <a:prstGeom prst="rect">
            <a:avLst/>
          </a:prstGeom>
          <a:noFill/>
          <a:ln>
            <a:noFill/>
          </a:ln>
        </p:spPr>
        <p:txBody>
          <a:bodyPr spcFirstLastPara="1" wrap="square" lIns="86025" tIns="43000" rIns="86025" bIns="43000" anchor="t" anchorCtr="0">
            <a:spAutoFit/>
          </a:bodyPr>
          <a:lstStyle/>
          <a:p>
            <a:pPr marL="0" marR="0" lvl="0" indent="0" algn="l" rtl="0">
              <a:lnSpc>
                <a:spcPct val="100000"/>
              </a:lnSpc>
              <a:spcBef>
                <a:spcPts val="0"/>
              </a:spcBef>
              <a:spcAft>
                <a:spcPts val="0"/>
              </a:spcAft>
              <a:buNone/>
            </a:pPr>
            <a:r>
              <a:rPr lang="en" sz="2800" b="1" i="0" u="none" strike="noStrike" cap="none" dirty="0">
                <a:solidFill>
                  <a:srgbClr val="193993"/>
                </a:solidFill>
                <a:latin typeface="Poppins SemiBold"/>
                <a:ea typeface="Poppins SemiBold"/>
                <a:cs typeface="Poppins SemiBold"/>
                <a:sym typeface="Poppins SemiBold"/>
              </a:rPr>
              <a:t>TypeScript </a:t>
            </a:r>
            <a:endParaRPr lang="en" sz="2800" b="0" i="0" u="none" strike="noStrike" cap="none" dirty="0">
              <a:solidFill>
                <a:srgbClr val="000000"/>
              </a:solidFill>
              <a:latin typeface="Roboto"/>
              <a:ea typeface="Roboto"/>
              <a:cs typeface="Roboto"/>
              <a:sym typeface="Roboto"/>
            </a:endParaRPr>
          </a:p>
          <a:p>
            <a:pPr marL="0" marR="0" lvl="0" indent="0" algn="l" rtl="0">
              <a:lnSpc>
                <a:spcPct val="100000"/>
              </a:lnSpc>
              <a:spcBef>
                <a:spcPts val="0"/>
              </a:spcBef>
              <a:spcAft>
                <a:spcPts val="0"/>
              </a:spcAft>
              <a:buNone/>
            </a:pPr>
            <a:r>
              <a:rPr lang="en" sz="2800" b="1" i="0" u="none" strike="noStrike" cap="none" dirty="0">
                <a:solidFill>
                  <a:srgbClr val="C00000"/>
                </a:solidFill>
                <a:latin typeface="Poppins SemiBold"/>
                <a:ea typeface="Poppins SemiBold"/>
                <a:cs typeface="Poppins SemiBold"/>
                <a:sym typeface="Poppins SemiBold"/>
              </a:rPr>
              <a:t>for Beginners</a:t>
            </a:r>
            <a:endParaRPr lang="en" sz="2800" b="0" i="0" u="none" strike="noStrike" cap="none" dirty="0">
              <a:solidFill>
                <a:srgbClr val="000000"/>
              </a:solidFill>
              <a:latin typeface="Roboto"/>
              <a:ea typeface="Roboto"/>
              <a:cs typeface="Roboto"/>
              <a:sym typeface="Roboto"/>
            </a:endParaRPr>
          </a:p>
        </p:txBody>
      </p:sp>
      <p:sp>
        <p:nvSpPr>
          <p:cNvPr id="73" name="Google Shape;73;p13"/>
          <p:cNvSpPr txBox="1"/>
          <p:nvPr/>
        </p:nvSpPr>
        <p:spPr>
          <a:xfrm>
            <a:off x="490918" y="2988239"/>
            <a:ext cx="3300000" cy="407774"/>
          </a:xfrm>
          <a:prstGeom prst="rect">
            <a:avLst/>
          </a:prstGeom>
          <a:noFill/>
          <a:ln>
            <a:noFill/>
          </a:ln>
        </p:spPr>
        <p:txBody>
          <a:bodyPr spcFirstLastPara="1" wrap="square" lIns="86025" tIns="43000" rIns="86025" bIns="43000" anchor="t" anchorCtr="0">
            <a:spAutoFit/>
          </a:bodyPr>
          <a:lstStyle/>
          <a:p>
            <a:pPr marL="0" marR="0" lvl="0" indent="0" algn="l" rtl="0">
              <a:lnSpc>
                <a:spcPct val="100000"/>
              </a:lnSpc>
              <a:spcBef>
                <a:spcPts val="0"/>
              </a:spcBef>
              <a:spcAft>
                <a:spcPts val="0"/>
              </a:spcAft>
              <a:buNone/>
            </a:pPr>
            <a:r>
              <a:rPr lang="en" sz="1100" b="0" i="0" u="none" strike="noStrike" cap="none" dirty="0">
                <a:solidFill>
                  <a:srgbClr val="7F7F7F"/>
                </a:solidFill>
                <a:latin typeface="Roboto"/>
                <a:ea typeface="Roboto"/>
                <a:cs typeface="Roboto"/>
                <a:sym typeface="Roboto"/>
              </a:rPr>
              <a:t>From Fundamentals to Build Tools</a:t>
            </a:r>
            <a:endParaRPr lang="en" sz="1100" b="0" i="0" u="none" strike="noStrike" cap="none" dirty="0">
              <a:solidFill>
                <a:srgbClr val="000000"/>
              </a:solidFill>
              <a:latin typeface="Roboto"/>
              <a:ea typeface="Roboto"/>
              <a:cs typeface="Roboto"/>
              <a:sym typeface="Roboto"/>
            </a:endParaRPr>
          </a:p>
        </p:txBody>
      </p:sp>
      <p:sp>
        <p:nvSpPr>
          <p:cNvPr id="74" name="Google Shape;74;p13"/>
          <p:cNvSpPr txBox="1"/>
          <p:nvPr/>
        </p:nvSpPr>
        <p:spPr>
          <a:xfrm>
            <a:off x="446349" y="4433472"/>
            <a:ext cx="2436900" cy="269400"/>
          </a:xfrm>
          <a:prstGeom prst="rect">
            <a:avLst/>
          </a:prstGeom>
          <a:noFill/>
          <a:ln>
            <a:noFill/>
          </a:ln>
        </p:spPr>
        <p:txBody>
          <a:bodyPr spcFirstLastPara="1" wrap="non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 sz="1300" b="0" i="0" u="none" strike="noStrike" cap="none">
                <a:solidFill>
                  <a:srgbClr val="7F7F7F"/>
                </a:solidFill>
                <a:latin typeface="Roboto"/>
                <a:ea typeface="Roboto"/>
                <a:cs typeface="Roboto"/>
                <a:sym typeface="Roboto"/>
              </a:rPr>
              <a:t>www.</a:t>
            </a:r>
            <a:r>
              <a:rPr lang="en" sz="1300">
                <a:solidFill>
                  <a:srgbClr val="7F7F7F"/>
                </a:solidFill>
                <a:latin typeface="Roboto"/>
                <a:ea typeface="Roboto"/>
                <a:cs typeface="Roboto"/>
                <a:sym typeface="Roboto"/>
              </a:rPr>
              <a:t>careercraftacademy.com</a:t>
            </a:r>
            <a:endParaRPr sz="1300" b="0" i="0" u="none" strike="noStrike" cap="none">
              <a:solidFill>
                <a:srgbClr val="7F7F7F"/>
              </a:solidFill>
              <a:latin typeface="Roboto"/>
              <a:ea typeface="Roboto"/>
              <a:cs typeface="Roboto"/>
              <a:sym typeface="Roboto"/>
            </a:endParaRPr>
          </a:p>
        </p:txBody>
      </p:sp>
      <p:pic>
        <p:nvPicPr>
          <p:cNvPr id="76" name="Google Shape;76;p13" title="Untitled-1-07.png"/>
          <p:cNvPicPr preferRelativeResize="0"/>
          <p:nvPr/>
        </p:nvPicPr>
        <p:blipFill rotWithShape="1">
          <a:blip r:embed="rId4">
            <a:alphaModFix/>
          </a:blip>
          <a:srcRect l="5096" b="15895"/>
          <a:stretch/>
        </p:blipFill>
        <p:spPr>
          <a:xfrm>
            <a:off x="337150" y="155375"/>
            <a:ext cx="3364626" cy="837375"/>
          </a:xfrm>
          <a:prstGeom prst="rect">
            <a:avLst/>
          </a:prstGeom>
          <a:noFill/>
          <a:ln>
            <a:noFill/>
          </a:ln>
        </p:spPr>
      </p:pic>
      <p:sp>
        <p:nvSpPr>
          <p:cNvPr id="646" name="Topics"/>
          <p:cNvSpPr txBox="1"/>
          <p:nvPr/>
        </p:nvSpPr>
        <p:spPr>
          <a:xfrm>
            <a:off x="490918" y="3420000"/>
            <a:ext cx="3600000" cy="800000"/>
          </a:xfrm>
          <a:prstGeom prst="rect">
            <a:avLst/>
          </a:prstGeom>
          <a:noFill/>
        </p:spPr>
        <p:txBody>
          <a:bodyPr spcFirstLastPara="1" wrap="square" lIns="86025" tIns="43000" rIns="86025" bIns="43000" anchor="t" anchorCtr="0">
            <a:noAutofit/>
          </a:bodyPr>
          <a:lstStyle/>
          <a:p>
            <a:pPr marL="0" marR="0" lvl="0" indent="0" algn="l" rtl="0">
              <a:lnSpc>
                <a:spcPct val="135000"/>
              </a:lnSpc>
              <a:spcBef>
                <a:spcPts val="0"/>
              </a:spcBef>
              <a:spcAft>
                <a:spcPts val="0"/>
              </a:spcAft>
              <a:buNone/>
            </a:pPr>
            <a:r>
              <a:rPr lang="en" sz="1000" b="0" i="0" u="none" strike="noStrike" cap="none" dirty="0">
                <a:solidFill>
                  <a:srgbClr val="7F7F7F"/>
                </a:solidFill>
                <a:latin typeface="Roboto"/>
                <a:ea typeface="Roboto"/>
                <a:cs typeface="Roboto"/>
                <a:sym typeface="Roboto"/>
              </a:rPr>
              <a:t>Introduction  |  The Type System  |  Functions  |  Object-Oriented Programming  |  Interfaces and Types  |  Advanced Types  |  Build Tools</a:t>
            </a:r>
            <a:endParaRPr lang="en" sz="1000" b="0" i="0" u="none" strike="noStrike" cap="none" dirty="0">
              <a:solidFill>
                <a:srgbClr val="000000"/>
              </a:solidFill>
              <a:latin typeface="Roboto"/>
              <a:ea typeface="Roboto"/>
              <a:cs typeface="Roboto"/>
              <a:sym typeface="Roboto"/>
            </a:endParaRP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grpSpPr/>
      <p:grpSp>
        <p:nvGrpSpPr>
          <p:cNvPr id="119" name="Google Shape;119;p16"/>
          <p:cNvGrpSpPr/>
          <p:nvPr/>
        </p:nvGrpSpPr>
        <p:grpSpPr>
          <a:xfrm flipH="1">
            <a:off x="5429250" y="-2"/>
            <a:ext cx="3714750" cy="4564828"/>
            <a:chOff x="0" y="-55"/>
            <a:chExt cx="3962400" cy="4869150"/>
          </a:xfrm>
        </p:grpSpPr>
        <p:sp>
          <p:nvSpPr>
            <p:cNvPr id="120" name="Google Shape;120;p16"/>
            <p:cNvSpPr/>
            <p:nvPr/>
          </p:nvSpPr>
          <p:spPr>
            <a:xfrm rot="10800000" flipH="1">
              <a:off x="0" y="-50"/>
              <a:ext cx="3962400" cy="3962400"/>
            </a:xfrm>
            <a:prstGeom prst="rtTriangle">
              <a:avLst/>
            </a:prstGeom>
            <a:solidFill>
              <a:srgbClr val="0053A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Calibri"/>
                <a:ea typeface="Calibri"/>
                <a:cs typeface="Calibri"/>
                <a:sym typeface="Calibri"/>
              </a:endParaRPr>
            </a:p>
          </p:txBody>
        </p:sp>
        <p:sp>
          <p:nvSpPr>
            <p:cNvPr id="121" name="Google Shape;121;p16"/>
            <p:cNvSpPr/>
            <p:nvPr/>
          </p:nvSpPr>
          <p:spPr>
            <a:xfrm rot="10800000">
              <a:off x="33807" y="-55"/>
              <a:ext cx="3264300" cy="2341800"/>
            </a:xfrm>
            <a:prstGeom prst="parallelogram">
              <a:avLst>
                <a:gd name="adj" fmla="val 104167"/>
              </a:avLst>
            </a:prstGeom>
            <a:gradFill>
              <a:gsLst>
                <a:gs pos="0">
                  <a:srgbClr val="003E78"/>
                </a:gs>
                <a:gs pos="15000">
                  <a:srgbClr val="003E78"/>
                </a:gs>
                <a:gs pos="64000">
                  <a:srgbClr val="0053A1">
                    <a:alpha val="0"/>
                  </a:srgbClr>
                </a:gs>
                <a:gs pos="100000">
                  <a:srgbClr val="0053A1">
                    <a:alpha val="0"/>
                  </a:srgbClr>
                </a:gs>
              </a:gsLst>
              <a:lin ang="18000042"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Calibri"/>
                <a:ea typeface="Calibri"/>
                <a:cs typeface="Calibri"/>
                <a:sym typeface="Calibri"/>
              </a:endParaRPr>
            </a:p>
          </p:txBody>
        </p:sp>
        <p:sp>
          <p:nvSpPr>
            <p:cNvPr id="122" name="Google Shape;122;p16"/>
            <p:cNvSpPr/>
            <p:nvPr/>
          </p:nvSpPr>
          <p:spPr>
            <a:xfrm>
              <a:off x="0" y="2671369"/>
              <a:ext cx="2289304" cy="2197726"/>
            </a:xfrm>
            <a:custGeom>
              <a:avLst/>
              <a:gdLst/>
              <a:ahLst/>
              <a:cxnLst/>
              <a:rect l="l" t="t" r="r" b="b"/>
              <a:pathLst>
                <a:path w="2289304" h="2197726" extrusionOk="0">
                  <a:moveTo>
                    <a:pt x="1614108" y="0"/>
                  </a:moveTo>
                  <a:lnTo>
                    <a:pt x="2289304" y="0"/>
                  </a:lnTo>
                  <a:lnTo>
                    <a:pt x="0" y="2197726"/>
                  </a:lnTo>
                  <a:lnTo>
                    <a:pt x="0" y="1549539"/>
                  </a:lnTo>
                  <a:close/>
                </a:path>
              </a:pathLst>
            </a:custGeom>
            <a:gradFill>
              <a:gsLst>
                <a:gs pos="0">
                  <a:srgbClr val="980000"/>
                </a:gs>
                <a:gs pos="15000">
                  <a:srgbClr val="CC0000"/>
                </a:gs>
                <a:gs pos="64000">
                  <a:srgbClr val="0053A1">
                    <a:alpha val="0"/>
                  </a:srgbClr>
                </a:gs>
                <a:gs pos="100000">
                  <a:srgbClr val="0053A1">
                    <a:alpha val="0"/>
                  </a:srgbClr>
                </a:gs>
              </a:gsLst>
              <a:lin ang="18000042"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Calibri"/>
                <a:ea typeface="Calibri"/>
                <a:cs typeface="Calibri"/>
                <a:sym typeface="Calibri"/>
              </a:endParaRPr>
            </a:p>
          </p:txBody>
        </p:sp>
      </p:grpSp>
      <p:pic>
        <p:nvPicPr>
          <p:cNvPr id="129" name="Google Shape;129;p16" title="Untitled-1-07.png"/>
          <p:cNvPicPr preferRelativeResize="0"/>
          <p:nvPr/>
        </p:nvPicPr>
        <p:blipFill rotWithShape="1">
          <a:blip r:embed="rId2">
            <a:alphaModFix/>
          </a:blip>
          <a:srcRect l="5100" r="4630" b="15895"/>
          <a:stretch/>
        </p:blipFill>
        <p:spPr>
          <a:xfrm>
            <a:off x="880549" y="4348257"/>
            <a:ext cx="2096958" cy="548700"/>
          </a:xfrm>
          <a:prstGeom prst="rect">
            <a:avLst/>
          </a:prstGeom>
          <a:noFill/>
          <a:ln>
            <a:noFill/>
          </a:ln>
        </p:spPr>
      </p:pic>
      <p:pic>
        <p:nvPicPr>
          <p:cNvPr id="130" name="Google Shape;130;p16" title="powerd by.png"/>
          <p:cNvPicPr preferRelativeResize="0"/>
          <p:nvPr/>
        </p:nvPicPr>
        <p:blipFill rotWithShape="1">
          <a:blip r:embed="rId4">
            <a:alphaModFix/>
          </a:blip>
          <a:srcRect l="6981" t="44048" r="6714" b="14302"/>
          <a:stretch/>
        </p:blipFill>
        <p:spPr>
          <a:xfrm>
            <a:off x="3537800" y="4500588"/>
            <a:ext cx="2130125" cy="355975"/>
          </a:xfrm>
          <a:prstGeom prst="rect">
            <a:avLst/>
          </a:prstGeom>
          <a:noFill/>
          <a:ln>
            <a:noFill/>
          </a:ln>
        </p:spPr>
      </p:pic>
      <p:sp>
        <p:nvSpPr>
          <p:cNvPr id="131" name="Google Shape;131;p16"/>
          <p:cNvSpPr txBox="1"/>
          <p:nvPr/>
        </p:nvSpPr>
        <p:spPr>
          <a:xfrm>
            <a:off x="5998012" y="4596047"/>
            <a:ext cx="2436900" cy="253800"/>
          </a:xfrm>
          <a:prstGeom prst="rect">
            <a:avLst/>
          </a:prstGeom>
          <a:noFill/>
          <a:ln>
            <a:noFill/>
          </a:ln>
        </p:spPr>
        <p:txBody>
          <a:bodyPr spcFirstLastPara="1" wrap="non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0053A1"/>
                </a:solidFill>
                <a:latin typeface="Roboto"/>
                <a:ea typeface="Roboto"/>
                <a:cs typeface="Roboto"/>
                <a:sym typeface="Roboto"/>
              </a:rPr>
              <a:t>www.</a:t>
            </a:r>
            <a:r>
              <a:rPr lang="en" sz="1200" b="1">
                <a:solidFill>
                  <a:srgbClr val="0053A1"/>
                </a:solidFill>
                <a:latin typeface="Roboto"/>
                <a:ea typeface="Roboto"/>
                <a:cs typeface="Roboto"/>
                <a:sym typeface="Roboto"/>
              </a:rPr>
              <a:t>careercraftacademy.com</a:t>
            </a:r>
            <a:endParaRPr sz="1200" b="1" i="0" u="none" strike="noStrike" cap="none">
              <a:solidFill>
                <a:srgbClr val="0053A1"/>
              </a:solidFill>
              <a:latin typeface="Roboto"/>
              <a:ea typeface="Roboto"/>
              <a:cs typeface="Roboto"/>
              <a:sym typeface="Roboto"/>
            </a:endParaRPr>
          </a:p>
        </p:txBody>
      </p:sp>
      <p:sp>
        <p:nvSpPr>
          <p:cNvPr id="311" name="Kicker"/>
          <p:cNvSpPr txBox="1"/>
          <p:nvPr/>
        </p:nvSpPr>
        <p:spPr>
          <a:xfrm>
            <a:off x="675600" y="285000"/>
            <a:ext cx="4150000" cy="241200"/>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1003" b="0" i="0" u="none" strike="noStrike" cap="none" dirty="0">
                <a:solidFill>
                  <a:srgbClr val="7F7F7F"/>
                </a:solidFill>
                <a:latin typeface="Roboto"/>
                <a:ea typeface="Roboto"/>
                <a:cs typeface="Roboto"/>
                <a:sym typeface="Roboto"/>
              </a:rPr>
              <a:t>Introduction</a:t>
            </a:r>
            <a:endParaRPr lang="en" sz="1003" b="0" i="0" u="none" strike="noStrike" cap="none" dirty="0">
              <a:solidFill>
                <a:srgbClr val="000000"/>
              </a:solidFill>
              <a:latin typeface="Roboto"/>
              <a:ea typeface="Roboto"/>
              <a:cs typeface="Roboto"/>
              <a:sym typeface="Roboto"/>
            </a:endParaRPr>
          </a:p>
        </p:txBody>
      </p:sp>
      <p:sp>
        <p:nvSpPr>
          <p:cNvPr id="312" name="Title"/>
          <p:cNvSpPr txBox="1"/>
          <p:nvPr/>
        </p:nvSpPr>
        <p:spPr>
          <a:xfrm>
            <a:off x="675600" y="520000"/>
            <a:ext cx="4150000" cy="425394"/>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2200" b="1" i="0" u="none" strike="noStrike" cap="none" dirty="0">
                <a:solidFill>
                  <a:srgbClr val="0053A1"/>
                </a:solidFill>
                <a:latin typeface="Poppins SemiBold"/>
                <a:ea typeface="Poppins SemiBold"/>
                <a:cs typeface="Poppins SemiBold"/>
                <a:sym typeface="Poppins SemiBold"/>
              </a:rPr>
              <a:t>What is </a:t>
            </a:r>
            <a:r>
              <a:rPr lang="en" sz="2200" b="1" i="0" u="none" strike="noStrike" cap="none" dirty="0">
                <a:solidFill>
                  <a:srgbClr val="000000"/>
                </a:solidFill>
                <a:latin typeface="Poppins SemiBold"/>
                <a:ea typeface="Poppins SemiBold"/>
                <a:cs typeface="Poppins SemiBold"/>
                <a:sym typeface="Poppins SemiBold"/>
              </a:rPr>
              <a:t>TypeScript?</a:t>
            </a:r>
            <a:endParaRPr lang="en" sz="2200" b="0" i="0" u="none" strike="noStrike" cap="none" dirty="0">
              <a:solidFill>
                <a:srgbClr val="000000"/>
              </a:solidFill>
              <a:latin typeface="Roboto"/>
              <a:ea typeface="Roboto"/>
              <a:cs typeface="Roboto"/>
              <a:sym typeface="Roboto"/>
            </a:endParaRPr>
          </a:p>
        </p:txBody>
      </p:sp>
      <p:sp>
        <p:nvSpPr>
          <p:cNvPr id="313" name="Body"/>
          <p:cNvSpPr txBox="1"/>
          <p:nvPr/>
        </p:nvSpPr>
        <p:spPr>
          <a:xfrm>
            <a:off x="620000" y="1048000"/>
            <a:ext cx="4150000" cy="2072279"/>
          </a:xfrm>
          <a:prstGeom prst="rect">
            <a:avLst/>
          </a:prstGeom>
          <a:noFill/>
        </p:spPr>
        <p:txBody>
          <a:bodyPr spcFirstLastPara="1" wrap="square" lIns="86025" tIns="43000" rIns="86025" bIns="43000" anchor="t" anchorCtr="0">
            <a:noAutofit/>
          </a:bodyPr>
          <a:lstStyle/>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A </a:t>
            </a:r>
            <a:r>
              <a:rPr lang="en" sz="1100" b="1" i="0" u="none" strike="noStrike" cap="none" dirty="0">
                <a:solidFill>
                  <a:schemeClr val="tx1"/>
                </a:solidFill>
                <a:latin typeface="Roboto"/>
                <a:ea typeface="Roboto"/>
                <a:cs typeface="Roboto"/>
                <a:sym typeface="Roboto"/>
              </a:rPr>
              <a:t>strongly typed</a:t>
            </a:r>
            <a:r>
              <a:rPr lang="en" sz="1100" b="0" i="0" u="none" strike="noStrike" cap="none" dirty="0">
                <a:solidFill>
                  <a:schemeClr val="tx1"/>
                </a:solidFill>
                <a:latin typeface="Roboto"/>
                <a:ea typeface="Roboto"/>
                <a:cs typeface="Roboto"/>
                <a:sym typeface="Roboto"/>
              </a:rPr>
              <a:t> language built on JavaScript</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Created by </a:t>
            </a:r>
            <a:r>
              <a:rPr lang="en" sz="1100" b="1" i="0" u="none" strike="noStrike" cap="none" dirty="0">
                <a:solidFill>
                  <a:schemeClr val="tx1"/>
                </a:solidFill>
                <a:latin typeface="Roboto"/>
                <a:ea typeface="Roboto"/>
                <a:cs typeface="Roboto"/>
                <a:sym typeface="Roboto"/>
              </a:rPr>
              <a:t>Microsoft</a:t>
            </a:r>
            <a:r>
              <a:rPr lang="en" sz="1100" b="0" i="0" u="none" strike="noStrike" cap="none" dirty="0">
                <a:solidFill>
                  <a:schemeClr val="tx1"/>
                </a:solidFill>
                <a:latin typeface="Roboto"/>
                <a:ea typeface="Roboto"/>
                <a:cs typeface="Roboto"/>
                <a:sym typeface="Roboto"/>
              </a:rPr>
              <a:t> in 2012 (Anders Hejlsberg, creator of C#)</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A </a:t>
            </a:r>
            <a:r>
              <a:rPr lang="en" sz="1100" b="1" i="0" u="none" strike="noStrike" cap="none" dirty="0">
                <a:solidFill>
                  <a:schemeClr val="tx1"/>
                </a:solidFill>
                <a:latin typeface="Roboto"/>
                <a:ea typeface="Roboto"/>
                <a:cs typeface="Roboto"/>
                <a:sym typeface="Roboto"/>
              </a:rPr>
              <a:t>superset</a:t>
            </a:r>
            <a:r>
              <a:rPr lang="en" sz="1100" b="0" i="0" u="none" strike="noStrike" cap="none" dirty="0">
                <a:solidFill>
                  <a:schemeClr val="tx1"/>
                </a:solidFill>
                <a:latin typeface="Roboto"/>
                <a:ea typeface="Roboto"/>
                <a:cs typeface="Roboto"/>
                <a:sym typeface="Roboto"/>
              </a:rPr>
              <a:t> of JavaScript - all valid JS is valid TS</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Adds </a:t>
            </a:r>
            <a:r>
              <a:rPr lang="en" sz="1100" b="1" i="0" u="none" strike="noStrike" cap="none" dirty="0">
                <a:solidFill>
                  <a:schemeClr val="tx1"/>
                </a:solidFill>
                <a:latin typeface="Roboto"/>
                <a:ea typeface="Roboto"/>
                <a:cs typeface="Roboto"/>
                <a:sym typeface="Roboto"/>
              </a:rPr>
              <a:t>static typing</a:t>
            </a:r>
            <a:r>
              <a:rPr lang="en" sz="1100" b="0" i="0" u="none" strike="noStrike" cap="none" dirty="0">
                <a:solidFill>
                  <a:schemeClr val="tx1"/>
                </a:solidFill>
                <a:latin typeface="Roboto"/>
                <a:ea typeface="Roboto"/>
                <a:cs typeface="Roboto"/>
                <a:sym typeface="Roboto"/>
              </a:rPr>
              <a:t>, interfaces, generics and OOP</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Compiles (transpiles) to </a:t>
            </a:r>
            <a:r>
              <a:rPr lang="en" sz="1100" b="1" i="0" u="none" strike="noStrike" cap="none" dirty="0">
                <a:solidFill>
                  <a:schemeClr val="tx1"/>
                </a:solidFill>
                <a:latin typeface="Roboto"/>
                <a:ea typeface="Roboto"/>
                <a:cs typeface="Roboto"/>
                <a:sym typeface="Roboto"/>
              </a:rPr>
              <a:t>plain JavaScript</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Free, open-source, huge community</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Powers Angular, React, Vue and Node.js</a:t>
            </a:r>
            <a:endParaRPr lang="en" sz="1100" b="0" i="0" u="none" strike="noStrike" cap="none" dirty="0">
              <a:solidFill>
                <a:srgbClr val="000000"/>
              </a:solidFill>
              <a:latin typeface="Roboto"/>
              <a:ea typeface="Roboto"/>
              <a:cs typeface="Roboto"/>
              <a:sym typeface="Roboto"/>
            </a:endParaRPr>
          </a:p>
        </p:txBody>
      </p:sp>
      <p:sp>
        <p:nvSpPr>
          <p:cNvPr id="301" name="Visual panel"/>
          <p:cNvSpPr/>
          <p:nvPr/>
        </p:nvSpPr>
        <p:spPr>
          <a:xfrm>
            <a:off x="4940000" y="560000"/>
            <a:ext cx="3500000" cy="3590000"/>
          </a:xfrm>
          <a:prstGeom prst="roundRect">
            <a:avLst>
              <a:gd name="adj" fmla="val 3000"/>
            </a:avLst>
          </a:prstGeom>
          <a:solidFill>
            <a:srgbClr val="FFFFFF"/>
          </a:solidFill>
          <a:ln w="9525">
            <a:solidFill>
              <a:srgbClr val="D9D9D9"/>
            </a:solidFill>
          </a:ln>
          <a:effectLst>
            <a:outerShdw blurRad="63500" dist="25400" dir="5400000" algn="t" rotWithShape="0">
              <a:srgbClr val="000000">
                <a:alpha val="22000"/>
              </a:srgbClr>
            </a:outerShdw>
          </a:effectLst>
        </p:spPr>
        <p:txBody>
          <a:bodyPr rtlCol="0" anchor="ctr"/>
          <a:lstStyle/>
          <a:p>
            <a:pPr algn="ctr"/>
          </a:p>
        </p:txBody>
      </p:sp>
      <p:sp>
        <p:nvSpPr>
          <p:cNvPr id="302" name="Panel heading"/>
          <p:cNvSpPr txBox="1"/>
          <p:nvPr/>
        </p:nvSpPr>
        <p:spPr>
          <a:xfrm>
            <a:off x="5070000" y="690000"/>
            <a:ext cx="3240000" cy="270000"/>
          </a:xfrm>
          <a:prstGeom prst="rect">
            <a:avLst/>
          </a:prstGeom>
          <a:noFill/>
        </p:spPr>
        <p:txBody>
          <a:bodyPr spcFirstLastPara="1" wrap="square" lIns="0" tIns="30000" rIns="0" bIns="0" anchor="t" anchorCtr="0">
            <a:noAutofit/>
          </a:bodyPr>
          <a:lstStyle/>
          <a:p>
            <a:pPr marL="0" marR="0" lvl="0" indent="0" algn="l" rtl="0">
              <a:lnSpc>
                <a:spcPct val="100000"/>
              </a:lnSpc>
              <a:spcBef>
                <a:spcPts val="0"/>
              </a:spcBef>
              <a:spcAft>
                <a:spcPts val="0"/>
              </a:spcAft>
              <a:buNone/>
            </a:pPr>
            <a:r>
              <a:rPr lang="en" sz="1100" b="1" i="0" u="none" strike="noStrike" cap="none" dirty="0">
                <a:solidFill>
                  <a:srgbClr val="0053A1"/>
                </a:solidFill>
                <a:latin typeface="Poppins SemiBold"/>
                <a:ea typeface="Poppins SemiBold"/>
                <a:cs typeface="Poppins SemiBold"/>
                <a:sym typeface="Poppins SemiBold"/>
              </a:rPr>
              <a:t>TypeScript = JavaScript + Types</a:t>
            </a:r>
            <a:endParaRPr lang="en" sz="1100" b="0" i="0" u="none" strike="noStrike" cap="none" dirty="0">
              <a:solidFill>
                <a:srgbClr val="000000"/>
              </a:solidFill>
              <a:latin typeface="Roboto"/>
              <a:ea typeface="Roboto"/>
              <a:cs typeface="Roboto"/>
              <a:sym typeface="Roboto"/>
            </a:endParaRPr>
          </a:p>
        </p:txBody>
      </p:sp>
      <p:sp>
        <p:nvSpPr>
          <p:cNvPr id="303" name="TS outer"/>
          <p:cNvSpPr/>
          <p:nvPr/>
        </p:nvSpPr>
        <p:spPr>
          <a:xfrm>
            <a:off x="5070000" y="1080000"/>
            <a:ext cx="3240000" cy="1250000"/>
          </a:xfrm>
          <a:prstGeom prst="roundRect">
            <a:avLst>
              <a:gd name="adj" fmla="val 6000"/>
            </a:avLst>
          </a:prstGeom>
          <a:solidFill>
            <a:srgbClr val="E6EFFA"/>
          </a:solidFill>
          <a:ln w="9525">
            <a:solidFill>
              <a:srgbClr val="0053A1"/>
            </a:solidFill>
          </a:ln>
        </p:spPr>
        <p:txBody>
          <a:bodyPr rtlCol="0" anchor="ctr"/>
          <a:lstStyle/>
          <a:p>
            <a:pPr algn="ctr"/>
          </a:p>
        </p:txBody>
      </p:sp>
      <p:sp>
        <p:nvSpPr>
          <p:cNvPr id="304" name="TS label"/>
          <p:cNvSpPr txBox="1"/>
          <p:nvPr/>
        </p:nvSpPr>
        <p:spPr>
          <a:xfrm>
            <a:off x="5170000" y="1110000"/>
            <a:ext cx="1800000" cy="240000"/>
          </a:xfrm>
          <a:prstGeom prst="rect">
            <a:avLst/>
          </a:prstGeom>
          <a:noFill/>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000" b="1" i="0" u="none" strike="noStrike" cap="none" dirty="0">
                <a:solidFill>
                  <a:srgbClr val="0053A1"/>
                </a:solidFill>
                <a:latin typeface="Poppins SemiBold"/>
                <a:ea typeface="Poppins SemiBold"/>
                <a:cs typeface="Poppins SemiBold"/>
                <a:sym typeface="Poppins SemiBold"/>
              </a:rPr>
              <a:t>TypeScript</a:t>
            </a:r>
            <a:endParaRPr lang="en" sz="1000" b="0" i="0" u="none" strike="noStrike" cap="none" dirty="0">
              <a:solidFill>
                <a:srgbClr val="000000"/>
              </a:solidFill>
              <a:latin typeface="Roboto"/>
              <a:ea typeface="Roboto"/>
              <a:cs typeface="Roboto"/>
              <a:sym typeface="Roboto"/>
            </a:endParaRPr>
          </a:p>
        </p:txBody>
      </p:sp>
      <p:sp>
        <p:nvSpPr>
          <p:cNvPr id="305" name="JS box"/>
          <p:cNvSpPr/>
          <p:nvPr/>
        </p:nvSpPr>
        <p:spPr>
          <a:xfrm>
            <a:off x="5220000" y="1450000"/>
            <a:ext cx="1350000" cy="680000"/>
          </a:xfrm>
          <a:prstGeom prst="roundRect">
            <a:avLst>
              <a:gd name="adj" fmla="val 12000"/>
            </a:avLst>
          </a:prstGeom>
          <a:solidFill>
            <a:srgbClr val="C00000"/>
          </a:solidFill>
          <a:ln>
            <a:noFill/>
          </a:ln>
        </p:spPr>
        <p:txBody>
          <a:bodyPr wrap="square" lIns="45720" tIns="45720" rIns="45720" bIns="45720" rtlCol="0" anchor="ctr">
            <a:noAutofit/>
          </a:bodyPr>
          <a:lstStyle/>
          <a:p>
            <a:pPr marL="0" marR="0" lvl="0" indent="0" algn="ctr" rtl="0">
              <a:lnSpc>
                <a:spcPct val="100000"/>
              </a:lnSpc>
              <a:spcBef>
                <a:spcPts val="0"/>
              </a:spcBef>
              <a:spcAft>
                <a:spcPts val="0"/>
              </a:spcAft>
              <a:buNone/>
            </a:pPr>
            <a:r>
              <a:rPr lang="en" sz="1000" b="1" i="0" u="none" strike="noStrike" cap="none" dirty="0">
                <a:solidFill>
                  <a:srgbClr val="FFFFFF"/>
                </a:solidFill>
                <a:latin typeface="Poppins SemiBold"/>
                <a:ea typeface="Poppins SemiBold"/>
                <a:cs typeface="Poppins SemiBold"/>
                <a:sym typeface="Poppins SemiBold"/>
              </a:rPr>
              <a:t>JavaScript</a:t>
            </a:r>
            <a:endParaRPr lang="en" sz="1000" b="0" i="0" u="none" strike="noStrike" cap="none" dirty="0">
              <a:solidFill>
                <a:srgbClr val="000000"/>
              </a:solidFill>
              <a:latin typeface="Roboto"/>
              <a:ea typeface="Roboto"/>
              <a:cs typeface="Roboto"/>
              <a:sym typeface="Roboto"/>
            </a:endParaRPr>
          </a:p>
        </p:txBody>
      </p:sp>
      <p:sp>
        <p:nvSpPr>
          <p:cNvPr id="306" name="Types box"/>
          <p:cNvSpPr/>
          <p:nvPr/>
        </p:nvSpPr>
        <p:spPr>
          <a:xfrm>
            <a:off x="6690000" y="1450000"/>
            <a:ext cx="1470000" cy="680000"/>
          </a:xfrm>
          <a:prstGeom prst="roundRect">
            <a:avLst>
              <a:gd name="adj" fmla="val 12000"/>
            </a:avLst>
          </a:prstGeom>
          <a:solidFill>
            <a:srgbClr val="0053A1"/>
          </a:solidFill>
          <a:ln>
            <a:noFill/>
          </a:ln>
        </p:spPr>
        <p:txBody>
          <a:bodyPr wrap="square" lIns="45720" tIns="45720" rIns="45720" bIns="45720" rtlCol="0" anchor="ctr">
            <a:noAutofit/>
          </a:bodyPr>
          <a:lstStyle/>
          <a:p>
            <a:pPr marL="0" marR="0" lvl="0" indent="0" algn="ctr" rtl="0">
              <a:lnSpc>
                <a:spcPct val="100000"/>
              </a:lnSpc>
              <a:spcBef>
                <a:spcPts val="0"/>
              </a:spcBef>
              <a:spcAft>
                <a:spcPts val="0"/>
              </a:spcAft>
              <a:buNone/>
            </a:pPr>
            <a:r>
              <a:rPr lang="en" sz="1000" b="1" i="0" u="none" strike="noStrike" cap="none" dirty="0">
                <a:solidFill>
                  <a:srgbClr val="FFFFFF"/>
                </a:solidFill>
                <a:latin typeface="Poppins SemiBold"/>
                <a:ea typeface="Poppins SemiBold"/>
                <a:cs typeface="Poppins SemiBold"/>
                <a:sym typeface="Poppins SemiBold"/>
              </a:rPr>
              <a:t>+ Static types</a:t>
            </a:r>
            <a:endParaRPr lang="en" sz="1000" b="0" i="0" u="none" strike="noStrike" cap="none" dirty="0">
              <a:solidFill>
                <a:srgbClr val="000000"/>
              </a:solidFill>
              <a:latin typeface="Roboto"/>
              <a:ea typeface="Roboto"/>
              <a:cs typeface="Roboto"/>
              <a:sym typeface="Roboto"/>
            </a:endParaRPr>
          </a:p>
        </p:txBody>
      </p:sp>
      <p:sp>
        <p:nvSpPr>
          <p:cNvPr id="307" name="Arrow"/>
          <p:cNvSpPr/>
          <p:nvPr/>
        </p:nvSpPr>
        <p:spPr>
          <a:xfrm>
            <a:off x="6470000" y="2400000"/>
            <a:ext cx="240000" cy="330000"/>
          </a:xfrm>
          <a:prstGeom prst="downArrow">
            <a:avLst/>
          </a:prstGeom>
          <a:solidFill>
            <a:srgbClr val="0053A1"/>
          </a:solidFill>
          <a:ln>
            <a:noFill/>
          </a:ln>
        </p:spPr>
        <p:txBody>
          <a:bodyPr rtlCol="0" anchor="ctr"/>
          <a:lstStyle/>
          <a:p>
            <a:pPr algn="ctr"/>
          </a:p>
        </p:txBody>
      </p:sp>
      <p:sp>
        <p:nvSpPr>
          <p:cNvPr id="308" name="tsc label"/>
          <p:cNvSpPr txBox="1"/>
          <p:nvPr/>
        </p:nvSpPr>
        <p:spPr>
          <a:xfrm>
            <a:off x="6770000" y="2480000"/>
            <a:ext cx="1500000" cy="220000"/>
          </a:xfrm>
          <a:prstGeom prst="rect">
            <a:avLst/>
          </a:prstGeom>
          <a:noFill/>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b="1" i="0" u="none" strike="noStrike" cap="none" dirty="0">
                <a:solidFill>
                  <a:srgbClr val="C00000"/>
                </a:solidFill>
                <a:latin typeface="Courier New"/>
                <a:ea typeface="Courier New"/>
                <a:cs typeface="Courier New"/>
                <a:sym typeface="Courier New"/>
              </a:rPr>
              <a:t>compiled by tsc</a:t>
            </a:r>
            <a:endParaRPr lang="en" sz="900" b="0" i="0" u="none" strike="noStrike" cap="none" dirty="0">
              <a:solidFill>
                <a:srgbClr val="000000"/>
              </a:solidFill>
              <a:latin typeface="Roboto"/>
              <a:ea typeface="Roboto"/>
              <a:cs typeface="Roboto"/>
              <a:sym typeface="Roboto"/>
            </a:endParaRPr>
          </a:p>
        </p:txBody>
      </p:sp>
      <p:sp>
        <p:nvSpPr>
          <p:cNvPr id="309" name="JS out"/>
          <p:cNvSpPr/>
          <p:nvPr/>
        </p:nvSpPr>
        <p:spPr>
          <a:xfrm>
            <a:off x="5070000" y="2800000"/>
            <a:ext cx="3240000" cy="480000"/>
          </a:xfrm>
          <a:prstGeom prst="roundRect">
            <a:avLst>
              <a:gd name="adj" fmla="val 10000"/>
            </a:avLst>
          </a:prstGeom>
          <a:solidFill>
            <a:srgbClr val="F3F7FC"/>
          </a:solidFill>
          <a:ln w="9525">
            <a:solidFill>
              <a:srgbClr val="D9D9D9"/>
            </a:solidFill>
          </a:ln>
        </p:spPr>
        <p:txBody>
          <a:bodyPr wrap="square" lIns="45720" tIns="45720" rIns="45720" bIns="45720" rtlCol="0" anchor="ctr">
            <a:noAutofit/>
          </a:bodyPr>
          <a:lstStyle/>
          <a:p>
            <a:pPr marL="0" marR="0" lvl="0" indent="0" algn="ctr" rtl="0">
              <a:lnSpc>
                <a:spcPct val="100000"/>
              </a:lnSpc>
              <a:spcBef>
                <a:spcPts val="0"/>
              </a:spcBef>
              <a:spcAft>
                <a:spcPts val="0"/>
              </a:spcAft>
              <a:buNone/>
            </a:pPr>
            <a:r>
              <a:rPr lang="en" sz="1000" b="1" i="0" u="none" strike="noStrike" cap="none" dirty="0">
                <a:solidFill>
                  <a:srgbClr val="000000"/>
                </a:solidFill>
                <a:latin typeface="Poppins SemiBold"/>
                <a:ea typeface="Poppins SemiBold"/>
                <a:cs typeface="Poppins SemiBold"/>
                <a:sym typeface="Poppins SemiBold"/>
              </a:rPr>
              <a:t>Plain JavaScript</a:t>
            </a:r>
            <a:endParaRPr lang="en" sz="1000" b="0" i="0" u="none" strike="noStrike" cap="none" dirty="0">
              <a:solidFill>
                <a:srgbClr val="000000"/>
              </a:solidFill>
              <a:latin typeface="Roboto"/>
              <a:ea typeface="Roboto"/>
              <a:cs typeface="Roboto"/>
              <a:sym typeface="Roboto"/>
            </a:endParaRPr>
          </a:p>
        </p:txBody>
      </p:sp>
      <p:sp>
        <p:nvSpPr>
          <p:cNvPr id="310" name="JS out note"/>
          <p:cNvSpPr txBox="1"/>
          <p:nvPr/>
        </p:nvSpPr>
        <p:spPr>
          <a:xfrm>
            <a:off x="5070000" y="3330000"/>
            <a:ext cx="3240000" cy="220000"/>
          </a:xfrm>
          <a:prstGeom prst="rect">
            <a:avLst/>
          </a:prstGeom>
          <a:noFill/>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900" b="0" i="0" u="none" strike="noStrike" cap="none" dirty="0">
                <a:solidFill>
                  <a:srgbClr val="7F7F7F"/>
                </a:solidFill>
                <a:latin typeface="Roboto"/>
                <a:ea typeface="Roboto"/>
                <a:cs typeface="Roboto"/>
                <a:sym typeface="Roboto"/>
              </a:rPr>
              <a:t>Runs in any browser or Node.js</a:t>
            </a:r>
            <a:endParaRPr lang="en" sz="900" b="0" i="0" u="none" strike="noStrike" cap="none" dirty="0">
              <a:solidFill>
                <a:srgbClr val="000000"/>
              </a:solidFill>
              <a:latin typeface="Roboto"/>
              <a:ea typeface="Roboto"/>
              <a:cs typeface="Roboto"/>
              <a:sym typeface="Roboto"/>
            </a:endParaRP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grpSpPr/>
      <p:pic>
        <p:nvPicPr>
          <p:cNvPr id="110" name="Google Shape;110;p15" title="Untitled-1-07.png"/>
          <p:cNvPicPr preferRelativeResize="0"/>
          <p:nvPr/>
        </p:nvPicPr>
        <p:blipFill rotWithShape="1">
          <a:blip r:embed="rId2">
            <a:alphaModFix/>
          </a:blip>
          <a:srcRect l="5100" r="4630" b="15895"/>
          <a:stretch/>
        </p:blipFill>
        <p:spPr>
          <a:xfrm>
            <a:off x="880549" y="4348257"/>
            <a:ext cx="2096958" cy="548700"/>
          </a:xfrm>
          <a:prstGeom prst="rect">
            <a:avLst/>
          </a:prstGeom>
          <a:noFill/>
          <a:ln>
            <a:noFill/>
          </a:ln>
        </p:spPr>
      </p:pic>
      <p:pic>
        <p:nvPicPr>
          <p:cNvPr id="111" name="Google Shape;111;p15" title="powerd by.png"/>
          <p:cNvPicPr preferRelativeResize="0"/>
          <p:nvPr/>
        </p:nvPicPr>
        <p:blipFill rotWithShape="1">
          <a:blip r:embed="rId5">
            <a:alphaModFix/>
          </a:blip>
          <a:srcRect l="6981" t="44048" r="6714" b="14302"/>
          <a:stretch/>
        </p:blipFill>
        <p:spPr>
          <a:xfrm>
            <a:off x="3537800" y="4500588"/>
            <a:ext cx="2130125" cy="355975"/>
          </a:xfrm>
          <a:prstGeom prst="rect">
            <a:avLst/>
          </a:prstGeom>
          <a:noFill/>
          <a:ln>
            <a:noFill/>
          </a:ln>
        </p:spPr>
      </p:pic>
      <p:sp>
        <p:nvSpPr>
          <p:cNvPr id="112" name="Google Shape;112;p15"/>
          <p:cNvSpPr txBox="1"/>
          <p:nvPr/>
        </p:nvSpPr>
        <p:spPr>
          <a:xfrm>
            <a:off x="5998012" y="4596047"/>
            <a:ext cx="2436900" cy="253800"/>
          </a:xfrm>
          <a:prstGeom prst="rect">
            <a:avLst/>
          </a:prstGeom>
          <a:noFill/>
          <a:ln>
            <a:noFill/>
          </a:ln>
        </p:spPr>
        <p:txBody>
          <a:bodyPr spcFirstLastPara="1" wrap="non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0053A1"/>
                </a:solidFill>
                <a:latin typeface="Roboto"/>
                <a:ea typeface="Roboto"/>
                <a:cs typeface="Roboto"/>
                <a:sym typeface="Roboto"/>
              </a:rPr>
              <a:t>www.</a:t>
            </a:r>
            <a:r>
              <a:rPr lang="en" sz="1200" b="1">
                <a:solidFill>
                  <a:srgbClr val="0053A1"/>
                </a:solidFill>
                <a:latin typeface="Roboto"/>
                <a:ea typeface="Roboto"/>
                <a:cs typeface="Roboto"/>
                <a:sym typeface="Roboto"/>
              </a:rPr>
              <a:t>careercraftacademy.com</a:t>
            </a:r>
            <a:endParaRPr sz="1200" b="1" i="0" u="none" strike="noStrike" cap="none">
              <a:solidFill>
                <a:srgbClr val="0053A1"/>
              </a:solidFill>
              <a:latin typeface="Roboto"/>
              <a:ea typeface="Roboto"/>
              <a:cs typeface="Roboto"/>
              <a:sym typeface="Roboto"/>
            </a:endParaRPr>
          </a:p>
        </p:txBody>
      </p:sp>
      <p:pic>
        <p:nvPicPr>
          <p:cNvPr id="114" name="Google Shape;114;p15"/>
          <p:cNvPicPr preferRelativeResize="0"/>
          <p:nvPr/>
        </p:nvPicPr>
        <p:blipFill>
          <a:blip r:embed="rId4">
            <a:alphaModFix/>
          </a:blip>
          <a:stretch>
            <a:fillRect/>
          </a:stretch>
        </p:blipFill>
        <p:spPr>
          <a:xfrm>
            <a:off x="8447868" y="4368945"/>
            <a:ext cx="334175" cy="480903"/>
          </a:xfrm>
          <a:prstGeom prst="rect">
            <a:avLst/>
          </a:prstGeom>
          <a:noFill/>
          <a:ln>
            <a:noFill/>
          </a:ln>
        </p:spPr>
      </p:pic>
      <p:sp>
        <p:nvSpPr>
          <p:cNvPr id="315" name="Kicker"/>
          <p:cNvSpPr txBox="1"/>
          <p:nvPr/>
        </p:nvSpPr>
        <p:spPr>
          <a:xfrm>
            <a:off x="675600" y="285000"/>
            <a:ext cx="3560000" cy="241200"/>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1003" b="0" i="0" u="none" strike="noStrike" cap="none" dirty="0">
                <a:solidFill>
                  <a:srgbClr val="7F7F7F"/>
                </a:solidFill>
                <a:latin typeface="Roboto"/>
                <a:ea typeface="Roboto"/>
                <a:cs typeface="Roboto"/>
                <a:sym typeface="Roboto"/>
              </a:rPr>
              <a:t>Introduction</a:t>
            </a:r>
            <a:endParaRPr lang="en" sz="1003" b="0" i="0" u="none" strike="noStrike" cap="none" dirty="0">
              <a:solidFill>
                <a:srgbClr val="000000"/>
              </a:solidFill>
              <a:latin typeface="Roboto"/>
              <a:ea typeface="Roboto"/>
              <a:cs typeface="Roboto"/>
              <a:sym typeface="Roboto"/>
            </a:endParaRPr>
          </a:p>
        </p:txBody>
      </p:sp>
      <p:sp>
        <p:nvSpPr>
          <p:cNvPr id="316" name="Title"/>
          <p:cNvSpPr txBox="1"/>
          <p:nvPr/>
        </p:nvSpPr>
        <p:spPr>
          <a:xfrm>
            <a:off x="675600" y="520000"/>
            <a:ext cx="3560000" cy="763948"/>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2200" b="1" i="0" u="none" strike="noStrike" cap="none" dirty="0">
                <a:solidFill>
                  <a:srgbClr val="0053A1"/>
                </a:solidFill>
                <a:latin typeface="Poppins SemiBold"/>
                <a:ea typeface="Poppins SemiBold"/>
                <a:cs typeface="Poppins SemiBold"/>
                <a:sym typeface="Poppins SemiBold"/>
              </a:rPr>
              <a:t>TypeScript vs</a:t>
            </a:r>
            <a:endParaRPr lang="en" sz="2200" b="0" i="0" u="none" strike="noStrike" cap="none" dirty="0">
              <a:solidFill>
                <a:srgbClr val="000000"/>
              </a:solidFill>
              <a:latin typeface="Roboto"/>
              <a:ea typeface="Roboto"/>
              <a:cs typeface="Roboto"/>
              <a:sym typeface="Roboto"/>
            </a:endParaRPr>
          </a:p>
          <a:p>
            <a:pPr marL="0" marR="0" lvl="0" indent="0" algn="l" rtl="0">
              <a:lnSpc>
                <a:spcPct val="100000"/>
              </a:lnSpc>
              <a:spcBef>
                <a:spcPts val="0"/>
              </a:spcBef>
              <a:spcAft>
                <a:spcPts val="0"/>
              </a:spcAft>
              <a:buNone/>
            </a:pPr>
            <a:r>
              <a:rPr lang="en" sz="2200" b="1" i="0" u="none" strike="noStrike" cap="none" dirty="0">
                <a:solidFill>
                  <a:srgbClr val="000000"/>
                </a:solidFill>
                <a:latin typeface="Poppins SemiBold"/>
                <a:ea typeface="Poppins SemiBold"/>
                <a:cs typeface="Poppins SemiBold"/>
                <a:sym typeface="Poppins SemiBold"/>
              </a:rPr>
              <a:t>JavaScript</a:t>
            </a:r>
            <a:endParaRPr lang="en" sz="2200" b="0" i="0" u="none" strike="noStrike" cap="none" dirty="0">
              <a:solidFill>
                <a:srgbClr val="000000"/>
              </a:solidFill>
              <a:latin typeface="Roboto"/>
              <a:ea typeface="Roboto"/>
              <a:cs typeface="Roboto"/>
              <a:sym typeface="Roboto"/>
            </a:endParaRPr>
          </a:p>
        </p:txBody>
      </p:sp>
      <p:graphicFrame>
        <p:nvGraphicFramePr>
          <p:cNvPr id="314" name="Table"/>
          <p:cNvGraphicFramePr>
            <a:graphicFrameLocks noGrp="1"/>
          </p:cNvGraphicFramePr>
          <p:nvPr/>
        </p:nvGraphicFramePr>
        <p:xfrm>
          <a:off x="675600" y="1420000"/>
          <a:ext cx="3450000" cy="252000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000000"/>
                <a:gridCol w="1200000"/>
                <a:gridCol w="1250000"/>
              </a:tblGrid>
              <a:tr h="360000">
                <a:tc>
                  <a:txBody>
                    <a:bodyPr/>
                    <a:lstStyle/>
                    <a:p>
                      <a:r>
                        <a:rPr lang="en-IN" sz="900" b="1" dirty="0">
                          <a:solidFill>
                            <a:schemeClr val="tx1"/>
                          </a:solidFill>
                          <a:latin typeface="Roboto" panose="02000000000000000000" pitchFamily="2" charset="0"/>
                          <a:ea typeface="Roboto" panose="02000000000000000000" pitchFamily="2" charset="0"/>
                          <a:cs typeface="Roboto" panose="02000000000000000000" pitchFamily="2" charset="0"/>
                        </a:rPr>
                        <a:t>Feature</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IN" sz="900" b="1" dirty="0">
                          <a:solidFill>
                            <a:schemeClr val="tx1"/>
                          </a:solidFill>
                          <a:latin typeface="Roboto" panose="02000000000000000000" pitchFamily="2" charset="0"/>
                          <a:ea typeface="Roboto" panose="02000000000000000000" pitchFamily="2" charset="0"/>
                          <a:cs typeface="Roboto" panose="02000000000000000000" pitchFamily="2" charset="0"/>
                        </a:rPr>
                        <a:t>JavaScript</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IN" sz="900" b="1" dirty="0">
                          <a:solidFill>
                            <a:schemeClr val="tx1"/>
                          </a:solidFill>
                          <a:latin typeface="Roboto" panose="02000000000000000000" pitchFamily="2" charset="0"/>
                          <a:ea typeface="Roboto" panose="02000000000000000000" pitchFamily="2" charset="0"/>
                          <a:cs typeface="Roboto" panose="02000000000000000000" pitchFamily="2" charset="0"/>
                        </a:rPr>
                        <a:t>TypeScript</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r>
              <a:tr h="360000">
                <a:tc>
                  <a:txBody>
                    <a:bodyPr/>
                    <a:lstStyle/>
                    <a:p>
                      <a:r>
                        <a:rPr lang="en-IN" sz="900" b="1" dirty="0">
                          <a:solidFill>
                            <a:schemeClr val="tx1"/>
                          </a:solidFill>
                          <a:latin typeface="Roboto" panose="02000000000000000000" pitchFamily="2" charset="0"/>
                          <a:ea typeface="Roboto" panose="02000000000000000000" pitchFamily="2" charset="0"/>
                          <a:cs typeface="Roboto" panose="02000000000000000000" pitchFamily="2" charset="0"/>
                        </a:rPr>
                        <a:t>Typing</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900" b="0" dirty="0">
                          <a:solidFill>
                            <a:schemeClr val="tx1"/>
                          </a:solidFill>
                          <a:latin typeface="Roboto" panose="02000000000000000000" pitchFamily="2" charset="0"/>
                          <a:ea typeface="Roboto" panose="02000000000000000000" pitchFamily="2" charset="0"/>
                          <a:cs typeface="Roboto" panose="02000000000000000000" pitchFamily="2" charset="0"/>
                        </a:rPr>
                        <a:t>Dynamic (runtime)</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900" b="0" dirty="0">
                          <a:solidFill>
                            <a:schemeClr val="tx1"/>
                          </a:solidFill>
                          <a:latin typeface="Roboto" panose="02000000000000000000" pitchFamily="2" charset="0"/>
                          <a:ea typeface="Roboto" panose="02000000000000000000" pitchFamily="2" charset="0"/>
                          <a:cs typeface="Roboto" panose="02000000000000000000" pitchFamily="2" charset="0"/>
                        </a:rPr>
                        <a:t>Static (compile time)</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60000">
                <a:tc>
                  <a:txBody>
                    <a:bodyPr/>
                    <a:lstStyle/>
                    <a:p>
                      <a:r>
                        <a:rPr lang="en-IN" sz="900" b="1" dirty="0">
                          <a:solidFill>
                            <a:schemeClr val="tx1"/>
                          </a:solidFill>
                          <a:latin typeface="Roboto" panose="02000000000000000000" pitchFamily="2" charset="0"/>
                          <a:ea typeface="Roboto" panose="02000000000000000000" pitchFamily="2" charset="0"/>
                          <a:cs typeface="Roboto" panose="02000000000000000000" pitchFamily="2" charset="0"/>
                        </a:rPr>
                        <a:t>Errors found</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900" b="0" dirty="0">
                          <a:solidFill>
                            <a:schemeClr val="tx1"/>
                          </a:solidFill>
                          <a:latin typeface="Roboto" panose="02000000000000000000" pitchFamily="2" charset="0"/>
                          <a:ea typeface="Roboto" panose="02000000000000000000" pitchFamily="2" charset="0"/>
                          <a:cs typeface="Roboto" panose="02000000000000000000" pitchFamily="2" charset="0"/>
                        </a:rPr>
                        <a:t>At runtime</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900" b="0" dirty="0">
                          <a:solidFill>
                            <a:schemeClr val="tx1"/>
                          </a:solidFill>
                          <a:latin typeface="Roboto" panose="02000000000000000000" pitchFamily="2" charset="0"/>
                          <a:ea typeface="Roboto" panose="02000000000000000000" pitchFamily="2" charset="0"/>
                          <a:cs typeface="Roboto" panose="02000000000000000000" pitchFamily="2" charset="0"/>
                        </a:rPr>
                        <a:t>While writing / compiling</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60000">
                <a:tc>
                  <a:txBody>
                    <a:bodyPr/>
                    <a:lstStyle/>
                    <a:p>
                      <a:r>
                        <a:rPr lang="en-IN" sz="900" b="1" dirty="0">
                          <a:solidFill>
                            <a:schemeClr val="tx1"/>
                          </a:solidFill>
                          <a:latin typeface="Roboto" panose="02000000000000000000" pitchFamily="2" charset="0"/>
                          <a:ea typeface="Roboto" panose="02000000000000000000" pitchFamily="2" charset="0"/>
                          <a:cs typeface="Roboto" panose="02000000000000000000" pitchFamily="2" charset="0"/>
                        </a:rPr>
                        <a:t>Compilation</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900" b="0" dirty="0">
                          <a:solidFill>
                            <a:schemeClr val="tx1"/>
                          </a:solidFill>
                          <a:latin typeface="Roboto" panose="02000000000000000000" pitchFamily="2" charset="0"/>
                          <a:ea typeface="Roboto" panose="02000000000000000000" pitchFamily="2" charset="0"/>
                          <a:cs typeface="Roboto" panose="02000000000000000000" pitchFamily="2" charset="0"/>
                        </a:rPr>
                        <a:t>Not needed</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900" b="0" dirty="0">
                          <a:solidFill>
                            <a:schemeClr val="tx1"/>
                          </a:solidFill>
                          <a:latin typeface="Roboto" panose="02000000000000000000" pitchFamily="2" charset="0"/>
                          <a:ea typeface="Roboto" panose="02000000000000000000" pitchFamily="2" charset="0"/>
                          <a:cs typeface="Roboto" panose="02000000000000000000" pitchFamily="2" charset="0"/>
                        </a:rPr>
                        <a:t>Required (to JS)</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60000">
                <a:tc>
                  <a:txBody>
                    <a:bodyPr/>
                    <a:lstStyle/>
                    <a:p>
                      <a:r>
                        <a:rPr lang="en-IN" sz="900" b="1" dirty="0">
                          <a:solidFill>
                            <a:schemeClr val="tx1"/>
                          </a:solidFill>
                          <a:latin typeface="Roboto" panose="02000000000000000000" pitchFamily="2" charset="0"/>
                          <a:ea typeface="Roboto" panose="02000000000000000000" pitchFamily="2" charset="0"/>
                          <a:cs typeface="Roboto" panose="02000000000000000000" pitchFamily="2" charset="0"/>
                        </a:rPr>
                        <a:t>IDE support</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900" b="0" dirty="0">
                          <a:solidFill>
                            <a:schemeClr val="tx1"/>
                          </a:solidFill>
                          <a:latin typeface="Roboto" panose="02000000000000000000" pitchFamily="2" charset="0"/>
                          <a:ea typeface="Roboto" panose="02000000000000000000" pitchFamily="2" charset="0"/>
                          <a:cs typeface="Roboto" panose="02000000000000000000" pitchFamily="2" charset="0"/>
                        </a:rPr>
                        <a:t>Basic</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900" b="0" dirty="0">
                          <a:solidFill>
                            <a:schemeClr val="tx1"/>
                          </a:solidFill>
                          <a:latin typeface="Roboto" panose="02000000000000000000" pitchFamily="2" charset="0"/>
                          <a:ea typeface="Roboto" panose="02000000000000000000" pitchFamily="2" charset="0"/>
                          <a:cs typeface="Roboto" panose="02000000000000000000" pitchFamily="2" charset="0"/>
                        </a:rPr>
                        <a:t>Rich (autocomplete)</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60000">
                <a:tc>
                  <a:txBody>
                    <a:bodyPr/>
                    <a:lstStyle/>
                    <a:p>
                      <a:r>
                        <a:rPr lang="en-IN" sz="900" b="1" dirty="0">
                          <a:solidFill>
                            <a:schemeClr val="tx1"/>
                          </a:solidFill>
                          <a:latin typeface="Roboto" panose="02000000000000000000" pitchFamily="2" charset="0"/>
                          <a:ea typeface="Roboto" panose="02000000000000000000" pitchFamily="2" charset="0"/>
                          <a:cs typeface="Roboto" panose="02000000000000000000" pitchFamily="2" charset="0"/>
                        </a:rPr>
                        <a:t>Learning curve</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900" b="0" dirty="0">
                          <a:solidFill>
                            <a:schemeClr val="tx1"/>
                          </a:solidFill>
                          <a:latin typeface="Roboto" panose="02000000000000000000" pitchFamily="2" charset="0"/>
                          <a:ea typeface="Roboto" panose="02000000000000000000" pitchFamily="2" charset="0"/>
                          <a:cs typeface="Roboto" panose="02000000000000000000" pitchFamily="2" charset="0"/>
                        </a:rPr>
                        <a:t>Easier</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900" b="0" dirty="0">
                          <a:solidFill>
                            <a:schemeClr val="tx1"/>
                          </a:solidFill>
                          <a:latin typeface="Roboto" panose="02000000000000000000" pitchFamily="2" charset="0"/>
                          <a:ea typeface="Roboto" panose="02000000000000000000" pitchFamily="2" charset="0"/>
                          <a:cs typeface="Roboto" panose="02000000000000000000" pitchFamily="2" charset="0"/>
                        </a:rPr>
                        <a:t>Steeper, but pays off</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60000">
                <a:tc>
                  <a:txBody>
                    <a:bodyPr/>
                    <a:lstStyle/>
                    <a:p>
                      <a:r>
                        <a:rPr lang="en-IN" sz="900" b="1" dirty="0">
                          <a:solidFill>
                            <a:schemeClr val="tx1"/>
                          </a:solidFill>
                          <a:latin typeface="Roboto" panose="02000000000000000000" pitchFamily="2" charset="0"/>
                          <a:ea typeface="Roboto" panose="02000000000000000000" pitchFamily="2" charset="0"/>
                          <a:cs typeface="Roboto" panose="02000000000000000000" pitchFamily="2" charset="0"/>
                        </a:rPr>
                        <a:t>Best for</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900" b="0" dirty="0">
                          <a:solidFill>
                            <a:schemeClr val="tx1"/>
                          </a:solidFill>
                          <a:latin typeface="Roboto" panose="02000000000000000000" pitchFamily="2" charset="0"/>
                          <a:ea typeface="Roboto" panose="02000000000000000000" pitchFamily="2" charset="0"/>
                          <a:cs typeface="Roboto" panose="02000000000000000000" pitchFamily="2" charset="0"/>
                        </a:rPr>
                        <a:t>Small scripts</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900" b="0" dirty="0">
                          <a:solidFill>
                            <a:schemeClr val="tx1"/>
                          </a:solidFill>
                          <a:latin typeface="Roboto" panose="02000000000000000000" pitchFamily="2" charset="0"/>
                          <a:ea typeface="Roboto" panose="02000000000000000000" pitchFamily="2" charset="0"/>
                          <a:cs typeface="Roboto" panose="02000000000000000000" pitchFamily="2" charset="0"/>
                        </a:rPr>
                        <a:t>Large applications</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317" name="Code panel"/>
          <p:cNvSpPr/>
          <p:nvPr/>
        </p:nvSpPr>
        <p:spPr>
          <a:xfrm>
            <a:off x="4300000" y="500000"/>
            <a:ext cx="4350000" cy="1182960"/>
          </a:xfrm>
          <a:prstGeom prst="roundRect">
            <a:avLst>
              <a:gd name="adj" fmla="val 3500"/>
            </a:avLst>
          </a:prstGeom>
          <a:solidFill>
            <a:srgbClr val="0E2455"/>
          </a:solidFill>
          <a:ln>
            <a:noFill/>
          </a:ln>
          <a:effectLst>
            <a:outerShdw blurRad="63500" dist="25400" dir="5400000" algn="t" rotWithShape="0">
              <a:srgbClr val="000000">
                <a:alpha val="22000"/>
              </a:srgbClr>
            </a:outerShdw>
          </a:effectLst>
        </p:spPr>
        <p:txBody>
          <a:bodyPr rtlCol="0" anchor="ctr"/>
          <a:lstStyle/>
          <a:p>
            <a:pPr algn="ctr"/>
          </a:p>
        </p:txBody>
      </p:sp>
      <p:sp>
        <p:nvSpPr>
          <p:cNvPr id="318" name="Dot 1"/>
          <p:cNvSpPr/>
          <p:nvPr/>
        </p:nvSpPr>
        <p:spPr>
          <a:xfrm>
            <a:off x="4420000" y="605000"/>
            <a:ext cx="70000" cy="70000"/>
          </a:xfrm>
          <a:prstGeom prst="ellipse">
            <a:avLst/>
          </a:prstGeom>
          <a:solidFill>
            <a:srgbClr val="C00000"/>
          </a:solidFill>
          <a:ln>
            <a:noFill/>
          </a:ln>
        </p:spPr>
        <p:txBody>
          <a:bodyPr rtlCol="0" anchor="ctr"/>
          <a:lstStyle/>
          <a:p>
            <a:pPr algn="ctr"/>
          </a:p>
        </p:txBody>
      </p:sp>
      <p:sp>
        <p:nvSpPr>
          <p:cNvPr id="319" name="Dot 2"/>
          <p:cNvSpPr/>
          <p:nvPr/>
        </p:nvSpPr>
        <p:spPr>
          <a:xfrm>
            <a:off x="4550000" y="605000"/>
            <a:ext cx="70000" cy="70000"/>
          </a:xfrm>
          <a:prstGeom prst="ellipse">
            <a:avLst/>
          </a:prstGeom>
          <a:solidFill>
            <a:srgbClr val="F2B705"/>
          </a:solidFill>
          <a:ln>
            <a:noFill/>
          </a:ln>
        </p:spPr>
        <p:txBody>
          <a:bodyPr rtlCol="0" anchor="ctr"/>
          <a:lstStyle/>
          <a:p>
            <a:pPr algn="ctr"/>
          </a:p>
        </p:txBody>
      </p:sp>
      <p:sp>
        <p:nvSpPr>
          <p:cNvPr id="320" name="Dot 3"/>
          <p:cNvSpPr/>
          <p:nvPr/>
        </p:nvSpPr>
        <p:spPr>
          <a:xfrm>
            <a:off x="4680000" y="605000"/>
            <a:ext cx="70000" cy="70000"/>
          </a:xfrm>
          <a:prstGeom prst="ellipse">
            <a:avLst/>
          </a:prstGeom>
          <a:solidFill>
            <a:srgbClr val="3DAE5C"/>
          </a:solidFill>
          <a:ln>
            <a:noFill/>
          </a:ln>
        </p:spPr>
        <p:txBody>
          <a:bodyPr rtlCol="0" anchor="ctr"/>
          <a:lstStyle/>
          <a:p>
            <a:pPr algn="ctr"/>
          </a:p>
        </p:txBody>
      </p:sp>
      <p:sp>
        <p:nvSpPr>
          <p:cNvPr id="321" name="File name"/>
          <p:cNvSpPr txBox="1"/>
          <p:nvPr/>
        </p:nvSpPr>
        <p:spPr>
          <a:xfrm>
            <a:off x="4860000" y="560000"/>
            <a:ext cx="2200000" cy="170000"/>
          </a:xfrm>
          <a:prstGeom prst="rect">
            <a:avLst/>
          </a:prstGeom>
          <a:noFill/>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 sz="900" b="1" i="0" u="none" strike="noStrike" cap="none" dirty="0">
                <a:solidFill>
                  <a:srgbClr val="8FA3C4"/>
                </a:solidFill>
                <a:latin typeface="Courier New"/>
                <a:ea typeface="Courier New"/>
                <a:cs typeface="Courier New"/>
                <a:sym typeface="Courier New"/>
              </a:rPr>
              <a:t>JavaScript</a:t>
            </a:r>
            <a:endParaRPr lang="en" sz="900" b="0" i="0" u="none" strike="noStrike" cap="none" dirty="0">
              <a:solidFill>
                <a:srgbClr val="000000"/>
              </a:solidFill>
              <a:latin typeface="Roboto"/>
              <a:ea typeface="Roboto"/>
              <a:cs typeface="Roboto"/>
              <a:sym typeface="Roboto"/>
            </a:endParaRPr>
          </a:p>
        </p:txBody>
      </p:sp>
      <p:sp>
        <p:nvSpPr>
          <p:cNvPr id="322" name="Code label"/>
          <p:cNvSpPr txBox="1"/>
          <p:nvPr/>
        </p:nvSpPr>
        <p:spPr>
          <a:xfrm>
            <a:off x="7650000" y="555000"/>
            <a:ext cx="900000" cy="170000"/>
          </a:xfrm>
          <a:prstGeom prst="rect">
            <a:avLst/>
          </a:prstGeom>
          <a:noFill/>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800" b="1" i="0" u="none" strike="noStrike" cap="none" dirty="0">
                <a:solidFill>
                  <a:srgbClr val="8FA3C4"/>
                </a:solidFill>
                <a:latin typeface="Roboto"/>
                <a:ea typeface="Roboto"/>
                <a:cs typeface="Roboto"/>
                <a:sym typeface="Roboto"/>
              </a:rPr>
              <a:t>JS</a:t>
            </a:r>
            <a:endParaRPr lang="en" sz="800" b="0" i="0" u="none" strike="noStrike" cap="none" dirty="0">
              <a:solidFill>
                <a:srgbClr val="000000"/>
              </a:solidFill>
              <a:latin typeface="Roboto"/>
              <a:ea typeface="Roboto"/>
              <a:cs typeface="Roboto"/>
              <a:sym typeface="Roboto"/>
            </a:endParaRPr>
          </a:p>
        </p:txBody>
      </p:sp>
      <p:sp>
        <p:nvSpPr>
          <p:cNvPr id="323" name="Code"/>
          <p:cNvSpPr txBox="1"/>
          <p:nvPr/>
        </p:nvSpPr>
        <p:spPr>
          <a:xfrm>
            <a:off x="4360000" y="750000"/>
            <a:ext cx="4230000" cy="902960"/>
          </a:xfrm>
          <a:prstGeom prst="rect">
            <a:avLst/>
          </a:prstGeom>
          <a:noFill/>
        </p:spPr>
        <p:txBody>
          <a:bodyPr spcFirstLastPara="1" wrap="square" lIns="86025" tIns="0" rIns="60000" bIns="0" anchor="t" anchorCtr="0">
            <a:noAutofit/>
          </a:bodyPr>
          <a:lstStyle/>
          <a:p>
            <a:pPr marL="0" marR="0" lvl="0" indent="0" algn="l" rtl="0">
              <a:lnSpc>
                <a:spcPct val="108000"/>
              </a:lnSpc>
              <a:spcBef>
                <a:spcPts val="0"/>
              </a:spcBef>
              <a:spcAft>
                <a:spcPts val="0"/>
              </a:spcAft>
              <a:buNone/>
            </a:pPr>
            <a:r>
              <a:rPr lang="en" sz="1000" b="0" i="1" u="none" strike="noStrike" cap="none" dirty="0">
                <a:solidFill>
                  <a:srgbClr val="8FA3C4"/>
                </a:solidFill>
                <a:latin typeface="Courier New"/>
                <a:ea typeface="Courier New"/>
                <a:cs typeface="Courier New"/>
                <a:sym typeface="Courier New"/>
              </a:rPr>
              <a:t>// error appears only when code RUNS</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8CC4FF"/>
                </a:solidFill>
                <a:latin typeface="Courier New"/>
                <a:ea typeface="Courier New"/>
                <a:cs typeface="Courier New"/>
                <a:sym typeface="Courier New"/>
              </a:rPr>
              <a:t>function</a:t>
            </a:r>
            <a:r>
              <a:rPr lang="en" sz="1000" b="0" i="0" u="none" strike="noStrike" cap="none" dirty="0">
                <a:solidFill>
                  <a:srgbClr val="E6ECF7"/>
                </a:solidFill>
                <a:latin typeface="Courier New"/>
                <a:ea typeface="Courier New"/>
                <a:cs typeface="Courier New"/>
                <a:sym typeface="Courier New"/>
              </a:rPr>
              <a:t> add(a, b) {</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  </a:t>
            </a:r>
            <a:r>
              <a:rPr lang="en" sz="1000" b="0" i="0" u="none" strike="noStrike" cap="none" dirty="0">
                <a:solidFill>
                  <a:srgbClr val="8CC4FF"/>
                </a:solidFill>
                <a:latin typeface="Courier New"/>
                <a:ea typeface="Courier New"/>
                <a:cs typeface="Courier New"/>
                <a:sym typeface="Courier New"/>
              </a:rPr>
              <a:t>return</a:t>
            </a:r>
            <a:r>
              <a:rPr lang="en" sz="1000" b="0" i="0" u="none" strike="noStrike" cap="none" dirty="0">
                <a:solidFill>
                  <a:srgbClr val="E6ECF7"/>
                </a:solidFill>
                <a:latin typeface="Courier New"/>
                <a:ea typeface="Courier New"/>
                <a:cs typeface="Courier New"/>
                <a:sym typeface="Courier New"/>
              </a:rPr>
              <a:t> a + b;</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add(</a:t>
            </a:r>
            <a:r>
              <a:rPr lang="en" sz="1000" b="0" i="0" u="none" strike="noStrike" cap="none" dirty="0">
                <a:solidFill>
                  <a:srgbClr val="F2B705"/>
                </a:solidFill>
                <a:latin typeface="Courier New"/>
                <a:ea typeface="Courier New"/>
                <a:cs typeface="Courier New"/>
                <a:sym typeface="Courier New"/>
              </a:rPr>
              <a:t>5</a:t>
            </a:r>
            <a:r>
              <a:rPr lang="en" sz="1000" b="0" i="0" u="none" strike="noStrike" cap="none" dirty="0">
                <a:solidFill>
                  <a:srgbClr val="E6ECF7"/>
                </a:solidFill>
                <a:latin typeface="Courier New"/>
                <a:ea typeface="Courier New"/>
                <a:cs typeface="Courier New"/>
                <a:sym typeface="Courier New"/>
              </a:rPr>
              <a:t>, </a:t>
            </a:r>
            <a:r>
              <a:rPr lang="en" sz="1000" b="0" i="0" u="none" strike="noStrike" cap="none" dirty="0">
                <a:solidFill>
                  <a:srgbClr val="FFC878"/>
                </a:solidFill>
                <a:latin typeface="Courier New"/>
                <a:ea typeface="Courier New"/>
                <a:cs typeface="Courier New"/>
                <a:sym typeface="Courier New"/>
              </a:rPr>
              <a:t>"10"</a:t>
            </a:r>
            <a:r>
              <a:rPr lang="en" sz="1000" b="0" i="0" u="none" strike="noStrike" cap="none" dirty="0">
                <a:solidFill>
                  <a:srgbClr val="E6ECF7"/>
                </a:solidFill>
                <a:latin typeface="Courier New"/>
                <a:ea typeface="Courier New"/>
                <a:cs typeface="Courier New"/>
                <a:sym typeface="Courier New"/>
              </a:rPr>
              <a:t>); </a:t>
            </a:r>
            <a:r>
              <a:rPr lang="en" sz="1000" b="0" i="1" u="none" strike="noStrike" cap="none" dirty="0">
                <a:solidFill>
                  <a:srgbClr val="8FA3C4"/>
                </a:solidFill>
                <a:latin typeface="Courier New"/>
                <a:ea typeface="Courier New"/>
                <a:cs typeface="Courier New"/>
                <a:sym typeface="Courier New"/>
              </a:rPr>
              <a:t>// "510" - silent bug!</a:t>
            </a:r>
            <a:endParaRPr lang="en" sz="1000" b="0" i="0" u="none" strike="noStrike" cap="none" dirty="0">
              <a:solidFill>
                <a:srgbClr val="000000"/>
              </a:solidFill>
              <a:latin typeface="Roboto"/>
              <a:ea typeface="Roboto"/>
              <a:cs typeface="Roboto"/>
              <a:sym typeface="Roboto"/>
            </a:endParaRPr>
          </a:p>
        </p:txBody>
      </p:sp>
      <p:sp>
        <p:nvSpPr>
          <p:cNvPr id="324" name="Code panel"/>
          <p:cNvSpPr/>
          <p:nvPr/>
        </p:nvSpPr>
        <p:spPr>
          <a:xfrm>
            <a:off x="4300000" y="1812960"/>
            <a:ext cx="4350000" cy="1182960"/>
          </a:xfrm>
          <a:prstGeom prst="roundRect">
            <a:avLst>
              <a:gd name="adj" fmla="val 3500"/>
            </a:avLst>
          </a:prstGeom>
          <a:solidFill>
            <a:srgbClr val="0E2455"/>
          </a:solidFill>
          <a:ln>
            <a:noFill/>
          </a:ln>
          <a:effectLst>
            <a:outerShdw blurRad="63500" dist="25400" dir="5400000" algn="t" rotWithShape="0">
              <a:srgbClr val="000000">
                <a:alpha val="22000"/>
              </a:srgbClr>
            </a:outerShdw>
          </a:effectLst>
        </p:spPr>
        <p:txBody>
          <a:bodyPr rtlCol="0" anchor="ctr"/>
          <a:lstStyle/>
          <a:p>
            <a:pPr algn="ctr"/>
          </a:p>
        </p:txBody>
      </p:sp>
      <p:sp>
        <p:nvSpPr>
          <p:cNvPr id="325" name="Dot 1"/>
          <p:cNvSpPr/>
          <p:nvPr/>
        </p:nvSpPr>
        <p:spPr>
          <a:xfrm>
            <a:off x="4420000" y="1917960"/>
            <a:ext cx="70000" cy="70000"/>
          </a:xfrm>
          <a:prstGeom prst="ellipse">
            <a:avLst/>
          </a:prstGeom>
          <a:solidFill>
            <a:srgbClr val="C00000"/>
          </a:solidFill>
          <a:ln>
            <a:noFill/>
          </a:ln>
        </p:spPr>
        <p:txBody>
          <a:bodyPr rtlCol="0" anchor="ctr"/>
          <a:lstStyle/>
          <a:p>
            <a:pPr algn="ctr"/>
          </a:p>
        </p:txBody>
      </p:sp>
      <p:sp>
        <p:nvSpPr>
          <p:cNvPr id="326" name="Dot 2"/>
          <p:cNvSpPr/>
          <p:nvPr/>
        </p:nvSpPr>
        <p:spPr>
          <a:xfrm>
            <a:off x="4550000" y="1917960"/>
            <a:ext cx="70000" cy="70000"/>
          </a:xfrm>
          <a:prstGeom prst="ellipse">
            <a:avLst/>
          </a:prstGeom>
          <a:solidFill>
            <a:srgbClr val="F2B705"/>
          </a:solidFill>
          <a:ln>
            <a:noFill/>
          </a:ln>
        </p:spPr>
        <p:txBody>
          <a:bodyPr rtlCol="0" anchor="ctr"/>
          <a:lstStyle/>
          <a:p>
            <a:pPr algn="ctr"/>
          </a:p>
        </p:txBody>
      </p:sp>
      <p:sp>
        <p:nvSpPr>
          <p:cNvPr id="327" name="Dot 3"/>
          <p:cNvSpPr/>
          <p:nvPr/>
        </p:nvSpPr>
        <p:spPr>
          <a:xfrm>
            <a:off x="4680000" y="1917960"/>
            <a:ext cx="70000" cy="70000"/>
          </a:xfrm>
          <a:prstGeom prst="ellipse">
            <a:avLst/>
          </a:prstGeom>
          <a:solidFill>
            <a:srgbClr val="3DAE5C"/>
          </a:solidFill>
          <a:ln>
            <a:noFill/>
          </a:ln>
        </p:spPr>
        <p:txBody>
          <a:bodyPr rtlCol="0" anchor="ctr"/>
          <a:lstStyle/>
          <a:p>
            <a:pPr algn="ctr"/>
          </a:p>
        </p:txBody>
      </p:sp>
      <p:sp>
        <p:nvSpPr>
          <p:cNvPr id="328" name="File name"/>
          <p:cNvSpPr txBox="1"/>
          <p:nvPr/>
        </p:nvSpPr>
        <p:spPr>
          <a:xfrm>
            <a:off x="4860000" y="1872960"/>
            <a:ext cx="2200000" cy="170000"/>
          </a:xfrm>
          <a:prstGeom prst="rect">
            <a:avLst/>
          </a:prstGeom>
          <a:noFill/>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 sz="900" b="1" i="0" u="none" strike="noStrike" cap="none" dirty="0">
                <a:solidFill>
                  <a:srgbClr val="8FA3C4"/>
                </a:solidFill>
                <a:latin typeface="Courier New"/>
                <a:ea typeface="Courier New"/>
                <a:cs typeface="Courier New"/>
                <a:sym typeface="Courier New"/>
              </a:rPr>
              <a:t>TypeScript</a:t>
            </a:r>
            <a:endParaRPr lang="en" sz="900" b="0" i="0" u="none" strike="noStrike" cap="none" dirty="0">
              <a:solidFill>
                <a:srgbClr val="000000"/>
              </a:solidFill>
              <a:latin typeface="Roboto"/>
              <a:ea typeface="Roboto"/>
              <a:cs typeface="Roboto"/>
              <a:sym typeface="Roboto"/>
            </a:endParaRPr>
          </a:p>
        </p:txBody>
      </p:sp>
      <p:sp>
        <p:nvSpPr>
          <p:cNvPr id="329" name="Code label"/>
          <p:cNvSpPr txBox="1"/>
          <p:nvPr/>
        </p:nvSpPr>
        <p:spPr>
          <a:xfrm>
            <a:off x="7650000" y="1867960"/>
            <a:ext cx="900000" cy="170000"/>
          </a:xfrm>
          <a:prstGeom prst="rect">
            <a:avLst/>
          </a:prstGeom>
          <a:noFill/>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800" b="1" i="0" u="none" strike="noStrike" cap="none" dirty="0">
                <a:solidFill>
                  <a:srgbClr val="8FA3C4"/>
                </a:solidFill>
                <a:latin typeface="Roboto"/>
                <a:ea typeface="Roboto"/>
                <a:cs typeface="Roboto"/>
                <a:sym typeface="Roboto"/>
              </a:rPr>
              <a:t>TS</a:t>
            </a:r>
            <a:endParaRPr lang="en" sz="800" b="0" i="0" u="none" strike="noStrike" cap="none" dirty="0">
              <a:solidFill>
                <a:srgbClr val="000000"/>
              </a:solidFill>
              <a:latin typeface="Roboto"/>
              <a:ea typeface="Roboto"/>
              <a:cs typeface="Roboto"/>
              <a:sym typeface="Roboto"/>
            </a:endParaRPr>
          </a:p>
        </p:txBody>
      </p:sp>
      <p:sp>
        <p:nvSpPr>
          <p:cNvPr id="330" name="Code"/>
          <p:cNvSpPr txBox="1"/>
          <p:nvPr/>
        </p:nvSpPr>
        <p:spPr>
          <a:xfrm>
            <a:off x="4360000" y="2062960"/>
            <a:ext cx="4230000" cy="902960"/>
          </a:xfrm>
          <a:prstGeom prst="rect">
            <a:avLst/>
          </a:prstGeom>
          <a:noFill/>
        </p:spPr>
        <p:txBody>
          <a:bodyPr spcFirstLastPara="1" wrap="square" lIns="86025" tIns="0" rIns="60000" bIns="0" anchor="t" anchorCtr="0">
            <a:noAutofit/>
          </a:bodyPr>
          <a:lstStyle/>
          <a:p>
            <a:pPr marL="0" marR="0" lvl="0" indent="0" algn="l" rtl="0">
              <a:lnSpc>
                <a:spcPct val="108000"/>
              </a:lnSpc>
              <a:spcBef>
                <a:spcPts val="0"/>
              </a:spcBef>
              <a:spcAft>
                <a:spcPts val="0"/>
              </a:spcAft>
              <a:buNone/>
            </a:pPr>
            <a:r>
              <a:rPr lang="en" sz="1000" b="0" i="1" u="none" strike="noStrike" cap="none" dirty="0">
                <a:solidFill>
                  <a:srgbClr val="8FA3C4"/>
                </a:solidFill>
                <a:latin typeface="Courier New"/>
                <a:ea typeface="Courier New"/>
                <a:cs typeface="Courier New"/>
                <a:sym typeface="Courier New"/>
              </a:rPr>
              <a:t>// error caught while WRITING code</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8CC4FF"/>
                </a:solidFill>
                <a:latin typeface="Courier New"/>
                <a:ea typeface="Courier New"/>
                <a:cs typeface="Courier New"/>
                <a:sym typeface="Courier New"/>
              </a:rPr>
              <a:t>function</a:t>
            </a:r>
            <a:r>
              <a:rPr lang="en" sz="1000" b="0" i="0" u="none" strike="noStrike" cap="none" dirty="0">
                <a:solidFill>
                  <a:srgbClr val="E6ECF7"/>
                </a:solidFill>
                <a:latin typeface="Courier New"/>
                <a:ea typeface="Courier New"/>
                <a:cs typeface="Courier New"/>
                <a:sym typeface="Courier New"/>
              </a:rPr>
              <a:t> add(a: number, b: number): number {</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  </a:t>
            </a:r>
            <a:r>
              <a:rPr lang="en" sz="1000" b="0" i="0" u="none" strike="noStrike" cap="none" dirty="0">
                <a:solidFill>
                  <a:srgbClr val="8CC4FF"/>
                </a:solidFill>
                <a:latin typeface="Courier New"/>
                <a:ea typeface="Courier New"/>
                <a:cs typeface="Courier New"/>
                <a:sym typeface="Courier New"/>
              </a:rPr>
              <a:t>return</a:t>
            </a:r>
            <a:r>
              <a:rPr lang="en" sz="1000" b="0" i="0" u="none" strike="noStrike" cap="none" dirty="0">
                <a:solidFill>
                  <a:srgbClr val="E6ECF7"/>
                </a:solidFill>
                <a:latin typeface="Courier New"/>
                <a:ea typeface="Courier New"/>
                <a:cs typeface="Courier New"/>
                <a:sym typeface="Courier New"/>
              </a:rPr>
              <a:t> a + b;</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add(</a:t>
            </a:r>
            <a:r>
              <a:rPr lang="en" sz="1000" b="0" i="0" u="none" strike="noStrike" cap="none" dirty="0">
                <a:solidFill>
                  <a:srgbClr val="F2B705"/>
                </a:solidFill>
                <a:latin typeface="Courier New"/>
                <a:ea typeface="Courier New"/>
                <a:cs typeface="Courier New"/>
                <a:sym typeface="Courier New"/>
              </a:rPr>
              <a:t>5</a:t>
            </a:r>
            <a:r>
              <a:rPr lang="en" sz="1000" b="0" i="0" u="none" strike="noStrike" cap="none" dirty="0">
                <a:solidFill>
                  <a:srgbClr val="E6ECF7"/>
                </a:solidFill>
                <a:latin typeface="Courier New"/>
                <a:ea typeface="Courier New"/>
                <a:cs typeface="Courier New"/>
                <a:sym typeface="Courier New"/>
              </a:rPr>
              <a:t>, </a:t>
            </a:r>
            <a:r>
              <a:rPr lang="en" sz="1000" b="0" i="0" u="none" strike="noStrike" cap="none" dirty="0">
                <a:solidFill>
                  <a:srgbClr val="FFC878"/>
                </a:solidFill>
                <a:latin typeface="Courier New"/>
                <a:ea typeface="Courier New"/>
                <a:cs typeface="Courier New"/>
                <a:sym typeface="Courier New"/>
              </a:rPr>
              <a:t>"10"</a:t>
            </a:r>
            <a:r>
              <a:rPr lang="en" sz="1000" b="0" i="0" u="none" strike="noStrike" cap="none" dirty="0">
                <a:solidFill>
                  <a:srgbClr val="E6ECF7"/>
                </a:solidFill>
                <a:latin typeface="Courier New"/>
                <a:ea typeface="Courier New"/>
                <a:cs typeface="Courier New"/>
                <a:sym typeface="Courier New"/>
              </a:rPr>
              <a:t>); </a:t>
            </a:r>
            <a:r>
              <a:rPr lang="en" sz="1000" b="0" i="1" u="none" strike="noStrike" cap="none" dirty="0">
                <a:solidFill>
                  <a:srgbClr val="8FA3C4"/>
                </a:solidFill>
                <a:latin typeface="Courier New"/>
                <a:ea typeface="Courier New"/>
                <a:cs typeface="Courier New"/>
                <a:sym typeface="Courier New"/>
              </a:rPr>
              <a:t>// Error: not a number</a:t>
            </a:r>
            <a:endParaRPr lang="en" sz="1000" b="0" i="0" u="none" strike="noStrike" cap="none" dirty="0">
              <a:solidFill>
                <a:srgbClr val="000000"/>
              </a:solidFill>
              <a:latin typeface="Roboto"/>
              <a:ea typeface="Roboto"/>
              <a:cs typeface="Roboto"/>
              <a:sym typeface="Roboto"/>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grpSpPr/>
      <p:grpSp>
        <p:nvGrpSpPr>
          <p:cNvPr id="119" name="Google Shape;119;p16"/>
          <p:cNvGrpSpPr/>
          <p:nvPr/>
        </p:nvGrpSpPr>
        <p:grpSpPr>
          <a:xfrm flipH="1">
            <a:off x="5429250" y="-2"/>
            <a:ext cx="3714750" cy="4564828"/>
            <a:chOff x="0" y="-55"/>
            <a:chExt cx="3962400" cy="4869150"/>
          </a:xfrm>
        </p:grpSpPr>
        <p:sp>
          <p:nvSpPr>
            <p:cNvPr id="120" name="Google Shape;120;p16"/>
            <p:cNvSpPr/>
            <p:nvPr/>
          </p:nvSpPr>
          <p:spPr>
            <a:xfrm rot="10800000" flipH="1">
              <a:off x="0" y="-50"/>
              <a:ext cx="3962400" cy="3962400"/>
            </a:xfrm>
            <a:prstGeom prst="rtTriangle">
              <a:avLst/>
            </a:prstGeom>
            <a:solidFill>
              <a:srgbClr val="0053A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Calibri"/>
                <a:ea typeface="Calibri"/>
                <a:cs typeface="Calibri"/>
                <a:sym typeface="Calibri"/>
              </a:endParaRPr>
            </a:p>
          </p:txBody>
        </p:sp>
        <p:sp>
          <p:nvSpPr>
            <p:cNvPr id="121" name="Google Shape;121;p16"/>
            <p:cNvSpPr/>
            <p:nvPr/>
          </p:nvSpPr>
          <p:spPr>
            <a:xfrm rot="10800000">
              <a:off x="33807" y="-55"/>
              <a:ext cx="3264300" cy="2341800"/>
            </a:xfrm>
            <a:prstGeom prst="parallelogram">
              <a:avLst>
                <a:gd name="adj" fmla="val 104167"/>
              </a:avLst>
            </a:prstGeom>
            <a:gradFill>
              <a:gsLst>
                <a:gs pos="0">
                  <a:srgbClr val="003E78"/>
                </a:gs>
                <a:gs pos="15000">
                  <a:srgbClr val="003E78"/>
                </a:gs>
                <a:gs pos="64000">
                  <a:srgbClr val="0053A1">
                    <a:alpha val="0"/>
                  </a:srgbClr>
                </a:gs>
                <a:gs pos="100000">
                  <a:srgbClr val="0053A1">
                    <a:alpha val="0"/>
                  </a:srgbClr>
                </a:gs>
              </a:gsLst>
              <a:lin ang="18000042"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Calibri"/>
                <a:ea typeface="Calibri"/>
                <a:cs typeface="Calibri"/>
                <a:sym typeface="Calibri"/>
              </a:endParaRPr>
            </a:p>
          </p:txBody>
        </p:sp>
        <p:sp>
          <p:nvSpPr>
            <p:cNvPr id="122" name="Google Shape;122;p16"/>
            <p:cNvSpPr/>
            <p:nvPr/>
          </p:nvSpPr>
          <p:spPr>
            <a:xfrm>
              <a:off x="0" y="2671369"/>
              <a:ext cx="2289304" cy="2197726"/>
            </a:xfrm>
            <a:custGeom>
              <a:avLst/>
              <a:gdLst/>
              <a:ahLst/>
              <a:cxnLst/>
              <a:rect l="l" t="t" r="r" b="b"/>
              <a:pathLst>
                <a:path w="2289304" h="2197726" extrusionOk="0">
                  <a:moveTo>
                    <a:pt x="1614108" y="0"/>
                  </a:moveTo>
                  <a:lnTo>
                    <a:pt x="2289304" y="0"/>
                  </a:lnTo>
                  <a:lnTo>
                    <a:pt x="0" y="2197726"/>
                  </a:lnTo>
                  <a:lnTo>
                    <a:pt x="0" y="1549539"/>
                  </a:lnTo>
                  <a:close/>
                </a:path>
              </a:pathLst>
            </a:custGeom>
            <a:gradFill>
              <a:gsLst>
                <a:gs pos="0">
                  <a:srgbClr val="980000"/>
                </a:gs>
                <a:gs pos="15000">
                  <a:srgbClr val="CC0000"/>
                </a:gs>
                <a:gs pos="64000">
                  <a:srgbClr val="0053A1">
                    <a:alpha val="0"/>
                  </a:srgbClr>
                </a:gs>
                <a:gs pos="100000">
                  <a:srgbClr val="0053A1">
                    <a:alpha val="0"/>
                  </a:srgbClr>
                </a:gs>
              </a:gsLst>
              <a:lin ang="18000042"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Calibri"/>
                <a:ea typeface="Calibri"/>
                <a:cs typeface="Calibri"/>
                <a:sym typeface="Calibri"/>
              </a:endParaRPr>
            </a:p>
          </p:txBody>
        </p:sp>
      </p:grpSp>
      <p:pic>
        <p:nvPicPr>
          <p:cNvPr id="129" name="Google Shape;129;p16" title="Untitled-1-07.png"/>
          <p:cNvPicPr preferRelativeResize="0"/>
          <p:nvPr/>
        </p:nvPicPr>
        <p:blipFill rotWithShape="1">
          <a:blip r:embed="rId2">
            <a:alphaModFix/>
          </a:blip>
          <a:srcRect l="5100" r="4630" b="15895"/>
          <a:stretch/>
        </p:blipFill>
        <p:spPr>
          <a:xfrm>
            <a:off x="880549" y="4348257"/>
            <a:ext cx="2096958" cy="548700"/>
          </a:xfrm>
          <a:prstGeom prst="rect">
            <a:avLst/>
          </a:prstGeom>
          <a:noFill/>
          <a:ln>
            <a:noFill/>
          </a:ln>
        </p:spPr>
      </p:pic>
      <p:pic>
        <p:nvPicPr>
          <p:cNvPr id="130" name="Google Shape;130;p16" title="powerd by.png"/>
          <p:cNvPicPr preferRelativeResize="0"/>
          <p:nvPr/>
        </p:nvPicPr>
        <p:blipFill rotWithShape="1">
          <a:blip r:embed="rId4">
            <a:alphaModFix/>
          </a:blip>
          <a:srcRect l="6981" t="44048" r="6714" b="14302"/>
          <a:stretch/>
        </p:blipFill>
        <p:spPr>
          <a:xfrm>
            <a:off x="3537800" y="4500588"/>
            <a:ext cx="2130125" cy="355975"/>
          </a:xfrm>
          <a:prstGeom prst="rect">
            <a:avLst/>
          </a:prstGeom>
          <a:noFill/>
          <a:ln>
            <a:noFill/>
          </a:ln>
        </p:spPr>
      </p:pic>
      <p:sp>
        <p:nvSpPr>
          <p:cNvPr id="131" name="Google Shape;131;p16"/>
          <p:cNvSpPr txBox="1"/>
          <p:nvPr/>
        </p:nvSpPr>
        <p:spPr>
          <a:xfrm>
            <a:off x="5998012" y="4596047"/>
            <a:ext cx="2436900" cy="253800"/>
          </a:xfrm>
          <a:prstGeom prst="rect">
            <a:avLst/>
          </a:prstGeom>
          <a:noFill/>
          <a:ln>
            <a:noFill/>
          </a:ln>
        </p:spPr>
        <p:txBody>
          <a:bodyPr spcFirstLastPara="1" wrap="non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0053A1"/>
                </a:solidFill>
                <a:latin typeface="Roboto"/>
                <a:ea typeface="Roboto"/>
                <a:cs typeface="Roboto"/>
                <a:sym typeface="Roboto"/>
              </a:rPr>
              <a:t>www.</a:t>
            </a:r>
            <a:r>
              <a:rPr lang="en" sz="1200" b="1">
                <a:solidFill>
                  <a:srgbClr val="0053A1"/>
                </a:solidFill>
                <a:latin typeface="Roboto"/>
                <a:ea typeface="Roboto"/>
                <a:cs typeface="Roboto"/>
                <a:sym typeface="Roboto"/>
              </a:rPr>
              <a:t>careercraftacademy.com</a:t>
            </a:r>
            <a:endParaRPr sz="1200" b="1" i="0" u="none" strike="noStrike" cap="none">
              <a:solidFill>
                <a:srgbClr val="0053A1"/>
              </a:solidFill>
              <a:latin typeface="Roboto"/>
              <a:ea typeface="Roboto"/>
              <a:cs typeface="Roboto"/>
              <a:sym typeface="Roboto"/>
            </a:endParaRPr>
          </a:p>
        </p:txBody>
      </p:sp>
      <p:sp>
        <p:nvSpPr>
          <p:cNvPr id="344" name="Kicker"/>
          <p:cNvSpPr txBox="1"/>
          <p:nvPr/>
        </p:nvSpPr>
        <p:spPr>
          <a:xfrm>
            <a:off x="675600" y="285000"/>
            <a:ext cx="4150000" cy="241200"/>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1003" b="0" i="0" u="none" strike="noStrike" cap="none" dirty="0">
                <a:solidFill>
                  <a:srgbClr val="7F7F7F"/>
                </a:solidFill>
                <a:latin typeface="Roboto"/>
                <a:ea typeface="Roboto"/>
                <a:cs typeface="Roboto"/>
                <a:sym typeface="Roboto"/>
              </a:rPr>
              <a:t>Introduction</a:t>
            </a:r>
            <a:endParaRPr lang="en" sz="1003" b="0" i="0" u="none" strike="noStrike" cap="none" dirty="0">
              <a:solidFill>
                <a:srgbClr val="000000"/>
              </a:solidFill>
              <a:latin typeface="Roboto"/>
              <a:ea typeface="Roboto"/>
              <a:cs typeface="Roboto"/>
              <a:sym typeface="Roboto"/>
            </a:endParaRPr>
          </a:p>
        </p:txBody>
      </p:sp>
      <p:sp>
        <p:nvSpPr>
          <p:cNvPr id="345" name="Title"/>
          <p:cNvSpPr txBox="1"/>
          <p:nvPr/>
        </p:nvSpPr>
        <p:spPr>
          <a:xfrm>
            <a:off x="675600" y="520000"/>
            <a:ext cx="4150000" cy="425394"/>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2200" b="1" i="0" u="none" strike="noStrike" cap="none" dirty="0">
                <a:solidFill>
                  <a:srgbClr val="0053A1"/>
                </a:solidFill>
                <a:latin typeface="Poppins SemiBold"/>
                <a:ea typeface="Poppins SemiBold"/>
                <a:cs typeface="Poppins SemiBold"/>
                <a:sym typeface="Poppins SemiBold"/>
              </a:rPr>
              <a:t>Why Learn </a:t>
            </a:r>
            <a:r>
              <a:rPr lang="en" sz="2200" b="1" i="0" u="none" strike="noStrike" cap="none" dirty="0">
                <a:solidFill>
                  <a:srgbClr val="000000"/>
                </a:solidFill>
                <a:latin typeface="Poppins SemiBold"/>
                <a:ea typeface="Poppins SemiBold"/>
                <a:cs typeface="Poppins SemiBold"/>
                <a:sym typeface="Poppins SemiBold"/>
              </a:rPr>
              <a:t>TypeScript?</a:t>
            </a:r>
            <a:endParaRPr lang="en" sz="2200" b="0" i="0" u="none" strike="noStrike" cap="none" dirty="0">
              <a:solidFill>
                <a:srgbClr val="000000"/>
              </a:solidFill>
              <a:latin typeface="Roboto"/>
              <a:ea typeface="Roboto"/>
              <a:cs typeface="Roboto"/>
              <a:sym typeface="Roboto"/>
            </a:endParaRPr>
          </a:p>
        </p:txBody>
      </p:sp>
      <p:sp>
        <p:nvSpPr>
          <p:cNvPr id="346" name="Body"/>
          <p:cNvSpPr txBox="1"/>
          <p:nvPr/>
        </p:nvSpPr>
        <p:spPr>
          <a:xfrm>
            <a:off x="620000" y="1048000"/>
            <a:ext cx="4150000" cy="1427120"/>
          </a:xfrm>
          <a:prstGeom prst="rect">
            <a:avLst/>
          </a:prstGeom>
          <a:noFill/>
        </p:spPr>
        <p:txBody>
          <a:bodyPr spcFirstLastPara="1" wrap="square" lIns="86025" tIns="43000" rIns="86025" bIns="43000" anchor="t" anchorCtr="0">
            <a:noAutofit/>
          </a:bodyPr>
          <a:lstStyle/>
          <a:p>
            <a:pPr marL="171450" marR="0" lvl="0" indent="-171450" algn="l" rtl="0">
              <a:lnSpc>
                <a:spcPct val="125000"/>
              </a:lnSpc>
              <a:spcBef>
                <a:spcPts val="100"/>
              </a:spcBef>
              <a:spcAft>
                <a:spcPts val="0"/>
              </a:spcAft>
              <a:buClr>
                <a:srgbClr val="000000"/>
              </a:buClr>
              <a:buSzPts val="1100"/>
              <a:buFont typeface="Arial"/>
              <a:buChar char="•"/>
            </a:pPr>
            <a:r>
              <a:rPr lang="en" sz="1100" b="1" i="0" u="none" strike="noStrike" cap="none" dirty="0">
                <a:solidFill>
                  <a:schemeClr val="tx1"/>
                </a:solidFill>
                <a:latin typeface="Roboto"/>
                <a:ea typeface="Roboto"/>
                <a:cs typeface="Roboto"/>
                <a:sym typeface="Roboto"/>
              </a:rPr>
              <a:t>Catch bugs early</a:t>
            </a:r>
            <a:r>
              <a:rPr lang="en" sz="1100" b="0" i="0" u="none" strike="noStrike" cap="none" dirty="0">
                <a:solidFill>
                  <a:schemeClr val="tx1"/>
                </a:solidFill>
                <a:latin typeface="Roboto"/>
                <a:ea typeface="Roboto"/>
                <a:cs typeface="Roboto"/>
                <a:sym typeface="Roboto"/>
              </a:rPr>
              <a:t> - errors found before code runs</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1" i="0" u="none" strike="noStrike" cap="none" dirty="0">
                <a:solidFill>
                  <a:schemeClr val="tx1"/>
                </a:solidFill>
                <a:latin typeface="Roboto"/>
                <a:ea typeface="Roboto"/>
                <a:cs typeface="Roboto"/>
                <a:sym typeface="Roboto"/>
              </a:rPr>
              <a:t>Better tooling</a:t>
            </a:r>
            <a:r>
              <a:rPr lang="en" sz="1100" b="0" i="0" u="none" strike="noStrike" cap="none" dirty="0">
                <a:solidFill>
                  <a:schemeClr val="tx1"/>
                </a:solidFill>
                <a:latin typeface="Roboto"/>
                <a:ea typeface="Roboto"/>
                <a:cs typeface="Roboto"/>
                <a:sym typeface="Roboto"/>
              </a:rPr>
              <a:t> - autocomplete, safe refactoring</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1" i="0" u="none" strike="noStrike" cap="none" dirty="0">
                <a:solidFill>
                  <a:schemeClr val="tx1"/>
                </a:solidFill>
                <a:latin typeface="Roboto"/>
                <a:ea typeface="Roboto"/>
                <a:cs typeface="Roboto"/>
                <a:sym typeface="Roboto"/>
              </a:rPr>
              <a:t>Self-documenting</a:t>
            </a:r>
            <a:r>
              <a:rPr lang="en" sz="1100" b="0" i="0" u="none" strike="noStrike" cap="none" dirty="0">
                <a:solidFill>
                  <a:schemeClr val="tx1"/>
                </a:solidFill>
                <a:latin typeface="Roboto"/>
                <a:ea typeface="Roboto"/>
                <a:cs typeface="Roboto"/>
                <a:sym typeface="Roboto"/>
              </a:rPr>
              <a:t> - types show inputs and outputs</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1" i="0" u="none" strike="noStrike" cap="none" dirty="0">
                <a:solidFill>
                  <a:schemeClr val="tx1"/>
                </a:solidFill>
                <a:latin typeface="Roboto"/>
                <a:ea typeface="Roboto"/>
                <a:cs typeface="Roboto"/>
                <a:sym typeface="Roboto"/>
              </a:rPr>
              <a:t>Scalable</a:t>
            </a:r>
            <a:r>
              <a:rPr lang="en" sz="1100" b="0" i="0" u="none" strike="noStrike" cap="none" dirty="0">
                <a:solidFill>
                  <a:schemeClr val="tx1"/>
                </a:solidFill>
                <a:latin typeface="Roboto"/>
                <a:ea typeface="Roboto"/>
                <a:cs typeface="Roboto"/>
                <a:sym typeface="Roboto"/>
              </a:rPr>
              <a:t> for large codebases and teams</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1" i="0" u="none" strike="noStrike" cap="none" dirty="0">
                <a:solidFill>
                  <a:schemeClr val="tx1"/>
                </a:solidFill>
                <a:latin typeface="Roboto"/>
                <a:ea typeface="Roboto"/>
                <a:cs typeface="Roboto"/>
                <a:sym typeface="Roboto"/>
              </a:rPr>
              <a:t>Industry standard</a:t>
            </a:r>
            <a:r>
              <a:rPr lang="en" sz="1100" b="0" i="0" u="none" strike="noStrike" cap="none" dirty="0">
                <a:solidFill>
                  <a:schemeClr val="tx1"/>
                </a:solidFill>
                <a:latin typeface="Roboto"/>
                <a:ea typeface="Roboto"/>
                <a:cs typeface="Roboto"/>
                <a:sym typeface="Roboto"/>
              </a:rPr>
              <a:t> in modern job postings</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1" i="0" u="none" strike="noStrike" cap="none" dirty="0">
                <a:solidFill>
                  <a:schemeClr val="tx1"/>
                </a:solidFill>
                <a:latin typeface="Roboto"/>
                <a:ea typeface="Roboto"/>
                <a:cs typeface="Roboto"/>
                <a:sym typeface="Roboto"/>
              </a:rPr>
              <a:t>Optional</a:t>
            </a:r>
            <a:r>
              <a:rPr lang="en" sz="1100" b="0" i="0" u="none" strike="noStrike" cap="none" dirty="0">
                <a:solidFill>
                  <a:schemeClr val="tx1"/>
                </a:solidFill>
                <a:latin typeface="Roboto"/>
                <a:ea typeface="Roboto"/>
                <a:cs typeface="Roboto"/>
                <a:sym typeface="Roboto"/>
              </a:rPr>
              <a:t> - adopt it gradually, file by file</a:t>
            </a:r>
            <a:endParaRPr lang="en" sz="1100" b="0" i="0" u="none" strike="noStrike" cap="none" dirty="0">
              <a:solidFill>
                <a:srgbClr val="000000"/>
              </a:solidFill>
              <a:latin typeface="Roboto"/>
              <a:ea typeface="Roboto"/>
              <a:cs typeface="Roboto"/>
              <a:sym typeface="Roboto"/>
            </a:endParaRPr>
          </a:p>
        </p:txBody>
      </p:sp>
      <p:sp>
        <p:nvSpPr>
          <p:cNvPr id="331" name="Visual panel"/>
          <p:cNvSpPr/>
          <p:nvPr/>
        </p:nvSpPr>
        <p:spPr>
          <a:xfrm>
            <a:off x="4940000" y="560000"/>
            <a:ext cx="3500000" cy="3590000"/>
          </a:xfrm>
          <a:prstGeom prst="roundRect">
            <a:avLst>
              <a:gd name="adj" fmla="val 3000"/>
            </a:avLst>
          </a:prstGeom>
          <a:solidFill>
            <a:srgbClr val="FFFFFF"/>
          </a:solidFill>
          <a:ln w="9525">
            <a:solidFill>
              <a:srgbClr val="D9D9D9"/>
            </a:solidFill>
          </a:ln>
          <a:effectLst>
            <a:outerShdw blurRad="63500" dist="25400" dir="5400000" algn="t" rotWithShape="0">
              <a:srgbClr val="000000">
                <a:alpha val="22000"/>
              </a:srgbClr>
            </a:outerShdw>
          </a:effectLst>
        </p:spPr>
        <p:txBody>
          <a:bodyPr rtlCol="0" anchor="ctr"/>
          <a:lstStyle/>
          <a:p>
            <a:pPr algn="ctr"/>
          </a:p>
        </p:txBody>
      </p:sp>
      <p:sp>
        <p:nvSpPr>
          <p:cNvPr id="332" name="Panel heading"/>
          <p:cNvSpPr txBox="1"/>
          <p:nvPr/>
        </p:nvSpPr>
        <p:spPr>
          <a:xfrm>
            <a:off x="5070000" y="690000"/>
            <a:ext cx="3240000" cy="270000"/>
          </a:xfrm>
          <a:prstGeom prst="rect">
            <a:avLst/>
          </a:prstGeom>
          <a:noFill/>
        </p:spPr>
        <p:txBody>
          <a:bodyPr spcFirstLastPara="1" wrap="square" lIns="0" tIns="30000" rIns="0" bIns="0" anchor="t" anchorCtr="0">
            <a:noAutofit/>
          </a:bodyPr>
          <a:lstStyle/>
          <a:p>
            <a:pPr marL="0" marR="0" lvl="0" indent="0" algn="l" rtl="0">
              <a:lnSpc>
                <a:spcPct val="100000"/>
              </a:lnSpc>
              <a:spcBef>
                <a:spcPts val="0"/>
              </a:spcBef>
              <a:spcAft>
                <a:spcPts val="0"/>
              </a:spcAft>
              <a:buNone/>
            </a:pPr>
            <a:r>
              <a:rPr lang="en" sz="1100" b="1" i="0" u="none" strike="noStrike" cap="none" dirty="0">
                <a:solidFill>
                  <a:srgbClr val="0053A1"/>
                </a:solidFill>
                <a:latin typeface="Poppins SemiBold"/>
                <a:ea typeface="Poppins SemiBold"/>
                <a:cs typeface="Poppins SemiBold"/>
                <a:sym typeface="Poppins SemiBold"/>
              </a:rPr>
              <a:t>Used in industry by</a:t>
            </a:r>
            <a:endParaRPr lang="en" sz="1100" b="0" i="0" u="none" strike="noStrike" cap="none" dirty="0">
              <a:solidFill>
                <a:srgbClr val="000000"/>
              </a:solidFill>
              <a:latin typeface="Roboto"/>
              <a:ea typeface="Roboto"/>
              <a:cs typeface="Roboto"/>
              <a:sym typeface="Roboto"/>
            </a:endParaRPr>
          </a:p>
        </p:txBody>
      </p:sp>
      <p:sp>
        <p:nvSpPr>
          <p:cNvPr id="333" name="Company"/>
          <p:cNvSpPr/>
          <p:nvPr/>
        </p:nvSpPr>
        <p:spPr>
          <a:xfrm>
            <a:off x="5070000" y="1080000"/>
            <a:ext cx="1590000" cy="400000"/>
          </a:xfrm>
          <a:prstGeom prst="roundRect">
            <a:avLst>
              <a:gd name="adj" fmla="val 12000"/>
            </a:avLst>
          </a:prstGeom>
          <a:solidFill>
            <a:srgbClr val="F3F7FC"/>
          </a:solidFill>
          <a:ln>
            <a:noFill/>
          </a:ln>
        </p:spPr>
        <p:txBody>
          <a:bodyPr wrap="square" lIns="45720" tIns="45720" rIns="45720" bIns="45720" rtlCol="0" anchor="ctr">
            <a:noAutofit/>
          </a:bodyPr>
          <a:lstStyle/>
          <a:p>
            <a:pPr marL="0" marR="0" lvl="0" indent="0" algn="ctr" rtl="0">
              <a:lnSpc>
                <a:spcPct val="100000"/>
              </a:lnSpc>
              <a:spcBef>
                <a:spcPts val="0"/>
              </a:spcBef>
              <a:spcAft>
                <a:spcPts val="0"/>
              </a:spcAft>
              <a:buNone/>
            </a:pPr>
            <a:r>
              <a:rPr lang="en" sz="1000" b="1" i="0" u="none" strike="noStrike" cap="none" dirty="0">
                <a:solidFill>
                  <a:srgbClr val="0053A1"/>
                </a:solidFill>
                <a:latin typeface="Poppins SemiBold"/>
                <a:ea typeface="Poppins SemiBold"/>
                <a:cs typeface="Poppins SemiBold"/>
                <a:sym typeface="Poppins SemiBold"/>
              </a:rPr>
              <a:t>Google</a:t>
            </a:r>
            <a:endParaRPr lang="en" sz="1000" b="0" i="0" u="none" strike="noStrike" cap="none" dirty="0">
              <a:solidFill>
                <a:srgbClr val="000000"/>
              </a:solidFill>
              <a:latin typeface="Roboto"/>
              <a:ea typeface="Roboto"/>
              <a:cs typeface="Roboto"/>
              <a:sym typeface="Roboto"/>
            </a:endParaRPr>
          </a:p>
        </p:txBody>
      </p:sp>
      <p:sp>
        <p:nvSpPr>
          <p:cNvPr id="334" name="Company"/>
          <p:cNvSpPr/>
          <p:nvPr/>
        </p:nvSpPr>
        <p:spPr>
          <a:xfrm>
            <a:off x="6720000" y="1080000"/>
            <a:ext cx="1590000" cy="400000"/>
          </a:xfrm>
          <a:prstGeom prst="roundRect">
            <a:avLst>
              <a:gd name="adj" fmla="val 12000"/>
            </a:avLst>
          </a:prstGeom>
          <a:solidFill>
            <a:srgbClr val="F3F7FC"/>
          </a:solidFill>
          <a:ln>
            <a:noFill/>
          </a:ln>
        </p:spPr>
        <p:txBody>
          <a:bodyPr wrap="square" lIns="45720" tIns="45720" rIns="45720" bIns="45720" rtlCol="0" anchor="ctr">
            <a:noAutofit/>
          </a:bodyPr>
          <a:lstStyle/>
          <a:p>
            <a:pPr marL="0" marR="0" lvl="0" indent="0" algn="ctr" rtl="0">
              <a:lnSpc>
                <a:spcPct val="100000"/>
              </a:lnSpc>
              <a:spcBef>
                <a:spcPts val="0"/>
              </a:spcBef>
              <a:spcAft>
                <a:spcPts val="0"/>
              </a:spcAft>
              <a:buNone/>
            </a:pPr>
            <a:r>
              <a:rPr lang="en" sz="1000" b="1" i="0" u="none" strike="noStrike" cap="none" dirty="0">
                <a:solidFill>
                  <a:srgbClr val="C00000"/>
                </a:solidFill>
                <a:latin typeface="Poppins SemiBold"/>
                <a:ea typeface="Poppins SemiBold"/>
                <a:cs typeface="Poppins SemiBold"/>
                <a:sym typeface="Poppins SemiBold"/>
              </a:rPr>
              <a:t>Microsoft</a:t>
            </a:r>
            <a:endParaRPr lang="en" sz="1000" b="0" i="0" u="none" strike="noStrike" cap="none" dirty="0">
              <a:solidFill>
                <a:srgbClr val="000000"/>
              </a:solidFill>
              <a:latin typeface="Roboto"/>
              <a:ea typeface="Roboto"/>
              <a:cs typeface="Roboto"/>
              <a:sym typeface="Roboto"/>
            </a:endParaRPr>
          </a:p>
        </p:txBody>
      </p:sp>
      <p:sp>
        <p:nvSpPr>
          <p:cNvPr id="335" name="Company"/>
          <p:cNvSpPr/>
          <p:nvPr/>
        </p:nvSpPr>
        <p:spPr>
          <a:xfrm>
            <a:off x="5070000" y="1550000"/>
            <a:ext cx="1590000" cy="400000"/>
          </a:xfrm>
          <a:prstGeom prst="roundRect">
            <a:avLst>
              <a:gd name="adj" fmla="val 12000"/>
            </a:avLst>
          </a:prstGeom>
          <a:solidFill>
            <a:srgbClr val="F3F7FC"/>
          </a:solidFill>
          <a:ln>
            <a:noFill/>
          </a:ln>
        </p:spPr>
        <p:txBody>
          <a:bodyPr wrap="square" lIns="45720" tIns="45720" rIns="45720" bIns="45720" rtlCol="0" anchor="ctr">
            <a:noAutofit/>
          </a:bodyPr>
          <a:lstStyle/>
          <a:p>
            <a:pPr marL="0" marR="0" lvl="0" indent="0" algn="ctr" rtl="0">
              <a:lnSpc>
                <a:spcPct val="100000"/>
              </a:lnSpc>
              <a:spcBef>
                <a:spcPts val="0"/>
              </a:spcBef>
              <a:spcAft>
                <a:spcPts val="0"/>
              </a:spcAft>
              <a:buNone/>
            </a:pPr>
            <a:r>
              <a:rPr lang="en" sz="1000" b="1" i="0" u="none" strike="noStrike" cap="none" dirty="0">
                <a:solidFill>
                  <a:srgbClr val="0053A1"/>
                </a:solidFill>
                <a:latin typeface="Poppins SemiBold"/>
                <a:ea typeface="Poppins SemiBold"/>
                <a:cs typeface="Poppins SemiBold"/>
                <a:sym typeface="Poppins SemiBold"/>
              </a:rPr>
              <a:t>Airbnb</a:t>
            </a:r>
            <a:endParaRPr lang="en" sz="1000" b="0" i="0" u="none" strike="noStrike" cap="none" dirty="0">
              <a:solidFill>
                <a:srgbClr val="000000"/>
              </a:solidFill>
              <a:latin typeface="Roboto"/>
              <a:ea typeface="Roboto"/>
              <a:cs typeface="Roboto"/>
              <a:sym typeface="Roboto"/>
            </a:endParaRPr>
          </a:p>
        </p:txBody>
      </p:sp>
      <p:sp>
        <p:nvSpPr>
          <p:cNvPr id="336" name="Company"/>
          <p:cNvSpPr/>
          <p:nvPr/>
        </p:nvSpPr>
        <p:spPr>
          <a:xfrm>
            <a:off x="6720000" y="1550000"/>
            <a:ext cx="1590000" cy="400000"/>
          </a:xfrm>
          <a:prstGeom prst="roundRect">
            <a:avLst>
              <a:gd name="adj" fmla="val 12000"/>
            </a:avLst>
          </a:prstGeom>
          <a:solidFill>
            <a:srgbClr val="F3F7FC"/>
          </a:solidFill>
          <a:ln>
            <a:noFill/>
          </a:ln>
        </p:spPr>
        <p:txBody>
          <a:bodyPr wrap="square" lIns="45720" tIns="45720" rIns="45720" bIns="45720" rtlCol="0" anchor="ctr">
            <a:noAutofit/>
          </a:bodyPr>
          <a:lstStyle/>
          <a:p>
            <a:pPr marL="0" marR="0" lvl="0" indent="0" algn="ctr" rtl="0">
              <a:lnSpc>
                <a:spcPct val="100000"/>
              </a:lnSpc>
              <a:spcBef>
                <a:spcPts val="0"/>
              </a:spcBef>
              <a:spcAft>
                <a:spcPts val="0"/>
              </a:spcAft>
              <a:buNone/>
            </a:pPr>
            <a:r>
              <a:rPr lang="en" sz="1000" b="1" i="0" u="none" strike="noStrike" cap="none" dirty="0">
                <a:solidFill>
                  <a:srgbClr val="C00000"/>
                </a:solidFill>
                <a:latin typeface="Poppins SemiBold"/>
                <a:ea typeface="Poppins SemiBold"/>
                <a:cs typeface="Poppins SemiBold"/>
                <a:sym typeface="Poppins SemiBold"/>
              </a:rPr>
              <a:t>Slack</a:t>
            </a:r>
            <a:endParaRPr lang="en" sz="1000" b="0" i="0" u="none" strike="noStrike" cap="none" dirty="0">
              <a:solidFill>
                <a:srgbClr val="000000"/>
              </a:solidFill>
              <a:latin typeface="Roboto"/>
              <a:ea typeface="Roboto"/>
              <a:cs typeface="Roboto"/>
              <a:sym typeface="Roboto"/>
            </a:endParaRPr>
          </a:p>
        </p:txBody>
      </p:sp>
      <p:sp>
        <p:nvSpPr>
          <p:cNvPr id="337" name="Company"/>
          <p:cNvSpPr/>
          <p:nvPr/>
        </p:nvSpPr>
        <p:spPr>
          <a:xfrm>
            <a:off x="5070000" y="2020000"/>
            <a:ext cx="1590000" cy="400000"/>
          </a:xfrm>
          <a:prstGeom prst="roundRect">
            <a:avLst>
              <a:gd name="adj" fmla="val 12000"/>
            </a:avLst>
          </a:prstGeom>
          <a:solidFill>
            <a:srgbClr val="F3F7FC"/>
          </a:solidFill>
          <a:ln>
            <a:noFill/>
          </a:ln>
        </p:spPr>
        <p:txBody>
          <a:bodyPr wrap="square" lIns="45720" tIns="45720" rIns="45720" bIns="45720" rtlCol="0" anchor="ctr">
            <a:noAutofit/>
          </a:bodyPr>
          <a:lstStyle/>
          <a:p>
            <a:pPr marL="0" marR="0" lvl="0" indent="0" algn="ctr" rtl="0">
              <a:lnSpc>
                <a:spcPct val="100000"/>
              </a:lnSpc>
              <a:spcBef>
                <a:spcPts val="0"/>
              </a:spcBef>
              <a:spcAft>
                <a:spcPts val="0"/>
              </a:spcAft>
              <a:buNone/>
            </a:pPr>
            <a:r>
              <a:rPr lang="en" sz="1000" b="1" i="0" u="none" strike="noStrike" cap="none" dirty="0">
                <a:solidFill>
                  <a:srgbClr val="0053A1"/>
                </a:solidFill>
                <a:latin typeface="Poppins SemiBold"/>
                <a:ea typeface="Poppins SemiBold"/>
                <a:cs typeface="Poppins SemiBold"/>
                <a:sym typeface="Poppins SemiBold"/>
              </a:rPr>
              <a:t>Netflix</a:t>
            </a:r>
            <a:endParaRPr lang="en" sz="1000" b="0" i="0" u="none" strike="noStrike" cap="none" dirty="0">
              <a:solidFill>
                <a:srgbClr val="000000"/>
              </a:solidFill>
              <a:latin typeface="Roboto"/>
              <a:ea typeface="Roboto"/>
              <a:cs typeface="Roboto"/>
              <a:sym typeface="Roboto"/>
            </a:endParaRPr>
          </a:p>
        </p:txBody>
      </p:sp>
      <p:sp>
        <p:nvSpPr>
          <p:cNvPr id="338" name="Company"/>
          <p:cNvSpPr/>
          <p:nvPr/>
        </p:nvSpPr>
        <p:spPr>
          <a:xfrm>
            <a:off x="6720000" y="2020000"/>
            <a:ext cx="1590000" cy="400000"/>
          </a:xfrm>
          <a:prstGeom prst="roundRect">
            <a:avLst>
              <a:gd name="adj" fmla="val 12000"/>
            </a:avLst>
          </a:prstGeom>
          <a:solidFill>
            <a:srgbClr val="F3F7FC"/>
          </a:solidFill>
          <a:ln>
            <a:noFill/>
          </a:ln>
        </p:spPr>
        <p:txBody>
          <a:bodyPr wrap="square" lIns="45720" tIns="45720" rIns="45720" bIns="45720" rtlCol="0" anchor="ctr">
            <a:noAutofit/>
          </a:bodyPr>
          <a:lstStyle/>
          <a:p>
            <a:pPr marL="0" marR="0" lvl="0" indent="0" algn="ctr" rtl="0">
              <a:lnSpc>
                <a:spcPct val="100000"/>
              </a:lnSpc>
              <a:spcBef>
                <a:spcPts val="0"/>
              </a:spcBef>
              <a:spcAft>
                <a:spcPts val="0"/>
              </a:spcAft>
              <a:buNone/>
            </a:pPr>
            <a:r>
              <a:rPr lang="en" sz="1000" b="1" i="0" u="none" strike="noStrike" cap="none" dirty="0">
                <a:solidFill>
                  <a:srgbClr val="C00000"/>
                </a:solidFill>
                <a:latin typeface="Poppins SemiBold"/>
                <a:ea typeface="Poppins SemiBold"/>
                <a:cs typeface="Poppins SemiBold"/>
                <a:sym typeface="Poppins SemiBold"/>
              </a:rPr>
              <a:t>Uber</a:t>
            </a:r>
            <a:endParaRPr lang="en" sz="1000" b="0" i="0" u="none" strike="noStrike" cap="none" dirty="0">
              <a:solidFill>
                <a:srgbClr val="000000"/>
              </a:solidFill>
              <a:latin typeface="Roboto"/>
              <a:ea typeface="Roboto"/>
              <a:cs typeface="Roboto"/>
              <a:sym typeface="Roboto"/>
            </a:endParaRPr>
          </a:p>
        </p:txBody>
      </p:sp>
      <p:sp>
        <p:nvSpPr>
          <p:cNvPr id="339" name="Gradual heading"/>
          <p:cNvSpPr txBox="1"/>
          <p:nvPr/>
        </p:nvSpPr>
        <p:spPr>
          <a:xfrm>
            <a:off x="5070000" y="2600000"/>
            <a:ext cx="3240000" cy="240000"/>
          </a:xfrm>
          <a:prstGeom prst="rect">
            <a:avLst/>
          </a:prstGeom>
          <a:noFill/>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000" b="1" i="0" u="none" strike="noStrike" cap="none" dirty="0">
                <a:solidFill>
                  <a:srgbClr val="000000"/>
                </a:solidFill>
                <a:latin typeface="Poppins SemiBold"/>
                <a:ea typeface="Poppins SemiBold"/>
                <a:cs typeface="Poppins SemiBold"/>
                <a:sym typeface="Poppins SemiBold"/>
              </a:rPr>
              <a:t>Adopt it gradually</a:t>
            </a:r>
            <a:endParaRPr lang="en" sz="1000" b="0" i="0" u="none" strike="noStrike" cap="none" dirty="0">
              <a:solidFill>
                <a:srgbClr val="000000"/>
              </a:solidFill>
              <a:latin typeface="Roboto"/>
              <a:ea typeface="Roboto"/>
              <a:cs typeface="Roboto"/>
              <a:sym typeface="Roboto"/>
            </a:endParaRPr>
          </a:p>
        </p:txBody>
      </p:sp>
      <p:sp>
        <p:nvSpPr>
          <p:cNvPr id="340" name="Rename box"/>
          <p:cNvSpPr/>
          <p:nvPr/>
        </p:nvSpPr>
        <p:spPr>
          <a:xfrm>
            <a:off x="5070000" y="2900000"/>
            <a:ext cx="1450000" cy="420000"/>
          </a:xfrm>
          <a:prstGeom prst="roundRect">
            <a:avLst>
              <a:gd name="adj" fmla="val 12000"/>
            </a:avLst>
          </a:prstGeom>
          <a:solidFill>
            <a:srgbClr val="0E2455"/>
          </a:solidFill>
          <a:ln>
            <a:noFill/>
          </a:ln>
        </p:spPr>
        <p:txBody>
          <a:bodyPr wrap="square" lIns="45720" tIns="45720" rIns="45720" bIns="45720" rtlCol="0" anchor="ctr">
            <a:noAutofit/>
          </a:bodyPr>
          <a:lstStyle/>
          <a:p>
            <a:pPr marL="0" marR="0" lvl="0" indent="0" algn="ctr" rtl="0">
              <a:lnSpc>
                <a:spcPct val="100000"/>
              </a:lnSpc>
              <a:spcBef>
                <a:spcPts val="0"/>
              </a:spcBef>
              <a:spcAft>
                <a:spcPts val="0"/>
              </a:spcAft>
              <a:buNone/>
            </a:pPr>
            <a:r>
              <a:rPr lang="en" sz="1000" b="1" i="0" u="none" strike="noStrike" cap="none" dirty="0">
                <a:solidFill>
                  <a:srgbClr val="FFFFFF"/>
                </a:solidFill>
                <a:latin typeface="Courier New"/>
                <a:ea typeface="Courier New"/>
                <a:cs typeface="Courier New"/>
                <a:sym typeface="Courier New"/>
              </a:rPr>
              <a:t>app.js</a:t>
            </a:r>
            <a:endParaRPr lang="en" sz="1000" b="0" i="0" u="none" strike="noStrike" cap="none" dirty="0">
              <a:solidFill>
                <a:srgbClr val="000000"/>
              </a:solidFill>
              <a:latin typeface="Roboto"/>
              <a:ea typeface="Roboto"/>
              <a:cs typeface="Roboto"/>
              <a:sym typeface="Roboto"/>
            </a:endParaRPr>
          </a:p>
        </p:txBody>
      </p:sp>
      <p:sp>
        <p:nvSpPr>
          <p:cNvPr id="341" name="Arrow"/>
          <p:cNvSpPr/>
          <p:nvPr/>
        </p:nvSpPr>
        <p:spPr>
          <a:xfrm>
            <a:off x="6590000" y="3010000"/>
            <a:ext cx="200000" cy="200000"/>
          </a:xfrm>
          <a:prstGeom prst="rightArrow">
            <a:avLst/>
          </a:prstGeom>
          <a:solidFill>
            <a:srgbClr val="C00000"/>
          </a:solidFill>
          <a:ln>
            <a:noFill/>
          </a:ln>
        </p:spPr>
        <p:txBody>
          <a:bodyPr rtlCol="0" anchor="ctr"/>
          <a:lstStyle/>
          <a:p>
            <a:pPr algn="ctr"/>
          </a:p>
        </p:txBody>
      </p:sp>
      <p:sp>
        <p:nvSpPr>
          <p:cNvPr id="342" name="Rename box 2"/>
          <p:cNvSpPr/>
          <p:nvPr/>
        </p:nvSpPr>
        <p:spPr>
          <a:xfrm>
            <a:off x="6860000" y="2900000"/>
            <a:ext cx="1450000" cy="420000"/>
          </a:xfrm>
          <a:prstGeom prst="roundRect">
            <a:avLst>
              <a:gd name="adj" fmla="val 12000"/>
            </a:avLst>
          </a:prstGeom>
          <a:solidFill>
            <a:srgbClr val="0053A1"/>
          </a:solidFill>
          <a:ln>
            <a:noFill/>
          </a:ln>
        </p:spPr>
        <p:txBody>
          <a:bodyPr wrap="square" lIns="45720" tIns="45720" rIns="45720" bIns="45720" rtlCol="0" anchor="ctr">
            <a:noAutofit/>
          </a:bodyPr>
          <a:lstStyle/>
          <a:p>
            <a:pPr marL="0" marR="0" lvl="0" indent="0" algn="ctr" rtl="0">
              <a:lnSpc>
                <a:spcPct val="100000"/>
              </a:lnSpc>
              <a:spcBef>
                <a:spcPts val="0"/>
              </a:spcBef>
              <a:spcAft>
                <a:spcPts val="0"/>
              </a:spcAft>
              <a:buNone/>
            </a:pPr>
            <a:r>
              <a:rPr lang="en" sz="1000" b="1" i="0" u="none" strike="noStrike" cap="none" dirty="0">
                <a:solidFill>
                  <a:srgbClr val="FFFFFF"/>
                </a:solidFill>
                <a:latin typeface="Courier New"/>
                <a:ea typeface="Courier New"/>
                <a:cs typeface="Courier New"/>
                <a:sym typeface="Courier New"/>
              </a:rPr>
              <a:t>app.ts</a:t>
            </a:r>
            <a:endParaRPr lang="en" sz="1000" b="0" i="0" u="none" strike="noStrike" cap="none" dirty="0">
              <a:solidFill>
                <a:srgbClr val="000000"/>
              </a:solidFill>
              <a:latin typeface="Roboto"/>
              <a:ea typeface="Roboto"/>
              <a:cs typeface="Roboto"/>
              <a:sym typeface="Roboto"/>
            </a:endParaRPr>
          </a:p>
        </p:txBody>
      </p:sp>
      <p:sp>
        <p:nvSpPr>
          <p:cNvPr id="343" name="Gradual note"/>
          <p:cNvSpPr txBox="1"/>
          <p:nvPr/>
        </p:nvSpPr>
        <p:spPr>
          <a:xfrm>
            <a:off x="5070000" y="3400000"/>
            <a:ext cx="3240000" cy="400000"/>
          </a:xfrm>
          <a:prstGeom prst="rect">
            <a:avLst/>
          </a:prstGeom>
          <a:noFill/>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b="0" i="0" u="none" strike="noStrike" cap="none" dirty="0">
                <a:solidFill>
                  <a:srgbClr val="7F7F7F"/>
                </a:solidFill>
                <a:latin typeface="Roboto"/>
                <a:ea typeface="Roboto"/>
                <a:cs typeface="Roboto"/>
                <a:sym typeface="Roboto"/>
              </a:rPr>
              <a:t>Rename a file and migrate piece by piece.</a:t>
            </a:r>
            <a:endParaRPr lang="en" sz="900" b="0" i="0" u="none" strike="noStrike" cap="none" dirty="0">
              <a:solidFill>
                <a:srgbClr val="000000"/>
              </a:solidFill>
              <a:latin typeface="Roboto"/>
              <a:ea typeface="Roboto"/>
              <a:cs typeface="Roboto"/>
              <a:sym typeface="Roboto"/>
            </a:endParaR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grpSpPr/>
      <p:pic>
        <p:nvPicPr>
          <p:cNvPr id="110" name="Google Shape;110;p15" title="Untitled-1-07.png"/>
          <p:cNvPicPr preferRelativeResize="0"/>
          <p:nvPr/>
        </p:nvPicPr>
        <p:blipFill rotWithShape="1">
          <a:blip r:embed="rId2">
            <a:alphaModFix/>
          </a:blip>
          <a:srcRect l="5100" r="4630" b="15895"/>
          <a:stretch/>
        </p:blipFill>
        <p:spPr>
          <a:xfrm>
            <a:off x="880549" y="4348257"/>
            <a:ext cx="2096958" cy="548700"/>
          </a:xfrm>
          <a:prstGeom prst="rect">
            <a:avLst/>
          </a:prstGeom>
          <a:noFill/>
          <a:ln>
            <a:noFill/>
          </a:ln>
        </p:spPr>
      </p:pic>
      <p:pic>
        <p:nvPicPr>
          <p:cNvPr id="111" name="Google Shape;111;p15" title="powerd by.png"/>
          <p:cNvPicPr preferRelativeResize="0"/>
          <p:nvPr/>
        </p:nvPicPr>
        <p:blipFill rotWithShape="1">
          <a:blip r:embed="rId5">
            <a:alphaModFix/>
          </a:blip>
          <a:srcRect l="6981" t="44048" r="6714" b="14302"/>
          <a:stretch/>
        </p:blipFill>
        <p:spPr>
          <a:xfrm>
            <a:off x="3537800" y="4500588"/>
            <a:ext cx="2130125" cy="355975"/>
          </a:xfrm>
          <a:prstGeom prst="rect">
            <a:avLst/>
          </a:prstGeom>
          <a:noFill/>
          <a:ln>
            <a:noFill/>
          </a:ln>
        </p:spPr>
      </p:pic>
      <p:sp>
        <p:nvSpPr>
          <p:cNvPr id="112" name="Google Shape;112;p15"/>
          <p:cNvSpPr txBox="1"/>
          <p:nvPr/>
        </p:nvSpPr>
        <p:spPr>
          <a:xfrm>
            <a:off x="5998012" y="4596047"/>
            <a:ext cx="2436900" cy="253800"/>
          </a:xfrm>
          <a:prstGeom prst="rect">
            <a:avLst/>
          </a:prstGeom>
          <a:noFill/>
          <a:ln>
            <a:noFill/>
          </a:ln>
        </p:spPr>
        <p:txBody>
          <a:bodyPr spcFirstLastPara="1" wrap="non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0053A1"/>
                </a:solidFill>
                <a:latin typeface="Roboto"/>
                <a:ea typeface="Roboto"/>
                <a:cs typeface="Roboto"/>
                <a:sym typeface="Roboto"/>
              </a:rPr>
              <a:t>www.</a:t>
            </a:r>
            <a:r>
              <a:rPr lang="en" sz="1200" b="1">
                <a:solidFill>
                  <a:srgbClr val="0053A1"/>
                </a:solidFill>
                <a:latin typeface="Roboto"/>
                <a:ea typeface="Roboto"/>
                <a:cs typeface="Roboto"/>
                <a:sym typeface="Roboto"/>
              </a:rPr>
              <a:t>careercraftacademy.com</a:t>
            </a:r>
            <a:endParaRPr sz="1200" b="1" i="0" u="none" strike="noStrike" cap="none">
              <a:solidFill>
                <a:srgbClr val="0053A1"/>
              </a:solidFill>
              <a:latin typeface="Roboto"/>
              <a:ea typeface="Roboto"/>
              <a:cs typeface="Roboto"/>
              <a:sym typeface="Roboto"/>
            </a:endParaRPr>
          </a:p>
        </p:txBody>
      </p:sp>
      <p:pic>
        <p:nvPicPr>
          <p:cNvPr id="114" name="Google Shape;114;p15"/>
          <p:cNvPicPr preferRelativeResize="0"/>
          <p:nvPr/>
        </p:nvPicPr>
        <p:blipFill>
          <a:blip r:embed="rId4">
            <a:alphaModFix/>
          </a:blip>
          <a:stretch>
            <a:fillRect/>
          </a:stretch>
        </p:blipFill>
        <p:spPr>
          <a:xfrm>
            <a:off x="8447868" y="4368945"/>
            <a:ext cx="334175" cy="480903"/>
          </a:xfrm>
          <a:prstGeom prst="rect">
            <a:avLst/>
          </a:prstGeom>
          <a:noFill/>
          <a:ln>
            <a:noFill/>
          </a:ln>
        </p:spPr>
      </p:pic>
      <p:sp>
        <p:nvSpPr>
          <p:cNvPr id="347" name="Kicker"/>
          <p:cNvSpPr txBox="1"/>
          <p:nvPr/>
        </p:nvSpPr>
        <p:spPr>
          <a:xfrm>
            <a:off x="675600" y="285000"/>
            <a:ext cx="3560000" cy="241200"/>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1003" b="0" i="0" u="none" strike="noStrike" cap="none" dirty="0">
                <a:solidFill>
                  <a:srgbClr val="7F7F7F"/>
                </a:solidFill>
                <a:latin typeface="Roboto"/>
                <a:ea typeface="Roboto"/>
                <a:cs typeface="Roboto"/>
                <a:sym typeface="Roboto"/>
              </a:rPr>
              <a:t>Introduction</a:t>
            </a:r>
            <a:endParaRPr lang="en" sz="1003" b="0" i="0" u="none" strike="noStrike" cap="none" dirty="0">
              <a:solidFill>
                <a:srgbClr val="000000"/>
              </a:solidFill>
              <a:latin typeface="Roboto"/>
              <a:ea typeface="Roboto"/>
              <a:cs typeface="Roboto"/>
              <a:sym typeface="Roboto"/>
            </a:endParaRPr>
          </a:p>
        </p:txBody>
      </p:sp>
      <p:sp>
        <p:nvSpPr>
          <p:cNvPr id="348" name="Title"/>
          <p:cNvSpPr txBox="1"/>
          <p:nvPr/>
        </p:nvSpPr>
        <p:spPr>
          <a:xfrm>
            <a:off x="675600" y="520000"/>
            <a:ext cx="3560000" cy="763948"/>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2200" b="1" i="0" u="none" strike="noStrike" cap="none" dirty="0">
                <a:solidFill>
                  <a:srgbClr val="0053A1"/>
                </a:solidFill>
                <a:latin typeface="Poppins SemiBold"/>
                <a:ea typeface="Poppins SemiBold"/>
                <a:cs typeface="Poppins SemiBold"/>
                <a:sym typeface="Poppins SemiBold"/>
              </a:rPr>
              <a:t>Getting Started</a:t>
            </a:r>
            <a:endParaRPr lang="en" sz="2200" b="0" i="0" u="none" strike="noStrike" cap="none" dirty="0">
              <a:solidFill>
                <a:srgbClr val="000000"/>
              </a:solidFill>
              <a:latin typeface="Roboto"/>
              <a:ea typeface="Roboto"/>
              <a:cs typeface="Roboto"/>
              <a:sym typeface="Roboto"/>
            </a:endParaRPr>
          </a:p>
          <a:p>
            <a:pPr marL="0" marR="0" lvl="0" indent="0" algn="l" rtl="0">
              <a:lnSpc>
                <a:spcPct val="100000"/>
              </a:lnSpc>
              <a:spcBef>
                <a:spcPts val="0"/>
              </a:spcBef>
              <a:spcAft>
                <a:spcPts val="0"/>
              </a:spcAft>
              <a:buNone/>
            </a:pPr>
            <a:r>
              <a:rPr lang="en" sz="2200" b="1" i="0" u="none" strike="noStrike" cap="none" dirty="0">
                <a:solidFill>
                  <a:srgbClr val="000000"/>
                </a:solidFill>
                <a:latin typeface="Poppins SemiBold"/>
                <a:ea typeface="Poppins SemiBold"/>
                <a:cs typeface="Poppins SemiBold"/>
                <a:sym typeface="Poppins SemiBold"/>
              </a:rPr>
              <a:t>First Program</a:t>
            </a:r>
            <a:endParaRPr lang="en" sz="2200" b="0" i="0" u="none" strike="noStrike" cap="none" dirty="0">
              <a:solidFill>
                <a:srgbClr val="000000"/>
              </a:solidFill>
              <a:latin typeface="Roboto"/>
              <a:ea typeface="Roboto"/>
              <a:cs typeface="Roboto"/>
              <a:sym typeface="Roboto"/>
            </a:endParaRPr>
          </a:p>
        </p:txBody>
      </p:sp>
      <p:sp>
        <p:nvSpPr>
          <p:cNvPr id="349" name="Body"/>
          <p:cNvSpPr txBox="1"/>
          <p:nvPr/>
        </p:nvSpPr>
        <p:spPr>
          <a:xfrm>
            <a:off x="620000" y="1383000"/>
            <a:ext cx="3560000" cy="2153560"/>
          </a:xfrm>
          <a:prstGeom prst="rect">
            <a:avLst/>
          </a:prstGeom>
          <a:noFill/>
        </p:spPr>
        <p:txBody>
          <a:bodyPr spcFirstLastPara="1" wrap="square" lIns="86025" tIns="43000" rIns="86025" bIns="43000" anchor="t" anchorCtr="0">
            <a:noAutofit/>
          </a:bodyPr>
          <a:lstStyle/>
          <a:p>
            <a:pPr marL="0" marR="0" lvl="0" indent="0" algn="l" rtl="0">
              <a:lnSpc>
                <a:spcPct val="135000"/>
              </a:lnSpc>
              <a:spcBef>
                <a:spcPts val="0"/>
              </a:spcBef>
              <a:spcAft>
                <a:spcPts val="300"/>
              </a:spcAft>
              <a:buNone/>
            </a:pPr>
            <a:r>
              <a:rPr lang="en" sz="1100" b="1" i="0" u="none" strike="noStrike" cap="none" dirty="0">
                <a:solidFill>
                  <a:schemeClr val="tx1"/>
                </a:solidFill>
                <a:latin typeface="Roboto"/>
                <a:ea typeface="Roboto"/>
                <a:cs typeface="Roboto"/>
                <a:sym typeface="Roboto"/>
              </a:rPr>
              <a:t>Prerequisite:</a:t>
            </a:r>
            <a:r>
              <a:rPr lang="en" sz="1100" b="0" i="0" u="none" strike="noStrike" cap="none" dirty="0">
                <a:solidFill>
                  <a:schemeClr val="tx1"/>
                </a:solidFill>
                <a:latin typeface="Roboto"/>
                <a:ea typeface="Roboto"/>
                <a:cs typeface="Roboto"/>
                <a:sym typeface="Roboto"/>
              </a:rPr>
              <a:t> install Node.js (includes npm).</a:t>
            </a:r>
            <a:endParaRPr lang="en" sz="1100" b="0" i="0" u="none" strike="noStrike" cap="none" dirty="0">
              <a:solidFill>
                <a:srgbClr val="000000"/>
              </a:solidFill>
              <a:latin typeface="Roboto"/>
              <a:ea typeface="Roboto"/>
              <a:cs typeface="Roboto"/>
              <a:sym typeface="Roboto"/>
            </a:endParaRPr>
          </a:p>
          <a:p>
            <a:pPr marL="0" marR="0" lvl="0" indent="0" algn="l" rtl="0">
              <a:lnSpc>
                <a:spcPct val="120000"/>
              </a:lnSpc>
              <a:spcBef>
                <a:spcPts val="700"/>
              </a:spcBef>
              <a:spcAft>
                <a:spcPts val="200"/>
              </a:spcAft>
              <a:buNone/>
            </a:pPr>
            <a:r>
              <a:rPr lang="en" sz="1129" b="1" i="0" u="none" strike="noStrike" cap="none" dirty="0">
                <a:solidFill>
                  <a:srgbClr val="000000"/>
                </a:solidFill>
                <a:latin typeface="Poppins SemiBold"/>
                <a:ea typeface="Poppins SemiBold"/>
                <a:cs typeface="Poppins SemiBold"/>
                <a:sym typeface="Poppins SemiBold"/>
              </a:rPr>
              <a:t>Three steps</a:t>
            </a:r>
            <a:endParaRPr lang="en" sz="1129"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Install TypeScript globally</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Create </a:t>
            </a:r>
            <a:r>
              <a:rPr lang="en" sz="1050" b="1" i="0" u="none" strike="noStrike" cap="none" dirty="0">
                <a:solidFill>
                  <a:srgbClr val="0053A1"/>
                </a:solidFill>
                <a:latin typeface="Courier New"/>
                <a:ea typeface="Courier New"/>
                <a:cs typeface="Courier New"/>
                <a:sym typeface="Courier New"/>
              </a:rPr>
              <a:t>hello.ts</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Compile with </a:t>
            </a:r>
            <a:r>
              <a:rPr lang="en" sz="1050" b="1" i="0" u="none" strike="noStrike" cap="none" dirty="0">
                <a:solidFill>
                  <a:srgbClr val="0053A1"/>
                </a:solidFill>
                <a:latin typeface="Courier New"/>
                <a:ea typeface="Courier New"/>
                <a:cs typeface="Courier New"/>
                <a:sym typeface="Courier New"/>
              </a:rPr>
              <a:t>tsc</a:t>
            </a:r>
            <a:r>
              <a:rPr lang="en" sz="1100" b="0" i="0" u="none" strike="noStrike" cap="none" dirty="0">
                <a:solidFill>
                  <a:schemeClr val="tx1"/>
                </a:solidFill>
                <a:latin typeface="Roboto"/>
                <a:ea typeface="Roboto"/>
                <a:cs typeface="Roboto"/>
                <a:sym typeface="Roboto"/>
              </a:rPr>
              <a:t>, run with </a:t>
            </a:r>
            <a:r>
              <a:rPr lang="en" sz="1050" b="1" i="0" u="none" strike="noStrike" cap="none" dirty="0">
                <a:solidFill>
                  <a:srgbClr val="0053A1"/>
                </a:solidFill>
                <a:latin typeface="Courier New"/>
                <a:ea typeface="Courier New"/>
                <a:cs typeface="Courier New"/>
                <a:sym typeface="Courier New"/>
              </a:rPr>
              <a:t>node</a:t>
            </a:r>
            <a:endParaRPr lang="en" sz="1100" b="0" i="0" u="none" strike="noStrike" cap="none" dirty="0">
              <a:solidFill>
                <a:srgbClr val="000000"/>
              </a:solidFill>
              <a:latin typeface="Roboto"/>
              <a:ea typeface="Roboto"/>
              <a:cs typeface="Roboto"/>
              <a:sym typeface="Roboto"/>
            </a:endParaRPr>
          </a:p>
          <a:p>
            <a:pPr marL="0" marR="0" lvl="0" indent="0" algn="l" rtl="0">
              <a:lnSpc>
                <a:spcPct val="120000"/>
              </a:lnSpc>
              <a:spcBef>
                <a:spcPts val="700"/>
              </a:spcBef>
              <a:spcAft>
                <a:spcPts val="200"/>
              </a:spcAft>
              <a:buNone/>
            </a:pPr>
            <a:r>
              <a:rPr lang="en" sz="1129" b="1" i="0" u="none" strike="noStrike" cap="none" dirty="0">
                <a:solidFill>
                  <a:srgbClr val="000000"/>
                </a:solidFill>
                <a:latin typeface="Poppins SemiBold"/>
                <a:ea typeface="Poppins SemiBold"/>
                <a:cs typeface="Poppins SemiBold"/>
                <a:sym typeface="Poppins SemiBold"/>
              </a:rPr>
              <a:t>Key insight</a:t>
            </a:r>
            <a:endParaRPr lang="en" sz="1129" b="0" i="0" u="none" strike="noStrike" cap="none" dirty="0">
              <a:solidFill>
                <a:srgbClr val="000000"/>
              </a:solidFill>
              <a:latin typeface="Roboto"/>
              <a:ea typeface="Roboto"/>
              <a:cs typeface="Roboto"/>
              <a:sym typeface="Roboto"/>
            </a:endParaRPr>
          </a:p>
          <a:p>
            <a:pPr marL="0" marR="0" lvl="0" indent="0" algn="l" rtl="0">
              <a:lnSpc>
                <a:spcPct val="135000"/>
              </a:lnSpc>
              <a:spcBef>
                <a:spcPts val="0"/>
              </a:spcBef>
              <a:spcAft>
                <a:spcPts val="300"/>
              </a:spcAft>
              <a:buNone/>
            </a:pPr>
            <a:r>
              <a:rPr lang="en" sz="1050" b="1" i="0" u="none" strike="noStrike" cap="none" dirty="0">
                <a:solidFill>
                  <a:srgbClr val="0053A1"/>
                </a:solidFill>
                <a:latin typeface="Courier New"/>
                <a:ea typeface="Courier New"/>
                <a:cs typeface="Courier New"/>
                <a:sym typeface="Courier New"/>
              </a:rPr>
              <a:t>.ts</a:t>
            </a:r>
            <a:r>
              <a:rPr lang="en" sz="1100" b="0" i="0" u="none" strike="noStrike" cap="none" dirty="0">
                <a:solidFill>
                  <a:schemeClr val="tx1"/>
                </a:solidFill>
                <a:latin typeface="Roboto"/>
                <a:ea typeface="Roboto"/>
                <a:cs typeface="Roboto"/>
                <a:sym typeface="Roboto"/>
              </a:rPr>
              <a:t> is the source code, </a:t>
            </a:r>
            <a:r>
              <a:rPr lang="en" sz="1050" b="1" i="0" u="none" strike="noStrike" cap="none" dirty="0">
                <a:solidFill>
                  <a:srgbClr val="0053A1"/>
                </a:solidFill>
                <a:latin typeface="Courier New"/>
                <a:ea typeface="Courier New"/>
                <a:cs typeface="Courier New"/>
                <a:sym typeface="Courier New"/>
              </a:rPr>
              <a:t>.js</a:t>
            </a:r>
            <a:r>
              <a:rPr lang="en" sz="1100" b="0" i="0" u="none" strike="noStrike" cap="none" dirty="0">
                <a:solidFill>
                  <a:schemeClr val="tx1"/>
                </a:solidFill>
                <a:latin typeface="Roboto"/>
                <a:ea typeface="Roboto"/>
                <a:cs typeface="Roboto"/>
                <a:sym typeface="Roboto"/>
              </a:rPr>
              <a:t> is the output.</a:t>
            </a:r>
            <a:endParaRPr lang="en" sz="1100" b="0" i="0" u="none" strike="noStrike" cap="none" dirty="0">
              <a:solidFill>
                <a:srgbClr val="000000"/>
              </a:solidFill>
              <a:latin typeface="Roboto"/>
              <a:ea typeface="Roboto"/>
              <a:cs typeface="Roboto"/>
              <a:sym typeface="Roboto"/>
            </a:endParaRPr>
          </a:p>
        </p:txBody>
      </p:sp>
      <p:sp>
        <p:nvSpPr>
          <p:cNvPr id="350" name="Code panel"/>
          <p:cNvSpPr/>
          <p:nvPr/>
        </p:nvSpPr>
        <p:spPr>
          <a:xfrm>
            <a:off x="4300000" y="500000"/>
            <a:ext cx="4350000" cy="689184"/>
          </a:xfrm>
          <a:prstGeom prst="roundRect">
            <a:avLst>
              <a:gd name="adj" fmla="val 3500"/>
            </a:avLst>
          </a:prstGeom>
          <a:solidFill>
            <a:srgbClr val="0E2455"/>
          </a:solidFill>
          <a:ln>
            <a:noFill/>
          </a:ln>
          <a:effectLst>
            <a:outerShdw blurRad="63500" dist="25400" dir="5400000" algn="t" rotWithShape="0">
              <a:srgbClr val="000000">
                <a:alpha val="22000"/>
              </a:srgbClr>
            </a:outerShdw>
          </a:effectLst>
        </p:spPr>
        <p:txBody>
          <a:bodyPr rtlCol="0" anchor="ctr"/>
          <a:lstStyle/>
          <a:p>
            <a:pPr algn="ctr"/>
          </a:p>
        </p:txBody>
      </p:sp>
      <p:sp>
        <p:nvSpPr>
          <p:cNvPr id="351" name="Dot 1"/>
          <p:cNvSpPr/>
          <p:nvPr/>
        </p:nvSpPr>
        <p:spPr>
          <a:xfrm>
            <a:off x="4420000" y="605000"/>
            <a:ext cx="70000" cy="70000"/>
          </a:xfrm>
          <a:prstGeom prst="ellipse">
            <a:avLst/>
          </a:prstGeom>
          <a:solidFill>
            <a:srgbClr val="C00000"/>
          </a:solidFill>
          <a:ln>
            <a:noFill/>
          </a:ln>
        </p:spPr>
        <p:txBody>
          <a:bodyPr rtlCol="0" anchor="ctr"/>
          <a:lstStyle/>
          <a:p>
            <a:pPr algn="ctr"/>
          </a:p>
        </p:txBody>
      </p:sp>
      <p:sp>
        <p:nvSpPr>
          <p:cNvPr id="352" name="Dot 2"/>
          <p:cNvSpPr/>
          <p:nvPr/>
        </p:nvSpPr>
        <p:spPr>
          <a:xfrm>
            <a:off x="4550000" y="605000"/>
            <a:ext cx="70000" cy="70000"/>
          </a:xfrm>
          <a:prstGeom prst="ellipse">
            <a:avLst/>
          </a:prstGeom>
          <a:solidFill>
            <a:srgbClr val="F2B705"/>
          </a:solidFill>
          <a:ln>
            <a:noFill/>
          </a:ln>
        </p:spPr>
        <p:txBody>
          <a:bodyPr rtlCol="0" anchor="ctr"/>
          <a:lstStyle/>
          <a:p>
            <a:pPr algn="ctr"/>
          </a:p>
        </p:txBody>
      </p:sp>
      <p:sp>
        <p:nvSpPr>
          <p:cNvPr id="353" name="Dot 3"/>
          <p:cNvSpPr/>
          <p:nvPr/>
        </p:nvSpPr>
        <p:spPr>
          <a:xfrm>
            <a:off x="4680000" y="605000"/>
            <a:ext cx="70000" cy="70000"/>
          </a:xfrm>
          <a:prstGeom prst="ellipse">
            <a:avLst/>
          </a:prstGeom>
          <a:solidFill>
            <a:srgbClr val="3DAE5C"/>
          </a:solidFill>
          <a:ln>
            <a:noFill/>
          </a:ln>
        </p:spPr>
        <p:txBody>
          <a:bodyPr rtlCol="0" anchor="ctr"/>
          <a:lstStyle/>
          <a:p>
            <a:pPr algn="ctr"/>
          </a:p>
        </p:txBody>
      </p:sp>
      <p:sp>
        <p:nvSpPr>
          <p:cNvPr id="354" name="File name"/>
          <p:cNvSpPr txBox="1"/>
          <p:nvPr/>
        </p:nvSpPr>
        <p:spPr>
          <a:xfrm>
            <a:off x="4860000" y="560000"/>
            <a:ext cx="2200000" cy="170000"/>
          </a:xfrm>
          <a:prstGeom prst="rect">
            <a:avLst/>
          </a:prstGeom>
          <a:noFill/>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 sz="900" b="1" i="0" u="none" strike="noStrike" cap="none" dirty="0">
                <a:solidFill>
                  <a:srgbClr val="8FA3C4"/>
                </a:solidFill>
                <a:latin typeface="Courier New"/>
                <a:ea typeface="Courier New"/>
                <a:cs typeface="Courier New"/>
                <a:sym typeface="Courier New"/>
              </a:rPr>
              <a:t>terminal</a:t>
            </a:r>
            <a:endParaRPr lang="en" sz="900" b="0" i="0" u="none" strike="noStrike" cap="none" dirty="0">
              <a:solidFill>
                <a:srgbClr val="000000"/>
              </a:solidFill>
              <a:latin typeface="Roboto"/>
              <a:ea typeface="Roboto"/>
              <a:cs typeface="Roboto"/>
              <a:sym typeface="Roboto"/>
            </a:endParaRPr>
          </a:p>
        </p:txBody>
      </p:sp>
      <p:sp>
        <p:nvSpPr>
          <p:cNvPr id="355" name="Code label"/>
          <p:cNvSpPr txBox="1"/>
          <p:nvPr/>
        </p:nvSpPr>
        <p:spPr>
          <a:xfrm>
            <a:off x="7650000" y="555000"/>
            <a:ext cx="900000" cy="170000"/>
          </a:xfrm>
          <a:prstGeom prst="rect">
            <a:avLst/>
          </a:prstGeom>
          <a:noFill/>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800" b="1" i="0" u="none" strike="noStrike" cap="none" dirty="0">
                <a:solidFill>
                  <a:srgbClr val="8FA3C4"/>
                </a:solidFill>
                <a:latin typeface="Roboto"/>
                <a:ea typeface="Roboto"/>
                <a:cs typeface="Roboto"/>
                <a:sym typeface="Roboto"/>
              </a:rPr>
              <a:t>BASH</a:t>
            </a:r>
            <a:endParaRPr lang="en" sz="800" b="0" i="0" u="none" strike="noStrike" cap="none" dirty="0">
              <a:solidFill>
                <a:srgbClr val="000000"/>
              </a:solidFill>
              <a:latin typeface="Roboto"/>
              <a:ea typeface="Roboto"/>
              <a:cs typeface="Roboto"/>
              <a:sym typeface="Roboto"/>
            </a:endParaRPr>
          </a:p>
        </p:txBody>
      </p:sp>
      <p:sp>
        <p:nvSpPr>
          <p:cNvPr id="356" name="Code"/>
          <p:cNvSpPr txBox="1"/>
          <p:nvPr/>
        </p:nvSpPr>
        <p:spPr>
          <a:xfrm>
            <a:off x="4360000" y="750000"/>
            <a:ext cx="4230000" cy="409184"/>
          </a:xfrm>
          <a:prstGeom prst="rect">
            <a:avLst/>
          </a:prstGeom>
          <a:noFill/>
        </p:spPr>
        <p:txBody>
          <a:bodyPr spcFirstLastPara="1" wrap="square" lIns="86025" tIns="0" rIns="60000" bIns="0" anchor="t" anchorCtr="0">
            <a:noAutofit/>
          </a:bodyPr>
          <a:lstStyle/>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npm install -g typescript</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tsc --version   </a:t>
            </a:r>
            <a:r>
              <a:rPr lang="en" sz="1000" b="0" i="1" u="none" strike="noStrike" cap="none" dirty="0">
                <a:solidFill>
                  <a:srgbClr val="8FA3C4"/>
                </a:solidFill>
                <a:latin typeface="Courier New"/>
                <a:ea typeface="Courier New"/>
                <a:cs typeface="Courier New"/>
                <a:sym typeface="Courier New"/>
              </a:rPr>
              <a:t># verify</a:t>
            </a:r>
            <a:endParaRPr lang="en" sz="1000" b="0" i="0" u="none" strike="noStrike" cap="none" dirty="0">
              <a:solidFill>
                <a:srgbClr val="000000"/>
              </a:solidFill>
              <a:latin typeface="Roboto"/>
              <a:ea typeface="Roboto"/>
              <a:cs typeface="Roboto"/>
              <a:sym typeface="Roboto"/>
            </a:endParaRPr>
          </a:p>
        </p:txBody>
      </p:sp>
      <p:sp>
        <p:nvSpPr>
          <p:cNvPr id="357" name="Code panel"/>
          <p:cNvSpPr/>
          <p:nvPr/>
        </p:nvSpPr>
        <p:spPr>
          <a:xfrm>
            <a:off x="4300000" y="1319184"/>
            <a:ext cx="4350000" cy="689184"/>
          </a:xfrm>
          <a:prstGeom prst="roundRect">
            <a:avLst>
              <a:gd name="adj" fmla="val 3500"/>
            </a:avLst>
          </a:prstGeom>
          <a:solidFill>
            <a:srgbClr val="0E2455"/>
          </a:solidFill>
          <a:ln>
            <a:noFill/>
          </a:ln>
          <a:effectLst>
            <a:outerShdw blurRad="63500" dist="25400" dir="5400000" algn="t" rotWithShape="0">
              <a:srgbClr val="000000">
                <a:alpha val="22000"/>
              </a:srgbClr>
            </a:outerShdw>
          </a:effectLst>
        </p:spPr>
        <p:txBody>
          <a:bodyPr rtlCol="0" anchor="ctr"/>
          <a:lstStyle/>
          <a:p>
            <a:pPr algn="ctr"/>
          </a:p>
        </p:txBody>
      </p:sp>
      <p:sp>
        <p:nvSpPr>
          <p:cNvPr id="358" name="Dot 1"/>
          <p:cNvSpPr/>
          <p:nvPr/>
        </p:nvSpPr>
        <p:spPr>
          <a:xfrm>
            <a:off x="4420000" y="1424184"/>
            <a:ext cx="70000" cy="70000"/>
          </a:xfrm>
          <a:prstGeom prst="ellipse">
            <a:avLst/>
          </a:prstGeom>
          <a:solidFill>
            <a:srgbClr val="C00000"/>
          </a:solidFill>
          <a:ln>
            <a:noFill/>
          </a:ln>
        </p:spPr>
        <p:txBody>
          <a:bodyPr rtlCol="0" anchor="ctr"/>
          <a:lstStyle/>
          <a:p>
            <a:pPr algn="ctr"/>
          </a:p>
        </p:txBody>
      </p:sp>
      <p:sp>
        <p:nvSpPr>
          <p:cNvPr id="359" name="Dot 2"/>
          <p:cNvSpPr/>
          <p:nvPr/>
        </p:nvSpPr>
        <p:spPr>
          <a:xfrm>
            <a:off x="4550000" y="1424184"/>
            <a:ext cx="70000" cy="70000"/>
          </a:xfrm>
          <a:prstGeom prst="ellipse">
            <a:avLst/>
          </a:prstGeom>
          <a:solidFill>
            <a:srgbClr val="F2B705"/>
          </a:solidFill>
          <a:ln>
            <a:noFill/>
          </a:ln>
        </p:spPr>
        <p:txBody>
          <a:bodyPr rtlCol="0" anchor="ctr"/>
          <a:lstStyle/>
          <a:p>
            <a:pPr algn="ctr"/>
          </a:p>
        </p:txBody>
      </p:sp>
      <p:sp>
        <p:nvSpPr>
          <p:cNvPr id="360" name="Dot 3"/>
          <p:cNvSpPr/>
          <p:nvPr/>
        </p:nvSpPr>
        <p:spPr>
          <a:xfrm>
            <a:off x="4680000" y="1424184"/>
            <a:ext cx="70000" cy="70000"/>
          </a:xfrm>
          <a:prstGeom prst="ellipse">
            <a:avLst/>
          </a:prstGeom>
          <a:solidFill>
            <a:srgbClr val="3DAE5C"/>
          </a:solidFill>
          <a:ln>
            <a:noFill/>
          </a:ln>
        </p:spPr>
        <p:txBody>
          <a:bodyPr rtlCol="0" anchor="ctr"/>
          <a:lstStyle/>
          <a:p>
            <a:pPr algn="ctr"/>
          </a:p>
        </p:txBody>
      </p:sp>
      <p:sp>
        <p:nvSpPr>
          <p:cNvPr id="361" name="File name"/>
          <p:cNvSpPr txBox="1"/>
          <p:nvPr/>
        </p:nvSpPr>
        <p:spPr>
          <a:xfrm>
            <a:off x="4860000" y="1379184"/>
            <a:ext cx="2200000" cy="170000"/>
          </a:xfrm>
          <a:prstGeom prst="rect">
            <a:avLst/>
          </a:prstGeom>
          <a:noFill/>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 sz="900" b="1" i="0" u="none" strike="noStrike" cap="none" dirty="0">
                <a:solidFill>
                  <a:srgbClr val="8FA3C4"/>
                </a:solidFill>
                <a:latin typeface="Courier New"/>
                <a:ea typeface="Courier New"/>
                <a:cs typeface="Courier New"/>
                <a:sym typeface="Courier New"/>
              </a:rPr>
              <a:t>hello.ts</a:t>
            </a:r>
            <a:endParaRPr lang="en" sz="900" b="0" i="0" u="none" strike="noStrike" cap="none" dirty="0">
              <a:solidFill>
                <a:srgbClr val="000000"/>
              </a:solidFill>
              <a:latin typeface="Roboto"/>
              <a:ea typeface="Roboto"/>
              <a:cs typeface="Roboto"/>
              <a:sym typeface="Roboto"/>
            </a:endParaRPr>
          </a:p>
        </p:txBody>
      </p:sp>
      <p:sp>
        <p:nvSpPr>
          <p:cNvPr id="362" name="Code label"/>
          <p:cNvSpPr txBox="1"/>
          <p:nvPr/>
        </p:nvSpPr>
        <p:spPr>
          <a:xfrm>
            <a:off x="7650000" y="1374184"/>
            <a:ext cx="900000" cy="170000"/>
          </a:xfrm>
          <a:prstGeom prst="rect">
            <a:avLst/>
          </a:prstGeom>
          <a:noFill/>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800" b="1" i="0" u="none" strike="noStrike" cap="none" dirty="0">
                <a:solidFill>
                  <a:srgbClr val="8FA3C4"/>
                </a:solidFill>
                <a:latin typeface="Roboto"/>
                <a:ea typeface="Roboto"/>
                <a:cs typeface="Roboto"/>
                <a:sym typeface="Roboto"/>
              </a:rPr>
              <a:t>TS</a:t>
            </a:r>
            <a:endParaRPr lang="en" sz="800" b="0" i="0" u="none" strike="noStrike" cap="none" dirty="0">
              <a:solidFill>
                <a:srgbClr val="000000"/>
              </a:solidFill>
              <a:latin typeface="Roboto"/>
              <a:ea typeface="Roboto"/>
              <a:cs typeface="Roboto"/>
              <a:sym typeface="Roboto"/>
            </a:endParaRPr>
          </a:p>
        </p:txBody>
      </p:sp>
      <p:sp>
        <p:nvSpPr>
          <p:cNvPr id="363" name="Code"/>
          <p:cNvSpPr txBox="1"/>
          <p:nvPr/>
        </p:nvSpPr>
        <p:spPr>
          <a:xfrm>
            <a:off x="4360000" y="1569184"/>
            <a:ext cx="4230000" cy="409184"/>
          </a:xfrm>
          <a:prstGeom prst="rect">
            <a:avLst/>
          </a:prstGeom>
          <a:noFill/>
        </p:spPr>
        <p:txBody>
          <a:bodyPr spcFirstLastPara="1" wrap="square" lIns="86025" tIns="0" rIns="60000" bIns="0" anchor="t" anchorCtr="0">
            <a:noAutofit/>
          </a:bodyPr>
          <a:lstStyle/>
          <a:p>
            <a:pPr marL="0" marR="0" lvl="0" indent="0" algn="l" rtl="0">
              <a:lnSpc>
                <a:spcPct val="108000"/>
              </a:lnSpc>
              <a:spcBef>
                <a:spcPts val="0"/>
              </a:spcBef>
              <a:spcAft>
                <a:spcPts val="0"/>
              </a:spcAft>
              <a:buNone/>
            </a:pPr>
            <a:r>
              <a:rPr lang="en" sz="1000" b="0" i="0" u="none" strike="noStrike" cap="none" dirty="0">
                <a:solidFill>
                  <a:srgbClr val="8CC4FF"/>
                </a:solidFill>
                <a:latin typeface="Courier New"/>
                <a:ea typeface="Courier New"/>
                <a:cs typeface="Courier New"/>
                <a:sym typeface="Courier New"/>
              </a:rPr>
              <a:t>let</a:t>
            </a:r>
            <a:r>
              <a:rPr lang="en" sz="1000" b="0" i="0" u="none" strike="noStrike" cap="none" dirty="0">
                <a:solidFill>
                  <a:srgbClr val="E6ECF7"/>
                </a:solidFill>
                <a:latin typeface="Courier New"/>
                <a:ea typeface="Courier New"/>
                <a:cs typeface="Courier New"/>
                <a:sym typeface="Courier New"/>
              </a:rPr>
              <a:t> message: string = </a:t>
            </a:r>
            <a:r>
              <a:rPr lang="en" sz="1000" b="0" i="0" u="none" strike="noStrike" cap="none" dirty="0">
                <a:solidFill>
                  <a:srgbClr val="FFC878"/>
                </a:solidFill>
                <a:latin typeface="Courier New"/>
                <a:ea typeface="Courier New"/>
                <a:cs typeface="Courier New"/>
                <a:sym typeface="Courier New"/>
              </a:rPr>
              <a:t>"Hello, TypeScript!"</a:t>
            </a:r>
            <a:r>
              <a:rPr lang="en" sz="1000" b="0" i="0" u="none" strike="noStrike" cap="none" dirty="0">
                <a:solidFill>
                  <a:srgbClr val="E6ECF7"/>
                </a:solidFill>
                <a:latin typeface="Courier New"/>
                <a:ea typeface="Courier New"/>
                <a:cs typeface="Courier New"/>
                <a:sym typeface="Courier New"/>
              </a:rPr>
              <a:t>;</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console.log(message);</a:t>
            </a:r>
            <a:endParaRPr lang="en" sz="1000" b="0" i="0" u="none" strike="noStrike" cap="none" dirty="0">
              <a:solidFill>
                <a:srgbClr val="000000"/>
              </a:solidFill>
              <a:latin typeface="Roboto"/>
              <a:ea typeface="Roboto"/>
              <a:cs typeface="Roboto"/>
              <a:sym typeface="Roboto"/>
            </a:endParaRPr>
          </a:p>
        </p:txBody>
      </p:sp>
      <p:sp>
        <p:nvSpPr>
          <p:cNvPr id="364" name="Code panel"/>
          <p:cNvSpPr/>
          <p:nvPr/>
        </p:nvSpPr>
        <p:spPr>
          <a:xfrm>
            <a:off x="4300000" y="2138368"/>
            <a:ext cx="4350000" cy="689184"/>
          </a:xfrm>
          <a:prstGeom prst="roundRect">
            <a:avLst>
              <a:gd name="adj" fmla="val 3500"/>
            </a:avLst>
          </a:prstGeom>
          <a:solidFill>
            <a:srgbClr val="0E2455"/>
          </a:solidFill>
          <a:ln>
            <a:noFill/>
          </a:ln>
          <a:effectLst>
            <a:outerShdw blurRad="63500" dist="25400" dir="5400000" algn="t" rotWithShape="0">
              <a:srgbClr val="000000">
                <a:alpha val="22000"/>
              </a:srgbClr>
            </a:outerShdw>
          </a:effectLst>
        </p:spPr>
        <p:txBody>
          <a:bodyPr rtlCol="0" anchor="ctr"/>
          <a:lstStyle/>
          <a:p>
            <a:pPr algn="ctr"/>
          </a:p>
        </p:txBody>
      </p:sp>
      <p:sp>
        <p:nvSpPr>
          <p:cNvPr id="365" name="Dot 1"/>
          <p:cNvSpPr/>
          <p:nvPr/>
        </p:nvSpPr>
        <p:spPr>
          <a:xfrm>
            <a:off x="4420000" y="2243368"/>
            <a:ext cx="70000" cy="70000"/>
          </a:xfrm>
          <a:prstGeom prst="ellipse">
            <a:avLst/>
          </a:prstGeom>
          <a:solidFill>
            <a:srgbClr val="C00000"/>
          </a:solidFill>
          <a:ln>
            <a:noFill/>
          </a:ln>
        </p:spPr>
        <p:txBody>
          <a:bodyPr rtlCol="0" anchor="ctr"/>
          <a:lstStyle/>
          <a:p>
            <a:pPr algn="ctr"/>
          </a:p>
        </p:txBody>
      </p:sp>
      <p:sp>
        <p:nvSpPr>
          <p:cNvPr id="366" name="Dot 2"/>
          <p:cNvSpPr/>
          <p:nvPr/>
        </p:nvSpPr>
        <p:spPr>
          <a:xfrm>
            <a:off x="4550000" y="2243368"/>
            <a:ext cx="70000" cy="70000"/>
          </a:xfrm>
          <a:prstGeom prst="ellipse">
            <a:avLst/>
          </a:prstGeom>
          <a:solidFill>
            <a:srgbClr val="F2B705"/>
          </a:solidFill>
          <a:ln>
            <a:noFill/>
          </a:ln>
        </p:spPr>
        <p:txBody>
          <a:bodyPr rtlCol="0" anchor="ctr"/>
          <a:lstStyle/>
          <a:p>
            <a:pPr algn="ctr"/>
          </a:p>
        </p:txBody>
      </p:sp>
      <p:sp>
        <p:nvSpPr>
          <p:cNvPr id="367" name="Dot 3"/>
          <p:cNvSpPr/>
          <p:nvPr/>
        </p:nvSpPr>
        <p:spPr>
          <a:xfrm>
            <a:off x="4680000" y="2243368"/>
            <a:ext cx="70000" cy="70000"/>
          </a:xfrm>
          <a:prstGeom prst="ellipse">
            <a:avLst/>
          </a:prstGeom>
          <a:solidFill>
            <a:srgbClr val="3DAE5C"/>
          </a:solidFill>
          <a:ln>
            <a:noFill/>
          </a:ln>
        </p:spPr>
        <p:txBody>
          <a:bodyPr rtlCol="0" anchor="ctr"/>
          <a:lstStyle/>
          <a:p>
            <a:pPr algn="ctr"/>
          </a:p>
        </p:txBody>
      </p:sp>
      <p:sp>
        <p:nvSpPr>
          <p:cNvPr id="368" name="File name"/>
          <p:cNvSpPr txBox="1"/>
          <p:nvPr/>
        </p:nvSpPr>
        <p:spPr>
          <a:xfrm>
            <a:off x="4860000" y="2198368"/>
            <a:ext cx="2200000" cy="170000"/>
          </a:xfrm>
          <a:prstGeom prst="rect">
            <a:avLst/>
          </a:prstGeom>
          <a:noFill/>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 sz="900" b="1" i="0" u="none" strike="noStrike" cap="none" dirty="0">
                <a:solidFill>
                  <a:srgbClr val="8FA3C4"/>
                </a:solidFill>
                <a:latin typeface="Courier New"/>
                <a:ea typeface="Courier New"/>
                <a:cs typeface="Courier New"/>
                <a:sym typeface="Courier New"/>
              </a:rPr>
              <a:t>terminal</a:t>
            </a:r>
            <a:endParaRPr lang="en" sz="900" b="0" i="0" u="none" strike="noStrike" cap="none" dirty="0">
              <a:solidFill>
                <a:srgbClr val="000000"/>
              </a:solidFill>
              <a:latin typeface="Roboto"/>
              <a:ea typeface="Roboto"/>
              <a:cs typeface="Roboto"/>
              <a:sym typeface="Roboto"/>
            </a:endParaRPr>
          </a:p>
        </p:txBody>
      </p:sp>
      <p:sp>
        <p:nvSpPr>
          <p:cNvPr id="369" name="Code label"/>
          <p:cNvSpPr txBox="1"/>
          <p:nvPr/>
        </p:nvSpPr>
        <p:spPr>
          <a:xfrm>
            <a:off x="7650000" y="2193368"/>
            <a:ext cx="900000" cy="170000"/>
          </a:xfrm>
          <a:prstGeom prst="rect">
            <a:avLst/>
          </a:prstGeom>
          <a:noFill/>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800" b="1" i="0" u="none" strike="noStrike" cap="none" dirty="0">
                <a:solidFill>
                  <a:srgbClr val="8FA3C4"/>
                </a:solidFill>
                <a:latin typeface="Roboto"/>
                <a:ea typeface="Roboto"/>
                <a:cs typeface="Roboto"/>
                <a:sym typeface="Roboto"/>
              </a:rPr>
              <a:t>BASH</a:t>
            </a:r>
            <a:endParaRPr lang="en" sz="800" b="0" i="0" u="none" strike="noStrike" cap="none" dirty="0">
              <a:solidFill>
                <a:srgbClr val="000000"/>
              </a:solidFill>
              <a:latin typeface="Roboto"/>
              <a:ea typeface="Roboto"/>
              <a:cs typeface="Roboto"/>
              <a:sym typeface="Roboto"/>
            </a:endParaRPr>
          </a:p>
        </p:txBody>
      </p:sp>
      <p:sp>
        <p:nvSpPr>
          <p:cNvPr id="370" name="Code"/>
          <p:cNvSpPr txBox="1"/>
          <p:nvPr/>
        </p:nvSpPr>
        <p:spPr>
          <a:xfrm>
            <a:off x="4360000" y="2388368"/>
            <a:ext cx="4230000" cy="409184"/>
          </a:xfrm>
          <a:prstGeom prst="rect">
            <a:avLst/>
          </a:prstGeom>
          <a:noFill/>
        </p:spPr>
        <p:txBody>
          <a:bodyPr spcFirstLastPara="1" wrap="square" lIns="86025" tIns="0" rIns="60000" bIns="0" anchor="t" anchorCtr="0">
            <a:noAutofit/>
          </a:bodyPr>
          <a:lstStyle/>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tsc hello.ts   </a:t>
            </a:r>
            <a:r>
              <a:rPr lang="en" sz="1000" b="0" i="1" u="none" strike="noStrike" cap="none" dirty="0">
                <a:solidFill>
                  <a:srgbClr val="8FA3C4"/>
                </a:solidFill>
                <a:latin typeface="Courier New"/>
                <a:ea typeface="Courier New"/>
                <a:cs typeface="Courier New"/>
                <a:sym typeface="Courier New"/>
              </a:rPr>
              <a:t># produces hello.js</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node hello.js</a:t>
            </a:r>
            <a:endParaRPr lang="en" sz="1000" b="0" i="0" u="none" strike="noStrike" cap="none" dirty="0">
              <a:solidFill>
                <a:srgbClr val="000000"/>
              </a:solidFill>
              <a:latin typeface="Roboto"/>
              <a:ea typeface="Roboto"/>
              <a:cs typeface="Roboto"/>
              <a:sym typeface="Roboto"/>
            </a:endParaRPr>
          </a:p>
        </p:txBody>
      </p:sp>
      <p:sp>
        <p:nvSpPr>
          <p:cNvPr id="371" name="Output panel"/>
          <p:cNvSpPr/>
          <p:nvPr/>
        </p:nvSpPr>
        <p:spPr>
          <a:xfrm>
            <a:off x="4300000" y="2937552"/>
            <a:ext cx="4350000" cy="470000"/>
          </a:xfrm>
          <a:prstGeom prst="roundRect">
            <a:avLst>
              <a:gd name="adj" fmla="val 3000"/>
            </a:avLst>
          </a:prstGeom>
          <a:solidFill>
            <a:srgbClr val="FFFFFF"/>
          </a:solidFill>
          <a:ln w="9525">
            <a:solidFill>
              <a:srgbClr val="D9D9D9"/>
            </a:solidFill>
          </a:ln>
          <a:effectLst>
            <a:outerShdw blurRad="63500" dist="25400" dir="5400000" algn="t" rotWithShape="0">
              <a:srgbClr val="000000">
                <a:alpha val="22000"/>
              </a:srgbClr>
            </a:outerShdw>
          </a:effectLst>
        </p:spPr>
        <p:txBody>
          <a:bodyPr rtlCol="0" anchor="ctr"/>
          <a:lstStyle/>
          <a:p>
            <a:pPr algn="ctr"/>
          </a:p>
        </p:txBody>
      </p:sp>
      <p:sp>
        <p:nvSpPr>
          <p:cNvPr id="372" name="Output heading"/>
          <p:cNvSpPr txBox="1"/>
          <p:nvPr/>
        </p:nvSpPr>
        <p:spPr>
          <a:xfrm>
            <a:off x="4420000" y="2977552"/>
            <a:ext cx="4110000" cy="200000"/>
          </a:xfrm>
          <a:prstGeom prst="rect">
            <a:avLst/>
          </a:prstGeom>
          <a:noFill/>
        </p:spPr>
        <p:txBody>
          <a:bodyPr spcFirstLastPara="1" wrap="square" lIns="0" tIns="30000" rIns="0" bIns="0" anchor="t" anchorCtr="0">
            <a:noAutofit/>
          </a:bodyPr>
          <a:lstStyle/>
          <a:p>
            <a:pPr marL="0" marR="0" lvl="0" indent="0" algn="l" rtl="0">
              <a:lnSpc>
                <a:spcPct val="100000"/>
              </a:lnSpc>
              <a:spcBef>
                <a:spcPts val="0"/>
              </a:spcBef>
              <a:spcAft>
                <a:spcPts val="0"/>
              </a:spcAft>
              <a:buNone/>
            </a:pPr>
            <a:r>
              <a:rPr lang="en" sz="900" b="1" i="0" u="none" strike="noStrike" cap="none" dirty="0">
                <a:solidFill>
                  <a:srgbClr val="0053A1"/>
                </a:solidFill>
                <a:latin typeface="Poppins SemiBold"/>
                <a:ea typeface="Poppins SemiBold"/>
                <a:cs typeface="Poppins SemiBold"/>
                <a:sym typeface="Poppins SemiBold"/>
              </a:rPr>
              <a:t>Console output</a:t>
            </a:r>
            <a:endParaRPr lang="en" sz="900" b="0" i="0" u="none" strike="noStrike" cap="none" dirty="0">
              <a:solidFill>
                <a:srgbClr val="000000"/>
              </a:solidFill>
              <a:latin typeface="Roboto"/>
              <a:ea typeface="Roboto"/>
              <a:cs typeface="Roboto"/>
              <a:sym typeface="Roboto"/>
            </a:endParaRPr>
          </a:p>
        </p:txBody>
      </p:sp>
      <p:sp>
        <p:nvSpPr>
          <p:cNvPr id="373" name="Output"/>
          <p:cNvSpPr txBox="1"/>
          <p:nvPr/>
        </p:nvSpPr>
        <p:spPr>
          <a:xfrm>
            <a:off x="4420000" y="3187552"/>
            <a:ext cx="4110000" cy="190000"/>
          </a:xfrm>
          <a:prstGeom prst="rect">
            <a:avLst/>
          </a:prstGeom>
          <a:noFill/>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50" b="0" i="0" u="none" strike="noStrike" cap="none" dirty="0">
                <a:solidFill>
                  <a:srgbClr val="0E2455"/>
                </a:solidFill>
                <a:latin typeface="Courier New"/>
                <a:ea typeface="Courier New"/>
                <a:cs typeface="Courier New"/>
                <a:sym typeface="Courier New"/>
              </a:rPr>
              <a:t>Hello, TypeScript!</a:t>
            </a:r>
            <a:endParaRPr lang="en" sz="950" b="0" i="0" u="none" strike="noStrike" cap="none" dirty="0">
              <a:solidFill>
                <a:srgbClr val="000000"/>
              </a:solidFill>
              <a:latin typeface="Roboto"/>
              <a:ea typeface="Roboto"/>
              <a:cs typeface="Roboto"/>
              <a:sym typeface="Roboto"/>
            </a:endParaR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grpSpPr/>
      <p:grpSp>
        <p:nvGrpSpPr>
          <p:cNvPr id="119" name="Google Shape;119;p16"/>
          <p:cNvGrpSpPr/>
          <p:nvPr/>
        </p:nvGrpSpPr>
        <p:grpSpPr>
          <a:xfrm flipH="1">
            <a:off x="5429250" y="-2"/>
            <a:ext cx="3714750" cy="4564828"/>
            <a:chOff x="0" y="-55"/>
            <a:chExt cx="3962400" cy="4869150"/>
          </a:xfrm>
        </p:grpSpPr>
        <p:sp>
          <p:nvSpPr>
            <p:cNvPr id="120" name="Google Shape;120;p16"/>
            <p:cNvSpPr/>
            <p:nvPr/>
          </p:nvSpPr>
          <p:spPr>
            <a:xfrm rot="10800000" flipH="1">
              <a:off x="0" y="-50"/>
              <a:ext cx="3962400" cy="3962400"/>
            </a:xfrm>
            <a:prstGeom prst="rtTriangle">
              <a:avLst/>
            </a:prstGeom>
            <a:solidFill>
              <a:srgbClr val="0053A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Calibri"/>
                <a:ea typeface="Calibri"/>
                <a:cs typeface="Calibri"/>
                <a:sym typeface="Calibri"/>
              </a:endParaRPr>
            </a:p>
          </p:txBody>
        </p:sp>
        <p:sp>
          <p:nvSpPr>
            <p:cNvPr id="121" name="Google Shape;121;p16"/>
            <p:cNvSpPr/>
            <p:nvPr/>
          </p:nvSpPr>
          <p:spPr>
            <a:xfrm rot="10800000">
              <a:off x="33807" y="-55"/>
              <a:ext cx="3264300" cy="2341800"/>
            </a:xfrm>
            <a:prstGeom prst="parallelogram">
              <a:avLst>
                <a:gd name="adj" fmla="val 104167"/>
              </a:avLst>
            </a:prstGeom>
            <a:gradFill>
              <a:gsLst>
                <a:gs pos="0">
                  <a:srgbClr val="003E78"/>
                </a:gs>
                <a:gs pos="15000">
                  <a:srgbClr val="003E78"/>
                </a:gs>
                <a:gs pos="64000">
                  <a:srgbClr val="0053A1">
                    <a:alpha val="0"/>
                  </a:srgbClr>
                </a:gs>
                <a:gs pos="100000">
                  <a:srgbClr val="0053A1">
                    <a:alpha val="0"/>
                  </a:srgbClr>
                </a:gs>
              </a:gsLst>
              <a:lin ang="18000042"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Calibri"/>
                <a:ea typeface="Calibri"/>
                <a:cs typeface="Calibri"/>
                <a:sym typeface="Calibri"/>
              </a:endParaRPr>
            </a:p>
          </p:txBody>
        </p:sp>
        <p:sp>
          <p:nvSpPr>
            <p:cNvPr id="122" name="Google Shape;122;p16"/>
            <p:cNvSpPr/>
            <p:nvPr/>
          </p:nvSpPr>
          <p:spPr>
            <a:xfrm>
              <a:off x="0" y="2671369"/>
              <a:ext cx="2289304" cy="2197726"/>
            </a:xfrm>
            <a:custGeom>
              <a:avLst/>
              <a:gdLst/>
              <a:ahLst/>
              <a:cxnLst/>
              <a:rect l="l" t="t" r="r" b="b"/>
              <a:pathLst>
                <a:path w="2289304" h="2197726" extrusionOk="0">
                  <a:moveTo>
                    <a:pt x="1614108" y="0"/>
                  </a:moveTo>
                  <a:lnTo>
                    <a:pt x="2289304" y="0"/>
                  </a:lnTo>
                  <a:lnTo>
                    <a:pt x="0" y="2197726"/>
                  </a:lnTo>
                  <a:lnTo>
                    <a:pt x="0" y="1549539"/>
                  </a:lnTo>
                  <a:close/>
                </a:path>
              </a:pathLst>
            </a:custGeom>
            <a:gradFill>
              <a:gsLst>
                <a:gs pos="0">
                  <a:srgbClr val="980000"/>
                </a:gs>
                <a:gs pos="15000">
                  <a:srgbClr val="CC0000"/>
                </a:gs>
                <a:gs pos="64000">
                  <a:srgbClr val="0053A1">
                    <a:alpha val="0"/>
                  </a:srgbClr>
                </a:gs>
                <a:gs pos="100000">
                  <a:srgbClr val="0053A1">
                    <a:alpha val="0"/>
                  </a:srgbClr>
                </a:gs>
              </a:gsLst>
              <a:lin ang="18000042"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Calibri"/>
                <a:ea typeface="Calibri"/>
                <a:cs typeface="Calibri"/>
                <a:sym typeface="Calibri"/>
              </a:endParaRPr>
            </a:p>
          </p:txBody>
        </p:sp>
      </p:grpSp>
      <p:pic>
        <p:nvPicPr>
          <p:cNvPr id="129" name="Google Shape;129;p16" title="Untitled-1-07.png"/>
          <p:cNvPicPr preferRelativeResize="0"/>
          <p:nvPr/>
        </p:nvPicPr>
        <p:blipFill rotWithShape="1">
          <a:blip r:embed="rId2">
            <a:alphaModFix/>
          </a:blip>
          <a:srcRect l="5100" r="4630" b="15895"/>
          <a:stretch/>
        </p:blipFill>
        <p:spPr>
          <a:xfrm>
            <a:off x="880549" y="4348257"/>
            <a:ext cx="2096958" cy="548700"/>
          </a:xfrm>
          <a:prstGeom prst="rect">
            <a:avLst/>
          </a:prstGeom>
          <a:noFill/>
          <a:ln>
            <a:noFill/>
          </a:ln>
        </p:spPr>
      </p:pic>
      <p:pic>
        <p:nvPicPr>
          <p:cNvPr id="130" name="Google Shape;130;p16" title="powerd by.png"/>
          <p:cNvPicPr preferRelativeResize="0"/>
          <p:nvPr/>
        </p:nvPicPr>
        <p:blipFill rotWithShape="1">
          <a:blip r:embed="rId4">
            <a:alphaModFix/>
          </a:blip>
          <a:srcRect l="6981" t="44048" r="6714" b="14302"/>
          <a:stretch/>
        </p:blipFill>
        <p:spPr>
          <a:xfrm>
            <a:off x="3537800" y="4500588"/>
            <a:ext cx="2130125" cy="355975"/>
          </a:xfrm>
          <a:prstGeom prst="rect">
            <a:avLst/>
          </a:prstGeom>
          <a:noFill/>
          <a:ln>
            <a:noFill/>
          </a:ln>
        </p:spPr>
      </p:pic>
      <p:sp>
        <p:nvSpPr>
          <p:cNvPr id="131" name="Google Shape;131;p16"/>
          <p:cNvSpPr txBox="1"/>
          <p:nvPr/>
        </p:nvSpPr>
        <p:spPr>
          <a:xfrm>
            <a:off x="5998012" y="4596047"/>
            <a:ext cx="2436900" cy="253800"/>
          </a:xfrm>
          <a:prstGeom prst="rect">
            <a:avLst/>
          </a:prstGeom>
          <a:noFill/>
          <a:ln>
            <a:noFill/>
          </a:ln>
        </p:spPr>
        <p:txBody>
          <a:bodyPr spcFirstLastPara="1" wrap="non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0053A1"/>
                </a:solidFill>
                <a:latin typeface="Roboto"/>
                <a:ea typeface="Roboto"/>
                <a:cs typeface="Roboto"/>
                <a:sym typeface="Roboto"/>
              </a:rPr>
              <a:t>www.</a:t>
            </a:r>
            <a:r>
              <a:rPr lang="en" sz="1200" b="1">
                <a:solidFill>
                  <a:srgbClr val="0053A1"/>
                </a:solidFill>
                <a:latin typeface="Roboto"/>
                <a:ea typeface="Roboto"/>
                <a:cs typeface="Roboto"/>
                <a:sym typeface="Roboto"/>
              </a:rPr>
              <a:t>careercraftacademy.com</a:t>
            </a:r>
            <a:endParaRPr sz="1200" b="1" i="0" u="none" strike="noStrike" cap="none">
              <a:solidFill>
                <a:srgbClr val="0053A1"/>
              </a:solidFill>
              <a:latin typeface="Roboto"/>
              <a:ea typeface="Roboto"/>
              <a:cs typeface="Roboto"/>
              <a:sym typeface="Roboto"/>
            </a:endParaRPr>
          </a:p>
        </p:txBody>
      </p:sp>
      <p:sp>
        <p:nvSpPr>
          <p:cNvPr id="381" name="Kicker"/>
          <p:cNvSpPr txBox="1"/>
          <p:nvPr/>
        </p:nvSpPr>
        <p:spPr>
          <a:xfrm>
            <a:off x="675600" y="285000"/>
            <a:ext cx="4150000" cy="241200"/>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1003" b="0" i="0" u="none" strike="noStrike" cap="none" dirty="0">
                <a:solidFill>
                  <a:srgbClr val="7F7F7F"/>
                </a:solidFill>
                <a:latin typeface="Roboto"/>
                <a:ea typeface="Roboto"/>
                <a:cs typeface="Roboto"/>
                <a:sym typeface="Roboto"/>
              </a:rPr>
              <a:t>The Type System</a:t>
            </a:r>
            <a:endParaRPr lang="en" sz="1003" b="0" i="0" u="none" strike="noStrike" cap="none" dirty="0">
              <a:solidFill>
                <a:srgbClr val="000000"/>
              </a:solidFill>
              <a:latin typeface="Roboto"/>
              <a:ea typeface="Roboto"/>
              <a:cs typeface="Roboto"/>
              <a:sym typeface="Roboto"/>
            </a:endParaRPr>
          </a:p>
        </p:txBody>
      </p:sp>
      <p:sp>
        <p:nvSpPr>
          <p:cNvPr id="382" name="Title"/>
          <p:cNvSpPr txBox="1"/>
          <p:nvPr/>
        </p:nvSpPr>
        <p:spPr>
          <a:xfrm>
            <a:off x="675600" y="520000"/>
            <a:ext cx="4150000" cy="425394"/>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2200" b="1" i="0" u="none" strike="noStrike" cap="none" dirty="0">
                <a:solidFill>
                  <a:srgbClr val="0053A1"/>
                </a:solidFill>
                <a:latin typeface="Poppins SemiBold"/>
                <a:ea typeface="Poppins SemiBold"/>
                <a:cs typeface="Poppins SemiBold"/>
                <a:sym typeface="Poppins SemiBold"/>
              </a:rPr>
              <a:t>Understanding </a:t>
            </a:r>
            <a:r>
              <a:rPr lang="en" sz="2200" b="1" i="0" u="none" strike="noStrike" cap="none" dirty="0">
                <a:solidFill>
                  <a:srgbClr val="000000"/>
                </a:solidFill>
                <a:latin typeface="Poppins SemiBold"/>
                <a:ea typeface="Poppins SemiBold"/>
                <a:cs typeface="Poppins SemiBold"/>
                <a:sym typeface="Poppins SemiBold"/>
              </a:rPr>
              <a:t>Types</a:t>
            </a:r>
            <a:endParaRPr lang="en" sz="2200" b="0" i="0" u="none" strike="noStrike" cap="none" dirty="0">
              <a:solidFill>
                <a:srgbClr val="000000"/>
              </a:solidFill>
              <a:latin typeface="Roboto"/>
              <a:ea typeface="Roboto"/>
              <a:cs typeface="Roboto"/>
              <a:sym typeface="Roboto"/>
            </a:endParaRPr>
          </a:p>
        </p:txBody>
      </p:sp>
      <p:sp>
        <p:nvSpPr>
          <p:cNvPr id="383" name="Body"/>
          <p:cNvSpPr txBox="1"/>
          <p:nvPr/>
        </p:nvSpPr>
        <p:spPr>
          <a:xfrm>
            <a:off x="620000" y="1048000"/>
            <a:ext cx="4150000" cy="1203600"/>
          </a:xfrm>
          <a:prstGeom prst="rect">
            <a:avLst/>
          </a:prstGeom>
          <a:noFill/>
        </p:spPr>
        <p:txBody>
          <a:bodyPr spcFirstLastPara="1" wrap="square" lIns="86025" tIns="43000" rIns="86025" bIns="43000" anchor="t" anchorCtr="0">
            <a:noAutofit/>
          </a:bodyPr>
          <a:lstStyle/>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A </a:t>
            </a:r>
            <a:r>
              <a:rPr lang="en" sz="1100" b="1" i="0" u="none" strike="noStrike" cap="none" dirty="0">
                <a:solidFill>
                  <a:schemeClr val="tx1"/>
                </a:solidFill>
                <a:latin typeface="Roboto"/>
                <a:ea typeface="Roboto"/>
                <a:cs typeface="Roboto"/>
                <a:sym typeface="Roboto"/>
              </a:rPr>
              <a:t>type</a:t>
            </a:r>
            <a:r>
              <a:rPr lang="en" sz="1100" b="0" i="0" u="none" strike="noStrike" cap="none" dirty="0">
                <a:solidFill>
                  <a:schemeClr val="tx1"/>
                </a:solidFill>
                <a:latin typeface="Roboto"/>
                <a:ea typeface="Roboto"/>
                <a:cs typeface="Roboto"/>
                <a:sym typeface="Roboto"/>
              </a:rPr>
              <a:t> describes the shape and kind of data</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Types are checked at </a:t>
            </a:r>
            <a:r>
              <a:rPr lang="en" sz="1100" b="1" i="0" u="none" strike="noStrike" cap="none" dirty="0">
                <a:solidFill>
                  <a:schemeClr val="tx1"/>
                </a:solidFill>
                <a:latin typeface="Roboto"/>
                <a:ea typeface="Roboto"/>
                <a:cs typeface="Roboto"/>
                <a:sym typeface="Roboto"/>
              </a:rPr>
              <a:t>compile time</a:t>
            </a:r>
            <a:r>
              <a:rPr lang="en" sz="1100" b="0" i="0" u="none" strike="noStrike" cap="none" dirty="0">
                <a:solidFill>
                  <a:schemeClr val="tx1"/>
                </a:solidFill>
                <a:latin typeface="Roboto"/>
                <a:ea typeface="Roboto"/>
                <a:cs typeface="Roboto"/>
                <a:sym typeface="Roboto"/>
              </a:rPr>
              <a:t> (static)</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Types are </a:t>
            </a:r>
            <a:r>
              <a:rPr lang="en" sz="1100" b="1" i="0" u="none" strike="noStrike" cap="none" dirty="0">
                <a:solidFill>
                  <a:schemeClr val="tx1"/>
                </a:solidFill>
                <a:latin typeface="Roboto"/>
                <a:ea typeface="Roboto"/>
                <a:cs typeface="Roboto"/>
                <a:sym typeface="Roboto"/>
              </a:rPr>
              <a:t>erased</a:t>
            </a:r>
            <a:r>
              <a:rPr lang="en" sz="1100" b="0" i="0" u="none" strike="noStrike" cap="none" dirty="0">
                <a:solidFill>
                  <a:schemeClr val="tx1"/>
                </a:solidFill>
                <a:latin typeface="Roboto"/>
                <a:ea typeface="Roboto"/>
                <a:cs typeface="Roboto"/>
                <a:sym typeface="Roboto"/>
              </a:rPr>
              <a:t> at runtime</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1" i="0" u="none" strike="noStrike" cap="none" dirty="0">
                <a:solidFill>
                  <a:schemeClr val="tx1"/>
                </a:solidFill>
                <a:latin typeface="Roboto"/>
                <a:ea typeface="Roboto"/>
                <a:cs typeface="Roboto"/>
                <a:sym typeface="Roboto"/>
              </a:rPr>
              <a:t>Structural typing</a:t>
            </a:r>
            <a:r>
              <a:rPr lang="en" sz="1100" b="0" i="0" u="none" strike="noStrike" cap="none" dirty="0">
                <a:solidFill>
                  <a:schemeClr val="tx1"/>
                </a:solidFill>
                <a:latin typeface="Roboto"/>
                <a:ea typeface="Roboto"/>
                <a:cs typeface="Roboto"/>
                <a:sym typeface="Roboto"/>
              </a:rPr>
              <a:t>: same shape means compatible</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Types can be </a:t>
            </a:r>
            <a:r>
              <a:rPr lang="en" sz="1100" b="1" i="0" u="none" strike="noStrike" cap="none" dirty="0">
                <a:solidFill>
                  <a:schemeClr val="tx1"/>
                </a:solidFill>
                <a:latin typeface="Roboto"/>
                <a:ea typeface="Roboto"/>
                <a:cs typeface="Roboto"/>
                <a:sym typeface="Roboto"/>
              </a:rPr>
              <a:t>explicit</a:t>
            </a:r>
            <a:r>
              <a:rPr lang="en" sz="1100" b="0" i="0" u="none" strike="noStrike" cap="none" dirty="0">
                <a:solidFill>
                  <a:schemeClr val="tx1"/>
                </a:solidFill>
                <a:latin typeface="Roboto"/>
                <a:ea typeface="Roboto"/>
                <a:cs typeface="Roboto"/>
                <a:sym typeface="Roboto"/>
              </a:rPr>
              <a:t> or </a:t>
            </a:r>
            <a:r>
              <a:rPr lang="en" sz="1100" b="1" i="0" u="none" strike="noStrike" cap="none" dirty="0">
                <a:solidFill>
                  <a:schemeClr val="tx1"/>
                </a:solidFill>
                <a:latin typeface="Roboto"/>
                <a:ea typeface="Roboto"/>
                <a:cs typeface="Roboto"/>
                <a:sym typeface="Roboto"/>
              </a:rPr>
              <a:t>inferred</a:t>
            </a:r>
            <a:endParaRPr lang="en" sz="1100" b="0" i="0" u="none" strike="noStrike" cap="none" dirty="0">
              <a:solidFill>
                <a:srgbClr val="000000"/>
              </a:solidFill>
              <a:latin typeface="Roboto"/>
              <a:ea typeface="Roboto"/>
              <a:cs typeface="Roboto"/>
              <a:sym typeface="Roboto"/>
            </a:endParaRPr>
          </a:p>
        </p:txBody>
      </p:sp>
      <p:sp>
        <p:nvSpPr>
          <p:cNvPr id="374" name="Visual panel"/>
          <p:cNvSpPr/>
          <p:nvPr/>
        </p:nvSpPr>
        <p:spPr>
          <a:xfrm>
            <a:off x="4940000" y="560000"/>
            <a:ext cx="3500000" cy="3590000"/>
          </a:xfrm>
          <a:prstGeom prst="roundRect">
            <a:avLst>
              <a:gd name="adj" fmla="val 3000"/>
            </a:avLst>
          </a:prstGeom>
          <a:solidFill>
            <a:srgbClr val="FFFFFF"/>
          </a:solidFill>
          <a:ln w="9525">
            <a:solidFill>
              <a:srgbClr val="D9D9D9"/>
            </a:solidFill>
          </a:ln>
          <a:effectLst>
            <a:outerShdw blurRad="63500" dist="25400" dir="5400000" algn="t" rotWithShape="0">
              <a:srgbClr val="000000">
                <a:alpha val="22000"/>
              </a:srgbClr>
            </a:outerShdw>
          </a:effectLst>
        </p:spPr>
        <p:txBody>
          <a:bodyPr rtlCol="0" anchor="ctr"/>
          <a:lstStyle/>
          <a:p>
            <a:pPr algn="ctr"/>
          </a:p>
        </p:txBody>
      </p:sp>
      <p:sp>
        <p:nvSpPr>
          <p:cNvPr id="375" name="Panel heading"/>
          <p:cNvSpPr txBox="1"/>
          <p:nvPr/>
        </p:nvSpPr>
        <p:spPr>
          <a:xfrm>
            <a:off x="5070000" y="690000"/>
            <a:ext cx="3240000" cy="270000"/>
          </a:xfrm>
          <a:prstGeom prst="rect">
            <a:avLst/>
          </a:prstGeom>
          <a:noFill/>
        </p:spPr>
        <p:txBody>
          <a:bodyPr spcFirstLastPara="1" wrap="square" lIns="0" tIns="30000" rIns="0" bIns="0" anchor="t" anchorCtr="0">
            <a:noAutofit/>
          </a:bodyPr>
          <a:lstStyle/>
          <a:p>
            <a:pPr marL="0" marR="0" lvl="0" indent="0" algn="l" rtl="0">
              <a:lnSpc>
                <a:spcPct val="100000"/>
              </a:lnSpc>
              <a:spcBef>
                <a:spcPts val="0"/>
              </a:spcBef>
              <a:spcAft>
                <a:spcPts val="0"/>
              </a:spcAft>
              <a:buNone/>
            </a:pPr>
            <a:r>
              <a:rPr lang="en" sz="1100" b="1" i="0" u="none" strike="noStrike" cap="none" dirty="0">
                <a:solidFill>
                  <a:srgbClr val="0053A1"/>
                </a:solidFill>
                <a:latin typeface="Poppins SemiBold"/>
                <a:ea typeface="Poppins SemiBold"/>
                <a:cs typeface="Poppins SemiBold"/>
                <a:sym typeface="Poppins SemiBold"/>
              </a:rPr>
              <a:t>Compile time vs runtime</a:t>
            </a:r>
            <a:endParaRPr lang="en" sz="1100" b="0" i="0" u="none" strike="noStrike" cap="none" dirty="0">
              <a:solidFill>
                <a:srgbClr val="000000"/>
              </a:solidFill>
              <a:latin typeface="Roboto"/>
              <a:ea typeface="Roboto"/>
              <a:cs typeface="Roboto"/>
              <a:sym typeface="Roboto"/>
            </a:endParaRPr>
          </a:p>
        </p:txBody>
      </p:sp>
      <p:sp>
        <p:nvSpPr>
          <p:cNvPr id="376" name="TS file"/>
          <p:cNvSpPr/>
          <p:nvPr/>
        </p:nvSpPr>
        <p:spPr>
          <a:xfrm>
            <a:off x="5070000" y="1080000"/>
            <a:ext cx="3240000" cy="780000"/>
          </a:xfrm>
          <a:prstGeom prst="roundRect">
            <a:avLst>
              <a:gd name="adj" fmla="val 8000"/>
            </a:avLst>
          </a:prstGeom>
          <a:solidFill>
            <a:srgbClr val="0E2455"/>
          </a:solidFill>
          <a:ln>
            <a:noFill/>
          </a:ln>
        </p:spPr>
        <p:txBody>
          <a:bodyPr wrap="square" lIns="120000" tIns="40000" rIns="40000" bIns="40000" rtlCol="0" anchor="ctr">
            <a:noAutofit/>
          </a:bodyPr>
          <a:lstStyle/>
          <a:p>
            <a:pPr marL="0" marR="0" lvl="0" indent="0" algn="l" rtl="0">
              <a:lnSpc>
                <a:spcPct val="100000"/>
              </a:lnSpc>
              <a:spcBef>
                <a:spcPts val="0"/>
              </a:spcBef>
              <a:spcAft>
                <a:spcPts val="0"/>
              </a:spcAft>
              <a:buNone/>
            </a:pPr>
            <a:r>
              <a:rPr lang="en" sz="900" b="1" i="0" u="none" strike="noStrike" cap="none" dirty="0">
                <a:solidFill>
                  <a:srgbClr val="8FA3C4"/>
                </a:solidFill>
                <a:latin typeface="Courier New"/>
                <a:ea typeface="Courier New"/>
                <a:cs typeface="Courier New"/>
                <a:sym typeface="Courier New"/>
              </a:rPr>
              <a:t>app.ts  (with types)</a:t>
            </a:r>
            <a:endParaRPr lang="en" sz="900" b="0" i="0" u="none" strike="noStrike" cap="none" dirty="0">
              <a:solidFill>
                <a:srgbClr val="000000"/>
              </a:solidFill>
              <a:latin typeface="Roboto"/>
              <a:ea typeface="Roboto"/>
              <a:cs typeface="Roboto"/>
              <a:sym typeface="Roboto"/>
            </a:endParaRPr>
          </a:p>
          <a:p>
            <a:pPr marL="0" marR="0" lvl="0" indent="0" algn="l" rtl="0">
              <a:lnSpc>
                <a:spcPct val="100000"/>
              </a:lnSpc>
              <a:spcBef>
                <a:spcPts val="0"/>
              </a:spcBef>
              <a:spcAft>
                <a:spcPts val="0"/>
              </a:spcAft>
              <a:buNone/>
            </a:pPr>
            <a:r>
              <a:rPr lang="en" sz="1050" b="0" i="0" u="none" strike="noStrike" cap="none" dirty="0">
                <a:solidFill>
                  <a:srgbClr val="E6ECF7"/>
                </a:solidFill>
                <a:latin typeface="Courier New"/>
                <a:ea typeface="Courier New"/>
                <a:cs typeface="Courier New"/>
                <a:sym typeface="Courier New"/>
              </a:rPr>
              <a:t>let age: number = 25;</a:t>
            </a:r>
            <a:endParaRPr lang="en" sz="1050" b="0" i="0" u="none" strike="noStrike" cap="none" dirty="0">
              <a:solidFill>
                <a:srgbClr val="000000"/>
              </a:solidFill>
              <a:latin typeface="Roboto"/>
              <a:ea typeface="Roboto"/>
              <a:cs typeface="Roboto"/>
              <a:sym typeface="Roboto"/>
            </a:endParaRPr>
          </a:p>
        </p:txBody>
      </p:sp>
      <p:sp>
        <p:nvSpPr>
          <p:cNvPr id="377" name="Arrow"/>
          <p:cNvSpPr/>
          <p:nvPr/>
        </p:nvSpPr>
        <p:spPr>
          <a:xfrm>
            <a:off x="6570000" y="1920000"/>
            <a:ext cx="240000" cy="330000"/>
          </a:xfrm>
          <a:prstGeom prst="downArrow">
            <a:avLst/>
          </a:prstGeom>
          <a:solidFill>
            <a:srgbClr val="0053A1"/>
          </a:solidFill>
          <a:ln>
            <a:noFill/>
          </a:ln>
        </p:spPr>
        <p:txBody>
          <a:bodyPr rtlCol="0" anchor="ctr"/>
          <a:lstStyle/>
          <a:p>
            <a:pPr algn="ctr"/>
          </a:p>
        </p:txBody>
      </p:sp>
      <p:sp>
        <p:nvSpPr>
          <p:cNvPr id="378" name="tsc"/>
          <p:cNvSpPr txBox="1"/>
          <p:nvPr/>
        </p:nvSpPr>
        <p:spPr>
          <a:xfrm>
            <a:off x="6870000" y="2000000"/>
            <a:ext cx="1200000" cy="220000"/>
          </a:xfrm>
          <a:prstGeom prst="rect">
            <a:avLst/>
          </a:prstGeom>
          <a:noFill/>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000" b="1" i="0" u="none" strike="noStrike" cap="none" dirty="0">
                <a:solidFill>
                  <a:srgbClr val="C00000"/>
                </a:solidFill>
                <a:latin typeface="Courier New"/>
                <a:ea typeface="Courier New"/>
                <a:cs typeface="Courier New"/>
                <a:sym typeface="Courier New"/>
              </a:rPr>
              <a:t>tsc</a:t>
            </a:r>
            <a:endParaRPr lang="en" sz="1000" b="0" i="0" u="none" strike="noStrike" cap="none" dirty="0">
              <a:solidFill>
                <a:srgbClr val="000000"/>
              </a:solidFill>
              <a:latin typeface="Roboto"/>
              <a:ea typeface="Roboto"/>
              <a:cs typeface="Roboto"/>
              <a:sym typeface="Roboto"/>
            </a:endParaRPr>
          </a:p>
        </p:txBody>
      </p:sp>
      <p:sp>
        <p:nvSpPr>
          <p:cNvPr id="379" name="JS file"/>
          <p:cNvSpPr/>
          <p:nvPr/>
        </p:nvSpPr>
        <p:spPr>
          <a:xfrm>
            <a:off x="5070000" y="2320000"/>
            <a:ext cx="3240000" cy="780000"/>
          </a:xfrm>
          <a:prstGeom prst="roundRect">
            <a:avLst>
              <a:gd name="adj" fmla="val 8000"/>
            </a:avLst>
          </a:prstGeom>
          <a:solidFill>
            <a:srgbClr val="F3F7FC"/>
          </a:solidFill>
          <a:ln w="9525">
            <a:solidFill>
              <a:srgbClr val="D9D9D9"/>
            </a:solidFill>
          </a:ln>
        </p:spPr>
        <p:txBody>
          <a:bodyPr wrap="square" lIns="120000" tIns="40000" rIns="40000" bIns="40000" rtlCol="0" anchor="ctr">
            <a:noAutofit/>
          </a:bodyPr>
          <a:lstStyle/>
          <a:p>
            <a:pPr marL="0" marR="0" lvl="0" indent="0" algn="l" rtl="0">
              <a:lnSpc>
                <a:spcPct val="100000"/>
              </a:lnSpc>
              <a:spcBef>
                <a:spcPts val="0"/>
              </a:spcBef>
              <a:spcAft>
                <a:spcPts val="0"/>
              </a:spcAft>
              <a:buNone/>
            </a:pPr>
            <a:r>
              <a:rPr lang="en" sz="900" b="1" i="0" u="none" strike="noStrike" cap="none" dirty="0">
                <a:solidFill>
                  <a:srgbClr val="7F7F7F"/>
                </a:solidFill>
                <a:latin typeface="Courier New"/>
                <a:ea typeface="Courier New"/>
                <a:cs typeface="Courier New"/>
                <a:sym typeface="Courier New"/>
              </a:rPr>
              <a:t>app.js  (types erased)</a:t>
            </a:r>
            <a:endParaRPr lang="en" sz="900" b="0" i="0" u="none" strike="noStrike" cap="none" dirty="0">
              <a:solidFill>
                <a:srgbClr val="000000"/>
              </a:solidFill>
              <a:latin typeface="Roboto"/>
              <a:ea typeface="Roboto"/>
              <a:cs typeface="Roboto"/>
              <a:sym typeface="Roboto"/>
            </a:endParaRPr>
          </a:p>
          <a:p>
            <a:pPr marL="0" marR="0" lvl="0" indent="0" algn="l" rtl="0">
              <a:lnSpc>
                <a:spcPct val="100000"/>
              </a:lnSpc>
              <a:spcBef>
                <a:spcPts val="0"/>
              </a:spcBef>
              <a:spcAft>
                <a:spcPts val="0"/>
              </a:spcAft>
              <a:buNone/>
            </a:pPr>
            <a:r>
              <a:rPr lang="en" sz="1050" b="0" i="0" u="none" strike="noStrike" cap="none" dirty="0">
                <a:solidFill>
                  <a:srgbClr val="0E2455"/>
                </a:solidFill>
                <a:latin typeface="Courier New"/>
                <a:ea typeface="Courier New"/>
                <a:cs typeface="Courier New"/>
                <a:sym typeface="Courier New"/>
              </a:rPr>
              <a:t>let age = 25;</a:t>
            </a:r>
            <a:endParaRPr lang="en" sz="1050" b="0" i="0" u="none" strike="noStrike" cap="none" dirty="0">
              <a:solidFill>
                <a:srgbClr val="000000"/>
              </a:solidFill>
              <a:latin typeface="Roboto"/>
              <a:ea typeface="Roboto"/>
              <a:cs typeface="Roboto"/>
              <a:sym typeface="Roboto"/>
            </a:endParaRPr>
          </a:p>
        </p:txBody>
      </p:sp>
      <p:sp>
        <p:nvSpPr>
          <p:cNvPr id="380" name="Chip"/>
          <p:cNvSpPr/>
          <p:nvPr/>
        </p:nvSpPr>
        <p:spPr>
          <a:xfrm>
            <a:off x="5070000" y="3300000"/>
            <a:ext cx="3240000" cy="400000"/>
          </a:xfrm>
          <a:prstGeom prst="roundRect">
            <a:avLst>
              <a:gd name="adj" fmla="val 50000"/>
            </a:avLst>
          </a:prstGeom>
          <a:solidFill>
            <a:srgbClr val="E6EFFA"/>
          </a:solidFill>
          <a:ln>
            <a:noFill/>
          </a:ln>
        </p:spPr>
        <p:txBody>
          <a:bodyPr wrap="square" lIns="45720" tIns="45720" rIns="45720" bIns="45720" rtlCol="0" anchor="ctr">
            <a:noAutofit/>
          </a:bodyPr>
          <a:lstStyle/>
          <a:p>
            <a:pPr marL="0" marR="0" lvl="0" indent="0" algn="ctr" rtl="0">
              <a:lnSpc>
                <a:spcPct val="100000"/>
              </a:lnSpc>
              <a:spcBef>
                <a:spcPts val="0"/>
              </a:spcBef>
              <a:spcAft>
                <a:spcPts val="0"/>
              </a:spcAft>
              <a:buNone/>
            </a:pPr>
            <a:r>
              <a:rPr lang="en" sz="900" b="1" i="0" u="none" strike="noStrike" cap="none" dirty="0">
                <a:solidFill>
                  <a:srgbClr val="C00000"/>
                </a:solidFill>
                <a:latin typeface="Poppins SemiBold"/>
                <a:ea typeface="Poppins SemiBold"/>
                <a:cs typeface="Poppins SemiBold"/>
                <a:sym typeface="Poppins SemiBold"/>
              </a:rPr>
              <a:t>Types cost nothing at runtime</a:t>
            </a:r>
            <a:endParaRPr lang="en" sz="900" b="0" i="0" u="none" strike="noStrike" cap="none" dirty="0">
              <a:solidFill>
                <a:srgbClr val="000000"/>
              </a:solidFill>
              <a:latin typeface="Roboto"/>
              <a:ea typeface="Roboto"/>
              <a:cs typeface="Roboto"/>
              <a:sym typeface="Roboto"/>
            </a:endParaRP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grpSpPr/>
      <p:pic>
        <p:nvPicPr>
          <p:cNvPr id="110" name="Google Shape;110;p15" title="Untitled-1-07.png"/>
          <p:cNvPicPr preferRelativeResize="0"/>
          <p:nvPr/>
        </p:nvPicPr>
        <p:blipFill rotWithShape="1">
          <a:blip r:embed="rId2">
            <a:alphaModFix/>
          </a:blip>
          <a:srcRect l="5100" r="4630" b="15895"/>
          <a:stretch/>
        </p:blipFill>
        <p:spPr>
          <a:xfrm>
            <a:off x="880549" y="4348257"/>
            <a:ext cx="2096958" cy="548700"/>
          </a:xfrm>
          <a:prstGeom prst="rect">
            <a:avLst/>
          </a:prstGeom>
          <a:noFill/>
          <a:ln>
            <a:noFill/>
          </a:ln>
        </p:spPr>
      </p:pic>
      <p:pic>
        <p:nvPicPr>
          <p:cNvPr id="111" name="Google Shape;111;p15" title="powerd by.png"/>
          <p:cNvPicPr preferRelativeResize="0"/>
          <p:nvPr/>
        </p:nvPicPr>
        <p:blipFill rotWithShape="1">
          <a:blip r:embed="rId5">
            <a:alphaModFix/>
          </a:blip>
          <a:srcRect l="6981" t="44048" r="6714" b="14302"/>
          <a:stretch/>
        </p:blipFill>
        <p:spPr>
          <a:xfrm>
            <a:off x="3537800" y="4500588"/>
            <a:ext cx="2130125" cy="355975"/>
          </a:xfrm>
          <a:prstGeom prst="rect">
            <a:avLst/>
          </a:prstGeom>
          <a:noFill/>
          <a:ln>
            <a:noFill/>
          </a:ln>
        </p:spPr>
      </p:pic>
      <p:sp>
        <p:nvSpPr>
          <p:cNvPr id="112" name="Google Shape;112;p15"/>
          <p:cNvSpPr txBox="1"/>
          <p:nvPr/>
        </p:nvSpPr>
        <p:spPr>
          <a:xfrm>
            <a:off x="5998012" y="4596047"/>
            <a:ext cx="2436900" cy="253800"/>
          </a:xfrm>
          <a:prstGeom prst="rect">
            <a:avLst/>
          </a:prstGeom>
          <a:noFill/>
          <a:ln>
            <a:noFill/>
          </a:ln>
        </p:spPr>
        <p:txBody>
          <a:bodyPr spcFirstLastPara="1" wrap="non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0053A1"/>
                </a:solidFill>
                <a:latin typeface="Roboto"/>
                <a:ea typeface="Roboto"/>
                <a:cs typeface="Roboto"/>
                <a:sym typeface="Roboto"/>
              </a:rPr>
              <a:t>www.</a:t>
            </a:r>
            <a:r>
              <a:rPr lang="en" sz="1200" b="1">
                <a:solidFill>
                  <a:srgbClr val="0053A1"/>
                </a:solidFill>
                <a:latin typeface="Roboto"/>
                <a:ea typeface="Roboto"/>
                <a:cs typeface="Roboto"/>
                <a:sym typeface="Roboto"/>
              </a:rPr>
              <a:t>careercraftacademy.com</a:t>
            </a:r>
            <a:endParaRPr sz="1200" b="1" i="0" u="none" strike="noStrike" cap="none">
              <a:solidFill>
                <a:srgbClr val="0053A1"/>
              </a:solidFill>
              <a:latin typeface="Roboto"/>
              <a:ea typeface="Roboto"/>
              <a:cs typeface="Roboto"/>
              <a:sym typeface="Roboto"/>
            </a:endParaRPr>
          </a:p>
        </p:txBody>
      </p:sp>
      <p:pic>
        <p:nvPicPr>
          <p:cNvPr id="114" name="Google Shape;114;p15"/>
          <p:cNvPicPr preferRelativeResize="0"/>
          <p:nvPr/>
        </p:nvPicPr>
        <p:blipFill>
          <a:blip r:embed="rId4">
            <a:alphaModFix/>
          </a:blip>
          <a:stretch>
            <a:fillRect/>
          </a:stretch>
        </p:blipFill>
        <p:spPr>
          <a:xfrm>
            <a:off x="8447868" y="4368945"/>
            <a:ext cx="334175" cy="480903"/>
          </a:xfrm>
          <a:prstGeom prst="rect">
            <a:avLst/>
          </a:prstGeom>
          <a:noFill/>
          <a:ln>
            <a:noFill/>
          </a:ln>
        </p:spPr>
      </p:pic>
      <p:sp>
        <p:nvSpPr>
          <p:cNvPr id="384" name="Kicker"/>
          <p:cNvSpPr txBox="1"/>
          <p:nvPr/>
        </p:nvSpPr>
        <p:spPr>
          <a:xfrm>
            <a:off x="675600" y="285000"/>
            <a:ext cx="3560000" cy="241200"/>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1003" b="0" i="0" u="none" strike="noStrike" cap="none" dirty="0">
                <a:solidFill>
                  <a:srgbClr val="7F7F7F"/>
                </a:solidFill>
                <a:latin typeface="Roboto"/>
                <a:ea typeface="Roboto"/>
                <a:cs typeface="Roboto"/>
                <a:sym typeface="Roboto"/>
              </a:rPr>
              <a:t>The Type System</a:t>
            </a:r>
            <a:endParaRPr lang="en" sz="1003" b="0" i="0" u="none" strike="noStrike" cap="none" dirty="0">
              <a:solidFill>
                <a:srgbClr val="000000"/>
              </a:solidFill>
              <a:latin typeface="Roboto"/>
              <a:ea typeface="Roboto"/>
              <a:cs typeface="Roboto"/>
              <a:sym typeface="Roboto"/>
            </a:endParaRPr>
          </a:p>
        </p:txBody>
      </p:sp>
      <p:sp>
        <p:nvSpPr>
          <p:cNvPr id="385" name="Title"/>
          <p:cNvSpPr txBox="1"/>
          <p:nvPr/>
        </p:nvSpPr>
        <p:spPr>
          <a:xfrm>
            <a:off x="675600" y="520000"/>
            <a:ext cx="3560000" cy="763948"/>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2200" b="1" i="0" u="none" strike="noStrike" cap="none" dirty="0">
                <a:solidFill>
                  <a:srgbClr val="0053A1"/>
                </a:solidFill>
                <a:latin typeface="Poppins SemiBold"/>
                <a:ea typeface="Poppins SemiBold"/>
                <a:cs typeface="Poppins SemiBold"/>
                <a:sym typeface="Poppins SemiBold"/>
              </a:rPr>
              <a:t>Basic (Primitive)</a:t>
            </a:r>
            <a:endParaRPr lang="en" sz="2200" b="0" i="0" u="none" strike="noStrike" cap="none" dirty="0">
              <a:solidFill>
                <a:srgbClr val="000000"/>
              </a:solidFill>
              <a:latin typeface="Roboto"/>
              <a:ea typeface="Roboto"/>
              <a:cs typeface="Roboto"/>
              <a:sym typeface="Roboto"/>
            </a:endParaRPr>
          </a:p>
          <a:p>
            <a:pPr marL="0" marR="0" lvl="0" indent="0" algn="l" rtl="0">
              <a:lnSpc>
                <a:spcPct val="100000"/>
              </a:lnSpc>
              <a:spcBef>
                <a:spcPts val="0"/>
              </a:spcBef>
              <a:spcAft>
                <a:spcPts val="0"/>
              </a:spcAft>
              <a:buNone/>
            </a:pPr>
            <a:r>
              <a:rPr lang="en" sz="2200" b="1" i="0" u="none" strike="noStrike" cap="none" dirty="0">
                <a:solidFill>
                  <a:srgbClr val="000000"/>
                </a:solidFill>
                <a:latin typeface="Poppins SemiBold"/>
                <a:ea typeface="Poppins SemiBold"/>
                <a:cs typeface="Poppins SemiBold"/>
                <a:sym typeface="Poppins SemiBold"/>
              </a:rPr>
              <a:t>Types</a:t>
            </a:r>
            <a:endParaRPr lang="en" sz="2200" b="0" i="0" u="none" strike="noStrike" cap="none" dirty="0">
              <a:solidFill>
                <a:srgbClr val="000000"/>
              </a:solidFill>
              <a:latin typeface="Roboto"/>
              <a:ea typeface="Roboto"/>
              <a:cs typeface="Roboto"/>
              <a:sym typeface="Roboto"/>
            </a:endParaRPr>
          </a:p>
        </p:txBody>
      </p:sp>
      <p:sp>
        <p:nvSpPr>
          <p:cNvPr id="386" name="Body"/>
          <p:cNvSpPr txBox="1"/>
          <p:nvPr/>
        </p:nvSpPr>
        <p:spPr>
          <a:xfrm>
            <a:off x="620000" y="1383000"/>
            <a:ext cx="3560000" cy="1510940"/>
          </a:xfrm>
          <a:prstGeom prst="rect">
            <a:avLst/>
          </a:prstGeom>
          <a:noFill/>
        </p:spPr>
        <p:txBody>
          <a:bodyPr spcFirstLastPara="1" wrap="square" lIns="86025" tIns="43000" rIns="86025" bIns="43000" anchor="t" anchorCtr="0">
            <a:noAutofit/>
          </a:bodyPr>
          <a:lstStyle/>
          <a:p>
            <a:pPr marL="171450" marR="0" lvl="0" indent="-171450" algn="l" rtl="0">
              <a:lnSpc>
                <a:spcPct val="125000"/>
              </a:lnSpc>
              <a:spcBef>
                <a:spcPts val="100"/>
              </a:spcBef>
              <a:spcAft>
                <a:spcPts val="0"/>
              </a:spcAft>
              <a:buClr>
                <a:srgbClr val="000000"/>
              </a:buClr>
              <a:buSzPts val="1100"/>
              <a:buFont typeface="Arial"/>
              <a:buChar char="•"/>
            </a:pPr>
            <a:r>
              <a:rPr lang="en" sz="1050" b="1" i="0" u="none" strike="noStrike" cap="none" dirty="0">
                <a:solidFill>
                  <a:srgbClr val="0053A1"/>
                </a:solidFill>
                <a:latin typeface="Courier New"/>
                <a:ea typeface="Courier New"/>
                <a:cs typeface="Courier New"/>
                <a:sym typeface="Courier New"/>
              </a:rPr>
              <a:t>string</a:t>
            </a:r>
            <a:r>
              <a:rPr lang="en" sz="1100" b="0" i="0" u="none" strike="noStrike" cap="none" dirty="0">
                <a:solidFill>
                  <a:schemeClr val="tx1"/>
                </a:solidFill>
                <a:latin typeface="Roboto"/>
                <a:ea typeface="Roboto"/>
                <a:cs typeface="Roboto"/>
                <a:sym typeface="Roboto"/>
              </a:rPr>
              <a:t> - text: </a:t>
            </a:r>
            <a:r>
              <a:rPr lang="en" sz="1050" b="1" i="0" u="none" strike="noStrike" cap="none" dirty="0">
                <a:solidFill>
                  <a:srgbClr val="0053A1"/>
                </a:solidFill>
                <a:latin typeface="Courier New"/>
                <a:ea typeface="Courier New"/>
                <a:cs typeface="Courier New"/>
                <a:sym typeface="Courier New"/>
              </a:rPr>
              <a:t>"hello"</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050" b="1" i="0" u="none" strike="noStrike" cap="none" dirty="0">
                <a:solidFill>
                  <a:srgbClr val="0053A1"/>
                </a:solidFill>
                <a:latin typeface="Courier New"/>
                <a:ea typeface="Courier New"/>
                <a:cs typeface="Courier New"/>
                <a:sym typeface="Courier New"/>
              </a:rPr>
              <a:t>number</a:t>
            </a:r>
            <a:r>
              <a:rPr lang="en" sz="1100" b="0" i="0" u="none" strike="noStrike" cap="none" dirty="0">
                <a:solidFill>
                  <a:schemeClr val="tx1"/>
                </a:solidFill>
                <a:latin typeface="Roboto"/>
                <a:ea typeface="Roboto"/>
                <a:cs typeface="Roboto"/>
                <a:sym typeface="Roboto"/>
              </a:rPr>
              <a:t> - integers and decimals: </a:t>
            </a:r>
            <a:r>
              <a:rPr lang="en" sz="1050" b="1" i="0" u="none" strike="noStrike" cap="none" dirty="0">
                <a:solidFill>
                  <a:srgbClr val="0053A1"/>
                </a:solidFill>
                <a:latin typeface="Courier New"/>
                <a:ea typeface="Courier New"/>
                <a:cs typeface="Courier New"/>
                <a:sym typeface="Courier New"/>
              </a:rPr>
              <a:t>42</a:t>
            </a:r>
            <a:r>
              <a:rPr lang="en" sz="1100" b="0" i="0" u="none" strike="noStrike" cap="none" dirty="0">
                <a:solidFill>
                  <a:schemeClr val="tx1"/>
                </a:solidFill>
                <a:latin typeface="Roboto"/>
                <a:ea typeface="Roboto"/>
                <a:cs typeface="Roboto"/>
                <a:sym typeface="Roboto"/>
              </a:rPr>
              <a:t>, </a:t>
            </a:r>
            <a:r>
              <a:rPr lang="en" sz="1050" b="1" i="0" u="none" strike="noStrike" cap="none" dirty="0">
                <a:solidFill>
                  <a:srgbClr val="0053A1"/>
                </a:solidFill>
                <a:latin typeface="Courier New"/>
                <a:ea typeface="Courier New"/>
                <a:cs typeface="Courier New"/>
                <a:sym typeface="Courier New"/>
              </a:rPr>
              <a:t>3.14</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050" b="1" i="0" u="none" strike="noStrike" cap="none" dirty="0">
                <a:solidFill>
                  <a:srgbClr val="0053A1"/>
                </a:solidFill>
                <a:latin typeface="Courier New"/>
                <a:ea typeface="Courier New"/>
                <a:cs typeface="Courier New"/>
                <a:sym typeface="Courier New"/>
              </a:rPr>
              <a:t>boolean</a:t>
            </a:r>
            <a:r>
              <a:rPr lang="en" sz="1100" b="0" i="0" u="none" strike="noStrike" cap="none" dirty="0">
                <a:solidFill>
                  <a:schemeClr val="tx1"/>
                </a:solidFill>
                <a:latin typeface="Roboto"/>
                <a:ea typeface="Roboto"/>
                <a:cs typeface="Roboto"/>
                <a:sym typeface="Roboto"/>
              </a:rPr>
              <a:t> - </a:t>
            </a:r>
            <a:r>
              <a:rPr lang="en" sz="1050" b="1" i="0" u="none" strike="noStrike" cap="none" dirty="0">
                <a:solidFill>
                  <a:srgbClr val="0053A1"/>
                </a:solidFill>
                <a:latin typeface="Courier New"/>
                <a:ea typeface="Courier New"/>
                <a:cs typeface="Courier New"/>
                <a:sym typeface="Courier New"/>
              </a:rPr>
              <a:t>true</a:t>
            </a:r>
            <a:r>
              <a:rPr lang="en" sz="1100" b="0" i="0" u="none" strike="noStrike" cap="none" dirty="0">
                <a:solidFill>
                  <a:schemeClr val="tx1"/>
                </a:solidFill>
                <a:latin typeface="Roboto"/>
                <a:ea typeface="Roboto"/>
                <a:cs typeface="Roboto"/>
                <a:sym typeface="Roboto"/>
              </a:rPr>
              <a:t> or </a:t>
            </a:r>
            <a:r>
              <a:rPr lang="en" sz="1050" b="1" i="0" u="none" strike="noStrike" cap="none" dirty="0">
                <a:solidFill>
                  <a:srgbClr val="0053A1"/>
                </a:solidFill>
                <a:latin typeface="Courier New"/>
                <a:ea typeface="Courier New"/>
                <a:cs typeface="Courier New"/>
                <a:sym typeface="Courier New"/>
              </a:rPr>
              <a:t>false</a:t>
            </a:r>
            <a:endParaRPr lang="en" sz="1100" b="0" i="0" u="none" strike="noStrike" cap="none" dirty="0">
              <a:solidFill>
                <a:srgbClr val="000000"/>
              </a:solidFill>
              <a:latin typeface="Roboto"/>
              <a:ea typeface="Roboto"/>
              <a:cs typeface="Roboto"/>
              <a:sym typeface="Roboto"/>
            </a:endParaRPr>
          </a:p>
          <a:p>
            <a:pPr marL="0" marR="0" lvl="0" indent="0" algn="l" rtl="0">
              <a:lnSpc>
                <a:spcPct val="135000"/>
              </a:lnSpc>
              <a:spcBef>
                <a:spcPts val="0"/>
              </a:spcBef>
              <a:spcAft>
                <a:spcPts val="300"/>
              </a:spcAft>
              <a:buNone/>
            </a:pPr>
            <a:r>
              <a:rPr lang="en" sz="1100" b="0" i="0" u="none" strike="noStrike" cap="none" dirty="0">
                <a:solidFill>
                  <a:schemeClr val="tx1"/>
                </a:solidFill>
                <a:latin typeface="Roboto"/>
                <a:ea typeface="Roboto"/>
                <a:cs typeface="Roboto"/>
                <a:sym typeface="Roboto"/>
              </a:rPr>
              <a:t>Also available: </a:t>
            </a:r>
            <a:r>
              <a:rPr lang="en" sz="1050" b="1" i="0" u="none" strike="noStrike" cap="none" dirty="0">
                <a:solidFill>
                  <a:srgbClr val="0053A1"/>
                </a:solidFill>
                <a:latin typeface="Courier New"/>
                <a:ea typeface="Courier New"/>
                <a:cs typeface="Courier New"/>
                <a:sym typeface="Courier New"/>
              </a:rPr>
              <a:t>bigint</a:t>
            </a:r>
            <a:r>
              <a:rPr lang="en" sz="1100" b="0" i="0" u="none" strike="noStrike" cap="none" dirty="0">
                <a:solidFill>
                  <a:schemeClr val="tx1"/>
                </a:solidFill>
                <a:latin typeface="Roboto"/>
                <a:ea typeface="Roboto"/>
                <a:cs typeface="Roboto"/>
                <a:sym typeface="Roboto"/>
              </a:rPr>
              <a:t> and </a:t>
            </a:r>
            <a:r>
              <a:rPr lang="en" sz="1050" b="1" i="0" u="none" strike="noStrike" cap="none" dirty="0">
                <a:solidFill>
                  <a:srgbClr val="0053A1"/>
                </a:solidFill>
                <a:latin typeface="Courier New"/>
                <a:ea typeface="Courier New"/>
                <a:cs typeface="Courier New"/>
                <a:sym typeface="Courier New"/>
              </a:rPr>
              <a:t>symbol</a:t>
            </a:r>
            <a:r>
              <a:rPr lang="en" sz="1100" b="0" i="0" u="none" strike="noStrike" cap="none" dirty="0">
                <a:solidFill>
                  <a:schemeClr val="tx1"/>
                </a:solidFill>
                <a:latin typeface="Roboto"/>
                <a:ea typeface="Roboto"/>
                <a:cs typeface="Roboto"/>
                <a:sym typeface="Roboto"/>
              </a:rPr>
              <a:t>.</a:t>
            </a:r>
            <a:endParaRPr lang="en" sz="1100" b="0" i="0" u="none" strike="noStrike" cap="none" dirty="0">
              <a:solidFill>
                <a:srgbClr val="000000"/>
              </a:solidFill>
              <a:latin typeface="Roboto"/>
              <a:ea typeface="Roboto"/>
              <a:cs typeface="Roboto"/>
              <a:sym typeface="Roboto"/>
            </a:endParaRPr>
          </a:p>
          <a:p>
            <a:pPr marL="0" marR="0" lvl="0" indent="0" algn="l" rtl="0">
              <a:lnSpc>
                <a:spcPct val="135000"/>
              </a:lnSpc>
              <a:spcBef>
                <a:spcPts val="0"/>
              </a:spcBef>
              <a:spcAft>
                <a:spcPts val="300"/>
              </a:spcAft>
              <a:buNone/>
            </a:pPr>
            <a:r>
              <a:rPr lang="en" sz="1100" b="0" i="0" u="none" strike="noStrike" cap="none" dirty="0">
                <a:solidFill>
                  <a:schemeClr val="tx1"/>
                </a:solidFill>
                <a:latin typeface="Roboto"/>
                <a:ea typeface="Roboto"/>
                <a:cs typeface="Roboto"/>
                <a:sym typeface="Roboto"/>
              </a:rPr>
              <a:t>TypeScript has one </a:t>
            </a:r>
            <a:r>
              <a:rPr lang="en" sz="1050" b="1" i="0" u="none" strike="noStrike" cap="none" dirty="0">
                <a:solidFill>
                  <a:srgbClr val="0053A1"/>
                </a:solidFill>
                <a:latin typeface="Courier New"/>
                <a:ea typeface="Courier New"/>
                <a:cs typeface="Courier New"/>
                <a:sym typeface="Courier New"/>
              </a:rPr>
              <a:t>number</a:t>
            </a:r>
            <a:r>
              <a:rPr lang="en" sz="1100" b="0" i="0" u="none" strike="noStrike" cap="none" dirty="0">
                <a:solidFill>
                  <a:schemeClr val="tx1"/>
                </a:solidFill>
                <a:latin typeface="Roboto"/>
                <a:ea typeface="Roboto"/>
                <a:cs typeface="Roboto"/>
                <a:sym typeface="Roboto"/>
              </a:rPr>
              <a:t> type - no separate int / float.</a:t>
            </a:r>
            <a:endParaRPr lang="en" sz="1100" b="0" i="0" u="none" strike="noStrike" cap="none" dirty="0">
              <a:solidFill>
                <a:srgbClr val="000000"/>
              </a:solidFill>
              <a:latin typeface="Roboto"/>
              <a:ea typeface="Roboto"/>
              <a:cs typeface="Roboto"/>
              <a:sym typeface="Roboto"/>
            </a:endParaRPr>
          </a:p>
        </p:txBody>
      </p:sp>
      <p:sp>
        <p:nvSpPr>
          <p:cNvPr id="387" name="Code panel"/>
          <p:cNvSpPr/>
          <p:nvPr/>
        </p:nvSpPr>
        <p:spPr>
          <a:xfrm>
            <a:off x="4300000" y="500000"/>
            <a:ext cx="4350000" cy="2170512"/>
          </a:xfrm>
          <a:prstGeom prst="roundRect">
            <a:avLst>
              <a:gd name="adj" fmla="val 3500"/>
            </a:avLst>
          </a:prstGeom>
          <a:solidFill>
            <a:srgbClr val="0E2455"/>
          </a:solidFill>
          <a:ln>
            <a:noFill/>
          </a:ln>
          <a:effectLst>
            <a:outerShdw blurRad="63500" dist="25400" dir="5400000" algn="t" rotWithShape="0">
              <a:srgbClr val="000000">
                <a:alpha val="22000"/>
              </a:srgbClr>
            </a:outerShdw>
          </a:effectLst>
        </p:spPr>
        <p:txBody>
          <a:bodyPr rtlCol="0" anchor="ctr"/>
          <a:lstStyle/>
          <a:p>
            <a:pPr algn="ctr"/>
          </a:p>
        </p:txBody>
      </p:sp>
      <p:sp>
        <p:nvSpPr>
          <p:cNvPr id="388" name="Dot 1"/>
          <p:cNvSpPr/>
          <p:nvPr/>
        </p:nvSpPr>
        <p:spPr>
          <a:xfrm>
            <a:off x="4420000" y="605000"/>
            <a:ext cx="70000" cy="70000"/>
          </a:xfrm>
          <a:prstGeom prst="ellipse">
            <a:avLst/>
          </a:prstGeom>
          <a:solidFill>
            <a:srgbClr val="C00000"/>
          </a:solidFill>
          <a:ln>
            <a:noFill/>
          </a:ln>
        </p:spPr>
        <p:txBody>
          <a:bodyPr rtlCol="0" anchor="ctr"/>
          <a:lstStyle/>
          <a:p>
            <a:pPr algn="ctr"/>
          </a:p>
        </p:txBody>
      </p:sp>
      <p:sp>
        <p:nvSpPr>
          <p:cNvPr id="389" name="Dot 2"/>
          <p:cNvSpPr/>
          <p:nvPr/>
        </p:nvSpPr>
        <p:spPr>
          <a:xfrm>
            <a:off x="4550000" y="605000"/>
            <a:ext cx="70000" cy="70000"/>
          </a:xfrm>
          <a:prstGeom prst="ellipse">
            <a:avLst/>
          </a:prstGeom>
          <a:solidFill>
            <a:srgbClr val="F2B705"/>
          </a:solidFill>
          <a:ln>
            <a:noFill/>
          </a:ln>
        </p:spPr>
        <p:txBody>
          <a:bodyPr rtlCol="0" anchor="ctr"/>
          <a:lstStyle/>
          <a:p>
            <a:pPr algn="ctr"/>
          </a:p>
        </p:txBody>
      </p:sp>
      <p:sp>
        <p:nvSpPr>
          <p:cNvPr id="390" name="Dot 3"/>
          <p:cNvSpPr/>
          <p:nvPr/>
        </p:nvSpPr>
        <p:spPr>
          <a:xfrm>
            <a:off x="4680000" y="605000"/>
            <a:ext cx="70000" cy="70000"/>
          </a:xfrm>
          <a:prstGeom prst="ellipse">
            <a:avLst/>
          </a:prstGeom>
          <a:solidFill>
            <a:srgbClr val="3DAE5C"/>
          </a:solidFill>
          <a:ln>
            <a:noFill/>
          </a:ln>
        </p:spPr>
        <p:txBody>
          <a:bodyPr rtlCol="0" anchor="ctr"/>
          <a:lstStyle/>
          <a:p>
            <a:pPr algn="ctr"/>
          </a:p>
        </p:txBody>
      </p:sp>
      <p:sp>
        <p:nvSpPr>
          <p:cNvPr id="391" name="Code label"/>
          <p:cNvSpPr txBox="1"/>
          <p:nvPr/>
        </p:nvSpPr>
        <p:spPr>
          <a:xfrm>
            <a:off x="7650000" y="555000"/>
            <a:ext cx="900000" cy="170000"/>
          </a:xfrm>
          <a:prstGeom prst="rect">
            <a:avLst/>
          </a:prstGeom>
          <a:noFill/>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800" b="1" i="0" u="none" strike="noStrike" cap="none" dirty="0">
                <a:solidFill>
                  <a:srgbClr val="8FA3C4"/>
                </a:solidFill>
                <a:latin typeface="Roboto"/>
                <a:ea typeface="Roboto"/>
                <a:cs typeface="Roboto"/>
                <a:sym typeface="Roboto"/>
              </a:rPr>
              <a:t>TS</a:t>
            </a:r>
            <a:endParaRPr lang="en" sz="800" b="0" i="0" u="none" strike="noStrike" cap="none" dirty="0">
              <a:solidFill>
                <a:srgbClr val="000000"/>
              </a:solidFill>
              <a:latin typeface="Roboto"/>
              <a:ea typeface="Roboto"/>
              <a:cs typeface="Roboto"/>
              <a:sym typeface="Roboto"/>
            </a:endParaRPr>
          </a:p>
        </p:txBody>
      </p:sp>
      <p:sp>
        <p:nvSpPr>
          <p:cNvPr id="392" name="Code"/>
          <p:cNvSpPr txBox="1"/>
          <p:nvPr/>
        </p:nvSpPr>
        <p:spPr>
          <a:xfrm>
            <a:off x="4360000" y="750000"/>
            <a:ext cx="4230000" cy="1890512"/>
          </a:xfrm>
          <a:prstGeom prst="rect">
            <a:avLst/>
          </a:prstGeom>
          <a:noFill/>
        </p:spPr>
        <p:txBody>
          <a:bodyPr spcFirstLastPara="1" wrap="square" lIns="86025" tIns="0" rIns="60000" bIns="0" anchor="t" anchorCtr="0">
            <a:noAutofit/>
          </a:bodyPr>
          <a:lstStyle/>
          <a:p>
            <a:pPr marL="0" marR="0" lvl="0" indent="0" algn="l" rtl="0">
              <a:lnSpc>
                <a:spcPct val="108000"/>
              </a:lnSpc>
              <a:spcBef>
                <a:spcPts val="0"/>
              </a:spcBef>
              <a:spcAft>
                <a:spcPts val="0"/>
              </a:spcAft>
              <a:buNone/>
            </a:pPr>
            <a:r>
              <a:rPr lang="en" sz="1000" b="0" i="0" u="none" strike="noStrike" cap="none" dirty="0">
                <a:solidFill>
                  <a:srgbClr val="8CC4FF"/>
                </a:solidFill>
                <a:latin typeface="Courier New"/>
                <a:ea typeface="Courier New"/>
                <a:cs typeface="Courier New"/>
                <a:sym typeface="Courier New"/>
              </a:rPr>
              <a:t>let</a:t>
            </a:r>
            <a:r>
              <a:rPr lang="en" sz="1000" b="0" i="0" u="none" strike="noStrike" cap="none" dirty="0">
                <a:solidFill>
                  <a:srgbClr val="E6ECF7"/>
                </a:solidFill>
                <a:latin typeface="Courier New"/>
                <a:ea typeface="Courier New"/>
                <a:cs typeface="Courier New"/>
                <a:sym typeface="Courier New"/>
              </a:rPr>
              <a:t> name: string = </a:t>
            </a:r>
            <a:r>
              <a:rPr lang="en" sz="1000" b="0" i="0" u="none" strike="noStrike" cap="none" dirty="0">
                <a:solidFill>
                  <a:srgbClr val="FFC878"/>
                </a:solidFill>
                <a:latin typeface="Courier New"/>
                <a:ea typeface="Courier New"/>
                <a:cs typeface="Courier New"/>
                <a:sym typeface="Courier New"/>
              </a:rPr>
              <a:t>"Alice"</a:t>
            </a:r>
            <a:r>
              <a:rPr lang="en" sz="1000" b="0" i="0" u="none" strike="noStrike" cap="none" dirty="0">
                <a:solidFill>
                  <a:srgbClr val="E6ECF7"/>
                </a:solidFill>
                <a:latin typeface="Courier New"/>
                <a:ea typeface="Courier New"/>
                <a:cs typeface="Courier New"/>
                <a:sym typeface="Courier New"/>
              </a:rPr>
              <a:t>;</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8CC4FF"/>
                </a:solidFill>
                <a:latin typeface="Courier New"/>
                <a:ea typeface="Courier New"/>
                <a:cs typeface="Courier New"/>
                <a:sym typeface="Courier New"/>
              </a:rPr>
              <a:t>let</a:t>
            </a:r>
            <a:r>
              <a:rPr lang="en" sz="1000" b="0" i="0" u="none" strike="noStrike" cap="none" dirty="0">
                <a:solidFill>
                  <a:srgbClr val="E6ECF7"/>
                </a:solidFill>
                <a:latin typeface="Courier New"/>
                <a:ea typeface="Courier New"/>
                <a:cs typeface="Courier New"/>
                <a:sym typeface="Courier New"/>
              </a:rPr>
              <a:t> age: number = </a:t>
            </a:r>
            <a:r>
              <a:rPr lang="en" sz="1000" b="0" i="0" u="none" strike="noStrike" cap="none" dirty="0">
                <a:solidFill>
                  <a:srgbClr val="F2B705"/>
                </a:solidFill>
                <a:latin typeface="Courier New"/>
                <a:ea typeface="Courier New"/>
                <a:cs typeface="Courier New"/>
                <a:sym typeface="Courier New"/>
              </a:rPr>
              <a:t>25</a:t>
            </a:r>
            <a:r>
              <a:rPr lang="en" sz="1000" b="0" i="0" u="none" strike="noStrike" cap="none" dirty="0">
                <a:solidFill>
                  <a:srgbClr val="E6ECF7"/>
                </a:solidFill>
                <a:latin typeface="Courier New"/>
                <a:ea typeface="Courier New"/>
                <a:cs typeface="Courier New"/>
                <a:sym typeface="Courier New"/>
              </a:rPr>
              <a:t>;</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8CC4FF"/>
                </a:solidFill>
                <a:latin typeface="Courier New"/>
                <a:ea typeface="Courier New"/>
                <a:cs typeface="Courier New"/>
                <a:sym typeface="Courier New"/>
              </a:rPr>
              <a:t>let</a:t>
            </a:r>
            <a:r>
              <a:rPr lang="en" sz="1000" b="0" i="0" u="none" strike="noStrike" cap="none" dirty="0">
                <a:solidFill>
                  <a:srgbClr val="E6ECF7"/>
                </a:solidFill>
                <a:latin typeface="Courier New"/>
                <a:ea typeface="Courier New"/>
                <a:cs typeface="Courier New"/>
                <a:sym typeface="Courier New"/>
              </a:rPr>
              <a:t> isActive: boolean = </a:t>
            </a:r>
            <a:r>
              <a:rPr lang="en" sz="1000" b="0" i="0" u="none" strike="noStrike" cap="none" dirty="0">
                <a:solidFill>
                  <a:srgbClr val="8CC4FF"/>
                </a:solidFill>
                <a:latin typeface="Courier New"/>
                <a:ea typeface="Courier New"/>
                <a:cs typeface="Courier New"/>
                <a:sym typeface="Courier New"/>
              </a:rPr>
              <a:t>true</a:t>
            </a:r>
            <a:r>
              <a:rPr lang="en" sz="1000" b="0" i="0" u="none" strike="noStrike" cap="none" dirty="0">
                <a:solidFill>
                  <a:srgbClr val="E6ECF7"/>
                </a:solidFill>
                <a:latin typeface="Courier New"/>
                <a:ea typeface="Courier New"/>
                <a:cs typeface="Courier New"/>
                <a:sym typeface="Courier New"/>
              </a:rPr>
              <a:t>;</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8CC4FF"/>
                </a:solidFill>
                <a:latin typeface="Courier New"/>
                <a:ea typeface="Courier New"/>
                <a:cs typeface="Courier New"/>
                <a:sym typeface="Courier New"/>
              </a:rPr>
              <a:t>let</a:t>
            </a:r>
            <a:r>
              <a:rPr lang="en" sz="1000" b="0" i="0" u="none" strike="noStrike" cap="none" dirty="0">
                <a:solidFill>
                  <a:srgbClr val="E6ECF7"/>
                </a:solidFill>
                <a:latin typeface="Courier New"/>
                <a:ea typeface="Courier New"/>
                <a:cs typeface="Courier New"/>
                <a:sym typeface="Courier New"/>
              </a:rPr>
              <a:t> price: number = </a:t>
            </a:r>
            <a:r>
              <a:rPr lang="en" sz="1000" b="0" i="0" u="none" strike="noStrike" cap="none" dirty="0">
                <a:solidFill>
                  <a:srgbClr val="F2B705"/>
                </a:solidFill>
                <a:latin typeface="Courier New"/>
                <a:ea typeface="Courier New"/>
                <a:cs typeface="Courier New"/>
                <a:sym typeface="Courier New"/>
              </a:rPr>
              <a:t>99.99</a:t>
            </a:r>
            <a:r>
              <a:rPr lang="en" sz="1000" b="0" i="0" u="none" strike="noStrike" cap="none" dirty="0">
                <a:solidFill>
                  <a:srgbClr val="E6ECF7"/>
                </a:solidFill>
                <a:latin typeface="Courier New"/>
                <a:ea typeface="Courier New"/>
                <a:cs typeface="Courier New"/>
                <a:sym typeface="Courier New"/>
              </a:rPr>
              <a:t>;</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 </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1" u="none" strike="noStrike" cap="none" dirty="0">
                <a:solidFill>
                  <a:srgbClr val="8FA3C4"/>
                </a:solidFill>
                <a:latin typeface="Courier New"/>
                <a:ea typeface="Courier New"/>
                <a:cs typeface="Courier New"/>
                <a:sym typeface="Courier New"/>
              </a:rPr>
              <a:t>// Arrays of primitives</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8CC4FF"/>
                </a:solidFill>
                <a:latin typeface="Courier New"/>
                <a:ea typeface="Courier New"/>
                <a:cs typeface="Courier New"/>
                <a:sym typeface="Courier New"/>
              </a:rPr>
              <a:t>let</a:t>
            </a:r>
            <a:r>
              <a:rPr lang="en" sz="1000" b="0" i="0" u="none" strike="noStrike" cap="none" dirty="0">
                <a:solidFill>
                  <a:srgbClr val="E6ECF7"/>
                </a:solidFill>
                <a:latin typeface="Courier New"/>
                <a:ea typeface="Courier New"/>
                <a:cs typeface="Courier New"/>
                <a:sym typeface="Courier New"/>
              </a:rPr>
              <a:t> scores: number[] = [</a:t>
            </a:r>
            <a:r>
              <a:rPr lang="en" sz="1000" b="0" i="0" u="none" strike="noStrike" cap="none" dirty="0">
                <a:solidFill>
                  <a:srgbClr val="F2B705"/>
                </a:solidFill>
                <a:latin typeface="Courier New"/>
                <a:ea typeface="Courier New"/>
                <a:cs typeface="Courier New"/>
                <a:sym typeface="Courier New"/>
              </a:rPr>
              <a:t>90</a:t>
            </a:r>
            <a:r>
              <a:rPr lang="en" sz="1000" b="0" i="0" u="none" strike="noStrike" cap="none" dirty="0">
                <a:solidFill>
                  <a:srgbClr val="E6ECF7"/>
                </a:solidFill>
                <a:latin typeface="Courier New"/>
                <a:ea typeface="Courier New"/>
                <a:cs typeface="Courier New"/>
                <a:sym typeface="Courier New"/>
              </a:rPr>
              <a:t>, </a:t>
            </a:r>
            <a:r>
              <a:rPr lang="en" sz="1000" b="0" i="0" u="none" strike="noStrike" cap="none" dirty="0">
                <a:solidFill>
                  <a:srgbClr val="F2B705"/>
                </a:solidFill>
                <a:latin typeface="Courier New"/>
                <a:ea typeface="Courier New"/>
                <a:cs typeface="Courier New"/>
                <a:sym typeface="Courier New"/>
              </a:rPr>
              <a:t>85</a:t>
            </a:r>
            <a:r>
              <a:rPr lang="en" sz="1000" b="0" i="0" u="none" strike="noStrike" cap="none" dirty="0">
                <a:solidFill>
                  <a:srgbClr val="E6ECF7"/>
                </a:solidFill>
                <a:latin typeface="Courier New"/>
                <a:ea typeface="Courier New"/>
                <a:cs typeface="Courier New"/>
                <a:sym typeface="Courier New"/>
              </a:rPr>
              <a:t>, </a:t>
            </a:r>
            <a:r>
              <a:rPr lang="en" sz="1000" b="0" i="0" u="none" strike="noStrike" cap="none" dirty="0">
                <a:solidFill>
                  <a:srgbClr val="F2B705"/>
                </a:solidFill>
                <a:latin typeface="Courier New"/>
                <a:ea typeface="Courier New"/>
                <a:cs typeface="Courier New"/>
                <a:sym typeface="Courier New"/>
              </a:rPr>
              <a:t>77</a:t>
            </a:r>
            <a:r>
              <a:rPr lang="en" sz="1000" b="0" i="0" u="none" strike="noStrike" cap="none" dirty="0">
                <a:solidFill>
                  <a:srgbClr val="E6ECF7"/>
                </a:solidFill>
                <a:latin typeface="Courier New"/>
                <a:ea typeface="Courier New"/>
                <a:cs typeface="Courier New"/>
                <a:sym typeface="Courier New"/>
              </a:rPr>
              <a:t>];</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8CC4FF"/>
                </a:solidFill>
                <a:latin typeface="Courier New"/>
                <a:ea typeface="Courier New"/>
                <a:cs typeface="Courier New"/>
                <a:sym typeface="Courier New"/>
              </a:rPr>
              <a:t>let</a:t>
            </a:r>
            <a:r>
              <a:rPr lang="en" sz="1000" b="0" i="0" u="none" strike="noStrike" cap="none" dirty="0">
                <a:solidFill>
                  <a:srgbClr val="E6ECF7"/>
                </a:solidFill>
                <a:latin typeface="Courier New"/>
                <a:ea typeface="Courier New"/>
                <a:cs typeface="Courier New"/>
                <a:sym typeface="Courier New"/>
              </a:rPr>
              <a:t> names: Array&lt;string&gt; = [</a:t>
            </a:r>
            <a:r>
              <a:rPr lang="en" sz="1000" b="0" i="0" u="none" strike="noStrike" cap="none" dirty="0">
                <a:solidFill>
                  <a:srgbClr val="FFC878"/>
                </a:solidFill>
                <a:latin typeface="Courier New"/>
                <a:ea typeface="Courier New"/>
                <a:cs typeface="Courier New"/>
                <a:sym typeface="Courier New"/>
              </a:rPr>
              <a:t>"Alice"</a:t>
            </a:r>
            <a:r>
              <a:rPr lang="en" sz="1000" b="0" i="0" u="none" strike="noStrike" cap="none" dirty="0">
                <a:solidFill>
                  <a:srgbClr val="E6ECF7"/>
                </a:solidFill>
                <a:latin typeface="Courier New"/>
                <a:ea typeface="Courier New"/>
                <a:cs typeface="Courier New"/>
                <a:sym typeface="Courier New"/>
              </a:rPr>
              <a:t>, </a:t>
            </a:r>
            <a:r>
              <a:rPr lang="en" sz="1000" b="0" i="0" u="none" strike="noStrike" cap="none" dirty="0">
                <a:solidFill>
                  <a:srgbClr val="FFC878"/>
                </a:solidFill>
                <a:latin typeface="Courier New"/>
                <a:ea typeface="Courier New"/>
                <a:cs typeface="Courier New"/>
                <a:sym typeface="Courier New"/>
              </a:rPr>
              <a:t>"Bob"</a:t>
            </a:r>
            <a:r>
              <a:rPr lang="en" sz="1000" b="0" i="0" u="none" strike="noStrike" cap="none" dirty="0">
                <a:solidFill>
                  <a:srgbClr val="E6ECF7"/>
                </a:solidFill>
                <a:latin typeface="Courier New"/>
                <a:ea typeface="Courier New"/>
                <a:cs typeface="Courier New"/>
                <a:sym typeface="Courier New"/>
              </a:rPr>
              <a:t>];</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 </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1" u="none" strike="noStrike" cap="none" dirty="0">
                <a:solidFill>
                  <a:srgbClr val="8FA3C4"/>
                </a:solidFill>
                <a:latin typeface="Courier New"/>
                <a:ea typeface="Courier New"/>
                <a:cs typeface="Courier New"/>
                <a:sym typeface="Courier New"/>
              </a:rPr>
              <a:t>// Wrong type = compile error</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age = </a:t>
            </a:r>
            <a:r>
              <a:rPr lang="en" sz="1000" b="0" i="0" u="none" strike="noStrike" cap="none" dirty="0">
                <a:solidFill>
                  <a:srgbClr val="FFC878"/>
                </a:solidFill>
                <a:latin typeface="Courier New"/>
                <a:ea typeface="Courier New"/>
                <a:cs typeface="Courier New"/>
                <a:sym typeface="Courier New"/>
              </a:rPr>
              <a:t>"twenty-five"</a:t>
            </a:r>
            <a:r>
              <a:rPr lang="en" sz="1000" b="0" i="0" u="none" strike="noStrike" cap="none" dirty="0">
                <a:solidFill>
                  <a:srgbClr val="E6ECF7"/>
                </a:solidFill>
                <a:latin typeface="Courier New"/>
                <a:ea typeface="Courier New"/>
                <a:cs typeface="Courier New"/>
                <a:sym typeface="Courier New"/>
              </a:rPr>
              <a:t>; </a:t>
            </a:r>
            <a:r>
              <a:rPr lang="en" sz="1000" b="0" i="1" u="none" strike="noStrike" cap="none" dirty="0">
                <a:solidFill>
                  <a:srgbClr val="8FA3C4"/>
                </a:solidFill>
                <a:latin typeface="Courier New"/>
                <a:ea typeface="Courier New"/>
                <a:cs typeface="Courier New"/>
                <a:sym typeface="Courier New"/>
              </a:rPr>
              <a:t>// Error</a:t>
            </a:r>
            <a:endParaRPr lang="en" sz="1000" b="0" i="0" u="none" strike="noStrike" cap="none" dirty="0">
              <a:solidFill>
                <a:srgbClr val="000000"/>
              </a:solidFill>
              <a:latin typeface="Roboto"/>
              <a:ea typeface="Roboto"/>
              <a:cs typeface="Roboto"/>
              <a:sym typeface="Roboto"/>
            </a:endParaRPr>
          </a:p>
        </p:txBody>
      </p:sp>
      <p:sp>
        <p:nvSpPr>
          <p:cNvPr id="393" name="Output panel"/>
          <p:cNvSpPr/>
          <p:nvPr/>
        </p:nvSpPr>
        <p:spPr>
          <a:xfrm>
            <a:off x="4300000" y="2780512"/>
            <a:ext cx="4350000" cy="470000"/>
          </a:xfrm>
          <a:prstGeom prst="roundRect">
            <a:avLst>
              <a:gd name="adj" fmla="val 3000"/>
            </a:avLst>
          </a:prstGeom>
          <a:solidFill>
            <a:srgbClr val="FFFFFF"/>
          </a:solidFill>
          <a:ln w="9525">
            <a:solidFill>
              <a:srgbClr val="D9D9D9"/>
            </a:solidFill>
          </a:ln>
          <a:effectLst>
            <a:outerShdw blurRad="63500" dist="25400" dir="5400000" algn="t" rotWithShape="0">
              <a:srgbClr val="000000">
                <a:alpha val="22000"/>
              </a:srgbClr>
            </a:outerShdw>
          </a:effectLst>
        </p:spPr>
        <p:txBody>
          <a:bodyPr rtlCol="0" anchor="ctr"/>
          <a:lstStyle/>
          <a:p>
            <a:pPr algn="ctr"/>
          </a:p>
        </p:txBody>
      </p:sp>
      <p:sp>
        <p:nvSpPr>
          <p:cNvPr id="394" name="Output heading"/>
          <p:cNvSpPr txBox="1"/>
          <p:nvPr/>
        </p:nvSpPr>
        <p:spPr>
          <a:xfrm>
            <a:off x="4420000" y="2820512"/>
            <a:ext cx="4110000" cy="200000"/>
          </a:xfrm>
          <a:prstGeom prst="rect">
            <a:avLst/>
          </a:prstGeom>
          <a:noFill/>
        </p:spPr>
        <p:txBody>
          <a:bodyPr spcFirstLastPara="1" wrap="square" lIns="0" tIns="30000" rIns="0" bIns="0" anchor="t" anchorCtr="0">
            <a:noAutofit/>
          </a:bodyPr>
          <a:lstStyle/>
          <a:p>
            <a:pPr marL="0" marR="0" lvl="0" indent="0" algn="l" rtl="0">
              <a:lnSpc>
                <a:spcPct val="100000"/>
              </a:lnSpc>
              <a:spcBef>
                <a:spcPts val="0"/>
              </a:spcBef>
              <a:spcAft>
                <a:spcPts val="0"/>
              </a:spcAft>
              <a:buNone/>
            </a:pPr>
            <a:r>
              <a:rPr lang="en" sz="900" b="1" i="0" u="none" strike="noStrike" cap="none" dirty="0">
                <a:solidFill>
                  <a:srgbClr val="0053A1"/>
                </a:solidFill>
                <a:latin typeface="Poppins SemiBold"/>
                <a:ea typeface="Poppins SemiBold"/>
                <a:cs typeface="Poppins SemiBold"/>
                <a:sym typeface="Poppins SemiBold"/>
              </a:rPr>
              <a:t>Compiler message</a:t>
            </a:r>
            <a:endParaRPr lang="en" sz="900" b="0" i="0" u="none" strike="noStrike" cap="none" dirty="0">
              <a:solidFill>
                <a:srgbClr val="000000"/>
              </a:solidFill>
              <a:latin typeface="Roboto"/>
              <a:ea typeface="Roboto"/>
              <a:cs typeface="Roboto"/>
              <a:sym typeface="Roboto"/>
            </a:endParaRPr>
          </a:p>
        </p:txBody>
      </p:sp>
      <p:sp>
        <p:nvSpPr>
          <p:cNvPr id="395" name="Output"/>
          <p:cNvSpPr txBox="1"/>
          <p:nvPr/>
        </p:nvSpPr>
        <p:spPr>
          <a:xfrm>
            <a:off x="4420000" y="3030512"/>
            <a:ext cx="4110000" cy="190000"/>
          </a:xfrm>
          <a:prstGeom prst="rect">
            <a:avLst/>
          </a:prstGeom>
          <a:noFill/>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50" b="1" i="0" u="none" strike="noStrike" cap="none" dirty="0">
                <a:solidFill>
                  <a:srgbClr val="C00000"/>
                </a:solidFill>
                <a:latin typeface="Courier New"/>
                <a:ea typeface="Courier New"/>
                <a:cs typeface="Courier New"/>
                <a:sym typeface="Courier New"/>
              </a:rPr>
              <a:t>Type 'string' is not assignable to 'number'</a:t>
            </a:r>
            <a:endParaRPr lang="en" sz="950" b="0" i="0" u="none" strike="noStrike" cap="none" dirty="0">
              <a:solidFill>
                <a:srgbClr val="000000"/>
              </a:solidFill>
              <a:latin typeface="Roboto"/>
              <a:ea typeface="Roboto"/>
              <a:cs typeface="Roboto"/>
              <a:sym typeface="Roboto"/>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grpSpPr/>
      <p:pic>
        <p:nvPicPr>
          <p:cNvPr id="110" name="Google Shape;110;p15" title="Untitled-1-07.png"/>
          <p:cNvPicPr preferRelativeResize="0"/>
          <p:nvPr/>
        </p:nvPicPr>
        <p:blipFill rotWithShape="1">
          <a:blip r:embed="rId2">
            <a:alphaModFix/>
          </a:blip>
          <a:srcRect l="5100" r="4630" b="15895"/>
          <a:stretch/>
        </p:blipFill>
        <p:spPr>
          <a:xfrm>
            <a:off x="880549" y="4348257"/>
            <a:ext cx="2096958" cy="548700"/>
          </a:xfrm>
          <a:prstGeom prst="rect">
            <a:avLst/>
          </a:prstGeom>
          <a:noFill/>
          <a:ln>
            <a:noFill/>
          </a:ln>
        </p:spPr>
      </p:pic>
      <p:pic>
        <p:nvPicPr>
          <p:cNvPr id="111" name="Google Shape;111;p15" title="powerd by.png"/>
          <p:cNvPicPr preferRelativeResize="0"/>
          <p:nvPr/>
        </p:nvPicPr>
        <p:blipFill rotWithShape="1">
          <a:blip r:embed="rId5">
            <a:alphaModFix/>
          </a:blip>
          <a:srcRect l="6981" t="44048" r="6714" b="14302"/>
          <a:stretch/>
        </p:blipFill>
        <p:spPr>
          <a:xfrm>
            <a:off x="3537800" y="4500588"/>
            <a:ext cx="2130125" cy="355975"/>
          </a:xfrm>
          <a:prstGeom prst="rect">
            <a:avLst/>
          </a:prstGeom>
          <a:noFill/>
          <a:ln>
            <a:noFill/>
          </a:ln>
        </p:spPr>
      </p:pic>
      <p:sp>
        <p:nvSpPr>
          <p:cNvPr id="112" name="Google Shape;112;p15"/>
          <p:cNvSpPr txBox="1"/>
          <p:nvPr/>
        </p:nvSpPr>
        <p:spPr>
          <a:xfrm>
            <a:off x="5998012" y="4596047"/>
            <a:ext cx="2436900" cy="253800"/>
          </a:xfrm>
          <a:prstGeom prst="rect">
            <a:avLst/>
          </a:prstGeom>
          <a:noFill/>
          <a:ln>
            <a:noFill/>
          </a:ln>
        </p:spPr>
        <p:txBody>
          <a:bodyPr spcFirstLastPara="1" wrap="non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0053A1"/>
                </a:solidFill>
                <a:latin typeface="Roboto"/>
                <a:ea typeface="Roboto"/>
                <a:cs typeface="Roboto"/>
                <a:sym typeface="Roboto"/>
              </a:rPr>
              <a:t>www.</a:t>
            </a:r>
            <a:r>
              <a:rPr lang="en" sz="1200" b="1">
                <a:solidFill>
                  <a:srgbClr val="0053A1"/>
                </a:solidFill>
                <a:latin typeface="Roboto"/>
                <a:ea typeface="Roboto"/>
                <a:cs typeface="Roboto"/>
                <a:sym typeface="Roboto"/>
              </a:rPr>
              <a:t>careercraftacademy.com</a:t>
            </a:r>
            <a:endParaRPr sz="1200" b="1" i="0" u="none" strike="noStrike" cap="none">
              <a:solidFill>
                <a:srgbClr val="0053A1"/>
              </a:solidFill>
              <a:latin typeface="Roboto"/>
              <a:ea typeface="Roboto"/>
              <a:cs typeface="Roboto"/>
              <a:sym typeface="Roboto"/>
            </a:endParaRPr>
          </a:p>
        </p:txBody>
      </p:sp>
      <p:pic>
        <p:nvPicPr>
          <p:cNvPr id="114" name="Google Shape;114;p15"/>
          <p:cNvPicPr preferRelativeResize="0"/>
          <p:nvPr/>
        </p:nvPicPr>
        <p:blipFill>
          <a:blip r:embed="rId4">
            <a:alphaModFix/>
          </a:blip>
          <a:stretch>
            <a:fillRect/>
          </a:stretch>
        </p:blipFill>
        <p:spPr>
          <a:xfrm>
            <a:off x="8447868" y="4368945"/>
            <a:ext cx="334175" cy="480903"/>
          </a:xfrm>
          <a:prstGeom prst="rect">
            <a:avLst/>
          </a:prstGeom>
          <a:noFill/>
          <a:ln>
            <a:noFill/>
          </a:ln>
        </p:spPr>
      </p:pic>
      <p:sp>
        <p:nvSpPr>
          <p:cNvPr id="396" name="Kicker"/>
          <p:cNvSpPr txBox="1"/>
          <p:nvPr/>
        </p:nvSpPr>
        <p:spPr>
          <a:xfrm>
            <a:off x="675600" y="285000"/>
            <a:ext cx="3560000" cy="241200"/>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1003" b="0" i="0" u="none" strike="noStrike" cap="none" dirty="0">
                <a:solidFill>
                  <a:srgbClr val="7F7F7F"/>
                </a:solidFill>
                <a:latin typeface="Roboto"/>
                <a:ea typeface="Roboto"/>
                <a:cs typeface="Roboto"/>
                <a:sym typeface="Roboto"/>
              </a:rPr>
              <a:t>The Type System</a:t>
            </a:r>
            <a:endParaRPr lang="en" sz="1003" b="0" i="0" u="none" strike="noStrike" cap="none" dirty="0">
              <a:solidFill>
                <a:srgbClr val="000000"/>
              </a:solidFill>
              <a:latin typeface="Roboto"/>
              <a:ea typeface="Roboto"/>
              <a:cs typeface="Roboto"/>
              <a:sym typeface="Roboto"/>
            </a:endParaRPr>
          </a:p>
        </p:txBody>
      </p:sp>
      <p:sp>
        <p:nvSpPr>
          <p:cNvPr id="397" name="Title"/>
          <p:cNvSpPr txBox="1"/>
          <p:nvPr/>
        </p:nvSpPr>
        <p:spPr>
          <a:xfrm>
            <a:off x="675600" y="520000"/>
            <a:ext cx="3560000" cy="763948"/>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2200" b="1" i="0" u="none" strike="noStrike" cap="none" dirty="0">
                <a:solidFill>
                  <a:srgbClr val="0053A1"/>
                </a:solidFill>
                <a:latin typeface="Poppins SemiBold"/>
                <a:ea typeface="Poppins SemiBold"/>
                <a:cs typeface="Poppins SemiBold"/>
                <a:sym typeface="Poppins SemiBold"/>
              </a:rPr>
              <a:t>Annotation vs</a:t>
            </a:r>
            <a:endParaRPr lang="en" sz="2200" b="0" i="0" u="none" strike="noStrike" cap="none" dirty="0">
              <a:solidFill>
                <a:srgbClr val="000000"/>
              </a:solidFill>
              <a:latin typeface="Roboto"/>
              <a:ea typeface="Roboto"/>
              <a:cs typeface="Roboto"/>
              <a:sym typeface="Roboto"/>
            </a:endParaRPr>
          </a:p>
          <a:p>
            <a:pPr marL="0" marR="0" lvl="0" indent="0" algn="l" rtl="0">
              <a:lnSpc>
                <a:spcPct val="100000"/>
              </a:lnSpc>
              <a:spcBef>
                <a:spcPts val="0"/>
              </a:spcBef>
              <a:spcAft>
                <a:spcPts val="0"/>
              </a:spcAft>
              <a:buNone/>
            </a:pPr>
            <a:r>
              <a:rPr lang="en" sz="2200" b="1" i="0" u="none" strike="noStrike" cap="none" dirty="0">
                <a:solidFill>
                  <a:srgbClr val="000000"/>
                </a:solidFill>
                <a:latin typeface="Poppins SemiBold"/>
                <a:ea typeface="Poppins SemiBold"/>
                <a:cs typeface="Poppins SemiBold"/>
                <a:sym typeface="Poppins SemiBold"/>
              </a:rPr>
              <a:t>Inference</a:t>
            </a:r>
            <a:endParaRPr lang="en" sz="2200" b="0" i="0" u="none" strike="noStrike" cap="none" dirty="0">
              <a:solidFill>
                <a:srgbClr val="000000"/>
              </a:solidFill>
              <a:latin typeface="Roboto"/>
              <a:ea typeface="Roboto"/>
              <a:cs typeface="Roboto"/>
              <a:sym typeface="Roboto"/>
            </a:endParaRPr>
          </a:p>
        </p:txBody>
      </p:sp>
      <p:sp>
        <p:nvSpPr>
          <p:cNvPr id="398" name="Body"/>
          <p:cNvSpPr txBox="1"/>
          <p:nvPr/>
        </p:nvSpPr>
        <p:spPr>
          <a:xfrm>
            <a:off x="620000" y="1383000"/>
            <a:ext cx="3560000" cy="1735730"/>
          </a:xfrm>
          <a:prstGeom prst="rect">
            <a:avLst/>
          </a:prstGeom>
          <a:noFill/>
        </p:spPr>
        <p:txBody>
          <a:bodyPr spcFirstLastPara="1" wrap="square" lIns="86025" tIns="43000" rIns="86025" bIns="43000" anchor="t" anchorCtr="0">
            <a:noAutofit/>
          </a:bodyPr>
          <a:lstStyle/>
          <a:p>
            <a:pPr marL="171450" marR="0" lvl="0" indent="-171450" algn="l" rtl="0">
              <a:lnSpc>
                <a:spcPct val="125000"/>
              </a:lnSpc>
              <a:spcBef>
                <a:spcPts val="100"/>
              </a:spcBef>
              <a:spcAft>
                <a:spcPts val="0"/>
              </a:spcAft>
              <a:buClr>
                <a:srgbClr val="000000"/>
              </a:buClr>
              <a:buSzPts val="1100"/>
              <a:buFont typeface="Arial"/>
              <a:buChar char="•"/>
            </a:pPr>
            <a:r>
              <a:rPr lang="en" sz="1100" b="1" i="0" u="none" strike="noStrike" cap="none" dirty="0">
                <a:solidFill>
                  <a:schemeClr val="tx1"/>
                </a:solidFill>
                <a:latin typeface="Roboto"/>
                <a:ea typeface="Roboto"/>
                <a:cs typeface="Roboto"/>
                <a:sym typeface="Roboto"/>
              </a:rPr>
              <a:t>Annotation</a:t>
            </a:r>
            <a:r>
              <a:rPr lang="en" sz="1100" b="0" i="0" u="none" strike="noStrike" cap="none" dirty="0">
                <a:solidFill>
                  <a:schemeClr val="tx1"/>
                </a:solidFill>
                <a:latin typeface="Roboto"/>
                <a:ea typeface="Roboto"/>
                <a:cs typeface="Roboto"/>
                <a:sym typeface="Roboto"/>
              </a:rPr>
              <a:t>: you write the type</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1" i="0" u="none" strike="noStrike" cap="none" dirty="0">
                <a:solidFill>
                  <a:schemeClr val="tx1"/>
                </a:solidFill>
                <a:latin typeface="Roboto"/>
                <a:ea typeface="Roboto"/>
                <a:cs typeface="Roboto"/>
                <a:sym typeface="Roboto"/>
              </a:rPr>
              <a:t>Inference</a:t>
            </a:r>
            <a:r>
              <a:rPr lang="en" sz="1100" b="0" i="0" u="none" strike="noStrike" cap="none" dirty="0">
                <a:solidFill>
                  <a:schemeClr val="tx1"/>
                </a:solidFill>
                <a:latin typeface="Roboto"/>
                <a:ea typeface="Roboto"/>
                <a:cs typeface="Roboto"/>
                <a:sym typeface="Roboto"/>
              </a:rPr>
              <a:t>: TypeScript detects it</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A type </a:t>
            </a:r>
            <a:r>
              <a:rPr lang="en" sz="1100" b="1" i="0" u="none" strike="noStrike" cap="none" dirty="0">
                <a:solidFill>
                  <a:schemeClr val="tx1"/>
                </a:solidFill>
                <a:latin typeface="Roboto"/>
                <a:ea typeface="Roboto"/>
                <a:cs typeface="Roboto"/>
                <a:sym typeface="Roboto"/>
              </a:rPr>
              <a:t>cannot change</a:t>
            </a:r>
            <a:r>
              <a:rPr lang="en" sz="1100" b="0" i="0" u="none" strike="noStrike" cap="none" dirty="0">
                <a:solidFill>
                  <a:schemeClr val="tx1"/>
                </a:solidFill>
                <a:latin typeface="Roboto"/>
                <a:ea typeface="Roboto"/>
                <a:cs typeface="Roboto"/>
                <a:sym typeface="Roboto"/>
              </a:rPr>
              <a:t> once set</a:t>
            </a:r>
            <a:endParaRPr lang="en" sz="1100" b="0" i="0" u="none" strike="noStrike" cap="none" dirty="0">
              <a:solidFill>
                <a:srgbClr val="000000"/>
              </a:solidFill>
              <a:latin typeface="Roboto"/>
              <a:ea typeface="Roboto"/>
              <a:cs typeface="Roboto"/>
              <a:sym typeface="Roboto"/>
            </a:endParaRPr>
          </a:p>
          <a:p>
            <a:pPr marL="0" marR="0" lvl="0" indent="0" algn="l" rtl="0">
              <a:lnSpc>
                <a:spcPct val="120000"/>
              </a:lnSpc>
              <a:spcBef>
                <a:spcPts val="700"/>
              </a:spcBef>
              <a:spcAft>
                <a:spcPts val="200"/>
              </a:spcAft>
              <a:buNone/>
            </a:pPr>
            <a:r>
              <a:rPr lang="en" sz="1129" b="1" i="0" u="none" strike="noStrike" cap="none" dirty="0">
                <a:solidFill>
                  <a:srgbClr val="000000"/>
                </a:solidFill>
                <a:latin typeface="Poppins SemiBold"/>
                <a:ea typeface="Poppins SemiBold"/>
                <a:cs typeface="Poppins SemiBold"/>
                <a:sym typeface="Poppins SemiBold"/>
              </a:rPr>
              <a:t>Best practice</a:t>
            </a:r>
            <a:endParaRPr lang="en" sz="1129"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Let TypeScript infer simple variables</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Annotate function parameters and return types</a:t>
            </a:r>
            <a:endParaRPr lang="en" sz="1100" b="0" i="0" u="none" strike="noStrike" cap="none" dirty="0">
              <a:solidFill>
                <a:srgbClr val="000000"/>
              </a:solidFill>
              <a:latin typeface="Roboto"/>
              <a:ea typeface="Roboto"/>
              <a:cs typeface="Roboto"/>
              <a:sym typeface="Roboto"/>
            </a:endParaRPr>
          </a:p>
        </p:txBody>
      </p:sp>
      <p:sp>
        <p:nvSpPr>
          <p:cNvPr id="399" name="Code panel"/>
          <p:cNvSpPr/>
          <p:nvPr/>
        </p:nvSpPr>
        <p:spPr>
          <a:xfrm>
            <a:off x="4300000" y="500000"/>
            <a:ext cx="4350000" cy="2005920"/>
          </a:xfrm>
          <a:prstGeom prst="roundRect">
            <a:avLst>
              <a:gd name="adj" fmla="val 3500"/>
            </a:avLst>
          </a:prstGeom>
          <a:solidFill>
            <a:srgbClr val="0E2455"/>
          </a:solidFill>
          <a:ln>
            <a:noFill/>
          </a:ln>
          <a:effectLst>
            <a:outerShdw blurRad="63500" dist="25400" dir="5400000" algn="t" rotWithShape="0">
              <a:srgbClr val="000000">
                <a:alpha val="22000"/>
              </a:srgbClr>
            </a:outerShdw>
          </a:effectLst>
        </p:spPr>
        <p:txBody>
          <a:bodyPr rtlCol="0" anchor="ctr"/>
          <a:lstStyle/>
          <a:p>
            <a:pPr algn="ctr"/>
          </a:p>
        </p:txBody>
      </p:sp>
      <p:sp>
        <p:nvSpPr>
          <p:cNvPr id="400" name="Dot 1"/>
          <p:cNvSpPr/>
          <p:nvPr/>
        </p:nvSpPr>
        <p:spPr>
          <a:xfrm>
            <a:off x="4420000" y="605000"/>
            <a:ext cx="70000" cy="70000"/>
          </a:xfrm>
          <a:prstGeom prst="ellipse">
            <a:avLst/>
          </a:prstGeom>
          <a:solidFill>
            <a:srgbClr val="C00000"/>
          </a:solidFill>
          <a:ln>
            <a:noFill/>
          </a:ln>
        </p:spPr>
        <p:txBody>
          <a:bodyPr rtlCol="0" anchor="ctr"/>
          <a:lstStyle/>
          <a:p>
            <a:pPr algn="ctr"/>
          </a:p>
        </p:txBody>
      </p:sp>
      <p:sp>
        <p:nvSpPr>
          <p:cNvPr id="401" name="Dot 2"/>
          <p:cNvSpPr/>
          <p:nvPr/>
        </p:nvSpPr>
        <p:spPr>
          <a:xfrm>
            <a:off x="4550000" y="605000"/>
            <a:ext cx="70000" cy="70000"/>
          </a:xfrm>
          <a:prstGeom prst="ellipse">
            <a:avLst/>
          </a:prstGeom>
          <a:solidFill>
            <a:srgbClr val="F2B705"/>
          </a:solidFill>
          <a:ln>
            <a:noFill/>
          </a:ln>
        </p:spPr>
        <p:txBody>
          <a:bodyPr rtlCol="0" anchor="ctr"/>
          <a:lstStyle/>
          <a:p>
            <a:pPr algn="ctr"/>
          </a:p>
        </p:txBody>
      </p:sp>
      <p:sp>
        <p:nvSpPr>
          <p:cNvPr id="402" name="Dot 3"/>
          <p:cNvSpPr/>
          <p:nvPr/>
        </p:nvSpPr>
        <p:spPr>
          <a:xfrm>
            <a:off x="4680000" y="605000"/>
            <a:ext cx="70000" cy="70000"/>
          </a:xfrm>
          <a:prstGeom prst="ellipse">
            <a:avLst/>
          </a:prstGeom>
          <a:solidFill>
            <a:srgbClr val="3DAE5C"/>
          </a:solidFill>
          <a:ln>
            <a:noFill/>
          </a:ln>
        </p:spPr>
        <p:txBody>
          <a:bodyPr rtlCol="0" anchor="ctr"/>
          <a:lstStyle/>
          <a:p>
            <a:pPr algn="ctr"/>
          </a:p>
        </p:txBody>
      </p:sp>
      <p:sp>
        <p:nvSpPr>
          <p:cNvPr id="403" name="Code label"/>
          <p:cNvSpPr txBox="1"/>
          <p:nvPr/>
        </p:nvSpPr>
        <p:spPr>
          <a:xfrm>
            <a:off x="7650000" y="555000"/>
            <a:ext cx="900000" cy="170000"/>
          </a:xfrm>
          <a:prstGeom prst="rect">
            <a:avLst/>
          </a:prstGeom>
          <a:noFill/>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800" b="1" i="0" u="none" strike="noStrike" cap="none" dirty="0">
                <a:solidFill>
                  <a:srgbClr val="8FA3C4"/>
                </a:solidFill>
                <a:latin typeface="Roboto"/>
                <a:ea typeface="Roboto"/>
                <a:cs typeface="Roboto"/>
                <a:sym typeface="Roboto"/>
              </a:rPr>
              <a:t>TS</a:t>
            </a:r>
            <a:endParaRPr lang="en" sz="800" b="0" i="0" u="none" strike="noStrike" cap="none" dirty="0">
              <a:solidFill>
                <a:srgbClr val="000000"/>
              </a:solidFill>
              <a:latin typeface="Roboto"/>
              <a:ea typeface="Roboto"/>
              <a:cs typeface="Roboto"/>
              <a:sym typeface="Roboto"/>
            </a:endParaRPr>
          </a:p>
        </p:txBody>
      </p:sp>
      <p:sp>
        <p:nvSpPr>
          <p:cNvPr id="404" name="Code"/>
          <p:cNvSpPr txBox="1"/>
          <p:nvPr/>
        </p:nvSpPr>
        <p:spPr>
          <a:xfrm>
            <a:off x="4360000" y="750000"/>
            <a:ext cx="4230000" cy="1725920"/>
          </a:xfrm>
          <a:prstGeom prst="rect">
            <a:avLst/>
          </a:prstGeom>
          <a:noFill/>
        </p:spPr>
        <p:txBody>
          <a:bodyPr spcFirstLastPara="1" wrap="square" lIns="86025" tIns="0" rIns="60000" bIns="0" anchor="t" anchorCtr="0">
            <a:noAutofit/>
          </a:bodyPr>
          <a:lstStyle/>
          <a:p>
            <a:pPr marL="0" marR="0" lvl="0" indent="0" algn="l" rtl="0">
              <a:lnSpc>
                <a:spcPct val="108000"/>
              </a:lnSpc>
              <a:spcBef>
                <a:spcPts val="0"/>
              </a:spcBef>
              <a:spcAft>
                <a:spcPts val="0"/>
              </a:spcAft>
              <a:buNone/>
            </a:pPr>
            <a:r>
              <a:rPr lang="en" sz="1000" b="0" i="1" u="none" strike="noStrike" cap="none" dirty="0">
                <a:solidFill>
                  <a:srgbClr val="8FA3C4"/>
                </a:solidFill>
                <a:latin typeface="Courier New"/>
                <a:ea typeface="Courier New"/>
                <a:cs typeface="Courier New"/>
                <a:sym typeface="Courier New"/>
              </a:rPr>
              <a:t>// Inference - TypeScript knows it is a string</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8CC4FF"/>
                </a:solidFill>
                <a:latin typeface="Courier New"/>
                <a:ea typeface="Courier New"/>
                <a:cs typeface="Courier New"/>
                <a:sym typeface="Courier New"/>
              </a:rPr>
              <a:t>let</a:t>
            </a:r>
            <a:r>
              <a:rPr lang="en" sz="1000" b="0" i="0" u="none" strike="noStrike" cap="none" dirty="0">
                <a:solidFill>
                  <a:srgbClr val="E6ECF7"/>
                </a:solidFill>
                <a:latin typeface="Courier New"/>
                <a:ea typeface="Courier New"/>
                <a:cs typeface="Courier New"/>
                <a:sym typeface="Courier New"/>
              </a:rPr>
              <a:t> username = </a:t>
            </a:r>
            <a:r>
              <a:rPr lang="en" sz="1000" b="0" i="0" u="none" strike="noStrike" cap="none" dirty="0">
                <a:solidFill>
                  <a:srgbClr val="FFC878"/>
                </a:solidFill>
                <a:latin typeface="Courier New"/>
                <a:ea typeface="Courier New"/>
                <a:cs typeface="Courier New"/>
                <a:sym typeface="Courier New"/>
              </a:rPr>
              <a:t>"Alice"</a:t>
            </a:r>
            <a:r>
              <a:rPr lang="en" sz="1000" b="0" i="0" u="none" strike="noStrike" cap="none" dirty="0">
                <a:solidFill>
                  <a:srgbClr val="E6ECF7"/>
                </a:solidFill>
                <a:latin typeface="Courier New"/>
                <a:ea typeface="Courier New"/>
                <a:cs typeface="Courier New"/>
                <a:sym typeface="Courier New"/>
              </a:rPr>
              <a:t>;</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username = </a:t>
            </a:r>
            <a:r>
              <a:rPr lang="en" sz="1000" b="0" i="0" u="none" strike="noStrike" cap="none" dirty="0">
                <a:solidFill>
                  <a:srgbClr val="F2B705"/>
                </a:solidFill>
                <a:latin typeface="Courier New"/>
                <a:ea typeface="Courier New"/>
                <a:cs typeface="Courier New"/>
                <a:sym typeface="Courier New"/>
              </a:rPr>
              <a:t>42</a:t>
            </a:r>
            <a:r>
              <a:rPr lang="en" sz="1000" b="0" i="0" u="none" strike="noStrike" cap="none" dirty="0">
                <a:solidFill>
                  <a:srgbClr val="E6ECF7"/>
                </a:solidFill>
                <a:latin typeface="Courier New"/>
                <a:ea typeface="Courier New"/>
                <a:cs typeface="Courier New"/>
                <a:sym typeface="Courier New"/>
              </a:rPr>
              <a:t>; </a:t>
            </a:r>
            <a:r>
              <a:rPr lang="en" sz="1000" b="0" i="1" u="none" strike="noStrike" cap="none" dirty="0">
                <a:solidFill>
                  <a:srgbClr val="8FA3C4"/>
                </a:solidFill>
                <a:latin typeface="Courier New"/>
                <a:ea typeface="Courier New"/>
                <a:cs typeface="Courier New"/>
                <a:sym typeface="Courier New"/>
              </a:rPr>
              <a:t>// Error: inferred as string</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 </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1" u="none" strike="noStrike" cap="none" dirty="0">
                <a:solidFill>
                  <a:srgbClr val="8FA3C4"/>
                </a:solidFill>
                <a:latin typeface="Courier New"/>
                <a:ea typeface="Courier New"/>
                <a:cs typeface="Courier New"/>
                <a:sym typeface="Courier New"/>
              </a:rPr>
              <a:t>// Annotation - being explicit</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8CC4FF"/>
                </a:solidFill>
                <a:latin typeface="Courier New"/>
                <a:ea typeface="Courier New"/>
                <a:cs typeface="Courier New"/>
                <a:sym typeface="Courier New"/>
              </a:rPr>
              <a:t>let</a:t>
            </a:r>
            <a:r>
              <a:rPr lang="en" sz="1000" b="0" i="0" u="none" strike="noStrike" cap="none" dirty="0">
                <a:solidFill>
                  <a:srgbClr val="E6ECF7"/>
                </a:solidFill>
                <a:latin typeface="Courier New"/>
                <a:ea typeface="Courier New"/>
                <a:cs typeface="Courier New"/>
                <a:sym typeface="Courier New"/>
              </a:rPr>
              <a:t> items: string[] = [</a:t>
            </a:r>
            <a:r>
              <a:rPr lang="en" sz="1000" b="0" i="0" u="none" strike="noStrike" cap="none" dirty="0">
                <a:solidFill>
                  <a:srgbClr val="FFC878"/>
                </a:solidFill>
                <a:latin typeface="Courier New"/>
                <a:ea typeface="Courier New"/>
                <a:cs typeface="Courier New"/>
                <a:sym typeface="Courier New"/>
              </a:rPr>
              <a:t>"pen"</a:t>
            </a:r>
            <a:r>
              <a:rPr lang="en" sz="1000" b="0" i="0" u="none" strike="noStrike" cap="none" dirty="0">
                <a:solidFill>
                  <a:srgbClr val="E6ECF7"/>
                </a:solidFill>
                <a:latin typeface="Courier New"/>
                <a:ea typeface="Courier New"/>
                <a:cs typeface="Courier New"/>
                <a:sym typeface="Courier New"/>
              </a:rPr>
              <a:t>, </a:t>
            </a:r>
            <a:r>
              <a:rPr lang="en" sz="1000" b="0" i="0" u="none" strike="noStrike" cap="none" dirty="0">
                <a:solidFill>
                  <a:srgbClr val="FFC878"/>
                </a:solidFill>
                <a:latin typeface="Courier New"/>
                <a:ea typeface="Courier New"/>
                <a:cs typeface="Courier New"/>
                <a:sym typeface="Courier New"/>
              </a:rPr>
              <a:t>"book"</a:t>
            </a:r>
            <a:r>
              <a:rPr lang="en" sz="1000" b="0" i="0" u="none" strike="noStrike" cap="none" dirty="0">
                <a:solidFill>
                  <a:srgbClr val="E6ECF7"/>
                </a:solidFill>
                <a:latin typeface="Courier New"/>
                <a:ea typeface="Courier New"/>
                <a:cs typeface="Courier New"/>
                <a:sym typeface="Courier New"/>
              </a:rPr>
              <a:t>];</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 </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8CC4FF"/>
                </a:solidFill>
                <a:latin typeface="Courier New"/>
                <a:ea typeface="Courier New"/>
                <a:cs typeface="Courier New"/>
                <a:sym typeface="Courier New"/>
              </a:rPr>
              <a:t>function</a:t>
            </a:r>
            <a:r>
              <a:rPr lang="en" sz="1000" b="0" i="0" u="none" strike="noStrike" cap="none" dirty="0">
                <a:solidFill>
                  <a:srgbClr val="E6ECF7"/>
                </a:solidFill>
                <a:latin typeface="Courier New"/>
                <a:ea typeface="Courier New"/>
                <a:cs typeface="Courier New"/>
                <a:sym typeface="Courier New"/>
              </a:rPr>
              <a:t> getGreeting(): string {</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  </a:t>
            </a:r>
            <a:r>
              <a:rPr lang="en" sz="1000" b="0" i="0" u="none" strike="noStrike" cap="none" dirty="0">
                <a:solidFill>
                  <a:srgbClr val="8CC4FF"/>
                </a:solidFill>
                <a:latin typeface="Courier New"/>
                <a:ea typeface="Courier New"/>
                <a:cs typeface="Courier New"/>
                <a:sym typeface="Courier New"/>
              </a:rPr>
              <a:t>return</a:t>
            </a:r>
            <a:r>
              <a:rPr lang="en" sz="1000" b="0" i="0" u="none" strike="noStrike" cap="none" dirty="0">
                <a:solidFill>
                  <a:srgbClr val="E6ECF7"/>
                </a:solidFill>
                <a:latin typeface="Courier New"/>
                <a:ea typeface="Courier New"/>
                <a:cs typeface="Courier New"/>
                <a:sym typeface="Courier New"/>
              </a:rPr>
              <a:t> </a:t>
            </a:r>
            <a:r>
              <a:rPr lang="en" sz="1000" b="0" i="0" u="none" strike="noStrike" cap="none" dirty="0">
                <a:solidFill>
                  <a:srgbClr val="FFC878"/>
                </a:solidFill>
                <a:latin typeface="Courier New"/>
                <a:ea typeface="Courier New"/>
                <a:cs typeface="Courier New"/>
                <a:sym typeface="Courier New"/>
              </a:rPr>
              <a:t>"Hello!"</a:t>
            </a:r>
            <a:r>
              <a:rPr lang="en" sz="1000" b="0" i="0" u="none" strike="noStrike" cap="none" dirty="0">
                <a:solidFill>
                  <a:srgbClr val="E6ECF7"/>
                </a:solidFill>
                <a:latin typeface="Courier New"/>
                <a:ea typeface="Courier New"/>
                <a:cs typeface="Courier New"/>
                <a:sym typeface="Courier New"/>
              </a:rPr>
              <a:t>;</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a:t>
            </a:r>
            <a:endParaRPr lang="en" sz="1000" b="0" i="0" u="none" strike="noStrike" cap="none" dirty="0">
              <a:solidFill>
                <a:srgbClr val="000000"/>
              </a:solidFill>
              <a:latin typeface="Roboto"/>
              <a:ea typeface="Roboto"/>
              <a:cs typeface="Roboto"/>
              <a:sym typeface="Roboto"/>
            </a:endParaRPr>
          </a:p>
        </p:txBody>
      </p:sp>
      <p:sp>
        <p:nvSpPr>
          <p:cNvPr id="405" name="Output panel"/>
          <p:cNvSpPr/>
          <p:nvPr/>
        </p:nvSpPr>
        <p:spPr>
          <a:xfrm>
            <a:off x="4300000" y="2615920"/>
            <a:ext cx="4350000" cy="470000"/>
          </a:xfrm>
          <a:prstGeom prst="roundRect">
            <a:avLst>
              <a:gd name="adj" fmla="val 3000"/>
            </a:avLst>
          </a:prstGeom>
          <a:solidFill>
            <a:srgbClr val="FFFFFF"/>
          </a:solidFill>
          <a:ln w="9525">
            <a:solidFill>
              <a:srgbClr val="D9D9D9"/>
            </a:solidFill>
          </a:ln>
          <a:effectLst>
            <a:outerShdw blurRad="63500" dist="25400" dir="5400000" algn="t" rotWithShape="0">
              <a:srgbClr val="000000">
                <a:alpha val="22000"/>
              </a:srgbClr>
            </a:outerShdw>
          </a:effectLst>
        </p:spPr>
        <p:txBody>
          <a:bodyPr rtlCol="0" anchor="ctr"/>
          <a:lstStyle/>
          <a:p>
            <a:pPr algn="ctr"/>
          </a:p>
        </p:txBody>
      </p:sp>
      <p:sp>
        <p:nvSpPr>
          <p:cNvPr id="406" name="Output heading"/>
          <p:cNvSpPr txBox="1"/>
          <p:nvPr/>
        </p:nvSpPr>
        <p:spPr>
          <a:xfrm>
            <a:off x="4420000" y="2655920"/>
            <a:ext cx="4110000" cy="200000"/>
          </a:xfrm>
          <a:prstGeom prst="rect">
            <a:avLst/>
          </a:prstGeom>
          <a:noFill/>
        </p:spPr>
        <p:txBody>
          <a:bodyPr spcFirstLastPara="1" wrap="square" lIns="0" tIns="30000" rIns="0" bIns="0" anchor="t" anchorCtr="0">
            <a:noAutofit/>
          </a:bodyPr>
          <a:lstStyle/>
          <a:p>
            <a:pPr marL="0" marR="0" lvl="0" indent="0" algn="l" rtl="0">
              <a:lnSpc>
                <a:spcPct val="100000"/>
              </a:lnSpc>
              <a:spcBef>
                <a:spcPts val="0"/>
              </a:spcBef>
              <a:spcAft>
                <a:spcPts val="0"/>
              </a:spcAft>
              <a:buNone/>
            </a:pPr>
            <a:r>
              <a:rPr lang="en" sz="900" b="1" i="0" u="none" strike="noStrike" cap="none" dirty="0">
                <a:solidFill>
                  <a:srgbClr val="0053A1"/>
                </a:solidFill>
                <a:latin typeface="Poppins SemiBold"/>
                <a:ea typeface="Poppins SemiBold"/>
                <a:cs typeface="Poppins SemiBold"/>
                <a:sym typeface="Poppins SemiBold"/>
              </a:rPr>
              <a:t>Compiler message</a:t>
            </a:r>
            <a:endParaRPr lang="en" sz="900" b="0" i="0" u="none" strike="noStrike" cap="none" dirty="0">
              <a:solidFill>
                <a:srgbClr val="000000"/>
              </a:solidFill>
              <a:latin typeface="Roboto"/>
              <a:ea typeface="Roboto"/>
              <a:cs typeface="Roboto"/>
              <a:sym typeface="Roboto"/>
            </a:endParaRPr>
          </a:p>
        </p:txBody>
      </p:sp>
      <p:sp>
        <p:nvSpPr>
          <p:cNvPr id="407" name="Output"/>
          <p:cNvSpPr txBox="1"/>
          <p:nvPr/>
        </p:nvSpPr>
        <p:spPr>
          <a:xfrm>
            <a:off x="4420000" y="2865920"/>
            <a:ext cx="4110000" cy="190000"/>
          </a:xfrm>
          <a:prstGeom prst="rect">
            <a:avLst/>
          </a:prstGeom>
          <a:noFill/>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50" b="1" i="0" u="none" strike="noStrike" cap="none" dirty="0">
                <a:solidFill>
                  <a:srgbClr val="C00000"/>
                </a:solidFill>
                <a:latin typeface="Courier New"/>
                <a:ea typeface="Courier New"/>
                <a:cs typeface="Courier New"/>
                <a:sym typeface="Courier New"/>
              </a:rPr>
              <a:t>Type 'number' is not assignable to 'string'</a:t>
            </a:r>
            <a:endParaRPr lang="en" sz="950" b="0" i="0" u="none" strike="noStrike" cap="none" dirty="0">
              <a:solidFill>
                <a:srgbClr val="000000"/>
              </a:solidFill>
              <a:latin typeface="Roboto"/>
              <a:ea typeface="Roboto"/>
              <a:cs typeface="Roboto"/>
              <a:sym typeface="Roboto"/>
            </a:endParaR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grpSpPr/>
      <p:pic>
        <p:nvPicPr>
          <p:cNvPr id="110" name="Google Shape;110;p15" title="Untitled-1-07.png"/>
          <p:cNvPicPr preferRelativeResize="0"/>
          <p:nvPr/>
        </p:nvPicPr>
        <p:blipFill rotWithShape="1">
          <a:blip r:embed="rId2">
            <a:alphaModFix/>
          </a:blip>
          <a:srcRect l="5100" r="4630" b="15895"/>
          <a:stretch/>
        </p:blipFill>
        <p:spPr>
          <a:xfrm>
            <a:off x="880549" y="4348257"/>
            <a:ext cx="2096958" cy="548700"/>
          </a:xfrm>
          <a:prstGeom prst="rect">
            <a:avLst/>
          </a:prstGeom>
          <a:noFill/>
          <a:ln>
            <a:noFill/>
          </a:ln>
        </p:spPr>
      </p:pic>
      <p:pic>
        <p:nvPicPr>
          <p:cNvPr id="111" name="Google Shape;111;p15" title="powerd by.png"/>
          <p:cNvPicPr preferRelativeResize="0"/>
          <p:nvPr/>
        </p:nvPicPr>
        <p:blipFill rotWithShape="1">
          <a:blip r:embed="rId5">
            <a:alphaModFix/>
          </a:blip>
          <a:srcRect l="6981" t="44048" r="6714" b="14302"/>
          <a:stretch/>
        </p:blipFill>
        <p:spPr>
          <a:xfrm>
            <a:off x="3537800" y="4500588"/>
            <a:ext cx="2130125" cy="355975"/>
          </a:xfrm>
          <a:prstGeom prst="rect">
            <a:avLst/>
          </a:prstGeom>
          <a:noFill/>
          <a:ln>
            <a:noFill/>
          </a:ln>
        </p:spPr>
      </p:pic>
      <p:sp>
        <p:nvSpPr>
          <p:cNvPr id="112" name="Google Shape;112;p15"/>
          <p:cNvSpPr txBox="1"/>
          <p:nvPr/>
        </p:nvSpPr>
        <p:spPr>
          <a:xfrm>
            <a:off x="5998012" y="4596047"/>
            <a:ext cx="2436900" cy="253800"/>
          </a:xfrm>
          <a:prstGeom prst="rect">
            <a:avLst/>
          </a:prstGeom>
          <a:noFill/>
          <a:ln>
            <a:noFill/>
          </a:ln>
        </p:spPr>
        <p:txBody>
          <a:bodyPr spcFirstLastPara="1" wrap="non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0053A1"/>
                </a:solidFill>
                <a:latin typeface="Roboto"/>
                <a:ea typeface="Roboto"/>
                <a:cs typeface="Roboto"/>
                <a:sym typeface="Roboto"/>
              </a:rPr>
              <a:t>www.</a:t>
            </a:r>
            <a:r>
              <a:rPr lang="en" sz="1200" b="1">
                <a:solidFill>
                  <a:srgbClr val="0053A1"/>
                </a:solidFill>
                <a:latin typeface="Roboto"/>
                <a:ea typeface="Roboto"/>
                <a:cs typeface="Roboto"/>
                <a:sym typeface="Roboto"/>
              </a:rPr>
              <a:t>careercraftacademy.com</a:t>
            </a:r>
            <a:endParaRPr sz="1200" b="1" i="0" u="none" strike="noStrike" cap="none">
              <a:solidFill>
                <a:srgbClr val="0053A1"/>
              </a:solidFill>
              <a:latin typeface="Roboto"/>
              <a:ea typeface="Roboto"/>
              <a:cs typeface="Roboto"/>
              <a:sym typeface="Roboto"/>
            </a:endParaRPr>
          </a:p>
        </p:txBody>
      </p:sp>
      <p:pic>
        <p:nvPicPr>
          <p:cNvPr id="114" name="Google Shape;114;p15"/>
          <p:cNvPicPr preferRelativeResize="0"/>
          <p:nvPr/>
        </p:nvPicPr>
        <p:blipFill>
          <a:blip r:embed="rId4">
            <a:alphaModFix/>
          </a:blip>
          <a:stretch>
            <a:fillRect/>
          </a:stretch>
        </p:blipFill>
        <p:spPr>
          <a:xfrm>
            <a:off x="8447868" y="4368945"/>
            <a:ext cx="334175" cy="480903"/>
          </a:xfrm>
          <a:prstGeom prst="rect">
            <a:avLst/>
          </a:prstGeom>
          <a:noFill/>
          <a:ln>
            <a:noFill/>
          </a:ln>
        </p:spPr>
      </p:pic>
      <p:sp>
        <p:nvSpPr>
          <p:cNvPr id="408" name="Kicker"/>
          <p:cNvSpPr txBox="1"/>
          <p:nvPr/>
        </p:nvSpPr>
        <p:spPr>
          <a:xfrm>
            <a:off x="675600" y="285000"/>
            <a:ext cx="3560000" cy="241200"/>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1003" b="0" i="0" u="none" strike="noStrike" cap="none" dirty="0">
                <a:solidFill>
                  <a:srgbClr val="7F7F7F"/>
                </a:solidFill>
                <a:latin typeface="Roboto"/>
                <a:ea typeface="Roboto"/>
                <a:cs typeface="Roboto"/>
                <a:sym typeface="Roboto"/>
              </a:rPr>
              <a:t>The Type System</a:t>
            </a:r>
            <a:endParaRPr lang="en" sz="1003" b="0" i="0" u="none" strike="noStrike" cap="none" dirty="0">
              <a:solidFill>
                <a:srgbClr val="000000"/>
              </a:solidFill>
              <a:latin typeface="Roboto"/>
              <a:ea typeface="Roboto"/>
              <a:cs typeface="Roboto"/>
              <a:sym typeface="Roboto"/>
            </a:endParaRPr>
          </a:p>
        </p:txBody>
      </p:sp>
      <p:sp>
        <p:nvSpPr>
          <p:cNvPr id="409" name="Title"/>
          <p:cNvSpPr txBox="1"/>
          <p:nvPr/>
        </p:nvSpPr>
        <p:spPr>
          <a:xfrm>
            <a:off x="675600" y="520000"/>
            <a:ext cx="3560000" cy="763948"/>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2200" b="1" i="0" u="none" strike="noStrike" cap="none" dirty="0">
                <a:solidFill>
                  <a:srgbClr val="0053A1"/>
                </a:solidFill>
                <a:latin typeface="Poppins SemiBold"/>
                <a:ea typeface="Poppins SemiBold"/>
                <a:cs typeface="Poppins SemiBold"/>
                <a:sym typeface="Poppins SemiBold"/>
              </a:rPr>
              <a:t>Special Types</a:t>
            </a:r>
            <a:endParaRPr lang="en" sz="2200" b="0" i="0" u="none" strike="noStrike" cap="none" dirty="0">
              <a:solidFill>
                <a:srgbClr val="000000"/>
              </a:solidFill>
              <a:latin typeface="Roboto"/>
              <a:ea typeface="Roboto"/>
              <a:cs typeface="Roboto"/>
              <a:sym typeface="Roboto"/>
            </a:endParaRPr>
          </a:p>
          <a:p>
            <a:pPr marL="0" marR="0" lvl="0" indent="0" algn="l" rtl="0">
              <a:lnSpc>
                <a:spcPct val="100000"/>
              </a:lnSpc>
              <a:spcBef>
                <a:spcPts val="0"/>
              </a:spcBef>
              <a:spcAft>
                <a:spcPts val="0"/>
              </a:spcAft>
              <a:buNone/>
            </a:pPr>
            <a:r>
              <a:rPr lang="en" sz="2200" b="1" i="0" u="none" strike="noStrike" cap="none" dirty="0">
                <a:solidFill>
                  <a:srgbClr val="000000"/>
                </a:solidFill>
                <a:latin typeface="Poppins SemiBold"/>
                <a:ea typeface="Poppins SemiBold"/>
                <a:cs typeface="Poppins SemiBold"/>
                <a:sym typeface="Poppins SemiBold"/>
              </a:rPr>
              <a:t>any, unknown, never</a:t>
            </a:r>
            <a:endParaRPr lang="en" sz="2200" b="0" i="0" u="none" strike="noStrike" cap="none" dirty="0">
              <a:solidFill>
                <a:srgbClr val="000000"/>
              </a:solidFill>
              <a:latin typeface="Roboto"/>
              <a:ea typeface="Roboto"/>
              <a:cs typeface="Roboto"/>
              <a:sym typeface="Roboto"/>
            </a:endParaRPr>
          </a:p>
        </p:txBody>
      </p:sp>
      <p:sp>
        <p:nvSpPr>
          <p:cNvPr id="410" name="Body"/>
          <p:cNvSpPr txBox="1"/>
          <p:nvPr/>
        </p:nvSpPr>
        <p:spPr>
          <a:xfrm>
            <a:off x="620000" y="1383000"/>
            <a:ext cx="3560000" cy="1203600"/>
          </a:xfrm>
          <a:prstGeom prst="rect">
            <a:avLst/>
          </a:prstGeom>
          <a:noFill/>
        </p:spPr>
        <p:txBody>
          <a:bodyPr spcFirstLastPara="1" wrap="square" lIns="86025" tIns="43000" rIns="86025" bIns="43000" anchor="t" anchorCtr="0">
            <a:noAutofit/>
          </a:bodyPr>
          <a:lstStyle/>
          <a:p>
            <a:pPr marL="171450" marR="0" lvl="0" indent="-171450" algn="l" rtl="0">
              <a:lnSpc>
                <a:spcPct val="125000"/>
              </a:lnSpc>
              <a:spcBef>
                <a:spcPts val="100"/>
              </a:spcBef>
              <a:spcAft>
                <a:spcPts val="0"/>
              </a:spcAft>
              <a:buClr>
                <a:srgbClr val="000000"/>
              </a:buClr>
              <a:buSzPts val="1100"/>
              <a:buFont typeface="Arial"/>
              <a:buChar char="•"/>
            </a:pPr>
            <a:r>
              <a:rPr lang="en" sz="1050" b="1" i="0" u="none" strike="noStrike" cap="none" dirty="0">
                <a:solidFill>
                  <a:srgbClr val="0053A1"/>
                </a:solidFill>
                <a:latin typeface="Courier New"/>
                <a:ea typeface="Courier New"/>
                <a:cs typeface="Courier New"/>
                <a:sym typeface="Courier New"/>
              </a:rPr>
              <a:t>any</a:t>
            </a:r>
            <a:r>
              <a:rPr lang="en" sz="1100" b="0" i="0" u="none" strike="noStrike" cap="none" dirty="0">
                <a:solidFill>
                  <a:schemeClr val="tx1"/>
                </a:solidFill>
                <a:latin typeface="Roboto"/>
                <a:ea typeface="Roboto"/>
                <a:cs typeface="Roboto"/>
                <a:sym typeface="Roboto"/>
              </a:rPr>
              <a:t> - disables checking; use sparingly</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050" b="1" i="0" u="none" strike="noStrike" cap="none" dirty="0">
                <a:solidFill>
                  <a:srgbClr val="0053A1"/>
                </a:solidFill>
                <a:latin typeface="Courier New"/>
                <a:ea typeface="Courier New"/>
                <a:cs typeface="Courier New"/>
                <a:sym typeface="Courier New"/>
              </a:rPr>
              <a:t>unknown</a:t>
            </a:r>
            <a:r>
              <a:rPr lang="en" sz="1100" b="0" i="0" u="none" strike="noStrike" cap="none" dirty="0">
                <a:solidFill>
                  <a:schemeClr val="tx1"/>
                </a:solidFill>
                <a:latin typeface="Roboto"/>
                <a:ea typeface="Roboto"/>
                <a:cs typeface="Roboto"/>
                <a:sym typeface="Roboto"/>
              </a:rPr>
              <a:t> - safe: check before using</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050" b="1" i="0" u="none" strike="noStrike" cap="none" dirty="0">
                <a:solidFill>
                  <a:srgbClr val="0053A1"/>
                </a:solidFill>
                <a:latin typeface="Courier New"/>
                <a:ea typeface="Courier New"/>
                <a:cs typeface="Courier New"/>
                <a:sym typeface="Courier New"/>
              </a:rPr>
              <a:t>void</a:t>
            </a:r>
            <a:r>
              <a:rPr lang="en" sz="1100" b="0" i="0" u="none" strike="noStrike" cap="none" dirty="0">
                <a:solidFill>
                  <a:schemeClr val="tx1"/>
                </a:solidFill>
                <a:latin typeface="Roboto"/>
                <a:ea typeface="Roboto"/>
                <a:cs typeface="Roboto"/>
                <a:sym typeface="Roboto"/>
              </a:rPr>
              <a:t> - a function returns nothing</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050" b="1" i="0" u="none" strike="noStrike" cap="none" dirty="0">
                <a:solidFill>
                  <a:srgbClr val="0053A1"/>
                </a:solidFill>
                <a:latin typeface="Courier New"/>
                <a:ea typeface="Courier New"/>
                <a:cs typeface="Courier New"/>
                <a:sym typeface="Courier New"/>
              </a:rPr>
              <a:t>never</a:t>
            </a:r>
            <a:r>
              <a:rPr lang="en" sz="1100" b="0" i="0" u="none" strike="noStrike" cap="none" dirty="0">
                <a:solidFill>
                  <a:schemeClr val="tx1"/>
                </a:solidFill>
                <a:latin typeface="Roboto"/>
                <a:ea typeface="Roboto"/>
                <a:cs typeface="Roboto"/>
                <a:sym typeface="Roboto"/>
              </a:rPr>
              <a:t> - never occurs (always throws)</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050" b="1" i="0" u="none" strike="noStrike" cap="none" dirty="0">
                <a:solidFill>
                  <a:srgbClr val="0053A1"/>
                </a:solidFill>
                <a:latin typeface="Courier New"/>
                <a:ea typeface="Courier New"/>
                <a:cs typeface="Courier New"/>
                <a:sym typeface="Courier New"/>
              </a:rPr>
              <a:t>null</a:t>
            </a:r>
            <a:r>
              <a:rPr lang="en" sz="1100" b="0" i="0" u="none" strike="noStrike" cap="none" dirty="0">
                <a:solidFill>
                  <a:schemeClr val="tx1"/>
                </a:solidFill>
                <a:latin typeface="Roboto"/>
                <a:ea typeface="Roboto"/>
                <a:cs typeface="Roboto"/>
                <a:sym typeface="Roboto"/>
              </a:rPr>
              <a:t> / </a:t>
            </a:r>
            <a:r>
              <a:rPr lang="en" sz="1050" b="1" i="0" u="none" strike="noStrike" cap="none" dirty="0">
                <a:solidFill>
                  <a:srgbClr val="0053A1"/>
                </a:solidFill>
                <a:latin typeface="Courier New"/>
                <a:ea typeface="Courier New"/>
                <a:cs typeface="Courier New"/>
                <a:sym typeface="Courier New"/>
              </a:rPr>
              <a:t>undefined</a:t>
            </a:r>
            <a:r>
              <a:rPr lang="en" sz="1100" b="0" i="0" u="none" strike="noStrike" cap="none" dirty="0">
                <a:solidFill>
                  <a:schemeClr val="tx1"/>
                </a:solidFill>
                <a:latin typeface="Roboto"/>
                <a:ea typeface="Roboto"/>
                <a:cs typeface="Roboto"/>
                <a:sym typeface="Roboto"/>
              </a:rPr>
              <a:t> - absence of value</a:t>
            </a:r>
            <a:endParaRPr lang="en" sz="1100" b="0" i="0" u="none" strike="noStrike" cap="none" dirty="0">
              <a:solidFill>
                <a:srgbClr val="000000"/>
              </a:solidFill>
              <a:latin typeface="Roboto"/>
              <a:ea typeface="Roboto"/>
              <a:cs typeface="Roboto"/>
              <a:sym typeface="Roboto"/>
            </a:endParaRPr>
          </a:p>
        </p:txBody>
      </p:sp>
      <p:sp>
        <p:nvSpPr>
          <p:cNvPr id="411" name="Code panel"/>
          <p:cNvSpPr/>
          <p:nvPr/>
        </p:nvSpPr>
        <p:spPr>
          <a:xfrm>
            <a:off x="4300000" y="500000"/>
            <a:ext cx="4350000" cy="2335104"/>
          </a:xfrm>
          <a:prstGeom prst="roundRect">
            <a:avLst>
              <a:gd name="adj" fmla="val 3500"/>
            </a:avLst>
          </a:prstGeom>
          <a:solidFill>
            <a:srgbClr val="0E2455"/>
          </a:solidFill>
          <a:ln>
            <a:noFill/>
          </a:ln>
          <a:effectLst>
            <a:outerShdw blurRad="63500" dist="25400" dir="5400000" algn="t" rotWithShape="0">
              <a:srgbClr val="000000">
                <a:alpha val="22000"/>
              </a:srgbClr>
            </a:outerShdw>
          </a:effectLst>
        </p:spPr>
        <p:txBody>
          <a:bodyPr rtlCol="0" anchor="ctr"/>
          <a:lstStyle/>
          <a:p>
            <a:pPr algn="ctr"/>
          </a:p>
        </p:txBody>
      </p:sp>
      <p:sp>
        <p:nvSpPr>
          <p:cNvPr id="412" name="Dot 1"/>
          <p:cNvSpPr/>
          <p:nvPr/>
        </p:nvSpPr>
        <p:spPr>
          <a:xfrm>
            <a:off x="4420000" y="605000"/>
            <a:ext cx="70000" cy="70000"/>
          </a:xfrm>
          <a:prstGeom prst="ellipse">
            <a:avLst/>
          </a:prstGeom>
          <a:solidFill>
            <a:srgbClr val="C00000"/>
          </a:solidFill>
          <a:ln>
            <a:noFill/>
          </a:ln>
        </p:spPr>
        <p:txBody>
          <a:bodyPr rtlCol="0" anchor="ctr"/>
          <a:lstStyle/>
          <a:p>
            <a:pPr algn="ctr"/>
          </a:p>
        </p:txBody>
      </p:sp>
      <p:sp>
        <p:nvSpPr>
          <p:cNvPr id="413" name="Dot 2"/>
          <p:cNvSpPr/>
          <p:nvPr/>
        </p:nvSpPr>
        <p:spPr>
          <a:xfrm>
            <a:off x="4550000" y="605000"/>
            <a:ext cx="70000" cy="70000"/>
          </a:xfrm>
          <a:prstGeom prst="ellipse">
            <a:avLst/>
          </a:prstGeom>
          <a:solidFill>
            <a:srgbClr val="F2B705"/>
          </a:solidFill>
          <a:ln>
            <a:noFill/>
          </a:ln>
        </p:spPr>
        <p:txBody>
          <a:bodyPr rtlCol="0" anchor="ctr"/>
          <a:lstStyle/>
          <a:p>
            <a:pPr algn="ctr"/>
          </a:p>
        </p:txBody>
      </p:sp>
      <p:sp>
        <p:nvSpPr>
          <p:cNvPr id="414" name="Dot 3"/>
          <p:cNvSpPr/>
          <p:nvPr/>
        </p:nvSpPr>
        <p:spPr>
          <a:xfrm>
            <a:off x="4680000" y="605000"/>
            <a:ext cx="70000" cy="70000"/>
          </a:xfrm>
          <a:prstGeom prst="ellipse">
            <a:avLst/>
          </a:prstGeom>
          <a:solidFill>
            <a:srgbClr val="3DAE5C"/>
          </a:solidFill>
          <a:ln>
            <a:noFill/>
          </a:ln>
        </p:spPr>
        <p:txBody>
          <a:bodyPr rtlCol="0" anchor="ctr"/>
          <a:lstStyle/>
          <a:p>
            <a:pPr algn="ctr"/>
          </a:p>
        </p:txBody>
      </p:sp>
      <p:sp>
        <p:nvSpPr>
          <p:cNvPr id="415" name="Code label"/>
          <p:cNvSpPr txBox="1"/>
          <p:nvPr/>
        </p:nvSpPr>
        <p:spPr>
          <a:xfrm>
            <a:off x="7650000" y="555000"/>
            <a:ext cx="900000" cy="170000"/>
          </a:xfrm>
          <a:prstGeom prst="rect">
            <a:avLst/>
          </a:prstGeom>
          <a:noFill/>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800" b="1" i="0" u="none" strike="noStrike" cap="none" dirty="0">
                <a:solidFill>
                  <a:srgbClr val="8FA3C4"/>
                </a:solidFill>
                <a:latin typeface="Roboto"/>
                <a:ea typeface="Roboto"/>
                <a:cs typeface="Roboto"/>
                <a:sym typeface="Roboto"/>
              </a:rPr>
              <a:t>TS</a:t>
            </a:r>
            <a:endParaRPr lang="en" sz="800" b="0" i="0" u="none" strike="noStrike" cap="none" dirty="0">
              <a:solidFill>
                <a:srgbClr val="000000"/>
              </a:solidFill>
              <a:latin typeface="Roboto"/>
              <a:ea typeface="Roboto"/>
              <a:cs typeface="Roboto"/>
              <a:sym typeface="Roboto"/>
            </a:endParaRPr>
          </a:p>
        </p:txBody>
      </p:sp>
      <p:sp>
        <p:nvSpPr>
          <p:cNvPr id="416" name="Code"/>
          <p:cNvSpPr txBox="1"/>
          <p:nvPr/>
        </p:nvSpPr>
        <p:spPr>
          <a:xfrm>
            <a:off x="4360000" y="750000"/>
            <a:ext cx="4230000" cy="2055104"/>
          </a:xfrm>
          <a:prstGeom prst="rect">
            <a:avLst/>
          </a:prstGeom>
          <a:noFill/>
        </p:spPr>
        <p:txBody>
          <a:bodyPr spcFirstLastPara="1" wrap="square" lIns="86025" tIns="0" rIns="60000" bIns="0" anchor="t" anchorCtr="0">
            <a:noAutofit/>
          </a:bodyPr>
          <a:lstStyle/>
          <a:p>
            <a:pPr marL="0" marR="0" lvl="0" indent="0" algn="l" rtl="0">
              <a:lnSpc>
                <a:spcPct val="108000"/>
              </a:lnSpc>
              <a:spcBef>
                <a:spcPts val="0"/>
              </a:spcBef>
              <a:spcAft>
                <a:spcPts val="0"/>
              </a:spcAft>
              <a:buNone/>
            </a:pPr>
            <a:r>
              <a:rPr lang="en" sz="1000" b="0" i="0" u="none" strike="noStrike" cap="none" dirty="0">
                <a:solidFill>
                  <a:srgbClr val="8CC4FF"/>
                </a:solidFill>
                <a:latin typeface="Courier New"/>
                <a:ea typeface="Courier New"/>
                <a:cs typeface="Courier New"/>
                <a:sym typeface="Courier New"/>
              </a:rPr>
              <a:t>let</a:t>
            </a:r>
            <a:r>
              <a:rPr lang="en" sz="1000" b="0" i="0" u="none" strike="noStrike" cap="none" dirty="0">
                <a:solidFill>
                  <a:srgbClr val="E6ECF7"/>
                </a:solidFill>
                <a:latin typeface="Courier New"/>
                <a:ea typeface="Courier New"/>
                <a:cs typeface="Courier New"/>
                <a:sym typeface="Courier New"/>
              </a:rPr>
              <a:t> data: any = </a:t>
            </a:r>
            <a:r>
              <a:rPr lang="en" sz="1000" b="0" i="0" u="none" strike="noStrike" cap="none" dirty="0">
                <a:solidFill>
                  <a:srgbClr val="FFC878"/>
                </a:solidFill>
                <a:latin typeface="Courier New"/>
                <a:ea typeface="Courier New"/>
                <a:cs typeface="Courier New"/>
                <a:sym typeface="Courier New"/>
              </a:rPr>
              <a:t>"anything"</a:t>
            </a:r>
            <a:r>
              <a:rPr lang="en" sz="1000" b="0" i="0" u="none" strike="noStrike" cap="none" dirty="0">
                <a:solidFill>
                  <a:srgbClr val="E6ECF7"/>
                </a:solidFill>
                <a:latin typeface="Courier New"/>
                <a:ea typeface="Courier New"/>
                <a:cs typeface="Courier New"/>
                <a:sym typeface="Courier New"/>
              </a:rPr>
              <a:t>;</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data.toFixed(); </a:t>
            </a:r>
            <a:r>
              <a:rPr lang="en" sz="1000" b="0" i="1" u="none" strike="noStrike" cap="none" dirty="0">
                <a:solidFill>
                  <a:srgbClr val="8FA3C4"/>
                </a:solidFill>
                <a:latin typeface="Courier New"/>
                <a:ea typeface="Courier New"/>
                <a:cs typeface="Courier New"/>
                <a:sym typeface="Courier New"/>
              </a:rPr>
              <a:t>// no error - but wrong!</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 </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8CC4FF"/>
                </a:solidFill>
                <a:latin typeface="Courier New"/>
                <a:ea typeface="Courier New"/>
                <a:cs typeface="Courier New"/>
                <a:sym typeface="Courier New"/>
              </a:rPr>
              <a:t>let</a:t>
            </a:r>
            <a:r>
              <a:rPr lang="en" sz="1000" b="0" i="0" u="none" strike="noStrike" cap="none" dirty="0">
                <a:solidFill>
                  <a:srgbClr val="E6ECF7"/>
                </a:solidFill>
                <a:latin typeface="Courier New"/>
                <a:ea typeface="Courier New"/>
                <a:cs typeface="Courier New"/>
                <a:sym typeface="Courier New"/>
              </a:rPr>
              <a:t> data2: unknown = </a:t>
            </a:r>
            <a:r>
              <a:rPr lang="en" sz="1000" b="0" i="0" u="none" strike="noStrike" cap="none" dirty="0">
                <a:solidFill>
                  <a:srgbClr val="FFC878"/>
                </a:solidFill>
                <a:latin typeface="Courier New"/>
                <a:ea typeface="Courier New"/>
                <a:cs typeface="Courier New"/>
                <a:sym typeface="Courier New"/>
              </a:rPr>
              <a:t>"hello"</a:t>
            </a:r>
            <a:r>
              <a:rPr lang="en" sz="1000" b="0" i="0" u="none" strike="noStrike" cap="none" dirty="0">
                <a:solidFill>
                  <a:srgbClr val="E6ECF7"/>
                </a:solidFill>
                <a:latin typeface="Courier New"/>
                <a:ea typeface="Courier New"/>
                <a:cs typeface="Courier New"/>
                <a:sym typeface="Courier New"/>
              </a:rPr>
              <a:t>;</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data2.toUpperCase(); </a:t>
            </a:r>
            <a:r>
              <a:rPr lang="en" sz="1000" b="0" i="1" u="none" strike="noStrike" cap="none" dirty="0">
                <a:solidFill>
                  <a:srgbClr val="8FA3C4"/>
                </a:solidFill>
                <a:latin typeface="Courier New"/>
                <a:ea typeface="Courier New"/>
                <a:cs typeface="Courier New"/>
                <a:sym typeface="Courier New"/>
              </a:rPr>
              <a:t>// Error: check type first</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8CC4FF"/>
                </a:solidFill>
                <a:latin typeface="Courier New"/>
                <a:ea typeface="Courier New"/>
                <a:cs typeface="Courier New"/>
                <a:sym typeface="Courier New"/>
              </a:rPr>
              <a:t>if</a:t>
            </a:r>
            <a:r>
              <a:rPr lang="en" sz="1000" b="0" i="0" u="none" strike="noStrike" cap="none" dirty="0">
                <a:solidFill>
                  <a:srgbClr val="E6ECF7"/>
                </a:solidFill>
                <a:latin typeface="Courier New"/>
                <a:ea typeface="Courier New"/>
                <a:cs typeface="Courier New"/>
                <a:sym typeface="Courier New"/>
              </a:rPr>
              <a:t> (typeof data2 === </a:t>
            </a:r>
            <a:r>
              <a:rPr lang="en" sz="1000" b="0" i="0" u="none" strike="noStrike" cap="none" dirty="0">
                <a:solidFill>
                  <a:srgbClr val="FFC878"/>
                </a:solidFill>
                <a:latin typeface="Courier New"/>
                <a:ea typeface="Courier New"/>
                <a:cs typeface="Courier New"/>
                <a:sym typeface="Courier New"/>
              </a:rPr>
              <a:t>"string"</a:t>
            </a:r>
            <a:r>
              <a:rPr lang="en" sz="1000" b="0" i="0" u="none" strike="noStrike" cap="none" dirty="0">
                <a:solidFill>
                  <a:srgbClr val="E6ECF7"/>
                </a:solidFill>
                <a:latin typeface="Courier New"/>
                <a:ea typeface="Courier New"/>
                <a:cs typeface="Courier New"/>
                <a:sym typeface="Courier New"/>
              </a:rPr>
              <a:t>) {</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  data2.toUpperCase(); </a:t>
            </a:r>
            <a:r>
              <a:rPr lang="en" sz="1000" b="0" i="1" u="none" strike="noStrike" cap="none" dirty="0">
                <a:solidFill>
                  <a:srgbClr val="8FA3C4"/>
                </a:solidFill>
                <a:latin typeface="Courier New"/>
                <a:ea typeface="Courier New"/>
                <a:cs typeface="Courier New"/>
                <a:sym typeface="Courier New"/>
              </a:rPr>
              <a:t>// OK</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 </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8CC4FF"/>
                </a:solidFill>
                <a:latin typeface="Courier New"/>
                <a:ea typeface="Courier New"/>
                <a:cs typeface="Courier New"/>
                <a:sym typeface="Courier New"/>
              </a:rPr>
              <a:t>function</a:t>
            </a:r>
            <a:r>
              <a:rPr lang="en" sz="1000" b="0" i="0" u="none" strike="noStrike" cap="none" dirty="0">
                <a:solidFill>
                  <a:srgbClr val="E6ECF7"/>
                </a:solidFill>
                <a:latin typeface="Courier New"/>
                <a:ea typeface="Courier New"/>
                <a:cs typeface="Courier New"/>
                <a:sym typeface="Courier New"/>
              </a:rPr>
              <a:t> logInfo(msg: string): void {</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  console.log(msg);</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a:t>
            </a:r>
            <a:endParaRPr lang="en" sz="1000" b="0" i="0" u="none" strike="noStrike" cap="none" dirty="0">
              <a:solidFill>
                <a:srgbClr val="000000"/>
              </a:solidFill>
              <a:latin typeface="Roboto"/>
              <a:ea typeface="Roboto"/>
              <a:cs typeface="Roboto"/>
              <a:sym typeface="Roboto"/>
            </a:endParaR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grpSpPr/>
      <p:pic>
        <p:nvPicPr>
          <p:cNvPr id="110" name="Google Shape;110;p15" title="Untitled-1-07.png"/>
          <p:cNvPicPr preferRelativeResize="0"/>
          <p:nvPr/>
        </p:nvPicPr>
        <p:blipFill rotWithShape="1">
          <a:blip r:embed="rId2">
            <a:alphaModFix/>
          </a:blip>
          <a:srcRect l="5100" r="4630" b="15895"/>
          <a:stretch/>
        </p:blipFill>
        <p:spPr>
          <a:xfrm>
            <a:off x="880549" y="4348257"/>
            <a:ext cx="2096958" cy="548700"/>
          </a:xfrm>
          <a:prstGeom prst="rect">
            <a:avLst/>
          </a:prstGeom>
          <a:noFill/>
          <a:ln>
            <a:noFill/>
          </a:ln>
        </p:spPr>
      </p:pic>
      <p:pic>
        <p:nvPicPr>
          <p:cNvPr id="111" name="Google Shape;111;p15" title="powerd by.png"/>
          <p:cNvPicPr preferRelativeResize="0"/>
          <p:nvPr/>
        </p:nvPicPr>
        <p:blipFill rotWithShape="1">
          <a:blip r:embed="rId5">
            <a:alphaModFix/>
          </a:blip>
          <a:srcRect l="6981" t="44048" r="6714" b="14302"/>
          <a:stretch/>
        </p:blipFill>
        <p:spPr>
          <a:xfrm>
            <a:off x="3537800" y="4500588"/>
            <a:ext cx="2130125" cy="355975"/>
          </a:xfrm>
          <a:prstGeom prst="rect">
            <a:avLst/>
          </a:prstGeom>
          <a:noFill/>
          <a:ln>
            <a:noFill/>
          </a:ln>
        </p:spPr>
      </p:pic>
      <p:sp>
        <p:nvSpPr>
          <p:cNvPr id="112" name="Google Shape;112;p15"/>
          <p:cNvSpPr txBox="1"/>
          <p:nvPr/>
        </p:nvSpPr>
        <p:spPr>
          <a:xfrm>
            <a:off x="5998012" y="4596047"/>
            <a:ext cx="2436900" cy="253800"/>
          </a:xfrm>
          <a:prstGeom prst="rect">
            <a:avLst/>
          </a:prstGeom>
          <a:noFill/>
          <a:ln>
            <a:noFill/>
          </a:ln>
        </p:spPr>
        <p:txBody>
          <a:bodyPr spcFirstLastPara="1" wrap="non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0053A1"/>
                </a:solidFill>
                <a:latin typeface="Roboto"/>
                <a:ea typeface="Roboto"/>
                <a:cs typeface="Roboto"/>
                <a:sym typeface="Roboto"/>
              </a:rPr>
              <a:t>www.</a:t>
            </a:r>
            <a:r>
              <a:rPr lang="en" sz="1200" b="1">
                <a:solidFill>
                  <a:srgbClr val="0053A1"/>
                </a:solidFill>
                <a:latin typeface="Roboto"/>
                <a:ea typeface="Roboto"/>
                <a:cs typeface="Roboto"/>
                <a:sym typeface="Roboto"/>
              </a:rPr>
              <a:t>careercraftacademy.com</a:t>
            </a:r>
            <a:endParaRPr sz="1200" b="1" i="0" u="none" strike="noStrike" cap="none">
              <a:solidFill>
                <a:srgbClr val="0053A1"/>
              </a:solidFill>
              <a:latin typeface="Roboto"/>
              <a:ea typeface="Roboto"/>
              <a:cs typeface="Roboto"/>
              <a:sym typeface="Roboto"/>
            </a:endParaRPr>
          </a:p>
        </p:txBody>
      </p:sp>
      <p:pic>
        <p:nvPicPr>
          <p:cNvPr id="114" name="Google Shape;114;p15"/>
          <p:cNvPicPr preferRelativeResize="0"/>
          <p:nvPr/>
        </p:nvPicPr>
        <p:blipFill>
          <a:blip r:embed="rId4">
            <a:alphaModFix/>
          </a:blip>
          <a:stretch>
            <a:fillRect/>
          </a:stretch>
        </p:blipFill>
        <p:spPr>
          <a:xfrm>
            <a:off x="8447868" y="4368945"/>
            <a:ext cx="334175" cy="480903"/>
          </a:xfrm>
          <a:prstGeom prst="rect">
            <a:avLst/>
          </a:prstGeom>
          <a:noFill/>
          <a:ln>
            <a:noFill/>
          </a:ln>
        </p:spPr>
      </p:pic>
      <p:sp>
        <p:nvSpPr>
          <p:cNvPr id="417" name="Kicker"/>
          <p:cNvSpPr txBox="1"/>
          <p:nvPr/>
        </p:nvSpPr>
        <p:spPr>
          <a:xfrm>
            <a:off x="675600" y="285000"/>
            <a:ext cx="3560000" cy="241200"/>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1003" b="0" i="0" u="none" strike="noStrike" cap="none" dirty="0">
                <a:solidFill>
                  <a:srgbClr val="7F7F7F"/>
                </a:solidFill>
                <a:latin typeface="Roboto"/>
                <a:ea typeface="Roboto"/>
                <a:cs typeface="Roboto"/>
                <a:sym typeface="Roboto"/>
              </a:rPr>
              <a:t>The Type System</a:t>
            </a:r>
            <a:endParaRPr lang="en" sz="1003" b="0" i="0" u="none" strike="noStrike" cap="none" dirty="0">
              <a:solidFill>
                <a:srgbClr val="000000"/>
              </a:solidFill>
              <a:latin typeface="Roboto"/>
              <a:ea typeface="Roboto"/>
              <a:cs typeface="Roboto"/>
              <a:sym typeface="Roboto"/>
            </a:endParaRPr>
          </a:p>
        </p:txBody>
      </p:sp>
      <p:sp>
        <p:nvSpPr>
          <p:cNvPr id="418" name="Title"/>
          <p:cNvSpPr txBox="1"/>
          <p:nvPr/>
        </p:nvSpPr>
        <p:spPr>
          <a:xfrm>
            <a:off x="675600" y="520000"/>
            <a:ext cx="3560000" cy="425394"/>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2200" b="1" i="0" u="none" strike="noStrike" cap="none" dirty="0">
                <a:solidFill>
                  <a:srgbClr val="0053A1"/>
                </a:solidFill>
                <a:latin typeface="Poppins SemiBold"/>
                <a:ea typeface="Poppins SemiBold"/>
                <a:cs typeface="Poppins SemiBold"/>
                <a:sym typeface="Poppins SemiBold"/>
              </a:rPr>
              <a:t>Arrays and </a:t>
            </a:r>
            <a:r>
              <a:rPr lang="en" sz="2200" b="1" i="0" u="none" strike="noStrike" cap="none" dirty="0">
                <a:solidFill>
                  <a:srgbClr val="000000"/>
                </a:solidFill>
                <a:latin typeface="Poppins SemiBold"/>
                <a:ea typeface="Poppins SemiBold"/>
                <a:cs typeface="Poppins SemiBold"/>
                <a:sym typeface="Poppins SemiBold"/>
              </a:rPr>
              <a:t>Tuples</a:t>
            </a:r>
            <a:endParaRPr lang="en" sz="2200" b="0" i="0" u="none" strike="noStrike" cap="none" dirty="0">
              <a:solidFill>
                <a:srgbClr val="000000"/>
              </a:solidFill>
              <a:latin typeface="Roboto"/>
              <a:ea typeface="Roboto"/>
              <a:cs typeface="Roboto"/>
              <a:sym typeface="Roboto"/>
            </a:endParaRPr>
          </a:p>
        </p:txBody>
      </p:sp>
      <p:sp>
        <p:nvSpPr>
          <p:cNvPr id="419" name="Body"/>
          <p:cNvSpPr txBox="1"/>
          <p:nvPr/>
        </p:nvSpPr>
        <p:spPr>
          <a:xfrm>
            <a:off x="620000" y="1048000"/>
            <a:ext cx="3560000" cy="1622700"/>
          </a:xfrm>
          <a:prstGeom prst="rect">
            <a:avLst/>
          </a:prstGeom>
          <a:noFill/>
        </p:spPr>
        <p:txBody>
          <a:bodyPr spcFirstLastPara="1" wrap="square" lIns="86025" tIns="43000" rIns="86025" bIns="43000" anchor="t" anchorCtr="0">
            <a:noAutofit/>
          </a:bodyPr>
          <a:lstStyle/>
          <a:p>
            <a:pPr marL="0" marR="0" lvl="0" indent="0" algn="l" rtl="0">
              <a:lnSpc>
                <a:spcPct val="120000"/>
              </a:lnSpc>
              <a:spcBef>
                <a:spcPts val="700"/>
              </a:spcBef>
              <a:spcAft>
                <a:spcPts val="200"/>
              </a:spcAft>
              <a:buNone/>
            </a:pPr>
            <a:r>
              <a:rPr lang="en" sz="1129" b="1" i="0" u="none" strike="noStrike" cap="none" dirty="0">
                <a:solidFill>
                  <a:srgbClr val="000000"/>
                </a:solidFill>
                <a:latin typeface="Poppins SemiBold"/>
                <a:ea typeface="Poppins SemiBold"/>
                <a:cs typeface="Poppins SemiBold"/>
                <a:sym typeface="Poppins SemiBold"/>
              </a:rPr>
              <a:t>Arrays</a:t>
            </a:r>
            <a:endParaRPr lang="en" sz="1129"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A list of values, all the </a:t>
            </a:r>
            <a:r>
              <a:rPr lang="en" sz="1100" b="1" i="0" u="none" strike="noStrike" cap="none" dirty="0">
                <a:solidFill>
                  <a:schemeClr val="tx1"/>
                </a:solidFill>
                <a:latin typeface="Roboto"/>
                <a:ea typeface="Roboto"/>
                <a:cs typeface="Roboto"/>
                <a:sym typeface="Roboto"/>
              </a:rPr>
              <a:t>same type</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050" b="1" i="0" u="none" strike="noStrike" cap="none" dirty="0">
                <a:solidFill>
                  <a:srgbClr val="0053A1"/>
                </a:solidFill>
                <a:latin typeface="Courier New"/>
                <a:ea typeface="Courier New"/>
                <a:cs typeface="Courier New"/>
                <a:sym typeface="Courier New"/>
              </a:rPr>
              <a:t>number[]</a:t>
            </a:r>
            <a:r>
              <a:rPr lang="en" sz="1100" b="0" i="0" u="none" strike="noStrike" cap="none" dirty="0">
                <a:solidFill>
                  <a:schemeClr val="tx1"/>
                </a:solidFill>
                <a:latin typeface="Roboto"/>
                <a:ea typeface="Roboto"/>
                <a:cs typeface="Roboto"/>
                <a:sym typeface="Roboto"/>
              </a:rPr>
              <a:t> or </a:t>
            </a:r>
            <a:r>
              <a:rPr lang="en" sz="1050" b="1" i="0" u="none" strike="noStrike" cap="none" dirty="0">
                <a:solidFill>
                  <a:srgbClr val="0053A1"/>
                </a:solidFill>
                <a:latin typeface="Courier New"/>
                <a:ea typeface="Courier New"/>
                <a:cs typeface="Courier New"/>
                <a:sym typeface="Courier New"/>
              </a:rPr>
              <a:t>Array&lt;number&gt;</a:t>
            </a:r>
            <a:endParaRPr lang="en" sz="1100" b="0" i="0" u="none" strike="noStrike" cap="none" dirty="0">
              <a:solidFill>
                <a:srgbClr val="000000"/>
              </a:solidFill>
              <a:latin typeface="Roboto"/>
              <a:ea typeface="Roboto"/>
              <a:cs typeface="Roboto"/>
              <a:sym typeface="Roboto"/>
            </a:endParaRPr>
          </a:p>
          <a:p>
            <a:pPr marL="0" marR="0" lvl="0" indent="0" algn="l" rtl="0">
              <a:lnSpc>
                <a:spcPct val="120000"/>
              </a:lnSpc>
              <a:spcBef>
                <a:spcPts val="700"/>
              </a:spcBef>
              <a:spcAft>
                <a:spcPts val="200"/>
              </a:spcAft>
              <a:buNone/>
            </a:pPr>
            <a:r>
              <a:rPr lang="en" sz="1129" b="1" i="0" u="none" strike="noStrike" cap="none" dirty="0">
                <a:solidFill>
                  <a:srgbClr val="000000"/>
                </a:solidFill>
                <a:latin typeface="Poppins SemiBold"/>
                <a:ea typeface="Poppins SemiBold"/>
                <a:cs typeface="Poppins SemiBold"/>
                <a:sym typeface="Poppins SemiBold"/>
              </a:rPr>
              <a:t>Tuples</a:t>
            </a:r>
            <a:endParaRPr lang="en" sz="1129"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Fixed length, </a:t>
            </a:r>
            <a:r>
              <a:rPr lang="en" sz="1100" b="1" i="0" u="none" strike="noStrike" cap="none" dirty="0">
                <a:solidFill>
                  <a:schemeClr val="tx1"/>
                </a:solidFill>
                <a:latin typeface="Roboto"/>
                <a:ea typeface="Roboto"/>
                <a:cs typeface="Roboto"/>
                <a:sym typeface="Roboto"/>
              </a:rPr>
              <a:t>each position typed</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050" b="1" i="0" u="none" strike="noStrike" cap="none" dirty="0">
                <a:solidFill>
                  <a:srgbClr val="0053A1"/>
                </a:solidFill>
                <a:latin typeface="Courier New"/>
                <a:ea typeface="Courier New"/>
                <a:cs typeface="Courier New"/>
                <a:sym typeface="Courier New"/>
              </a:rPr>
              <a:t>[string, number]</a:t>
            </a:r>
            <a:endParaRPr lang="en" sz="1100" b="0" i="0" u="none" strike="noStrike" cap="none" dirty="0">
              <a:solidFill>
                <a:srgbClr val="000000"/>
              </a:solidFill>
              <a:latin typeface="Roboto"/>
              <a:ea typeface="Roboto"/>
              <a:cs typeface="Roboto"/>
              <a:sym typeface="Roboto"/>
            </a:endParaRPr>
          </a:p>
        </p:txBody>
      </p:sp>
      <p:sp>
        <p:nvSpPr>
          <p:cNvPr id="420" name="Code panel"/>
          <p:cNvSpPr/>
          <p:nvPr/>
        </p:nvSpPr>
        <p:spPr>
          <a:xfrm>
            <a:off x="4300000" y="500000"/>
            <a:ext cx="4350000" cy="1989460"/>
          </a:xfrm>
          <a:prstGeom prst="roundRect">
            <a:avLst>
              <a:gd name="adj" fmla="val 3500"/>
            </a:avLst>
          </a:prstGeom>
          <a:solidFill>
            <a:srgbClr val="0E2455"/>
          </a:solidFill>
          <a:ln>
            <a:noFill/>
          </a:ln>
          <a:effectLst>
            <a:outerShdw blurRad="63500" dist="25400" dir="5400000" algn="t" rotWithShape="0">
              <a:srgbClr val="000000">
                <a:alpha val="22000"/>
              </a:srgbClr>
            </a:outerShdw>
          </a:effectLst>
        </p:spPr>
        <p:txBody>
          <a:bodyPr rtlCol="0" anchor="ctr"/>
          <a:lstStyle/>
          <a:p>
            <a:pPr algn="ctr"/>
          </a:p>
        </p:txBody>
      </p:sp>
      <p:sp>
        <p:nvSpPr>
          <p:cNvPr id="421" name="Dot 1"/>
          <p:cNvSpPr/>
          <p:nvPr/>
        </p:nvSpPr>
        <p:spPr>
          <a:xfrm>
            <a:off x="4420000" y="605000"/>
            <a:ext cx="70000" cy="70000"/>
          </a:xfrm>
          <a:prstGeom prst="ellipse">
            <a:avLst/>
          </a:prstGeom>
          <a:solidFill>
            <a:srgbClr val="C00000"/>
          </a:solidFill>
          <a:ln>
            <a:noFill/>
          </a:ln>
        </p:spPr>
        <p:txBody>
          <a:bodyPr rtlCol="0" anchor="ctr"/>
          <a:lstStyle/>
          <a:p>
            <a:pPr algn="ctr"/>
          </a:p>
        </p:txBody>
      </p:sp>
      <p:sp>
        <p:nvSpPr>
          <p:cNvPr id="422" name="Dot 2"/>
          <p:cNvSpPr/>
          <p:nvPr/>
        </p:nvSpPr>
        <p:spPr>
          <a:xfrm>
            <a:off x="4550000" y="605000"/>
            <a:ext cx="70000" cy="70000"/>
          </a:xfrm>
          <a:prstGeom prst="ellipse">
            <a:avLst/>
          </a:prstGeom>
          <a:solidFill>
            <a:srgbClr val="F2B705"/>
          </a:solidFill>
          <a:ln>
            <a:noFill/>
          </a:ln>
        </p:spPr>
        <p:txBody>
          <a:bodyPr rtlCol="0" anchor="ctr"/>
          <a:lstStyle/>
          <a:p>
            <a:pPr algn="ctr"/>
          </a:p>
        </p:txBody>
      </p:sp>
      <p:sp>
        <p:nvSpPr>
          <p:cNvPr id="423" name="Dot 3"/>
          <p:cNvSpPr/>
          <p:nvPr/>
        </p:nvSpPr>
        <p:spPr>
          <a:xfrm>
            <a:off x="4680000" y="605000"/>
            <a:ext cx="70000" cy="70000"/>
          </a:xfrm>
          <a:prstGeom prst="ellipse">
            <a:avLst/>
          </a:prstGeom>
          <a:solidFill>
            <a:srgbClr val="3DAE5C"/>
          </a:solidFill>
          <a:ln>
            <a:noFill/>
          </a:ln>
        </p:spPr>
        <p:txBody>
          <a:bodyPr rtlCol="0" anchor="ctr"/>
          <a:lstStyle/>
          <a:p>
            <a:pPr algn="ctr"/>
          </a:p>
        </p:txBody>
      </p:sp>
      <p:sp>
        <p:nvSpPr>
          <p:cNvPr id="424" name="Code label"/>
          <p:cNvSpPr txBox="1"/>
          <p:nvPr/>
        </p:nvSpPr>
        <p:spPr>
          <a:xfrm>
            <a:off x="7650000" y="555000"/>
            <a:ext cx="900000" cy="170000"/>
          </a:xfrm>
          <a:prstGeom prst="rect">
            <a:avLst/>
          </a:prstGeom>
          <a:noFill/>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800" b="1" i="0" u="none" strike="noStrike" cap="none" dirty="0">
                <a:solidFill>
                  <a:srgbClr val="8FA3C4"/>
                </a:solidFill>
                <a:latin typeface="Roboto"/>
                <a:ea typeface="Roboto"/>
                <a:cs typeface="Roboto"/>
                <a:sym typeface="Roboto"/>
              </a:rPr>
              <a:t>TS</a:t>
            </a:r>
            <a:endParaRPr lang="en" sz="800" b="0" i="0" u="none" strike="noStrike" cap="none" dirty="0">
              <a:solidFill>
                <a:srgbClr val="000000"/>
              </a:solidFill>
              <a:latin typeface="Roboto"/>
              <a:ea typeface="Roboto"/>
              <a:cs typeface="Roboto"/>
              <a:sym typeface="Roboto"/>
            </a:endParaRPr>
          </a:p>
        </p:txBody>
      </p:sp>
      <p:sp>
        <p:nvSpPr>
          <p:cNvPr id="425" name="Code"/>
          <p:cNvSpPr txBox="1"/>
          <p:nvPr/>
        </p:nvSpPr>
        <p:spPr>
          <a:xfrm>
            <a:off x="4360000" y="750000"/>
            <a:ext cx="4230000" cy="1709460"/>
          </a:xfrm>
          <a:prstGeom prst="rect">
            <a:avLst/>
          </a:prstGeom>
          <a:noFill/>
        </p:spPr>
        <p:txBody>
          <a:bodyPr spcFirstLastPara="1" wrap="square" lIns="86025" tIns="0" rIns="60000" bIns="0" anchor="t" anchorCtr="0">
            <a:noAutofit/>
          </a:bodyPr>
          <a:lstStyle/>
          <a:p>
            <a:pPr marL="0" marR="0" lvl="0" indent="0" algn="l" rtl="0">
              <a:lnSpc>
                <a:spcPct val="108000"/>
              </a:lnSpc>
              <a:spcBef>
                <a:spcPts val="0"/>
              </a:spcBef>
              <a:spcAft>
                <a:spcPts val="0"/>
              </a:spcAft>
              <a:buNone/>
            </a:pPr>
            <a:r>
              <a:rPr lang="en" sz="900" b="0" i="1" u="none" strike="noStrike" cap="none" dirty="0">
                <a:solidFill>
                  <a:srgbClr val="8FA3C4"/>
                </a:solidFill>
                <a:latin typeface="Courier New"/>
                <a:ea typeface="Courier New"/>
                <a:cs typeface="Courier New"/>
                <a:sym typeface="Courier New"/>
              </a:rPr>
              <a:t>// Array - one type, any length</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8CC4FF"/>
                </a:solidFill>
                <a:latin typeface="Courier New"/>
                <a:ea typeface="Courier New"/>
                <a:cs typeface="Courier New"/>
                <a:sym typeface="Courier New"/>
              </a:rPr>
              <a:t>let</a:t>
            </a:r>
            <a:r>
              <a:rPr lang="en" sz="900" b="0" i="0" u="none" strike="noStrike" cap="none" dirty="0">
                <a:solidFill>
                  <a:srgbClr val="E6ECF7"/>
                </a:solidFill>
                <a:latin typeface="Courier New"/>
                <a:ea typeface="Courier New"/>
                <a:cs typeface="Courier New"/>
                <a:sym typeface="Courier New"/>
              </a:rPr>
              <a:t> languages: string[] = [</a:t>
            </a:r>
            <a:r>
              <a:rPr lang="en" sz="900" b="0" i="0" u="none" strike="noStrike" cap="none" dirty="0">
                <a:solidFill>
                  <a:srgbClr val="FFC878"/>
                </a:solidFill>
                <a:latin typeface="Courier New"/>
                <a:ea typeface="Courier New"/>
                <a:cs typeface="Courier New"/>
                <a:sym typeface="Courier New"/>
              </a:rPr>
              <a:t>"TypeScript"</a:t>
            </a: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FFC878"/>
                </a:solidFill>
                <a:latin typeface="Courier New"/>
                <a:ea typeface="Courier New"/>
                <a:cs typeface="Courier New"/>
                <a:sym typeface="Courier New"/>
              </a:rPr>
              <a:t>"JavaScript"</a:t>
            </a: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languages.push(</a:t>
            </a:r>
            <a:r>
              <a:rPr lang="en" sz="900" b="0" i="0" u="none" strike="noStrike" cap="none" dirty="0">
                <a:solidFill>
                  <a:srgbClr val="FFC878"/>
                </a:solidFill>
                <a:latin typeface="Courier New"/>
                <a:ea typeface="Courier New"/>
                <a:cs typeface="Courier New"/>
                <a:sym typeface="Courier New"/>
              </a:rPr>
              <a:t>"Python"</a:t>
            </a:r>
            <a:r>
              <a:rPr lang="en" sz="900" b="0" i="0" u="none" strike="noStrike" cap="none" dirty="0">
                <a:solidFill>
                  <a:srgbClr val="E6ECF7"/>
                </a:solidFill>
                <a:latin typeface="Courier New"/>
                <a:ea typeface="Courier New"/>
                <a:cs typeface="Courier New"/>
                <a:sym typeface="Courier New"/>
              </a:rPr>
              <a:t>); </a:t>
            </a:r>
            <a:r>
              <a:rPr lang="en" sz="900" b="0" i="1" u="none" strike="noStrike" cap="none" dirty="0">
                <a:solidFill>
                  <a:srgbClr val="8FA3C4"/>
                </a:solidFill>
                <a:latin typeface="Courier New"/>
                <a:ea typeface="Courier New"/>
                <a:cs typeface="Courier New"/>
                <a:sym typeface="Courier New"/>
              </a:rPr>
              <a:t>// OK</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languages.push(</a:t>
            </a:r>
            <a:r>
              <a:rPr lang="en" sz="900" b="0" i="0" u="none" strike="noStrike" cap="none" dirty="0">
                <a:solidFill>
                  <a:srgbClr val="F2B705"/>
                </a:solidFill>
                <a:latin typeface="Courier New"/>
                <a:ea typeface="Courier New"/>
                <a:cs typeface="Courier New"/>
                <a:sym typeface="Courier New"/>
              </a:rPr>
              <a:t>42</a:t>
            </a:r>
            <a:r>
              <a:rPr lang="en" sz="900" b="0" i="0" u="none" strike="noStrike" cap="none" dirty="0">
                <a:solidFill>
                  <a:srgbClr val="E6ECF7"/>
                </a:solidFill>
                <a:latin typeface="Courier New"/>
                <a:ea typeface="Courier New"/>
                <a:cs typeface="Courier New"/>
                <a:sym typeface="Courier New"/>
              </a:rPr>
              <a:t>);       </a:t>
            </a:r>
            <a:r>
              <a:rPr lang="en" sz="900" b="0" i="1" u="none" strike="noStrike" cap="none" dirty="0">
                <a:solidFill>
                  <a:srgbClr val="8FA3C4"/>
                </a:solidFill>
                <a:latin typeface="Courier New"/>
                <a:ea typeface="Courier New"/>
                <a:cs typeface="Courier New"/>
                <a:sym typeface="Courier New"/>
              </a:rPr>
              <a:t>// Error</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1" u="none" strike="noStrike" cap="none" dirty="0">
                <a:solidFill>
                  <a:srgbClr val="8FA3C4"/>
                </a:solidFill>
                <a:latin typeface="Courier New"/>
                <a:ea typeface="Courier New"/>
                <a:cs typeface="Courier New"/>
                <a:sym typeface="Courier New"/>
              </a:rPr>
              <a:t>// Tuple - fixed structure</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8CC4FF"/>
                </a:solidFill>
                <a:latin typeface="Courier New"/>
                <a:ea typeface="Courier New"/>
                <a:cs typeface="Courier New"/>
                <a:sym typeface="Courier New"/>
              </a:rPr>
              <a:t>let</a:t>
            </a:r>
            <a:r>
              <a:rPr lang="en" sz="900" b="0" i="0" u="none" strike="noStrike" cap="none" dirty="0">
                <a:solidFill>
                  <a:srgbClr val="E6ECF7"/>
                </a:solidFill>
                <a:latin typeface="Courier New"/>
                <a:ea typeface="Courier New"/>
                <a:cs typeface="Courier New"/>
                <a:sym typeface="Courier New"/>
              </a:rPr>
              <a:t> person: [string, number] = [</a:t>
            </a:r>
            <a:r>
              <a:rPr lang="en" sz="900" b="0" i="0" u="none" strike="noStrike" cap="none" dirty="0">
                <a:solidFill>
                  <a:srgbClr val="FFC878"/>
                </a:solidFill>
                <a:latin typeface="Courier New"/>
                <a:ea typeface="Courier New"/>
                <a:cs typeface="Courier New"/>
                <a:sym typeface="Courier New"/>
              </a:rPr>
              <a:t>"Alice"</a:t>
            </a: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F2B705"/>
                </a:solidFill>
                <a:latin typeface="Courier New"/>
                <a:ea typeface="Courier New"/>
                <a:cs typeface="Courier New"/>
                <a:sym typeface="Courier New"/>
              </a:rPr>
              <a:t>30</a:t>
            </a: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person[</a:t>
            </a:r>
            <a:r>
              <a:rPr lang="en" sz="900" b="0" i="0" u="none" strike="noStrike" cap="none" dirty="0">
                <a:solidFill>
                  <a:srgbClr val="F2B705"/>
                </a:solidFill>
                <a:latin typeface="Courier New"/>
                <a:ea typeface="Courier New"/>
                <a:cs typeface="Courier New"/>
                <a:sym typeface="Courier New"/>
              </a:rPr>
              <a:t>0</a:t>
            </a:r>
            <a:r>
              <a:rPr lang="en" sz="900" b="0" i="0" u="none" strike="noStrike" cap="none" dirty="0">
                <a:solidFill>
                  <a:srgbClr val="E6ECF7"/>
                </a:solidFill>
                <a:latin typeface="Courier New"/>
                <a:ea typeface="Courier New"/>
                <a:cs typeface="Courier New"/>
                <a:sym typeface="Courier New"/>
              </a:rPr>
              <a:t>].toUpperCase(); </a:t>
            </a:r>
            <a:r>
              <a:rPr lang="en" sz="900" b="0" i="1" u="none" strike="noStrike" cap="none" dirty="0">
                <a:solidFill>
                  <a:srgbClr val="8FA3C4"/>
                </a:solidFill>
                <a:latin typeface="Courier New"/>
                <a:ea typeface="Courier New"/>
                <a:cs typeface="Courier New"/>
                <a:sym typeface="Courier New"/>
              </a:rPr>
              <a:t>// OK</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person[</a:t>
            </a:r>
            <a:r>
              <a:rPr lang="en" sz="900" b="0" i="0" u="none" strike="noStrike" cap="none" dirty="0">
                <a:solidFill>
                  <a:srgbClr val="F2B705"/>
                </a:solidFill>
                <a:latin typeface="Courier New"/>
                <a:ea typeface="Courier New"/>
                <a:cs typeface="Courier New"/>
                <a:sym typeface="Courier New"/>
              </a:rPr>
              <a:t>1</a:t>
            </a:r>
            <a:r>
              <a:rPr lang="en" sz="900" b="0" i="0" u="none" strike="noStrike" cap="none" dirty="0">
                <a:solidFill>
                  <a:srgbClr val="E6ECF7"/>
                </a:solidFill>
                <a:latin typeface="Courier New"/>
                <a:ea typeface="Courier New"/>
                <a:cs typeface="Courier New"/>
                <a:sym typeface="Courier New"/>
              </a:rPr>
              <a:t>].toUpperCase(); </a:t>
            </a:r>
            <a:r>
              <a:rPr lang="en" sz="900" b="0" i="1" u="none" strike="noStrike" cap="none" dirty="0">
                <a:solidFill>
                  <a:srgbClr val="8FA3C4"/>
                </a:solidFill>
                <a:latin typeface="Courier New"/>
                <a:ea typeface="Courier New"/>
                <a:cs typeface="Courier New"/>
                <a:sym typeface="Courier New"/>
              </a:rPr>
              <a:t>// Error: a number</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8CC4FF"/>
                </a:solidFill>
                <a:latin typeface="Courier New"/>
                <a:ea typeface="Courier New"/>
                <a:cs typeface="Courier New"/>
                <a:sym typeface="Courier New"/>
              </a:rPr>
              <a:t>let</a:t>
            </a:r>
            <a:r>
              <a:rPr lang="en" sz="900" b="0" i="0" u="none" strike="noStrike" cap="none" dirty="0">
                <a:solidFill>
                  <a:srgbClr val="E6ECF7"/>
                </a:solidFill>
                <a:latin typeface="Courier New"/>
                <a:ea typeface="Courier New"/>
                <a:cs typeface="Courier New"/>
                <a:sym typeface="Courier New"/>
              </a:rPr>
              <a:t> http: [number, string] = [</a:t>
            </a:r>
            <a:r>
              <a:rPr lang="en" sz="900" b="0" i="0" u="none" strike="noStrike" cap="none" dirty="0">
                <a:solidFill>
                  <a:srgbClr val="F2B705"/>
                </a:solidFill>
                <a:latin typeface="Courier New"/>
                <a:ea typeface="Courier New"/>
                <a:cs typeface="Courier New"/>
                <a:sym typeface="Courier New"/>
              </a:rPr>
              <a:t>200</a:t>
            </a: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FFC878"/>
                </a:solidFill>
                <a:latin typeface="Courier New"/>
                <a:ea typeface="Courier New"/>
                <a:cs typeface="Courier New"/>
                <a:sym typeface="Courier New"/>
              </a:rPr>
              <a:t>"OK"</a:t>
            </a: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grpSpPr/>
      <p:pic>
        <p:nvPicPr>
          <p:cNvPr id="110" name="Google Shape;110;p15" title="Untitled-1-07.png"/>
          <p:cNvPicPr preferRelativeResize="0"/>
          <p:nvPr/>
        </p:nvPicPr>
        <p:blipFill rotWithShape="1">
          <a:blip r:embed="rId2">
            <a:alphaModFix/>
          </a:blip>
          <a:srcRect l="5100" r="4630" b="15895"/>
          <a:stretch/>
        </p:blipFill>
        <p:spPr>
          <a:xfrm>
            <a:off x="880549" y="4348257"/>
            <a:ext cx="2096958" cy="548700"/>
          </a:xfrm>
          <a:prstGeom prst="rect">
            <a:avLst/>
          </a:prstGeom>
          <a:noFill/>
          <a:ln>
            <a:noFill/>
          </a:ln>
        </p:spPr>
      </p:pic>
      <p:pic>
        <p:nvPicPr>
          <p:cNvPr id="111" name="Google Shape;111;p15" title="powerd by.png"/>
          <p:cNvPicPr preferRelativeResize="0"/>
          <p:nvPr/>
        </p:nvPicPr>
        <p:blipFill rotWithShape="1">
          <a:blip r:embed="rId5">
            <a:alphaModFix/>
          </a:blip>
          <a:srcRect l="6981" t="44048" r="6714" b="14302"/>
          <a:stretch/>
        </p:blipFill>
        <p:spPr>
          <a:xfrm>
            <a:off x="3537800" y="4500588"/>
            <a:ext cx="2130125" cy="355975"/>
          </a:xfrm>
          <a:prstGeom prst="rect">
            <a:avLst/>
          </a:prstGeom>
          <a:noFill/>
          <a:ln>
            <a:noFill/>
          </a:ln>
        </p:spPr>
      </p:pic>
      <p:sp>
        <p:nvSpPr>
          <p:cNvPr id="112" name="Google Shape;112;p15"/>
          <p:cNvSpPr txBox="1"/>
          <p:nvPr/>
        </p:nvSpPr>
        <p:spPr>
          <a:xfrm>
            <a:off x="5998012" y="4596047"/>
            <a:ext cx="2436900" cy="253800"/>
          </a:xfrm>
          <a:prstGeom prst="rect">
            <a:avLst/>
          </a:prstGeom>
          <a:noFill/>
          <a:ln>
            <a:noFill/>
          </a:ln>
        </p:spPr>
        <p:txBody>
          <a:bodyPr spcFirstLastPara="1" wrap="non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0053A1"/>
                </a:solidFill>
                <a:latin typeface="Roboto"/>
                <a:ea typeface="Roboto"/>
                <a:cs typeface="Roboto"/>
                <a:sym typeface="Roboto"/>
              </a:rPr>
              <a:t>www.</a:t>
            </a:r>
            <a:r>
              <a:rPr lang="en" sz="1200" b="1">
                <a:solidFill>
                  <a:srgbClr val="0053A1"/>
                </a:solidFill>
                <a:latin typeface="Roboto"/>
                <a:ea typeface="Roboto"/>
                <a:cs typeface="Roboto"/>
                <a:sym typeface="Roboto"/>
              </a:rPr>
              <a:t>careercraftacademy.com</a:t>
            </a:r>
            <a:endParaRPr sz="1200" b="1" i="0" u="none" strike="noStrike" cap="none">
              <a:solidFill>
                <a:srgbClr val="0053A1"/>
              </a:solidFill>
              <a:latin typeface="Roboto"/>
              <a:ea typeface="Roboto"/>
              <a:cs typeface="Roboto"/>
              <a:sym typeface="Roboto"/>
            </a:endParaRPr>
          </a:p>
        </p:txBody>
      </p:sp>
      <p:pic>
        <p:nvPicPr>
          <p:cNvPr id="114" name="Google Shape;114;p15"/>
          <p:cNvPicPr preferRelativeResize="0"/>
          <p:nvPr/>
        </p:nvPicPr>
        <p:blipFill>
          <a:blip r:embed="rId4">
            <a:alphaModFix/>
          </a:blip>
          <a:stretch>
            <a:fillRect/>
          </a:stretch>
        </p:blipFill>
        <p:spPr>
          <a:xfrm>
            <a:off x="8447868" y="4368945"/>
            <a:ext cx="334175" cy="480903"/>
          </a:xfrm>
          <a:prstGeom prst="rect">
            <a:avLst/>
          </a:prstGeom>
          <a:noFill/>
          <a:ln>
            <a:noFill/>
          </a:ln>
        </p:spPr>
      </p:pic>
      <p:sp>
        <p:nvSpPr>
          <p:cNvPr id="426" name="Kicker"/>
          <p:cNvSpPr txBox="1"/>
          <p:nvPr/>
        </p:nvSpPr>
        <p:spPr>
          <a:xfrm>
            <a:off x="675600" y="285000"/>
            <a:ext cx="3560000" cy="241200"/>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1003" b="0" i="0" u="none" strike="noStrike" cap="none" dirty="0">
                <a:solidFill>
                  <a:srgbClr val="7F7F7F"/>
                </a:solidFill>
                <a:latin typeface="Roboto"/>
                <a:ea typeface="Roboto"/>
                <a:cs typeface="Roboto"/>
                <a:sym typeface="Roboto"/>
              </a:rPr>
              <a:t>The Type System</a:t>
            </a:r>
            <a:endParaRPr lang="en" sz="1003" b="0" i="0" u="none" strike="noStrike" cap="none" dirty="0">
              <a:solidFill>
                <a:srgbClr val="000000"/>
              </a:solidFill>
              <a:latin typeface="Roboto"/>
              <a:ea typeface="Roboto"/>
              <a:cs typeface="Roboto"/>
              <a:sym typeface="Roboto"/>
            </a:endParaRPr>
          </a:p>
        </p:txBody>
      </p:sp>
      <p:sp>
        <p:nvSpPr>
          <p:cNvPr id="427" name="Title"/>
          <p:cNvSpPr txBox="1"/>
          <p:nvPr/>
        </p:nvSpPr>
        <p:spPr>
          <a:xfrm>
            <a:off x="675600" y="520000"/>
            <a:ext cx="3560000" cy="763948"/>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2200" b="1" i="0" u="none" strike="noStrike" cap="none" dirty="0">
                <a:solidFill>
                  <a:srgbClr val="0053A1"/>
                </a:solidFill>
                <a:latin typeface="Poppins SemiBold"/>
                <a:ea typeface="Poppins SemiBold"/>
                <a:cs typeface="Poppins SemiBold"/>
                <a:sym typeface="Poppins SemiBold"/>
              </a:rPr>
              <a:t>Enums and</a:t>
            </a:r>
            <a:endParaRPr lang="en" sz="2200" b="0" i="0" u="none" strike="noStrike" cap="none" dirty="0">
              <a:solidFill>
                <a:srgbClr val="000000"/>
              </a:solidFill>
              <a:latin typeface="Roboto"/>
              <a:ea typeface="Roboto"/>
              <a:cs typeface="Roboto"/>
              <a:sym typeface="Roboto"/>
            </a:endParaRPr>
          </a:p>
          <a:p>
            <a:pPr marL="0" marR="0" lvl="0" indent="0" algn="l" rtl="0">
              <a:lnSpc>
                <a:spcPct val="100000"/>
              </a:lnSpc>
              <a:spcBef>
                <a:spcPts val="0"/>
              </a:spcBef>
              <a:spcAft>
                <a:spcPts val="0"/>
              </a:spcAft>
              <a:buNone/>
            </a:pPr>
            <a:r>
              <a:rPr lang="en" sz="2200" b="1" i="0" u="none" strike="noStrike" cap="none" dirty="0">
                <a:solidFill>
                  <a:srgbClr val="000000"/>
                </a:solidFill>
                <a:latin typeface="Poppins SemiBold"/>
                <a:ea typeface="Poppins SemiBold"/>
                <a:cs typeface="Poppins SemiBold"/>
                <a:sym typeface="Poppins SemiBold"/>
              </a:rPr>
              <a:t>Literal Types</a:t>
            </a:r>
            <a:endParaRPr lang="en" sz="2200" b="0" i="0" u="none" strike="noStrike" cap="none" dirty="0">
              <a:solidFill>
                <a:srgbClr val="000000"/>
              </a:solidFill>
              <a:latin typeface="Roboto"/>
              <a:ea typeface="Roboto"/>
              <a:cs typeface="Roboto"/>
              <a:sym typeface="Roboto"/>
            </a:endParaRPr>
          </a:p>
        </p:txBody>
      </p:sp>
      <p:sp>
        <p:nvSpPr>
          <p:cNvPr id="428" name="Body"/>
          <p:cNvSpPr txBox="1"/>
          <p:nvPr/>
        </p:nvSpPr>
        <p:spPr>
          <a:xfrm>
            <a:off x="620000" y="1383000"/>
            <a:ext cx="3560000" cy="1246780"/>
          </a:xfrm>
          <a:prstGeom prst="rect">
            <a:avLst/>
          </a:prstGeom>
          <a:noFill/>
        </p:spPr>
        <p:txBody>
          <a:bodyPr spcFirstLastPara="1" wrap="square" lIns="86025" tIns="43000" rIns="86025" bIns="43000" anchor="t" anchorCtr="0">
            <a:noAutofit/>
          </a:bodyPr>
          <a:lstStyle/>
          <a:p>
            <a:pPr marL="171450" marR="0" lvl="0" indent="-171450" algn="l" rtl="0">
              <a:lnSpc>
                <a:spcPct val="125000"/>
              </a:lnSpc>
              <a:spcBef>
                <a:spcPts val="100"/>
              </a:spcBef>
              <a:spcAft>
                <a:spcPts val="0"/>
              </a:spcAft>
              <a:buClr>
                <a:srgbClr val="000000"/>
              </a:buClr>
              <a:buSzPts val="1100"/>
              <a:buFont typeface="Arial"/>
              <a:buChar char="•"/>
            </a:pPr>
            <a:r>
              <a:rPr lang="en" sz="1100" b="1" i="0" u="none" strike="noStrike" cap="none" dirty="0">
                <a:solidFill>
                  <a:schemeClr val="tx1"/>
                </a:solidFill>
                <a:latin typeface="Roboto"/>
                <a:ea typeface="Roboto"/>
                <a:cs typeface="Roboto"/>
                <a:sym typeface="Roboto"/>
              </a:rPr>
              <a:t>Enums</a:t>
            </a:r>
            <a:r>
              <a:rPr lang="en" sz="1100" b="0" i="0" u="none" strike="noStrike" cap="none" dirty="0">
                <a:solidFill>
                  <a:schemeClr val="tx1"/>
                </a:solidFill>
                <a:latin typeface="Roboto"/>
                <a:ea typeface="Roboto"/>
                <a:cs typeface="Roboto"/>
                <a:sym typeface="Roboto"/>
              </a:rPr>
              <a:t>: named, readable constants</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1" i="0" u="none" strike="noStrike" cap="none" dirty="0">
                <a:solidFill>
                  <a:schemeClr val="tx1"/>
                </a:solidFill>
                <a:latin typeface="Roboto"/>
                <a:ea typeface="Roboto"/>
                <a:cs typeface="Roboto"/>
                <a:sym typeface="Roboto"/>
              </a:rPr>
              <a:t>String enums</a:t>
            </a:r>
            <a:r>
              <a:rPr lang="en" sz="1100" b="0" i="0" u="none" strike="noStrike" cap="none" dirty="0">
                <a:solidFill>
                  <a:schemeClr val="tx1"/>
                </a:solidFill>
                <a:latin typeface="Roboto"/>
                <a:ea typeface="Roboto"/>
                <a:cs typeface="Roboto"/>
                <a:sym typeface="Roboto"/>
              </a:rPr>
              <a:t> read better in logs</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1" i="0" u="none" strike="noStrike" cap="none" dirty="0">
                <a:solidFill>
                  <a:schemeClr val="tx1"/>
                </a:solidFill>
                <a:latin typeface="Roboto"/>
                <a:ea typeface="Roboto"/>
                <a:cs typeface="Roboto"/>
                <a:sym typeface="Roboto"/>
              </a:rPr>
              <a:t>Literal types</a:t>
            </a:r>
            <a:r>
              <a:rPr lang="en" sz="1100" b="0" i="0" u="none" strike="noStrike" cap="none" dirty="0">
                <a:solidFill>
                  <a:schemeClr val="tx1"/>
                </a:solidFill>
                <a:latin typeface="Roboto"/>
                <a:ea typeface="Roboto"/>
                <a:cs typeface="Roboto"/>
                <a:sym typeface="Roboto"/>
              </a:rPr>
              <a:t>: only exact values allowed</a:t>
            </a:r>
            <a:endParaRPr lang="en" sz="1100" b="0" i="0" u="none" strike="noStrike" cap="none" dirty="0">
              <a:solidFill>
                <a:srgbClr val="000000"/>
              </a:solidFill>
              <a:latin typeface="Roboto"/>
              <a:ea typeface="Roboto"/>
              <a:cs typeface="Roboto"/>
              <a:sym typeface="Roboto"/>
            </a:endParaRPr>
          </a:p>
          <a:p>
            <a:pPr marL="0" marR="0" lvl="0" indent="0" algn="l" rtl="0">
              <a:lnSpc>
                <a:spcPct val="135000"/>
              </a:lnSpc>
              <a:spcBef>
                <a:spcPts val="0"/>
              </a:spcBef>
              <a:spcAft>
                <a:spcPts val="300"/>
              </a:spcAft>
              <a:buNone/>
            </a:pPr>
            <a:r>
              <a:rPr lang="en" sz="1100" b="0" i="0" u="none" strike="noStrike" cap="none" dirty="0">
                <a:solidFill>
                  <a:schemeClr val="tx1"/>
                </a:solidFill>
                <a:latin typeface="Roboto"/>
                <a:ea typeface="Roboto"/>
                <a:cs typeface="Roboto"/>
                <a:sym typeface="Roboto"/>
              </a:rPr>
              <a:t>Enums replace magic numbers like </a:t>
            </a:r>
            <a:r>
              <a:rPr lang="en" sz="1050" b="1" i="0" u="none" strike="noStrike" cap="none" dirty="0">
                <a:solidFill>
                  <a:srgbClr val="0053A1"/>
                </a:solidFill>
                <a:latin typeface="Courier New"/>
                <a:ea typeface="Courier New"/>
                <a:cs typeface="Courier New"/>
                <a:sym typeface="Courier New"/>
              </a:rPr>
              <a:t>status === 1</a:t>
            </a:r>
            <a:r>
              <a:rPr lang="en" sz="1100" b="0" i="0" u="none" strike="noStrike" cap="none" dirty="0">
                <a:solidFill>
                  <a:schemeClr val="tx1"/>
                </a:solidFill>
                <a:latin typeface="Roboto"/>
                <a:ea typeface="Roboto"/>
                <a:cs typeface="Roboto"/>
                <a:sym typeface="Roboto"/>
              </a:rPr>
              <a:t>.</a:t>
            </a:r>
            <a:endParaRPr lang="en" sz="1100" b="0" i="0" u="none" strike="noStrike" cap="none" dirty="0">
              <a:solidFill>
                <a:srgbClr val="000000"/>
              </a:solidFill>
              <a:latin typeface="Roboto"/>
              <a:ea typeface="Roboto"/>
              <a:cs typeface="Roboto"/>
              <a:sym typeface="Roboto"/>
            </a:endParaRPr>
          </a:p>
        </p:txBody>
      </p:sp>
      <p:sp>
        <p:nvSpPr>
          <p:cNvPr id="429" name="Code panel"/>
          <p:cNvSpPr/>
          <p:nvPr/>
        </p:nvSpPr>
        <p:spPr>
          <a:xfrm>
            <a:off x="4300000" y="500000"/>
            <a:ext cx="4350000" cy="2581992"/>
          </a:xfrm>
          <a:prstGeom prst="roundRect">
            <a:avLst>
              <a:gd name="adj" fmla="val 3500"/>
            </a:avLst>
          </a:prstGeom>
          <a:solidFill>
            <a:srgbClr val="0E2455"/>
          </a:solidFill>
          <a:ln>
            <a:noFill/>
          </a:ln>
          <a:effectLst>
            <a:outerShdw blurRad="63500" dist="25400" dir="5400000" algn="t" rotWithShape="0">
              <a:srgbClr val="000000">
                <a:alpha val="22000"/>
              </a:srgbClr>
            </a:outerShdw>
          </a:effectLst>
        </p:spPr>
        <p:txBody>
          <a:bodyPr rtlCol="0" anchor="ctr"/>
          <a:lstStyle/>
          <a:p>
            <a:pPr algn="ctr"/>
          </a:p>
        </p:txBody>
      </p:sp>
      <p:sp>
        <p:nvSpPr>
          <p:cNvPr id="430" name="Dot 1"/>
          <p:cNvSpPr/>
          <p:nvPr/>
        </p:nvSpPr>
        <p:spPr>
          <a:xfrm>
            <a:off x="4420000" y="605000"/>
            <a:ext cx="70000" cy="70000"/>
          </a:xfrm>
          <a:prstGeom prst="ellipse">
            <a:avLst/>
          </a:prstGeom>
          <a:solidFill>
            <a:srgbClr val="C00000"/>
          </a:solidFill>
          <a:ln>
            <a:noFill/>
          </a:ln>
        </p:spPr>
        <p:txBody>
          <a:bodyPr rtlCol="0" anchor="ctr"/>
          <a:lstStyle/>
          <a:p>
            <a:pPr algn="ctr"/>
          </a:p>
        </p:txBody>
      </p:sp>
      <p:sp>
        <p:nvSpPr>
          <p:cNvPr id="431" name="Dot 2"/>
          <p:cNvSpPr/>
          <p:nvPr/>
        </p:nvSpPr>
        <p:spPr>
          <a:xfrm>
            <a:off x="4550000" y="605000"/>
            <a:ext cx="70000" cy="70000"/>
          </a:xfrm>
          <a:prstGeom prst="ellipse">
            <a:avLst/>
          </a:prstGeom>
          <a:solidFill>
            <a:srgbClr val="F2B705"/>
          </a:solidFill>
          <a:ln>
            <a:noFill/>
          </a:ln>
        </p:spPr>
        <p:txBody>
          <a:bodyPr rtlCol="0" anchor="ctr"/>
          <a:lstStyle/>
          <a:p>
            <a:pPr algn="ctr"/>
          </a:p>
        </p:txBody>
      </p:sp>
      <p:sp>
        <p:nvSpPr>
          <p:cNvPr id="432" name="Dot 3"/>
          <p:cNvSpPr/>
          <p:nvPr/>
        </p:nvSpPr>
        <p:spPr>
          <a:xfrm>
            <a:off x="4680000" y="605000"/>
            <a:ext cx="70000" cy="70000"/>
          </a:xfrm>
          <a:prstGeom prst="ellipse">
            <a:avLst/>
          </a:prstGeom>
          <a:solidFill>
            <a:srgbClr val="3DAE5C"/>
          </a:solidFill>
          <a:ln>
            <a:noFill/>
          </a:ln>
        </p:spPr>
        <p:txBody>
          <a:bodyPr rtlCol="0" anchor="ctr"/>
          <a:lstStyle/>
          <a:p>
            <a:pPr algn="ctr"/>
          </a:p>
        </p:txBody>
      </p:sp>
      <p:sp>
        <p:nvSpPr>
          <p:cNvPr id="433" name="Code label"/>
          <p:cNvSpPr txBox="1"/>
          <p:nvPr/>
        </p:nvSpPr>
        <p:spPr>
          <a:xfrm>
            <a:off x="7650000" y="555000"/>
            <a:ext cx="900000" cy="170000"/>
          </a:xfrm>
          <a:prstGeom prst="rect">
            <a:avLst/>
          </a:prstGeom>
          <a:noFill/>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800" b="1" i="0" u="none" strike="noStrike" cap="none" dirty="0">
                <a:solidFill>
                  <a:srgbClr val="8FA3C4"/>
                </a:solidFill>
                <a:latin typeface="Roboto"/>
                <a:ea typeface="Roboto"/>
                <a:cs typeface="Roboto"/>
                <a:sym typeface="Roboto"/>
              </a:rPr>
              <a:t>TS</a:t>
            </a:r>
            <a:endParaRPr lang="en" sz="800" b="0" i="0" u="none" strike="noStrike" cap="none" dirty="0">
              <a:solidFill>
                <a:srgbClr val="000000"/>
              </a:solidFill>
              <a:latin typeface="Roboto"/>
              <a:ea typeface="Roboto"/>
              <a:cs typeface="Roboto"/>
              <a:sym typeface="Roboto"/>
            </a:endParaRPr>
          </a:p>
        </p:txBody>
      </p:sp>
      <p:sp>
        <p:nvSpPr>
          <p:cNvPr id="434" name="Code"/>
          <p:cNvSpPr txBox="1"/>
          <p:nvPr/>
        </p:nvSpPr>
        <p:spPr>
          <a:xfrm>
            <a:off x="4360000" y="750000"/>
            <a:ext cx="4230000" cy="2301992"/>
          </a:xfrm>
          <a:prstGeom prst="rect">
            <a:avLst/>
          </a:prstGeom>
          <a:noFill/>
        </p:spPr>
        <p:txBody>
          <a:bodyPr spcFirstLastPara="1" wrap="square" lIns="86025" tIns="0" rIns="60000" bIns="0" anchor="t" anchorCtr="0">
            <a:noAutofit/>
          </a:bodyPr>
          <a:lstStyle/>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enum Direction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Up, Down, Left, Right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8CC4FF"/>
                </a:solidFill>
                <a:latin typeface="Courier New"/>
                <a:ea typeface="Courier New"/>
                <a:cs typeface="Courier New"/>
                <a:sym typeface="Courier New"/>
              </a:rPr>
              <a:t>let</a:t>
            </a:r>
            <a:r>
              <a:rPr lang="en" sz="900" b="0" i="0" u="none" strike="noStrike" cap="none" dirty="0">
                <a:solidFill>
                  <a:srgbClr val="E6ECF7"/>
                </a:solidFill>
                <a:latin typeface="Courier New"/>
                <a:ea typeface="Courier New"/>
                <a:cs typeface="Courier New"/>
                <a:sym typeface="Courier New"/>
              </a:rPr>
              <a:t> move: Direction = Direction.Up;</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1" u="none" strike="noStrike" cap="none" dirty="0">
                <a:solidFill>
                  <a:srgbClr val="8FA3C4"/>
                </a:solidFill>
                <a:latin typeface="Courier New"/>
                <a:ea typeface="Courier New"/>
                <a:cs typeface="Courier New"/>
                <a:sym typeface="Courier New"/>
              </a:rPr>
              <a:t>// String enum (more readable)</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enum Status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Active = </a:t>
            </a:r>
            <a:r>
              <a:rPr lang="en" sz="900" b="0" i="0" u="none" strike="noStrike" cap="none" dirty="0">
                <a:solidFill>
                  <a:srgbClr val="FFC878"/>
                </a:solidFill>
                <a:latin typeface="Courier New"/>
                <a:ea typeface="Courier New"/>
                <a:cs typeface="Courier New"/>
                <a:sym typeface="Courier New"/>
              </a:rPr>
              <a:t>"ACTIVE"</a:t>
            </a: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Inactive = </a:t>
            </a:r>
            <a:r>
              <a:rPr lang="en" sz="900" b="0" i="0" u="none" strike="noStrike" cap="none" dirty="0">
                <a:solidFill>
                  <a:srgbClr val="FFC878"/>
                </a:solidFill>
                <a:latin typeface="Courier New"/>
                <a:ea typeface="Courier New"/>
                <a:cs typeface="Courier New"/>
                <a:sym typeface="Courier New"/>
              </a:rPr>
              <a:t>"INACTIVE"</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1" u="none" strike="noStrike" cap="none" dirty="0">
                <a:solidFill>
                  <a:srgbClr val="8FA3C4"/>
                </a:solidFill>
                <a:latin typeface="Courier New"/>
                <a:ea typeface="Courier New"/>
                <a:cs typeface="Courier New"/>
                <a:sym typeface="Courier New"/>
              </a:rPr>
              <a:t>// Literal type</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8CC4FF"/>
                </a:solidFill>
                <a:latin typeface="Courier New"/>
                <a:ea typeface="Courier New"/>
                <a:cs typeface="Courier New"/>
                <a:sym typeface="Courier New"/>
              </a:rPr>
              <a:t>let</a:t>
            </a:r>
            <a:r>
              <a:rPr lang="en" sz="900" b="0" i="0" u="none" strike="noStrike" cap="none" dirty="0">
                <a:solidFill>
                  <a:srgbClr val="E6ECF7"/>
                </a:solidFill>
                <a:latin typeface="Courier New"/>
                <a:ea typeface="Courier New"/>
                <a:cs typeface="Courier New"/>
                <a:sym typeface="Courier New"/>
              </a:rPr>
              <a:t> role: </a:t>
            </a:r>
            <a:r>
              <a:rPr lang="en" sz="900" b="0" i="0" u="none" strike="noStrike" cap="none" dirty="0">
                <a:solidFill>
                  <a:srgbClr val="FFC878"/>
                </a:solidFill>
                <a:latin typeface="Courier New"/>
                <a:ea typeface="Courier New"/>
                <a:cs typeface="Courier New"/>
                <a:sym typeface="Courier New"/>
              </a:rPr>
              <a:t>"admin"</a:t>
            </a:r>
            <a:r>
              <a:rPr lang="en" sz="900" b="0" i="0" u="none" strike="noStrike" cap="none" dirty="0">
                <a:solidFill>
                  <a:srgbClr val="E6ECF7"/>
                </a:solidFill>
                <a:latin typeface="Courier New"/>
                <a:ea typeface="Courier New"/>
                <a:cs typeface="Courier New"/>
                <a:sym typeface="Courier New"/>
              </a:rPr>
              <a:t> | </a:t>
            </a:r>
            <a:r>
              <a:rPr lang="en" sz="900" b="0" i="0" u="none" strike="noStrike" cap="none" dirty="0">
                <a:solidFill>
                  <a:srgbClr val="FFC878"/>
                </a:solidFill>
                <a:latin typeface="Courier New"/>
                <a:ea typeface="Courier New"/>
                <a:cs typeface="Courier New"/>
                <a:sym typeface="Courier New"/>
              </a:rPr>
              <a:t>"editor"</a:t>
            </a:r>
            <a:r>
              <a:rPr lang="en" sz="900" b="0" i="0" u="none" strike="noStrike" cap="none" dirty="0">
                <a:solidFill>
                  <a:srgbClr val="E6ECF7"/>
                </a:solidFill>
                <a:latin typeface="Courier New"/>
                <a:ea typeface="Courier New"/>
                <a:cs typeface="Courier New"/>
                <a:sym typeface="Courier New"/>
              </a:rPr>
              <a:t> | </a:t>
            </a:r>
            <a:r>
              <a:rPr lang="en" sz="900" b="0" i="0" u="none" strike="noStrike" cap="none" dirty="0">
                <a:solidFill>
                  <a:srgbClr val="FFC878"/>
                </a:solidFill>
                <a:latin typeface="Courier New"/>
                <a:ea typeface="Courier New"/>
                <a:cs typeface="Courier New"/>
                <a:sym typeface="Courier New"/>
              </a:rPr>
              <a:t>"viewer"</a:t>
            </a: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role = </a:t>
            </a:r>
            <a:r>
              <a:rPr lang="en" sz="900" b="0" i="0" u="none" strike="noStrike" cap="none" dirty="0">
                <a:solidFill>
                  <a:srgbClr val="FFC878"/>
                </a:solidFill>
                <a:latin typeface="Courier New"/>
                <a:ea typeface="Courier New"/>
                <a:cs typeface="Courier New"/>
                <a:sym typeface="Courier New"/>
              </a:rPr>
              <a:t>"admin"</a:t>
            </a:r>
            <a:r>
              <a:rPr lang="en" sz="900" b="0" i="0" u="none" strike="noStrike" cap="none" dirty="0">
                <a:solidFill>
                  <a:srgbClr val="E6ECF7"/>
                </a:solidFill>
                <a:latin typeface="Courier New"/>
                <a:ea typeface="Courier New"/>
                <a:cs typeface="Courier New"/>
                <a:sym typeface="Courier New"/>
              </a:rPr>
              <a:t>; </a:t>
            </a:r>
            <a:r>
              <a:rPr lang="en" sz="900" b="0" i="1" u="none" strike="noStrike" cap="none" dirty="0">
                <a:solidFill>
                  <a:srgbClr val="8FA3C4"/>
                </a:solidFill>
                <a:latin typeface="Courier New"/>
                <a:ea typeface="Courier New"/>
                <a:cs typeface="Courier New"/>
                <a:sym typeface="Courier New"/>
              </a:rPr>
              <a:t>// OK</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role = </a:t>
            </a:r>
            <a:r>
              <a:rPr lang="en" sz="900" b="0" i="0" u="none" strike="noStrike" cap="none" dirty="0">
                <a:solidFill>
                  <a:srgbClr val="FFC878"/>
                </a:solidFill>
                <a:latin typeface="Courier New"/>
                <a:ea typeface="Courier New"/>
                <a:cs typeface="Courier New"/>
                <a:sym typeface="Courier New"/>
              </a:rPr>
              <a:t>"boss"</a:t>
            </a:r>
            <a:r>
              <a:rPr lang="en" sz="900" b="0" i="0" u="none" strike="noStrike" cap="none" dirty="0">
                <a:solidFill>
                  <a:srgbClr val="E6ECF7"/>
                </a:solidFill>
                <a:latin typeface="Courier New"/>
                <a:ea typeface="Courier New"/>
                <a:cs typeface="Courier New"/>
                <a:sym typeface="Courier New"/>
              </a:rPr>
              <a:t>;  </a:t>
            </a:r>
            <a:r>
              <a:rPr lang="en" sz="900" b="0" i="1" u="none" strike="noStrike" cap="none" dirty="0">
                <a:solidFill>
                  <a:srgbClr val="8FA3C4"/>
                </a:solidFill>
                <a:latin typeface="Courier New"/>
                <a:ea typeface="Courier New"/>
                <a:cs typeface="Courier New"/>
                <a:sym typeface="Courier New"/>
              </a:rPr>
              <a:t>// Error</a:t>
            </a:r>
            <a:endParaRPr lang="en" sz="900" b="0" i="0" u="none" strike="noStrike" cap="none" dirty="0">
              <a:solidFill>
                <a:srgbClr val="000000"/>
              </a:solidFill>
              <a:latin typeface="Roboto"/>
              <a:ea typeface="Roboto"/>
              <a:cs typeface="Roboto"/>
              <a:sym typeface="Roboto"/>
            </a:endParaR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grpSpPr/>
      <p:pic>
        <p:nvPicPr>
          <p:cNvPr id="110" name="Google Shape;110;p15" title="Untitled-1-07.png"/>
          <p:cNvPicPr preferRelativeResize="0"/>
          <p:nvPr/>
        </p:nvPicPr>
        <p:blipFill rotWithShape="1">
          <a:blip r:embed="rId2">
            <a:alphaModFix/>
          </a:blip>
          <a:srcRect l="5100" r="4630" b="15895"/>
          <a:stretch/>
        </p:blipFill>
        <p:spPr>
          <a:xfrm>
            <a:off x="880549" y="4348257"/>
            <a:ext cx="2096958" cy="548700"/>
          </a:xfrm>
          <a:prstGeom prst="rect">
            <a:avLst/>
          </a:prstGeom>
          <a:noFill/>
          <a:ln>
            <a:noFill/>
          </a:ln>
        </p:spPr>
      </p:pic>
      <p:pic>
        <p:nvPicPr>
          <p:cNvPr id="111" name="Google Shape;111;p15" title="powerd by.png"/>
          <p:cNvPicPr preferRelativeResize="0"/>
          <p:nvPr/>
        </p:nvPicPr>
        <p:blipFill rotWithShape="1">
          <a:blip r:embed="rId5">
            <a:alphaModFix/>
          </a:blip>
          <a:srcRect l="6981" t="44048" r="6714" b="14302"/>
          <a:stretch/>
        </p:blipFill>
        <p:spPr>
          <a:xfrm>
            <a:off x="3537800" y="4500588"/>
            <a:ext cx="2130125" cy="355975"/>
          </a:xfrm>
          <a:prstGeom prst="rect">
            <a:avLst/>
          </a:prstGeom>
          <a:noFill/>
          <a:ln>
            <a:noFill/>
          </a:ln>
        </p:spPr>
      </p:pic>
      <p:sp>
        <p:nvSpPr>
          <p:cNvPr id="112" name="Google Shape;112;p15"/>
          <p:cNvSpPr txBox="1"/>
          <p:nvPr/>
        </p:nvSpPr>
        <p:spPr>
          <a:xfrm>
            <a:off x="5998012" y="4596047"/>
            <a:ext cx="2436900" cy="253800"/>
          </a:xfrm>
          <a:prstGeom prst="rect">
            <a:avLst/>
          </a:prstGeom>
          <a:noFill/>
          <a:ln>
            <a:noFill/>
          </a:ln>
        </p:spPr>
        <p:txBody>
          <a:bodyPr spcFirstLastPara="1" wrap="non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0053A1"/>
                </a:solidFill>
                <a:latin typeface="Roboto"/>
                <a:ea typeface="Roboto"/>
                <a:cs typeface="Roboto"/>
                <a:sym typeface="Roboto"/>
              </a:rPr>
              <a:t>www.</a:t>
            </a:r>
            <a:r>
              <a:rPr lang="en" sz="1200" b="1">
                <a:solidFill>
                  <a:srgbClr val="0053A1"/>
                </a:solidFill>
                <a:latin typeface="Roboto"/>
                <a:ea typeface="Roboto"/>
                <a:cs typeface="Roboto"/>
                <a:sym typeface="Roboto"/>
              </a:rPr>
              <a:t>careercraftacademy.com</a:t>
            </a:r>
            <a:endParaRPr sz="1200" b="1" i="0" u="none" strike="noStrike" cap="none">
              <a:solidFill>
                <a:srgbClr val="0053A1"/>
              </a:solidFill>
              <a:latin typeface="Roboto"/>
              <a:ea typeface="Roboto"/>
              <a:cs typeface="Roboto"/>
              <a:sym typeface="Roboto"/>
            </a:endParaRPr>
          </a:p>
        </p:txBody>
      </p:sp>
      <p:pic>
        <p:nvPicPr>
          <p:cNvPr id="114" name="Google Shape;114;p15"/>
          <p:cNvPicPr preferRelativeResize="0"/>
          <p:nvPr/>
        </p:nvPicPr>
        <p:blipFill>
          <a:blip r:embed="rId4">
            <a:alphaModFix/>
          </a:blip>
          <a:stretch>
            <a:fillRect/>
          </a:stretch>
        </p:blipFill>
        <p:spPr>
          <a:xfrm>
            <a:off x="8447868" y="4368945"/>
            <a:ext cx="334175" cy="480903"/>
          </a:xfrm>
          <a:prstGeom prst="rect">
            <a:avLst/>
          </a:prstGeom>
          <a:noFill/>
          <a:ln>
            <a:noFill/>
          </a:ln>
        </p:spPr>
      </p:pic>
      <p:sp>
        <p:nvSpPr>
          <p:cNvPr id="435" name="Kicker"/>
          <p:cNvSpPr txBox="1"/>
          <p:nvPr/>
        </p:nvSpPr>
        <p:spPr>
          <a:xfrm>
            <a:off x="675600" y="285000"/>
            <a:ext cx="3560000" cy="241200"/>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1003" b="0" i="0" u="none" strike="noStrike" cap="none" dirty="0">
                <a:solidFill>
                  <a:srgbClr val="7F7F7F"/>
                </a:solidFill>
                <a:latin typeface="Roboto"/>
                <a:ea typeface="Roboto"/>
                <a:cs typeface="Roboto"/>
                <a:sym typeface="Roboto"/>
              </a:rPr>
              <a:t>Functions</a:t>
            </a:r>
            <a:endParaRPr lang="en" sz="1003" b="0" i="0" u="none" strike="noStrike" cap="none" dirty="0">
              <a:solidFill>
                <a:srgbClr val="000000"/>
              </a:solidFill>
              <a:latin typeface="Roboto"/>
              <a:ea typeface="Roboto"/>
              <a:cs typeface="Roboto"/>
              <a:sym typeface="Roboto"/>
            </a:endParaRPr>
          </a:p>
        </p:txBody>
      </p:sp>
      <p:sp>
        <p:nvSpPr>
          <p:cNvPr id="436" name="Title"/>
          <p:cNvSpPr txBox="1"/>
          <p:nvPr/>
        </p:nvSpPr>
        <p:spPr>
          <a:xfrm>
            <a:off x="675600" y="520000"/>
            <a:ext cx="3560000" cy="425394"/>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2200" b="1" i="0" u="none" strike="noStrike" cap="none" dirty="0">
                <a:solidFill>
                  <a:srgbClr val="0053A1"/>
                </a:solidFill>
                <a:latin typeface="Poppins SemiBold"/>
                <a:ea typeface="Poppins SemiBold"/>
                <a:cs typeface="Poppins SemiBold"/>
                <a:sym typeface="Poppins SemiBold"/>
              </a:rPr>
              <a:t>Typing </a:t>
            </a:r>
            <a:r>
              <a:rPr lang="en" sz="2200" b="1" i="0" u="none" strike="noStrike" cap="none" dirty="0">
                <a:solidFill>
                  <a:srgbClr val="000000"/>
                </a:solidFill>
                <a:latin typeface="Poppins SemiBold"/>
                <a:ea typeface="Poppins SemiBold"/>
                <a:cs typeface="Poppins SemiBold"/>
                <a:sym typeface="Poppins SemiBold"/>
              </a:rPr>
              <a:t>Functions</a:t>
            </a:r>
            <a:endParaRPr lang="en" sz="2200" b="0" i="0" u="none" strike="noStrike" cap="none" dirty="0">
              <a:solidFill>
                <a:srgbClr val="000000"/>
              </a:solidFill>
              <a:latin typeface="Roboto"/>
              <a:ea typeface="Roboto"/>
              <a:cs typeface="Roboto"/>
              <a:sym typeface="Roboto"/>
            </a:endParaRPr>
          </a:p>
        </p:txBody>
      </p:sp>
      <p:sp>
        <p:nvSpPr>
          <p:cNvPr id="437" name="Body"/>
          <p:cNvSpPr txBox="1"/>
          <p:nvPr/>
        </p:nvSpPr>
        <p:spPr>
          <a:xfrm>
            <a:off x="620000" y="1048000"/>
            <a:ext cx="3560000" cy="1246780"/>
          </a:xfrm>
          <a:prstGeom prst="rect">
            <a:avLst/>
          </a:prstGeom>
          <a:noFill/>
        </p:spPr>
        <p:txBody>
          <a:bodyPr spcFirstLastPara="1" wrap="square" lIns="86025" tIns="43000" rIns="86025" bIns="43000" anchor="t" anchorCtr="0">
            <a:noAutofit/>
          </a:bodyPr>
          <a:lstStyle/>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Type each </a:t>
            </a:r>
            <a:r>
              <a:rPr lang="en" sz="1100" b="1" i="0" u="none" strike="noStrike" cap="none" dirty="0">
                <a:solidFill>
                  <a:schemeClr val="tx1"/>
                </a:solidFill>
                <a:latin typeface="Roboto"/>
                <a:ea typeface="Roboto"/>
                <a:cs typeface="Roboto"/>
                <a:sym typeface="Roboto"/>
              </a:rPr>
              <a:t>parameter</a:t>
            </a:r>
            <a:r>
              <a:rPr lang="en" sz="1100" b="0" i="0" u="none" strike="noStrike" cap="none" dirty="0">
                <a:solidFill>
                  <a:schemeClr val="tx1"/>
                </a:solidFill>
                <a:latin typeface="Roboto"/>
                <a:ea typeface="Roboto"/>
                <a:cs typeface="Roboto"/>
                <a:sym typeface="Roboto"/>
              </a:rPr>
              <a:t> and the </a:t>
            </a:r>
            <a:r>
              <a:rPr lang="en" sz="1100" b="1" i="0" u="none" strike="noStrike" cap="none" dirty="0">
                <a:solidFill>
                  <a:schemeClr val="tx1"/>
                </a:solidFill>
                <a:latin typeface="Roboto"/>
                <a:ea typeface="Roboto"/>
                <a:cs typeface="Roboto"/>
                <a:sym typeface="Roboto"/>
              </a:rPr>
              <a:t>return type</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Syntax: </a:t>
            </a:r>
            <a:r>
              <a:rPr lang="en" sz="1050" b="1" i="0" u="none" strike="noStrike" cap="none" dirty="0">
                <a:solidFill>
                  <a:srgbClr val="0053A1"/>
                </a:solidFill>
                <a:latin typeface="Courier New"/>
                <a:ea typeface="Courier New"/>
                <a:cs typeface="Courier New"/>
                <a:sym typeface="Courier New"/>
              </a:rPr>
              <a:t>function name(p: type): type { }</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Works with arrow functions too</a:t>
            </a:r>
            <a:endParaRPr lang="en" sz="1100" b="0" i="0" u="none" strike="noStrike" cap="none" dirty="0">
              <a:solidFill>
                <a:srgbClr val="000000"/>
              </a:solidFill>
              <a:latin typeface="Roboto"/>
              <a:ea typeface="Roboto"/>
              <a:cs typeface="Roboto"/>
              <a:sym typeface="Roboto"/>
            </a:endParaRPr>
          </a:p>
          <a:p>
            <a:pPr marL="0" marR="0" lvl="0" indent="0" algn="l" rtl="0">
              <a:lnSpc>
                <a:spcPct val="135000"/>
              </a:lnSpc>
              <a:spcBef>
                <a:spcPts val="0"/>
              </a:spcBef>
              <a:spcAft>
                <a:spcPts val="300"/>
              </a:spcAft>
              <a:buNone/>
            </a:pPr>
            <a:r>
              <a:rPr lang="en" sz="1100" b="0" i="0" u="none" strike="noStrike" cap="none" dirty="0">
                <a:solidFill>
                  <a:schemeClr val="tx1"/>
                </a:solidFill>
                <a:latin typeface="Roboto"/>
                <a:ea typeface="Roboto"/>
                <a:cs typeface="Roboto"/>
                <a:sym typeface="Roboto"/>
              </a:rPr>
              <a:t>TypeScript checks inputs, output and argument count.</a:t>
            </a:r>
            <a:endParaRPr lang="en" sz="1100" b="0" i="0" u="none" strike="noStrike" cap="none" dirty="0">
              <a:solidFill>
                <a:srgbClr val="000000"/>
              </a:solidFill>
              <a:latin typeface="Roboto"/>
              <a:ea typeface="Roboto"/>
              <a:cs typeface="Roboto"/>
              <a:sym typeface="Roboto"/>
            </a:endParaRPr>
          </a:p>
        </p:txBody>
      </p:sp>
      <p:sp>
        <p:nvSpPr>
          <p:cNvPr id="438" name="Code panel"/>
          <p:cNvSpPr/>
          <p:nvPr/>
        </p:nvSpPr>
        <p:spPr>
          <a:xfrm>
            <a:off x="4300000" y="500000"/>
            <a:ext cx="4350000" cy="1989460"/>
          </a:xfrm>
          <a:prstGeom prst="roundRect">
            <a:avLst>
              <a:gd name="adj" fmla="val 3500"/>
            </a:avLst>
          </a:prstGeom>
          <a:solidFill>
            <a:srgbClr val="0E2455"/>
          </a:solidFill>
          <a:ln>
            <a:noFill/>
          </a:ln>
          <a:effectLst>
            <a:outerShdw blurRad="63500" dist="25400" dir="5400000" algn="t" rotWithShape="0">
              <a:srgbClr val="000000">
                <a:alpha val="22000"/>
              </a:srgbClr>
            </a:outerShdw>
          </a:effectLst>
        </p:spPr>
        <p:txBody>
          <a:bodyPr rtlCol="0" anchor="ctr"/>
          <a:lstStyle/>
          <a:p>
            <a:pPr algn="ctr"/>
          </a:p>
        </p:txBody>
      </p:sp>
      <p:sp>
        <p:nvSpPr>
          <p:cNvPr id="439" name="Dot 1"/>
          <p:cNvSpPr/>
          <p:nvPr/>
        </p:nvSpPr>
        <p:spPr>
          <a:xfrm>
            <a:off x="4420000" y="605000"/>
            <a:ext cx="70000" cy="70000"/>
          </a:xfrm>
          <a:prstGeom prst="ellipse">
            <a:avLst/>
          </a:prstGeom>
          <a:solidFill>
            <a:srgbClr val="C00000"/>
          </a:solidFill>
          <a:ln>
            <a:noFill/>
          </a:ln>
        </p:spPr>
        <p:txBody>
          <a:bodyPr rtlCol="0" anchor="ctr"/>
          <a:lstStyle/>
          <a:p>
            <a:pPr algn="ctr"/>
          </a:p>
        </p:txBody>
      </p:sp>
      <p:sp>
        <p:nvSpPr>
          <p:cNvPr id="440" name="Dot 2"/>
          <p:cNvSpPr/>
          <p:nvPr/>
        </p:nvSpPr>
        <p:spPr>
          <a:xfrm>
            <a:off x="4550000" y="605000"/>
            <a:ext cx="70000" cy="70000"/>
          </a:xfrm>
          <a:prstGeom prst="ellipse">
            <a:avLst/>
          </a:prstGeom>
          <a:solidFill>
            <a:srgbClr val="F2B705"/>
          </a:solidFill>
          <a:ln>
            <a:noFill/>
          </a:ln>
        </p:spPr>
        <p:txBody>
          <a:bodyPr rtlCol="0" anchor="ctr"/>
          <a:lstStyle/>
          <a:p>
            <a:pPr algn="ctr"/>
          </a:p>
        </p:txBody>
      </p:sp>
      <p:sp>
        <p:nvSpPr>
          <p:cNvPr id="441" name="Dot 3"/>
          <p:cNvSpPr/>
          <p:nvPr/>
        </p:nvSpPr>
        <p:spPr>
          <a:xfrm>
            <a:off x="4680000" y="605000"/>
            <a:ext cx="70000" cy="70000"/>
          </a:xfrm>
          <a:prstGeom prst="ellipse">
            <a:avLst/>
          </a:prstGeom>
          <a:solidFill>
            <a:srgbClr val="3DAE5C"/>
          </a:solidFill>
          <a:ln>
            <a:noFill/>
          </a:ln>
        </p:spPr>
        <p:txBody>
          <a:bodyPr rtlCol="0" anchor="ctr"/>
          <a:lstStyle/>
          <a:p>
            <a:pPr algn="ctr"/>
          </a:p>
        </p:txBody>
      </p:sp>
      <p:sp>
        <p:nvSpPr>
          <p:cNvPr id="442" name="Code label"/>
          <p:cNvSpPr txBox="1"/>
          <p:nvPr/>
        </p:nvSpPr>
        <p:spPr>
          <a:xfrm>
            <a:off x="7650000" y="555000"/>
            <a:ext cx="900000" cy="170000"/>
          </a:xfrm>
          <a:prstGeom prst="rect">
            <a:avLst/>
          </a:prstGeom>
          <a:noFill/>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800" b="1" i="0" u="none" strike="noStrike" cap="none" dirty="0">
                <a:solidFill>
                  <a:srgbClr val="8FA3C4"/>
                </a:solidFill>
                <a:latin typeface="Roboto"/>
                <a:ea typeface="Roboto"/>
                <a:cs typeface="Roboto"/>
                <a:sym typeface="Roboto"/>
              </a:rPr>
              <a:t>TS</a:t>
            </a:r>
            <a:endParaRPr lang="en" sz="800" b="0" i="0" u="none" strike="noStrike" cap="none" dirty="0">
              <a:solidFill>
                <a:srgbClr val="000000"/>
              </a:solidFill>
              <a:latin typeface="Roboto"/>
              <a:ea typeface="Roboto"/>
              <a:cs typeface="Roboto"/>
              <a:sym typeface="Roboto"/>
            </a:endParaRPr>
          </a:p>
        </p:txBody>
      </p:sp>
      <p:sp>
        <p:nvSpPr>
          <p:cNvPr id="443" name="Code"/>
          <p:cNvSpPr txBox="1"/>
          <p:nvPr/>
        </p:nvSpPr>
        <p:spPr>
          <a:xfrm>
            <a:off x="4360000" y="750000"/>
            <a:ext cx="4230000" cy="1709460"/>
          </a:xfrm>
          <a:prstGeom prst="rect">
            <a:avLst/>
          </a:prstGeom>
          <a:noFill/>
        </p:spPr>
        <p:txBody>
          <a:bodyPr spcFirstLastPara="1" wrap="square" lIns="86025" tIns="0" rIns="60000" bIns="0" anchor="t" anchorCtr="0">
            <a:noAutofit/>
          </a:bodyPr>
          <a:lstStyle/>
          <a:p>
            <a:pPr marL="0" marR="0" lvl="0" indent="0" algn="l" rtl="0">
              <a:lnSpc>
                <a:spcPct val="108000"/>
              </a:lnSpc>
              <a:spcBef>
                <a:spcPts val="0"/>
              </a:spcBef>
              <a:spcAft>
                <a:spcPts val="0"/>
              </a:spcAft>
              <a:buNone/>
            </a:pPr>
            <a:r>
              <a:rPr lang="en" sz="900" b="0" i="0" u="none" strike="noStrike" cap="none" dirty="0">
                <a:solidFill>
                  <a:srgbClr val="8CC4FF"/>
                </a:solidFill>
                <a:latin typeface="Courier New"/>
                <a:ea typeface="Courier New"/>
                <a:cs typeface="Courier New"/>
                <a:sym typeface="Courier New"/>
              </a:rPr>
              <a:t>function</a:t>
            </a:r>
            <a:r>
              <a:rPr lang="en" sz="900" b="0" i="0" u="none" strike="noStrike" cap="none" dirty="0">
                <a:solidFill>
                  <a:srgbClr val="E6ECF7"/>
                </a:solidFill>
                <a:latin typeface="Courier New"/>
                <a:ea typeface="Courier New"/>
                <a:cs typeface="Courier New"/>
                <a:sym typeface="Courier New"/>
              </a:rPr>
              <a:t> add(a: number, b: number): number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8CC4FF"/>
                </a:solidFill>
                <a:latin typeface="Courier New"/>
                <a:ea typeface="Courier New"/>
                <a:cs typeface="Courier New"/>
                <a:sym typeface="Courier New"/>
              </a:rPr>
              <a:t>return</a:t>
            </a:r>
            <a:r>
              <a:rPr lang="en" sz="900" b="0" i="0" u="none" strike="noStrike" cap="none" dirty="0">
                <a:solidFill>
                  <a:srgbClr val="E6ECF7"/>
                </a:solidFill>
                <a:latin typeface="Courier New"/>
                <a:ea typeface="Courier New"/>
                <a:cs typeface="Courier New"/>
                <a:sym typeface="Courier New"/>
              </a:rPr>
              <a:t> a + b;</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8CC4FF"/>
                </a:solidFill>
                <a:latin typeface="Courier New"/>
                <a:ea typeface="Courier New"/>
                <a:cs typeface="Courier New"/>
                <a:sym typeface="Courier New"/>
              </a:rPr>
              <a:t>const</a:t>
            </a:r>
            <a:r>
              <a:rPr lang="en" sz="900" b="0" i="0" u="none" strike="noStrike" cap="none" dirty="0">
                <a:solidFill>
                  <a:srgbClr val="E6ECF7"/>
                </a:solidFill>
                <a:latin typeface="Courier New"/>
                <a:ea typeface="Courier New"/>
                <a:cs typeface="Courier New"/>
                <a:sym typeface="Courier New"/>
              </a:rPr>
              <a:t> multiply = (a: number, b: number): number =&gt; a * b;</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8CC4FF"/>
                </a:solidFill>
                <a:latin typeface="Courier New"/>
                <a:ea typeface="Courier New"/>
                <a:cs typeface="Courier New"/>
                <a:sym typeface="Courier New"/>
              </a:rPr>
              <a:t>function</a:t>
            </a:r>
            <a:r>
              <a:rPr lang="en" sz="900" b="0" i="0" u="none" strike="noStrike" cap="none" dirty="0">
                <a:solidFill>
                  <a:srgbClr val="E6ECF7"/>
                </a:solidFill>
                <a:latin typeface="Courier New"/>
                <a:ea typeface="Courier New"/>
                <a:cs typeface="Courier New"/>
                <a:sym typeface="Courier New"/>
              </a:rPr>
              <a:t> bad(): number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8CC4FF"/>
                </a:solidFill>
                <a:latin typeface="Courier New"/>
                <a:ea typeface="Courier New"/>
                <a:cs typeface="Courier New"/>
                <a:sym typeface="Courier New"/>
              </a:rPr>
              <a:t>return</a:t>
            </a: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FFC878"/>
                </a:solidFill>
                <a:latin typeface="Courier New"/>
                <a:ea typeface="Courier New"/>
                <a:cs typeface="Courier New"/>
                <a:sym typeface="Courier New"/>
              </a:rPr>
              <a:t>"oops"</a:t>
            </a:r>
            <a:r>
              <a:rPr lang="en" sz="900" b="0" i="0" u="none" strike="noStrike" cap="none" dirty="0">
                <a:solidFill>
                  <a:srgbClr val="E6ECF7"/>
                </a:solidFill>
                <a:latin typeface="Courier New"/>
                <a:ea typeface="Courier New"/>
                <a:cs typeface="Courier New"/>
                <a:sym typeface="Courier New"/>
              </a:rPr>
              <a:t>; </a:t>
            </a:r>
            <a:r>
              <a:rPr lang="en" sz="900" b="0" i="1" u="none" strike="noStrike" cap="none" dirty="0">
                <a:solidFill>
                  <a:srgbClr val="8FA3C4"/>
                </a:solidFill>
                <a:latin typeface="Courier New"/>
                <a:ea typeface="Courier New"/>
                <a:cs typeface="Courier New"/>
                <a:sym typeface="Courier New"/>
              </a:rPr>
              <a:t>// Error: string is not number</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bad(</a:t>
            </a:r>
            <a:r>
              <a:rPr lang="en" sz="900" b="0" i="0" u="none" strike="noStrike" cap="none" dirty="0">
                <a:solidFill>
                  <a:srgbClr val="F2B705"/>
                </a:solidFill>
                <a:latin typeface="Courier New"/>
                <a:ea typeface="Courier New"/>
                <a:cs typeface="Courier New"/>
                <a:sym typeface="Courier New"/>
              </a:rPr>
              <a:t>5</a:t>
            </a: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FFC878"/>
                </a:solidFill>
                <a:latin typeface="Courier New"/>
                <a:ea typeface="Courier New"/>
                <a:cs typeface="Courier New"/>
                <a:sym typeface="Courier New"/>
              </a:rPr>
              <a:t>"10"</a:t>
            </a:r>
            <a:r>
              <a:rPr lang="en" sz="900" b="0" i="0" u="none" strike="noStrike" cap="none" dirty="0">
                <a:solidFill>
                  <a:srgbClr val="E6ECF7"/>
                </a:solidFill>
                <a:latin typeface="Courier New"/>
                <a:ea typeface="Courier New"/>
                <a:cs typeface="Courier New"/>
                <a:sym typeface="Courier New"/>
              </a:rPr>
              <a:t>); </a:t>
            </a:r>
            <a:r>
              <a:rPr lang="en" sz="900" b="0" i="1" u="none" strike="noStrike" cap="none" dirty="0">
                <a:solidFill>
                  <a:srgbClr val="8FA3C4"/>
                </a:solidFill>
                <a:latin typeface="Courier New"/>
                <a:ea typeface="Courier New"/>
                <a:cs typeface="Courier New"/>
                <a:sym typeface="Courier New"/>
              </a:rPr>
              <a:t>// Error: expected 0 arguments</a:t>
            </a:r>
            <a:endParaRPr lang="en" sz="900" b="0" i="0" u="none" strike="noStrike" cap="none" dirty="0">
              <a:solidFill>
                <a:srgbClr val="000000"/>
              </a:solidFill>
              <a:latin typeface="Roboto"/>
              <a:ea typeface="Roboto"/>
              <a:cs typeface="Roboto"/>
              <a:sym typeface="Roboto"/>
            </a:endParaRP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grpSpPr/>
      <p:pic>
        <p:nvPicPr>
          <p:cNvPr id="110" name="Google Shape;110;p15" title="Untitled-1-07.png"/>
          <p:cNvPicPr preferRelativeResize="0"/>
          <p:nvPr/>
        </p:nvPicPr>
        <p:blipFill rotWithShape="1">
          <a:blip r:embed="rId2">
            <a:alphaModFix/>
          </a:blip>
          <a:srcRect l="5100" r="4630" b="15895"/>
          <a:stretch/>
        </p:blipFill>
        <p:spPr>
          <a:xfrm>
            <a:off x="880549" y="4348257"/>
            <a:ext cx="2096958" cy="548700"/>
          </a:xfrm>
          <a:prstGeom prst="rect">
            <a:avLst/>
          </a:prstGeom>
          <a:noFill/>
          <a:ln>
            <a:noFill/>
          </a:ln>
        </p:spPr>
      </p:pic>
      <p:pic>
        <p:nvPicPr>
          <p:cNvPr id="111" name="Google Shape;111;p15" title="powerd by.png"/>
          <p:cNvPicPr preferRelativeResize="0"/>
          <p:nvPr/>
        </p:nvPicPr>
        <p:blipFill rotWithShape="1">
          <a:blip r:embed="rId5">
            <a:alphaModFix/>
          </a:blip>
          <a:srcRect l="6981" t="44048" r="6714" b="14302"/>
          <a:stretch/>
        </p:blipFill>
        <p:spPr>
          <a:xfrm>
            <a:off x="3537800" y="4500588"/>
            <a:ext cx="2130125" cy="355975"/>
          </a:xfrm>
          <a:prstGeom prst="rect">
            <a:avLst/>
          </a:prstGeom>
          <a:noFill/>
          <a:ln>
            <a:noFill/>
          </a:ln>
        </p:spPr>
      </p:pic>
      <p:sp>
        <p:nvSpPr>
          <p:cNvPr id="112" name="Google Shape;112;p15"/>
          <p:cNvSpPr txBox="1"/>
          <p:nvPr/>
        </p:nvSpPr>
        <p:spPr>
          <a:xfrm>
            <a:off x="5998012" y="4596047"/>
            <a:ext cx="2436900" cy="253800"/>
          </a:xfrm>
          <a:prstGeom prst="rect">
            <a:avLst/>
          </a:prstGeom>
          <a:noFill/>
          <a:ln>
            <a:noFill/>
          </a:ln>
        </p:spPr>
        <p:txBody>
          <a:bodyPr spcFirstLastPara="1" wrap="non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0053A1"/>
                </a:solidFill>
                <a:latin typeface="Roboto"/>
                <a:ea typeface="Roboto"/>
                <a:cs typeface="Roboto"/>
                <a:sym typeface="Roboto"/>
              </a:rPr>
              <a:t>www.</a:t>
            </a:r>
            <a:r>
              <a:rPr lang="en" sz="1200" b="1">
                <a:solidFill>
                  <a:srgbClr val="0053A1"/>
                </a:solidFill>
                <a:latin typeface="Roboto"/>
                <a:ea typeface="Roboto"/>
                <a:cs typeface="Roboto"/>
                <a:sym typeface="Roboto"/>
              </a:rPr>
              <a:t>careercraftacademy.com</a:t>
            </a:r>
            <a:endParaRPr sz="1200" b="1" i="0" u="none" strike="noStrike" cap="none">
              <a:solidFill>
                <a:srgbClr val="0053A1"/>
              </a:solidFill>
              <a:latin typeface="Roboto"/>
              <a:ea typeface="Roboto"/>
              <a:cs typeface="Roboto"/>
              <a:sym typeface="Roboto"/>
            </a:endParaRPr>
          </a:p>
        </p:txBody>
      </p:sp>
      <p:pic>
        <p:nvPicPr>
          <p:cNvPr id="114" name="Google Shape;114;p15"/>
          <p:cNvPicPr preferRelativeResize="0"/>
          <p:nvPr/>
        </p:nvPicPr>
        <p:blipFill>
          <a:blip r:embed="rId4">
            <a:alphaModFix/>
          </a:blip>
          <a:stretch>
            <a:fillRect/>
          </a:stretch>
        </p:blipFill>
        <p:spPr>
          <a:xfrm>
            <a:off x="8447868" y="4368945"/>
            <a:ext cx="334175" cy="480903"/>
          </a:xfrm>
          <a:prstGeom prst="rect">
            <a:avLst/>
          </a:prstGeom>
          <a:noFill/>
          <a:ln>
            <a:noFill/>
          </a:ln>
        </p:spPr>
      </p:pic>
      <p:sp>
        <p:nvSpPr>
          <p:cNvPr id="444" name="Kicker"/>
          <p:cNvSpPr txBox="1"/>
          <p:nvPr/>
        </p:nvSpPr>
        <p:spPr>
          <a:xfrm>
            <a:off x="675600" y="285000"/>
            <a:ext cx="3560000" cy="241200"/>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1003" b="0" i="0" u="none" strike="noStrike" cap="none" dirty="0">
                <a:solidFill>
                  <a:srgbClr val="7F7F7F"/>
                </a:solidFill>
                <a:latin typeface="Roboto"/>
                <a:ea typeface="Roboto"/>
                <a:cs typeface="Roboto"/>
                <a:sym typeface="Roboto"/>
              </a:rPr>
              <a:t>Functions</a:t>
            </a:r>
            <a:endParaRPr lang="en" sz="1003" b="0" i="0" u="none" strike="noStrike" cap="none" dirty="0">
              <a:solidFill>
                <a:srgbClr val="000000"/>
              </a:solidFill>
              <a:latin typeface="Roboto"/>
              <a:ea typeface="Roboto"/>
              <a:cs typeface="Roboto"/>
              <a:sym typeface="Roboto"/>
            </a:endParaRPr>
          </a:p>
        </p:txBody>
      </p:sp>
      <p:sp>
        <p:nvSpPr>
          <p:cNvPr id="445" name="Title"/>
          <p:cNvSpPr txBox="1"/>
          <p:nvPr/>
        </p:nvSpPr>
        <p:spPr>
          <a:xfrm>
            <a:off x="675600" y="520000"/>
            <a:ext cx="3560000" cy="763948"/>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2200" b="1" i="0" u="none" strike="noStrike" cap="none" dirty="0">
                <a:solidFill>
                  <a:srgbClr val="0053A1"/>
                </a:solidFill>
                <a:latin typeface="Poppins SemiBold"/>
                <a:ea typeface="Poppins SemiBold"/>
                <a:cs typeface="Poppins SemiBold"/>
                <a:sym typeface="Poppins SemiBold"/>
              </a:rPr>
              <a:t>Optional and</a:t>
            </a:r>
            <a:endParaRPr lang="en" sz="2200" b="0" i="0" u="none" strike="noStrike" cap="none" dirty="0">
              <a:solidFill>
                <a:srgbClr val="000000"/>
              </a:solidFill>
              <a:latin typeface="Roboto"/>
              <a:ea typeface="Roboto"/>
              <a:cs typeface="Roboto"/>
              <a:sym typeface="Roboto"/>
            </a:endParaRPr>
          </a:p>
          <a:p>
            <a:pPr marL="0" marR="0" lvl="0" indent="0" algn="l" rtl="0">
              <a:lnSpc>
                <a:spcPct val="100000"/>
              </a:lnSpc>
              <a:spcBef>
                <a:spcPts val="0"/>
              </a:spcBef>
              <a:spcAft>
                <a:spcPts val="0"/>
              </a:spcAft>
              <a:buNone/>
            </a:pPr>
            <a:r>
              <a:rPr lang="en" sz="2200" b="1" i="0" u="none" strike="noStrike" cap="none" dirty="0">
                <a:solidFill>
                  <a:srgbClr val="000000"/>
                </a:solidFill>
                <a:latin typeface="Poppins SemiBold"/>
                <a:ea typeface="Poppins SemiBold"/>
                <a:cs typeface="Poppins SemiBold"/>
                <a:sym typeface="Poppins SemiBold"/>
              </a:rPr>
              <a:t>Default Parameters</a:t>
            </a:r>
            <a:endParaRPr lang="en" sz="2200" b="0" i="0" u="none" strike="noStrike" cap="none" dirty="0">
              <a:solidFill>
                <a:srgbClr val="000000"/>
              </a:solidFill>
              <a:latin typeface="Roboto"/>
              <a:ea typeface="Roboto"/>
              <a:cs typeface="Roboto"/>
              <a:sym typeface="Roboto"/>
            </a:endParaRPr>
          </a:p>
        </p:txBody>
      </p:sp>
      <p:sp>
        <p:nvSpPr>
          <p:cNvPr id="446" name="Body"/>
          <p:cNvSpPr txBox="1"/>
          <p:nvPr/>
        </p:nvSpPr>
        <p:spPr>
          <a:xfrm>
            <a:off x="620000" y="1383000"/>
            <a:ext cx="3560000" cy="967380"/>
          </a:xfrm>
          <a:prstGeom prst="rect">
            <a:avLst/>
          </a:prstGeom>
          <a:noFill/>
        </p:spPr>
        <p:txBody>
          <a:bodyPr spcFirstLastPara="1" wrap="square" lIns="86025" tIns="43000" rIns="86025" bIns="43000" anchor="t" anchorCtr="0">
            <a:noAutofit/>
          </a:bodyPr>
          <a:lstStyle/>
          <a:p>
            <a:pPr marL="171450" marR="0" lvl="0" indent="-171450" algn="l" rtl="0">
              <a:lnSpc>
                <a:spcPct val="125000"/>
              </a:lnSpc>
              <a:spcBef>
                <a:spcPts val="100"/>
              </a:spcBef>
              <a:spcAft>
                <a:spcPts val="0"/>
              </a:spcAft>
              <a:buClr>
                <a:srgbClr val="000000"/>
              </a:buClr>
              <a:buSzPts val="1100"/>
              <a:buFont typeface="Arial"/>
              <a:buChar char="•"/>
            </a:pPr>
            <a:r>
              <a:rPr lang="en" sz="1100" b="1" i="0" u="none" strike="noStrike" cap="none" dirty="0">
                <a:solidFill>
                  <a:schemeClr val="tx1"/>
                </a:solidFill>
                <a:latin typeface="Roboto"/>
                <a:ea typeface="Roboto"/>
                <a:cs typeface="Roboto"/>
                <a:sym typeface="Roboto"/>
              </a:rPr>
              <a:t>Optional</a:t>
            </a:r>
            <a:r>
              <a:rPr lang="en" sz="1100" b="0" i="0" u="none" strike="noStrike" cap="none" dirty="0">
                <a:solidFill>
                  <a:schemeClr val="tx1"/>
                </a:solidFill>
                <a:latin typeface="Roboto"/>
                <a:ea typeface="Roboto"/>
                <a:cs typeface="Roboto"/>
                <a:sym typeface="Roboto"/>
              </a:rPr>
              <a:t>: add </a:t>
            </a:r>
            <a:r>
              <a:rPr lang="en" sz="1050" b="1" i="0" u="none" strike="noStrike" cap="none" dirty="0">
                <a:solidFill>
                  <a:srgbClr val="0053A1"/>
                </a:solidFill>
                <a:latin typeface="Courier New"/>
                <a:ea typeface="Courier New"/>
                <a:cs typeface="Courier New"/>
                <a:sym typeface="Courier New"/>
              </a:rPr>
              <a:t>?</a:t>
            </a:r>
            <a:r>
              <a:rPr lang="en" sz="1100" b="0" i="0" u="none" strike="noStrike" cap="none" dirty="0">
                <a:solidFill>
                  <a:schemeClr val="tx1"/>
                </a:solidFill>
                <a:latin typeface="Roboto"/>
                <a:ea typeface="Roboto"/>
                <a:cs typeface="Roboto"/>
                <a:sym typeface="Roboto"/>
              </a:rPr>
              <a:t> after the name</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1" i="0" u="none" strike="noStrike" cap="none" dirty="0">
                <a:solidFill>
                  <a:schemeClr val="tx1"/>
                </a:solidFill>
                <a:latin typeface="Roboto"/>
                <a:ea typeface="Roboto"/>
                <a:cs typeface="Roboto"/>
                <a:sym typeface="Roboto"/>
              </a:rPr>
              <a:t>Default</a:t>
            </a:r>
            <a:r>
              <a:rPr lang="en" sz="1100" b="0" i="0" u="none" strike="noStrike" cap="none" dirty="0">
                <a:solidFill>
                  <a:schemeClr val="tx1"/>
                </a:solidFill>
                <a:latin typeface="Roboto"/>
                <a:ea typeface="Roboto"/>
                <a:cs typeface="Roboto"/>
                <a:sym typeface="Roboto"/>
              </a:rPr>
              <a:t>: give a fallback with </a:t>
            </a:r>
            <a:r>
              <a:rPr lang="en" sz="1050" b="1" i="0" u="none" strike="noStrike" cap="none" dirty="0">
                <a:solidFill>
                  <a:srgbClr val="0053A1"/>
                </a:solidFill>
                <a:latin typeface="Courier New"/>
                <a:ea typeface="Courier New"/>
                <a:cs typeface="Courier New"/>
                <a:sym typeface="Courier New"/>
              </a:rPr>
              <a:t>=</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Optional / default come </a:t>
            </a:r>
            <a:r>
              <a:rPr lang="en" sz="1100" b="1" i="0" u="none" strike="noStrike" cap="none" dirty="0">
                <a:solidFill>
                  <a:schemeClr val="tx1"/>
                </a:solidFill>
                <a:latin typeface="Roboto"/>
                <a:ea typeface="Roboto"/>
                <a:cs typeface="Roboto"/>
                <a:sym typeface="Roboto"/>
              </a:rPr>
              <a:t>after</a:t>
            </a:r>
            <a:r>
              <a:rPr lang="en" sz="1100" b="0" i="0" u="none" strike="noStrike" cap="none" dirty="0">
                <a:solidFill>
                  <a:schemeClr val="tx1"/>
                </a:solidFill>
                <a:latin typeface="Roboto"/>
                <a:ea typeface="Roboto"/>
                <a:cs typeface="Roboto"/>
                <a:sym typeface="Roboto"/>
              </a:rPr>
              <a:t> required ones</a:t>
            </a:r>
            <a:endParaRPr lang="en" sz="1100" b="0" i="0" u="none" strike="noStrike" cap="none" dirty="0">
              <a:solidFill>
                <a:srgbClr val="000000"/>
              </a:solidFill>
              <a:latin typeface="Roboto"/>
              <a:ea typeface="Roboto"/>
              <a:cs typeface="Roboto"/>
              <a:sym typeface="Roboto"/>
            </a:endParaRPr>
          </a:p>
        </p:txBody>
      </p:sp>
      <p:sp>
        <p:nvSpPr>
          <p:cNvPr id="447" name="Code panel"/>
          <p:cNvSpPr/>
          <p:nvPr/>
        </p:nvSpPr>
        <p:spPr>
          <a:xfrm>
            <a:off x="4300000" y="500000"/>
            <a:ext cx="4350000" cy="2581992"/>
          </a:xfrm>
          <a:prstGeom prst="roundRect">
            <a:avLst>
              <a:gd name="adj" fmla="val 3500"/>
            </a:avLst>
          </a:prstGeom>
          <a:solidFill>
            <a:srgbClr val="0E2455"/>
          </a:solidFill>
          <a:ln>
            <a:noFill/>
          </a:ln>
          <a:effectLst>
            <a:outerShdw blurRad="63500" dist="25400" dir="5400000" algn="t" rotWithShape="0">
              <a:srgbClr val="000000">
                <a:alpha val="22000"/>
              </a:srgbClr>
            </a:outerShdw>
          </a:effectLst>
        </p:spPr>
        <p:txBody>
          <a:bodyPr rtlCol="0" anchor="ctr"/>
          <a:lstStyle/>
          <a:p>
            <a:pPr algn="ctr"/>
          </a:p>
        </p:txBody>
      </p:sp>
      <p:sp>
        <p:nvSpPr>
          <p:cNvPr id="448" name="Dot 1"/>
          <p:cNvSpPr/>
          <p:nvPr/>
        </p:nvSpPr>
        <p:spPr>
          <a:xfrm>
            <a:off x="4420000" y="605000"/>
            <a:ext cx="70000" cy="70000"/>
          </a:xfrm>
          <a:prstGeom prst="ellipse">
            <a:avLst/>
          </a:prstGeom>
          <a:solidFill>
            <a:srgbClr val="C00000"/>
          </a:solidFill>
          <a:ln>
            <a:noFill/>
          </a:ln>
        </p:spPr>
        <p:txBody>
          <a:bodyPr rtlCol="0" anchor="ctr"/>
          <a:lstStyle/>
          <a:p>
            <a:pPr algn="ctr"/>
          </a:p>
        </p:txBody>
      </p:sp>
      <p:sp>
        <p:nvSpPr>
          <p:cNvPr id="449" name="Dot 2"/>
          <p:cNvSpPr/>
          <p:nvPr/>
        </p:nvSpPr>
        <p:spPr>
          <a:xfrm>
            <a:off x="4550000" y="605000"/>
            <a:ext cx="70000" cy="70000"/>
          </a:xfrm>
          <a:prstGeom prst="ellipse">
            <a:avLst/>
          </a:prstGeom>
          <a:solidFill>
            <a:srgbClr val="F2B705"/>
          </a:solidFill>
          <a:ln>
            <a:noFill/>
          </a:ln>
        </p:spPr>
        <p:txBody>
          <a:bodyPr rtlCol="0" anchor="ctr"/>
          <a:lstStyle/>
          <a:p>
            <a:pPr algn="ctr"/>
          </a:p>
        </p:txBody>
      </p:sp>
      <p:sp>
        <p:nvSpPr>
          <p:cNvPr id="450" name="Dot 3"/>
          <p:cNvSpPr/>
          <p:nvPr/>
        </p:nvSpPr>
        <p:spPr>
          <a:xfrm>
            <a:off x="4680000" y="605000"/>
            <a:ext cx="70000" cy="70000"/>
          </a:xfrm>
          <a:prstGeom prst="ellipse">
            <a:avLst/>
          </a:prstGeom>
          <a:solidFill>
            <a:srgbClr val="3DAE5C"/>
          </a:solidFill>
          <a:ln>
            <a:noFill/>
          </a:ln>
        </p:spPr>
        <p:txBody>
          <a:bodyPr rtlCol="0" anchor="ctr"/>
          <a:lstStyle/>
          <a:p>
            <a:pPr algn="ctr"/>
          </a:p>
        </p:txBody>
      </p:sp>
      <p:sp>
        <p:nvSpPr>
          <p:cNvPr id="451" name="Code label"/>
          <p:cNvSpPr txBox="1"/>
          <p:nvPr/>
        </p:nvSpPr>
        <p:spPr>
          <a:xfrm>
            <a:off x="7650000" y="555000"/>
            <a:ext cx="900000" cy="170000"/>
          </a:xfrm>
          <a:prstGeom prst="rect">
            <a:avLst/>
          </a:prstGeom>
          <a:noFill/>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800" b="1" i="0" u="none" strike="noStrike" cap="none" dirty="0">
                <a:solidFill>
                  <a:srgbClr val="8FA3C4"/>
                </a:solidFill>
                <a:latin typeface="Roboto"/>
                <a:ea typeface="Roboto"/>
                <a:cs typeface="Roboto"/>
                <a:sym typeface="Roboto"/>
              </a:rPr>
              <a:t>TS</a:t>
            </a:r>
            <a:endParaRPr lang="en" sz="800" b="0" i="0" u="none" strike="noStrike" cap="none" dirty="0">
              <a:solidFill>
                <a:srgbClr val="000000"/>
              </a:solidFill>
              <a:latin typeface="Roboto"/>
              <a:ea typeface="Roboto"/>
              <a:cs typeface="Roboto"/>
              <a:sym typeface="Roboto"/>
            </a:endParaRPr>
          </a:p>
        </p:txBody>
      </p:sp>
      <p:sp>
        <p:nvSpPr>
          <p:cNvPr id="452" name="Code"/>
          <p:cNvSpPr txBox="1"/>
          <p:nvPr/>
        </p:nvSpPr>
        <p:spPr>
          <a:xfrm>
            <a:off x="4360000" y="750000"/>
            <a:ext cx="4230000" cy="2301992"/>
          </a:xfrm>
          <a:prstGeom prst="rect">
            <a:avLst/>
          </a:prstGeom>
          <a:noFill/>
        </p:spPr>
        <p:txBody>
          <a:bodyPr spcFirstLastPara="1" wrap="square" lIns="86025" tIns="0" rIns="60000" bIns="0" anchor="t" anchorCtr="0">
            <a:noAutofit/>
          </a:bodyPr>
          <a:lstStyle/>
          <a:p>
            <a:pPr marL="0" marR="0" lvl="0" indent="0" algn="l" rtl="0">
              <a:lnSpc>
                <a:spcPct val="108000"/>
              </a:lnSpc>
              <a:spcBef>
                <a:spcPts val="0"/>
              </a:spcBef>
              <a:spcAft>
                <a:spcPts val="0"/>
              </a:spcAft>
              <a:buNone/>
            </a:pPr>
            <a:r>
              <a:rPr lang="en" sz="900" b="0" i="1" u="none" strike="noStrike" cap="none" dirty="0">
                <a:solidFill>
                  <a:srgbClr val="8FA3C4"/>
                </a:solidFill>
                <a:latin typeface="Courier New"/>
                <a:ea typeface="Courier New"/>
                <a:cs typeface="Courier New"/>
                <a:sym typeface="Courier New"/>
              </a:rPr>
              <a:t>// Optional parameter</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8CC4FF"/>
                </a:solidFill>
                <a:latin typeface="Courier New"/>
                <a:ea typeface="Courier New"/>
                <a:cs typeface="Courier New"/>
                <a:sym typeface="Courier New"/>
              </a:rPr>
              <a:t>function</a:t>
            </a:r>
            <a:r>
              <a:rPr lang="en" sz="900" b="0" i="0" u="none" strike="noStrike" cap="none" dirty="0">
                <a:solidFill>
                  <a:srgbClr val="E6ECF7"/>
                </a:solidFill>
                <a:latin typeface="Courier New"/>
                <a:ea typeface="Courier New"/>
                <a:cs typeface="Courier New"/>
                <a:sym typeface="Courier New"/>
              </a:rPr>
              <a:t> greet(name?: string): string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8CC4FF"/>
                </a:solidFill>
                <a:latin typeface="Courier New"/>
                <a:ea typeface="Courier New"/>
                <a:cs typeface="Courier New"/>
                <a:sym typeface="Courier New"/>
              </a:rPr>
              <a:t>return</a:t>
            </a: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FFC878"/>
                </a:solidFill>
                <a:latin typeface="Courier New"/>
                <a:ea typeface="Courier New"/>
                <a:cs typeface="Courier New"/>
                <a:sym typeface="Courier New"/>
              </a:rPr>
              <a:t>`Hello, ${name ?? "stranger"}`</a:t>
            </a: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greet();        </a:t>
            </a:r>
            <a:r>
              <a:rPr lang="en" sz="900" b="0" i="1" u="none" strike="noStrike" cap="none" dirty="0">
                <a:solidFill>
                  <a:srgbClr val="8FA3C4"/>
                </a:solidFill>
                <a:latin typeface="Courier New"/>
                <a:ea typeface="Courier New"/>
                <a:cs typeface="Courier New"/>
                <a:sym typeface="Courier New"/>
              </a:rPr>
              <a:t>// "Hello, stranger"</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greet(</a:t>
            </a:r>
            <a:r>
              <a:rPr lang="en" sz="900" b="0" i="0" u="none" strike="noStrike" cap="none" dirty="0">
                <a:solidFill>
                  <a:srgbClr val="FFC878"/>
                </a:solidFill>
                <a:latin typeface="Courier New"/>
                <a:ea typeface="Courier New"/>
                <a:cs typeface="Courier New"/>
                <a:sym typeface="Courier New"/>
              </a:rPr>
              <a:t>"Alice"</a:t>
            </a:r>
            <a:r>
              <a:rPr lang="en" sz="900" b="0" i="0" u="none" strike="noStrike" cap="none" dirty="0">
                <a:solidFill>
                  <a:srgbClr val="E6ECF7"/>
                </a:solidFill>
                <a:latin typeface="Courier New"/>
                <a:ea typeface="Courier New"/>
                <a:cs typeface="Courier New"/>
                <a:sym typeface="Courier New"/>
              </a:rPr>
              <a:t>); </a:t>
            </a:r>
            <a:r>
              <a:rPr lang="en" sz="900" b="0" i="1" u="none" strike="noStrike" cap="none" dirty="0">
                <a:solidFill>
                  <a:srgbClr val="8FA3C4"/>
                </a:solidFill>
                <a:latin typeface="Courier New"/>
                <a:ea typeface="Courier New"/>
                <a:cs typeface="Courier New"/>
                <a:sym typeface="Courier New"/>
              </a:rPr>
              <a:t>// "Hello, Alice"</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1" u="none" strike="noStrike" cap="none" dirty="0">
                <a:solidFill>
                  <a:srgbClr val="8FA3C4"/>
                </a:solidFill>
                <a:latin typeface="Courier New"/>
                <a:ea typeface="Courier New"/>
                <a:cs typeface="Courier New"/>
                <a:sym typeface="Courier New"/>
              </a:rPr>
              <a:t>// Default parameter</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8CC4FF"/>
                </a:solidFill>
                <a:latin typeface="Courier New"/>
                <a:ea typeface="Courier New"/>
                <a:cs typeface="Courier New"/>
                <a:sym typeface="Courier New"/>
              </a:rPr>
              <a:t>function</a:t>
            </a:r>
            <a:r>
              <a:rPr lang="en" sz="900" b="0" i="0" u="none" strike="noStrike" cap="none" dirty="0">
                <a:solidFill>
                  <a:srgbClr val="E6ECF7"/>
                </a:solidFill>
                <a:latin typeface="Courier New"/>
                <a:ea typeface="Courier New"/>
                <a:cs typeface="Courier New"/>
                <a:sym typeface="Courier New"/>
              </a:rPr>
              <a:t> welcome(name: string = </a:t>
            </a:r>
            <a:r>
              <a:rPr lang="en" sz="900" b="0" i="0" u="none" strike="noStrike" cap="none" dirty="0">
                <a:solidFill>
                  <a:srgbClr val="FFC878"/>
                </a:solidFill>
                <a:latin typeface="Courier New"/>
                <a:ea typeface="Courier New"/>
                <a:cs typeface="Courier New"/>
                <a:sym typeface="Courier New"/>
              </a:rPr>
              <a:t>"Guest"</a:t>
            </a:r>
            <a:r>
              <a:rPr lang="en" sz="900" b="0" i="0" u="none" strike="noStrike" cap="none" dirty="0">
                <a:solidFill>
                  <a:srgbClr val="E6ECF7"/>
                </a:solidFill>
                <a:latin typeface="Courier New"/>
                <a:ea typeface="Courier New"/>
                <a:cs typeface="Courier New"/>
                <a:sym typeface="Courier New"/>
              </a:rPr>
              <a:t>): string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8CC4FF"/>
                </a:solidFill>
                <a:latin typeface="Courier New"/>
                <a:ea typeface="Courier New"/>
                <a:cs typeface="Courier New"/>
                <a:sym typeface="Courier New"/>
              </a:rPr>
              <a:t>return</a:t>
            </a: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FFC878"/>
                </a:solidFill>
                <a:latin typeface="Courier New"/>
                <a:ea typeface="Courier New"/>
                <a:cs typeface="Courier New"/>
                <a:sym typeface="Courier New"/>
              </a:rPr>
              <a:t>`Welcome, ${name}!`</a:t>
            </a: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welcome(); </a:t>
            </a:r>
            <a:r>
              <a:rPr lang="en" sz="900" b="0" i="1" u="none" strike="noStrike" cap="none" dirty="0">
                <a:solidFill>
                  <a:srgbClr val="8FA3C4"/>
                </a:solidFill>
                <a:latin typeface="Courier New"/>
                <a:ea typeface="Courier New"/>
                <a:cs typeface="Courier New"/>
                <a:sym typeface="Courier New"/>
              </a:rPr>
              <a:t>// "Welcome, Guest!"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1" u="none" strike="noStrike" cap="none" dirty="0">
                <a:solidFill>
                  <a:srgbClr val="8FA3C4"/>
                </a:solidFill>
                <a:latin typeface="Courier New"/>
                <a:ea typeface="Courier New"/>
                <a:cs typeface="Courier New"/>
                <a:sym typeface="Courier New"/>
              </a:rPr>
              <a:t>// Error: required cannot follow optional</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1" u="none" strike="noStrike" cap="none" dirty="0">
                <a:solidFill>
                  <a:srgbClr val="8FA3C4"/>
                </a:solidFill>
                <a:latin typeface="Courier New"/>
                <a:ea typeface="Courier New"/>
                <a:cs typeface="Courier New"/>
                <a:sym typeface="Courier New"/>
              </a:rPr>
              <a:t>// function broken(a?: string, b: number) { }</a:t>
            </a:r>
            <a:endParaRPr lang="en" sz="900" b="0" i="0" u="none" strike="noStrike" cap="none" dirty="0">
              <a:solidFill>
                <a:srgbClr val="000000"/>
              </a:solidFill>
              <a:latin typeface="Roboto"/>
              <a:ea typeface="Roboto"/>
              <a:cs typeface="Roboto"/>
              <a:sym typeface="Roboto"/>
            </a:endParaRP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grpSpPr/>
      <p:pic>
        <p:nvPicPr>
          <p:cNvPr id="110" name="Google Shape;110;p15" title="Untitled-1-07.png"/>
          <p:cNvPicPr preferRelativeResize="0"/>
          <p:nvPr/>
        </p:nvPicPr>
        <p:blipFill rotWithShape="1">
          <a:blip r:embed="rId2">
            <a:alphaModFix/>
          </a:blip>
          <a:srcRect l="5100" r="4630" b="15895"/>
          <a:stretch/>
        </p:blipFill>
        <p:spPr>
          <a:xfrm>
            <a:off x="880549" y="4348257"/>
            <a:ext cx="2096958" cy="548700"/>
          </a:xfrm>
          <a:prstGeom prst="rect">
            <a:avLst/>
          </a:prstGeom>
          <a:noFill/>
          <a:ln>
            <a:noFill/>
          </a:ln>
        </p:spPr>
      </p:pic>
      <p:pic>
        <p:nvPicPr>
          <p:cNvPr id="111" name="Google Shape;111;p15" title="powerd by.png"/>
          <p:cNvPicPr preferRelativeResize="0"/>
          <p:nvPr/>
        </p:nvPicPr>
        <p:blipFill rotWithShape="1">
          <a:blip r:embed="rId5">
            <a:alphaModFix/>
          </a:blip>
          <a:srcRect l="6981" t="44048" r="6714" b="14302"/>
          <a:stretch/>
        </p:blipFill>
        <p:spPr>
          <a:xfrm>
            <a:off x="3537800" y="4500588"/>
            <a:ext cx="2130125" cy="355975"/>
          </a:xfrm>
          <a:prstGeom prst="rect">
            <a:avLst/>
          </a:prstGeom>
          <a:noFill/>
          <a:ln>
            <a:noFill/>
          </a:ln>
        </p:spPr>
      </p:pic>
      <p:sp>
        <p:nvSpPr>
          <p:cNvPr id="112" name="Google Shape;112;p15"/>
          <p:cNvSpPr txBox="1"/>
          <p:nvPr/>
        </p:nvSpPr>
        <p:spPr>
          <a:xfrm>
            <a:off x="5998012" y="4596047"/>
            <a:ext cx="2436900" cy="253800"/>
          </a:xfrm>
          <a:prstGeom prst="rect">
            <a:avLst/>
          </a:prstGeom>
          <a:noFill/>
          <a:ln>
            <a:noFill/>
          </a:ln>
        </p:spPr>
        <p:txBody>
          <a:bodyPr spcFirstLastPara="1" wrap="non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0053A1"/>
                </a:solidFill>
                <a:latin typeface="Roboto"/>
                <a:ea typeface="Roboto"/>
                <a:cs typeface="Roboto"/>
                <a:sym typeface="Roboto"/>
              </a:rPr>
              <a:t>www.</a:t>
            </a:r>
            <a:r>
              <a:rPr lang="en" sz="1200" b="1">
                <a:solidFill>
                  <a:srgbClr val="0053A1"/>
                </a:solidFill>
                <a:latin typeface="Roboto"/>
                <a:ea typeface="Roboto"/>
                <a:cs typeface="Roboto"/>
                <a:sym typeface="Roboto"/>
              </a:rPr>
              <a:t>careercraftacademy.com</a:t>
            </a:r>
            <a:endParaRPr sz="1200" b="1" i="0" u="none" strike="noStrike" cap="none">
              <a:solidFill>
                <a:srgbClr val="0053A1"/>
              </a:solidFill>
              <a:latin typeface="Roboto"/>
              <a:ea typeface="Roboto"/>
              <a:cs typeface="Roboto"/>
              <a:sym typeface="Roboto"/>
            </a:endParaRPr>
          </a:p>
        </p:txBody>
      </p:sp>
      <p:pic>
        <p:nvPicPr>
          <p:cNvPr id="114" name="Google Shape;114;p15"/>
          <p:cNvPicPr preferRelativeResize="0"/>
          <p:nvPr/>
        </p:nvPicPr>
        <p:blipFill>
          <a:blip r:embed="rId4">
            <a:alphaModFix/>
          </a:blip>
          <a:stretch>
            <a:fillRect/>
          </a:stretch>
        </p:blipFill>
        <p:spPr>
          <a:xfrm>
            <a:off x="8447868" y="4368945"/>
            <a:ext cx="334175" cy="480903"/>
          </a:xfrm>
          <a:prstGeom prst="rect">
            <a:avLst/>
          </a:prstGeom>
          <a:noFill/>
          <a:ln>
            <a:noFill/>
          </a:ln>
        </p:spPr>
      </p:pic>
      <p:sp>
        <p:nvSpPr>
          <p:cNvPr id="453" name="Kicker"/>
          <p:cNvSpPr txBox="1"/>
          <p:nvPr/>
        </p:nvSpPr>
        <p:spPr>
          <a:xfrm>
            <a:off x="675600" y="285000"/>
            <a:ext cx="3560000" cy="241200"/>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1003" b="0" i="0" u="none" strike="noStrike" cap="none" dirty="0">
                <a:solidFill>
                  <a:srgbClr val="7F7F7F"/>
                </a:solidFill>
                <a:latin typeface="Roboto"/>
                <a:ea typeface="Roboto"/>
                <a:cs typeface="Roboto"/>
                <a:sym typeface="Roboto"/>
              </a:rPr>
              <a:t>Functions</a:t>
            </a:r>
            <a:endParaRPr lang="en" sz="1003" b="0" i="0" u="none" strike="noStrike" cap="none" dirty="0">
              <a:solidFill>
                <a:srgbClr val="000000"/>
              </a:solidFill>
              <a:latin typeface="Roboto"/>
              <a:ea typeface="Roboto"/>
              <a:cs typeface="Roboto"/>
              <a:sym typeface="Roboto"/>
            </a:endParaRPr>
          </a:p>
        </p:txBody>
      </p:sp>
      <p:sp>
        <p:nvSpPr>
          <p:cNvPr id="454" name="Title"/>
          <p:cNvSpPr txBox="1"/>
          <p:nvPr/>
        </p:nvSpPr>
        <p:spPr>
          <a:xfrm>
            <a:off x="675600" y="520000"/>
            <a:ext cx="3560000" cy="763948"/>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2200" b="1" i="0" u="none" strike="noStrike" cap="none" dirty="0">
                <a:solidFill>
                  <a:srgbClr val="0053A1"/>
                </a:solidFill>
                <a:latin typeface="Poppins SemiBold"/>
                <a:ea typeface="Poppins SemiBold"/>
                <a:cs typeface="Poppins SemiBold"/>
                <a:sym typeface="Poppins SemiBold"/>
              </a:rPr>
              <a:t>Rest Parameters</a:t>
            </a:r>
            <a:endParaRPr lang="en" sz="2200" b="0" i="0" u="none" strike="noStrike" cap="none" dirty="0">
              <a:solidFill>
                <a:srgbClr val="000000"/>
              </a:solidFill>
              <a:latin typeface="Roboto"/>
              <a:ea typeface="Roboto"/>
              <a:cs typeface="Roboto"/>
              <a:sym typeface="Roboto"/>
            </a:endParaRPr>
          </a:p>
          <a:p>
            <a:pPr marL="0" marR="0" lvl="0" indent="0" algn="l" rtl="0">
              <a:lnSpc>
                <a:spcPct val="100000"/>
              </a:lnSpc>
              <a:spcBef>
                <a:spcPts val="0"/>
              </a:spcBef>
              <a:spcAft>
                <a:spcPts val="0"/>
              </a:spcAft>
              <a:buNone/>
            </a:pPr>
            <a:r>
              <a:rPr lang="en" sz="2200" b="1" i="0" u="none" strike="noStrike" cap="none" dirty="0">
                <a:solidFill>
                  <a:srgbClr val="000000"/>
                </a:solidFill>
                <a:latin typeface="Poppins SemiBold"/>
                <a:ea typeface="Poppins SemiBold"/>
                <a:cs typeface="Poppins SemiBold"/>
                <a:sym typeface="Poppins SemiBold"/>
              </a:rPr>
              <a:t>and Function Types</a:t>
            </a:r>
            <a:endParaRPr lang="en" sz="2200" b="0" i="0" u="none" strike="noStrike" cap="none" dirty="0">
              <a:solidFill>
                <a:srgbClr val="000000"/>
              </a:solidFill>
              <a:latin typeface="Roboto"/>
              <a:ea typeface="Roboto"/>
              <a:cs typeface="Roboto"/>
              <a:sym typeface="Roboto"/>
            </a:endParaRPr>
          </a:p>
        </p:txBody>
      </p:sp>
      <p:sp>
        <p:nvSpPr>
          <p:cNvPr id="455" name="Body"/>
          <p:cNvSpPr txBox="1"/>
          <p:nvPr/>
        </p:nvSpPr>
        <p:spPr>
          <a:xfrm>
            <a:off x="620000" y="1383000"/>
            <a:ext cx="3560000" cy="1234080"/>
          </a:xfrm>
          <a:prstGeom prst="rect">
            <a:avLst/>
          </a:prstGeom>
          <a:noFill/>
        </p:spPr>
        <p:txBody>
          <a:bodyPr spcFirstLastPara="1" wrap="square" lIns="86025" tIns="43000" rIns="86025" bIns="43000" anchor="t" anchorCtr="0">
            <a:noAutofit/>
          </a:bodyPr>
          <a:lstStyle/>
          <a:p>
            <a:pPr marL="171450" marR="0" lvl="0" indent="-171450" algn="l" rtl="0">
              <a:lnSpc>
                <a:spcPct val="125000"/>
              </a:lnSpc>
              <a:spcBef>
                <a:spcPts val="100"/>
              </a:spcBef>
              <a:spcAft>
                <a:spcPts val="0"/>
              </a:spcAft>
              <a:buClr>
                <a:srgbClr val="000000"/>
              </a:buClr>
              <a:buSzPts val="1100"/>
              <a:buFont typeface="Arial"/>
              <a:buChar char="•"/>
            </a:pPr>
            <a:r>
              <a:rPr lang="en" sz="1100" b="1" i="0" u="none" strike="noStrike" cap="none" dirty="0">
                <a:solidFill>
                  <a:schemeClr val="tx1"/>
                </a:solidFill>
                <a:latin typeface="Roboto"/>
                <a:ea typeface="Roboto"/>
                <a:cs typeface="Roboto"/>
                <a:sym typeface="Roboto"/>
              </a:rPr>
              <a:t>Rest</a:t>
            </a:r>
            <a:r>
              <a:rPr lang="en" sz="1100" b="0" i="0" u="none" strike="noStrike" cap="none" dirty="0">
                <a:solidFill>
                  <a:schemeClr val="tx1"/>
                </a:solidFill>
                <a:latin typeface="Roboto"/>
                <a:ea typeface="Roboto"/>
                <a:cs typeface="Roboto"/>
                <a:sym typeface="Roboto"/>
              </a:rPr>
              <a:t>: unlimited arguments as a typed array</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1" i="0" u="none" strike="noStrike" cap="none" dirty="0">
                <a:solidFill>
                  <a:schemeClr val="tx1"/>
                </a:solidFill>
                <a:latin typeface="Roboto"/>
                <a:ea typeface="Roboto"/>
                <a:cs typeface="Roboto"/>
                <a:sym typeface="Roboto"/>
              </a:rPr>
              <a:t>Function types</a:t>
            </a:r>
            <a:r>
              <a:rPr lang="en" sz="1100" b="0" i="0" u="none" strike="noStrike" cap="none" dirty="0">
                <a:solidFill>
                  <a:schemeClr val="tx1"/>
                </a:solidFill>
                <a:latin typeface="Roboto"/>
                <a:ea typeface="Roboto"/>
                <a:cs typeface="Roboto"/>
                <a:sym typeface="Roboto"/>
              </a:rPr>
              <a:t> describe a signature</a:t>
            </a:r>
            <a:endParaRPr lang="en" sz="1100" b="0" i="0" u="none" strike="noStrike" cap="none" dirty="0">
              <a:solidFill>
                <a:srgbClr val="000000"/>
              </a:solidFill>
              <a:latin typeface="Roboto"/>
              <a:ea typeface="Roboto"/>
              <a:cs typeface="Roboto"/>
              <a:sym typeface="Roboto"/>
            </a:endParaRPr>
          </a:p>
          <a:p>
            <a:pPr marL="0" marR="0" lvl="0" indent="0" algn="l" rtl="0">
              <a:lnSpc>
                <a:spcPct val="135000"/>
              </a:lnSpc>
              <a:spcBef>
                <a:spcPts val="0"/>
              </a:spcBef>
              <a:spcAft>
                <a:spcPts val="300"/>
              </a:spcAft>
              <a:buNone/>
            </a:pPr>
            <a:r>
              <a:rPr lang="en" sz="1100" b="0" i="0" u="none" strike="noStrike" cap="none" dirty="0">
                <a:solidFill>
                  <a:schemeClr val="tx1"/>
                </a:solidFill>
                <a:latin typeface="Roboto"/>
                <a:ea typeface="Roboto"/>
                <a:cs typeface="Roboto"/>
                <a:sym typeface="Roboto"/>
              </a:rPr>
              <a:t>The foundation for callbacks like </a:t>
            </a:r>
            <a:r>
              <a:rPr lang="en" sz="1050" b="1" i="0" u="none" strike="noStrike" cap="none" dirty="0">
                <a:solidFill>
                  <a:srgbClr val="0053A1"/>
                </a:solidFill>
                <a:latin typeface="Courier New"/>
                <a:ea typeface="Courier New"/>
                <a:cs typeface="Courier New"/>
                <a:sym typeface="Courier New"/>
              </a:rPr>
              <a:t>onClick: (e: MouseEvent) =&gt; void</a:t>
            </a:r>
            <a:r>
              <a:rPr lang="en" sz="1100" b="0" i="0" u="none" strike="noStrike" cap="none" dirty="0">
                <a:solidFill>
                  <a:schemeClr val="tx1"/>
                </a:solidFill>
                <a:latin typeface="Roboto"/>
                <a:ea typeface="Roboto"/>
                <a:cs typeface="Roboto"/>
                <a:sym typeface="Roboto"/>
              </a:rPr>
              <a:t>.</a:t>
            </a:r>
            <a:endParaRPr lang="en" sz="1100" b="0" i="0" u="none" strike="noStrike" cap="none" dirty="0">
              <a:solidFill>
                <a:srgbClr val="000000"/>
              </a:solidFill>
              <a:latin typeface="Roboto"/>
              <a:ea typeface="Roboto"/>
              <a:cs typeface="Roboto"/>
              <a:sym typeface="Roboto"/>
            </a:endParaRPr>
          </a:p>
        </p:txBody>
      </p:sp>
      <p:sp>
        <p:nvSpPr>
          <p:cNvPr id="456" name="Code panel"/>
          <p:cNvSpPr/>
          <p:nvPr/>
        </p:nvSpPr>
        <p:spPr>
          <a:xfrm>
            <a:off x="4300000" y="500000"/>
            <a:ext cx="4350000" cy="2335104"/>
          </a:xfrm>
          <a:prstGeom prst="roundRect">
            <a:avLst>
              <a:gd name="adj" fmla="val 3500"/>
            </a:avLst>
          </a:prstGeom>
          <a:solidFill>
            <a:srgbClr val="0E2455"/>
          </a:solidFill>
          <a:ln>
            <a:noFill/>
          </a:ln>
          <a:effectLst>
            <a:outerShdw blurRad="63500" dist="25400" dir="5400000" algn="t" rotWithShape="0">
              <a:srgbClr val="000000">
                <a:alpha val="22000"/>
              </a:srgbClr>
            </a:outerShdw>
          </a:effectLst>
        </p:spPr>
        <p:txBody>
          <a:bodyPr rtlCol="0" anchor="ctr"/>
          <a:lstStyle/>
          <a:p>
            <a:pPr algn="ctr"/>
          </a:p>
        </p:txBody>
      </p:sp>
      <p:sp>
        <p:nvSpPr>
          <p:cNvPr id="457" name="Dot 1"/>
          <p:cNvSpPr/>
          <p:nvPr/>
        </p:nvSpPr>
        <p:spPr>
          <a:xfrm>
            <a:off x="4420000" y="605000"/>
            <a:ext cx="70000" cy="70000"/>
          </a:xfrm>
          <a:prstGeom prst="ellipse">
            <a:avLst/>
          </a:prstGeom>
          <a:solidFill>
            <a:srgbClr val="C00000"/>
          </a:solidFill>
          <a:ln>
            <a:noFill/>
          </a:ln>
        </p:spPr>
        <p:txBody>
          <a:bodyPr rtlCol="0" anchor="ctr"/>
          <a:lstStyle/>
          <a:p>
            <a:pPr algn="ctr"/>
          </a:p>
        </p:txBody>
      </p:sp>
      <p:sp>
        <p:nvSpPr>
          <p:cNvPr id="458" name="Dot 2"/>
          <p:cNvSpPr/>
          <p:nvPr/>
        </p:nvSpPr>
        <p:spPr>
          <a:xfrm>
            <a:off x="4550000" y="605000"/>
            <a:ext cx="70000" cy="70000"/>
          </a:xfrm>
          <a:prstGeom prst="ellipse">
            <a:avLst/>
          </a:prstGeom>
          <a:solidFill>
            <a:srgbClr val="F2B705"/>
          </a:solidFill>
          <a:ln>
            <a:noFill/>
          </a:ln>
        </p:spPr>
        <p:txBody>
          <a:bodyPr rtlCol="0" anchor="ctr"/>
          <a:lstStyle/>
          <a:p>
            <a:pPr algn="ctr"/>
          </a:p>
        </p:txBody>
      </p:sp>
      <p:sp>
        <p:nvSpPr>
          <p:cNvPr id="459" name="Dot 3"/>
          <p:cNvSpPr/>
          <p:nvPr/>
        </p:nvSpPr>
        <p:spPr>
          <a:xfrm>
            <a:off x="4680000" y="605000"/>
            <a:ext cx="70000" cy="70000"/>
          </a:xfrm>
          <a:prstGeom prst="ellipse">
            <a:avLst/>
          </a:prstGeom>
          <a:solidFill>
            <a:srgbClr val="3DAE5C"/>
          </a:solidFill>
          <a:ln>
            <a:noFill/>
          </a:ln>
        </p:spPr>
        <p:txBody>
          <a:bodyPr rtlCol="0" anchor="ctr"/>
          <a:lstStyle/>
          <a:p>
            <a:pPr algn="ctr"/>
          </a:p>
        </p:txBody>
      </p:sp>
      <p:sp>
        <p:nvSpPr>
          <p:cNvPr id="460" name="Code label"/>
          <p:cNvSpPr txBox="1"/>
          <p:nvPr/>
        </p:nvSpPr>
        <p:spPr>
          <a:xfrm>
            <a:off x="7650000" y="555000"/>
            <a:ext cx="900000" cy="170000"/>
          </a:xfrm>
          <a:prstGeom prst="rect">
            <a:avLst/>
          </a:prstGeom>
          <a:noFill/>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800" b="1" i="0" u="none" strike="noStrike" cap="none" dirty="0">
                <a:solidFill>
                  <a:srgbClr val="8FA3C4"/>
                </a:solidFill>
                <a:latin typeface="Roboto"/>
                <a:ea typeface="Roboto"/>
                <a:cs typeface="Roboto"/>
                <a:sym typeface="Roboto"/>
              </a:rPr>
              <a:t>TS</a:t>
            </a:r>
            <a:endParaRPr lang="en" sz="800" b="0" i="0" u="none" strike="noStrike" cap="none" dirty="0">
              <a:solidFill>
                <a:srgbClr val="000000"/>
              </a:solidFill>
              <a:latin typeface="Roboto"/>
              <a:ea typeface="Roboto"/>
              <a:cs typeface="Roboto"/>
              <a:sym typeface="Roboto"/>
            </a:endParaRPr>
          </a:p>
        </p:txBody>
      </p:sp>
      <p:sp>
        <p:nvSpPr>
          <p:cNvPr id="461" name="Code"/>
          <p:cNvSpPr txBox="1"/>
          <p:nvPr/>
        </p:nvSpPr>
        <p:spPr>
          <a:xfrm>
            <a:off x="4360000" y="750000"/>
            <a:ext cx="4230000" cy="2055104"/>
          </a:xfrm>
          <a:prstGeom prst="rect">
            <a:avLst/>
          </a:prstGeom>
          <a:noFill/>
        </p:spPr>
        <p:txBody>
          <a:bodyPr spcFirstLastPara="1" wrap="square" lIns="86025" tIns="0" rIns="60000" bIns="0" anchor="t" anchorCtr="0">
            <a:noAutofit/>
          </a:bodyPr>
          <a:lstStyle/>
          <a:p>
            <a:pPr marL="0" marR="0" lvl="0" indent="0" algn="l" rtl="0">
              <a:lnSpc>
                <a:spcPct val="108000"/>
              </a:lnSpc>
              <a:spcBef>
                <a:spcPts val="0"/>
              </a:spcBef>
              <a:spcAft>
                <a:spcPts val="0"/>
              </a:spcAft>
              <a:buNone/>
            </a:pPr>
            <a:r>
              <a:rPr lang="en" sz="1000" b="0" i="1" u="none" strike="noStrike" cap="none" dirty="0">
                <a:solidFill>
                  <a:srgbClr val="8FA3C4"/>
                </a:solidFill>
                <a:latin typeface="Courier New"/>
                <a:ea typeface="Courier New"/>
                <a:cs typeface="Courier New"/>
                <a:sym typeface="Courier New"/>
              </a:rPr>
              <a:t>// Rest parameter - nums is number[]</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8CC4FF"/>
                </a:solidFill>
                <a:latin typeface="Courier New"/>
                <a:ea typeface="Courier New"/>
                <a:cs typeface="Courier New"/>
                <a:sym typeface="Courier New"/>
              </a:rPr>
              <a:t>function</a:t>
            </a:r>
            <a:r>
              <a:rPr lang="en" sz="1000" b="0" i="0" u="none" strike="noStrike" cap="none" dirty="0">
                <a:solidFill>
                  <a:srgbClr val="E6ECF7"/>
                </a:solidFill>
                <a:latin typeface="Courier New"/>
                <a:ea typeface="Courier New"/>
                <a:cs typeface="Courier New"/>
                <a:sym typeface="Courier New"/>
              </a:rPr>
              <a:t> sum(...nums: number[]): number {</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  </a:t>
            </a:r>
            <a:r>
              <a:rPr lang="en" sz="1000" b="0" i="0" u="none" strike="noStrike" cap="none" dirty="0">
                <a:solidFill>
                  <a:srgbClr val="8CC4FF"/>
                </a:solidFill>
                <a:latin typeface="Courier New"/>
                <a:ea typeface="Courier New"/>
                <a:cs typeface="Courier New"/>
                <a:sym typeface="Courier New"/>
              </a:rPr>
              <a:t>return</a:t>
            </a:r>
            <a:r>
              <a:rPr lang="en" sz="1000" b="0" i="0" u="none" strike="noStrike" cap="none" dirty="0">
                <a:solidFill>
                  <a:srgbClr val="E6ECF7"/>
                </a:solidFill>
                <a:latin typeface="Courier New"/>
                <a:ea typeface="Courier New"/>
                <a:cs typeface="Courier New"/>
                <a:sym typeface="Courier New"/>
              </a:rPr>
              <a:t> nums.reduce((total, n) =&gt; total + n, </a:t>
            </a:r>
            <a:r>
              <a:rPr lang="en" sz="1000" b="0" i="0" u="none" strike="noStrike" cap="none" dirty="0">
                <a:solidFill>
                  <a:srgbClr val="F2B705"/>
                </a:solidFill>
                <a:latin typeface="Courier New"/>
                <a:ea typeface="Courier New"/>
                <a:cs typeface="Courier New"/>
                <a:sym typeface="Courier New"/>
              </a:rPr>
              <a:t>0</a:t>
            </a:r>
            <a:r>
              <a:rPr lang="en" sz="1000" b="0" i="0" u="none" strike="noStrike" cap="none" dirty="0">
                <a:solidFill>
                  <a:srgbClr val="E6ECF7"/>
                </a:solidFill>
                <a:latin typeface="Courier New"/>
                <a:ea typeface="Courier New"/>
                <a:cs typeface="Courier New"/>
                <a:sym typeface="Courier New"/>
              </a:rPr>
              <a:t>);</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sum(</a:t>
            </a:r>
            <a:r>
              <a:rPr lang="en" sz="1000" b="0" i="0" u="none" strike="noStrike" cap="none" dirty="0">
                <a:solidFill>
                  <a:srgbClr val="F2B705"/>
                </a:solidFill>
                <a:latin typeface="Courier New"/>
                <a:ea typeface="Courier New"/>
                <a:cs typeface="Courier New"/>
                <a:sym typeface="Courier New"/>
              </a:rPr>
              <a:t>1</a:t>
            </a:r>
            <a:r>
              <a:rPr lang="en" sz="1000" b="0" i="0" u="none" strike="noStrike" cap="none" dirty="0">
                <a:solidFill>
                  <a:srgbClr val="E6ECF7"/>
                </a:solidFill>
                <a:latin typeface="Courier New"/>
                <a:ea typeface="Courier New"/>
                <a:cs typeface="Courier New"/>
                <a:sym typeface="Courier New"/>
              </a:rPr>
              <a:t>, </a:t>
            </a:r>
            <a:r>
              <a:rPr lang="en" sz="1000" b="0" i="0" u="none" strike="noStrike" cap="none" dirty="0">
                <a:solidFill>
                  <a:srgbClr val="F2B705"/>
                </a:solidFill>
                <a:latin typeface="Courier New"/>
                <a:ea typeface="Courier New"/>
                <a:cs typeface="Courier New"/>
                <a:sym typeface="Courier New"/>
              </a:rPr>
              <a:t>2</a:t>
            </a:r>
            <a:r>
              <a:rPr lang="en" sz="1000" b="0" i="0" u="none" strike="noStrike" cap="none" dirty="0">
                <a:solidFill>
                  <a:srgbClr val="E6ECF7"/>
                </a:solidFill>
                <a:latin typeface="Courier New"/>
                <a:ea typeface="Courier New"/>
                <a:cs typeface="Courier New"/>
                <a:sym typeface="Courier New"/>
              </a:rPr>
              <a:t>, </a:t>
            </a:r>
            <a:r>
              <a:rPr lang="en" sz="1000" b="0" i="0" u="none" strike="noStrike" cap="none" dirty="0">
                <a:solidFill>
                  <a:srgbClr val="F2B705"/>
                </a:solidFill>
                <a:latin typeface="Courier New"/>
                <a:ea typeface="Courier New"/>
                <a:cs typeface="Courier New"/>
                <a:sym typeface="Courier New"/>
              </a:rPr>
              <a:t>3</a:t>
            </a:r>
            <a:r>
              <a:rPr lang="en" sz="1000" b="0" i="0" u="none" strike="noStrike" cap="none" dirty="0">
                <a:solidFill>
                  <a:srgbClr val="E6ECF7"/>
                </a:solidFill>
                <a:latin typeface="Courier New"/>
                <a:ea typeface="Courier New"/>
                <a:cs typeface="Courier New"/>
                <a:sym typeface="Courier New"/>
              </a:rPr>
              <a:t>, </a:t>
            </a:r>
            <a:r>
              <a:rPr lang="en" sz="1000" b="0" i="0" u="none" strike="noStrike" cap="none" dirty="0">
                <a:solidFill>
                  <a:srgbClr val="F2B705"/>
                </a:solidFill>
                <a:latin typeface="Courier New"/>
                <a:ea typeface="Courier New"/>
                <a:cs typeface="Courier New"/>
                <a:sym typeface="Courier New"/>
              </a:rPr>
              <a:t>4</a:t>
            </a:r>
            <a:r>
              <a:rPr lang="en" sz="1000" b="0" i="0" u="none" strike="noStrike" cap="none" dirty="0">
                <a:solidFill>
                  <a:srgbClr val="E6ECF7"/>
                </a:solidFill>
                <a:latin typeface="Courier New"/>
                <a:ea typeface="Courier New"/>
                <a:cs typeface="Courier New"/>
                <a:sym typeface="Courier New"/>
              </a:rPr>
              <a:t>); </a:t>
            </a:r>
            <a:r>
              <a:rPr lang="en" sz="1000" b="0" i="1" u="none" strike="noStrike" cap="none" dirty="0">
                <a:solidFill>
                  <a:srgbClr val="8FA3C4"/>
                </a:solidFill>
                <a:latin typeface="Courier New"/>
                <a:ea typeface="Courier New"/>
                <a:cs typeface="Courier New"/>
                <a:sym typeface="Courier New"/>
              </a:rPr>
              <a:t>// 10</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 </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1" u="none" strike="noStrike" cap="none" dirty="0">
                <a:solidFill>
                  <a:srgbClr val="8FA3C4"/>
                </a:solidFill>
                <a:latin typeface="Courier New"/>
                <a:ea typeface="Courier New"/>
                <a:cs typeface="Courier New"/>
                <a:sym typeface="Courier New"/>
              </a:rPr>
              <a:t>// Function type as a variable's type</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8CC4FF"/>
                </a:solidFill>
                <a:latin typeface="Courier New"/>
                <a:ea typeface="Courier New"/>
                <a:cs typeface="Courier New"/>
                <a:sym typeface="Courier New"/>
              </a:rPr>
              <a:t>let</a:t>
            </a:r>
            <a:r>
              <a:rPr lang="en" sz="1000" b="0" i="0" u="none" strike="noStrike" cap="none" dirty="0">
                <a:solidFill>
                  <a:srgbClr val="E6ECF7"/>
                </a:solidFill>
                <a:latin typeface="Courier New"/>
                <a:ea typeface="Courier New"/>
                <a:cs typeface="Courier New"/>
                <a:sym typeface="Courier New"/>
              </a:rPr>
              <a:t> operation: (a: number, b: number) =&gt; number;</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 </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operation = add;      </a:t>
            </a:r>
            <a:r>
              <a:rPr lang="en" sz="1000" b="0" i="1" u="none" strike="noStrike" cap="none" dirty="0">
                <a:solidFill>
                  <a:srgbClr val="8FA3C4"/>
                </a:solidFill>
                <a:latin typeface="Courier New"/>
                <a:ea typeface="Courier New"/>
                <a:cs typeface="Courier New"/>
                <a:sym typeface="Courier New"/>
              </a:rPr>
              <a:t>// OK - matches signature</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operation = multiply; </a:t>
            </a:r>
            <a:r>
              <a:rPr lang="en" sz="1000" b="0" i="1" u="none" strike="noStrike" cap="none" dirty="0">
                <a:solidFill>
                  <a:srgbClr val="8FA3C4"/>
                </a:solidFill>
                <a:latin typeface="Courier New"/>
                <a:ea typeface="Courier New"/>
                <a:cs typeface="Courier New"/>
                <a:sym typeface="Courier New"/>
              </a:rPr>
              <a:t>// OK</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operation = greet;    </a:t>
            </a:r>
            <a:r>
              <a:rPr lang="en" sz="1000" b="0" i="1" u="none" strike="noStrike" cap="none" dirty="0">
                <a:solidFill>
                  <a:srgbClr val="8FA3C4"/>
                </a:solidFill>
                <a:latin typeface="Courier New"/>
                <a:ea typeface="Courier New"/>
                <a:cs typeface="Courier New"/>
                <a:sym typeface="Courier New"/>
              </a:rPr>
              <a:t>// Error: mismatch</a:t>
            </a:r>
            <a:endParaRPr lang="en" sz="1000" b="0" i="0" u="none" strike="noStrike" cap="none" dirty="0">
              <a:solidFill>
                <a:srgbClr val="000000"/>
              </a:solidFill>
              <a:latin typeface="Roboto"/>
              <a:ea typeface="Roboto"/>
              <a:cs typeface="Roboto"/>
              <a:sym typeface="Roboto"/>
            </a:endParaRP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grpSpPr/>
      <p:pic>
        <p:nvPicPr>
          <p:cNvPr id="110" name="Google Shape;110;p15" title="Untitled-1-07.png"/>
          <p:cNvPicPr preferRelativeResize="0"/>
          <p:nvPr/>
        </p:nvPicPr>
        <p:blipFill rotWithShape="1">
          <a:blip r:embed="rId2">
            <a:alphaModFix/>
          </a:blip>
          <a:srcRect l="5100" r="4630" b="15895"/>
          <a:stretch/>
        </p:blipFill>
        <p:spPr>
          <a:xfrm>
            <a:off x="880549" y="4348257"/>
            <a:ext cx="2096958" cy="548700"/>
          </a:xfrm>
          <a:prstGeom prst="rect">
            <a:avLst/>
          </a:prstGeom>
          <a:noFill/>
          <a:ln>
            <a:noFill/>
          </a:ln>
        </p:spPr>
      </p:pic>
      <p:pic>
        <p:nvPicPr>
          <p:cNvPr id="111" name="Google Shape;111;p15" title="powerd by.png"/>
          <p:cNvPicPr preferRelativeResize="0"/>
          <p:nvPr/>
        </p:nvPicPr>
        <p:blipFill rotWithShape="1">
          <a:blip r:embed="rId5">
            <a:alphaModFix/>
          </a:blip>
          <a:srcRect l="6981" t="44048" r="6714" b="14302"/>
          <a:stretch/>
        </p:blipFill>
        <p:spPr>
          <a:xfrm>
            <a:off x="3537800" y="4500588"/>
            <a:ext cx="2130125" cy="355975"/>
          </a:xfrm>
          <a:prstGeom prst="rect">
            <a:avLst/>
          </a:prstGeom>
          <a:noFill/>
          <a:ln>
            <a:noFill/>
          </a:ln>
        </p:spPr>
      </p:pic>
      <p:sp>
        <p:nvSpPr>
          <p:cNvPr id="112" name="Google Shape;112;p15"/>
          <p:cNvSpPr txBox="1"/>
          <p:nvPr/>
        </p:nvSpPr>
        <p:spPr>
          <a:xfrm>
            <a:off x="5998012" y="4596047"/>
            <a:ext cx="2436900" cy="253800"/>
          </a:xfrm>
          <a:prstGeom prst="rect">
            <a:avLst/>
          </a:prstGeom>
          <a:noFill/>
          <a:ln>
            <a:noFill/>
          </a:ln>
        </p:spPr>
        <p:txBody>
          <a:bodyPr spcFirstLastPara="1" wrap="non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0053A1"/>
                </a:solidFill>
                <a:latin typeface="Roboto"/>
                <a:ea typeface="Roboto"/>
                <a:cs typeface="Roboto"/>
                <a:sym typeface="Roboto"/>
              </a:rPr>
              <a:t>www.</a:t>
            </a:r>
            <a:r>
              <a:rPr lang="en" sz="1200" b="1">
                <a:solidFill>
                  <a:srgbClr val="0053A1"/>
                </a:solidFill>
                <a:latin typeface="Roboto"/>
                <a:ea typeface="Roboto"/>
                <a:cs typeface="Roboto"/>
                <a:sym typeface="Roboto"/>
              </a:rPr>
              <a:t>careercraftacademy.com</a:t>
            </a:r>
            <a:endParaRPr sz="1200" b="1" i="0" u="none" strike="noStrike" cap="none">
              <a:solidFill>
                <a:srgbClr val="0053A1"/>
              </a:solidFill>
              <a:latin typeface="Roboto"/>
              <a:ea typeface="Roboto"/>
              <a:cs typeface="Roboto"/>
              <a:sym typeface="Roboto"/>
            </a:endParaRPr>
          </a:p>
        </p:txBody>
      </p:sp>
      <p:pic>
        <p:nvPicPr>
          <p:cNvPr id="114" name="Google Shape;114;p15"/>
          <p:cNvPicPr preferRelativeResize="0"/>
          <p:nvPr/>
        </p:nvPicPr>
        <p:blipFill>
          <a:blip r:embed="rId4">
            <a:alphaModFix/>
          </a:blip>
          <a:stretch>
            <a:fillRect/>
          </a:stretch>
        </p:blipFill>
        <p:spPr>
          <a:xfrm>
            <a:off x="8447868" y="4368945"/>
            <a:ext cx="334175" cy="480903"/>
          </a:xfrm>
          <a:prstGeom prst="rect">
            <a:avLst/>
          </a:prstGeom>
          <a:noFill/>
          <a:ln>
            <a:noFill/>
          </a:ln>
        </p:spPr>
      </p:pic>
      <p:sp>
        <p:nvSpPr>
          <p:cNvPr id="462" name="Kicker"/>
          <p:cNvSpPr txBox="1"/>
          <p:nvPr/>
        </p:nvSpPr>
        <p:spPr>
          <a:xfrm>
            <a:off x="675600" y="285000"/>
            <a:ext cx="3560000" cy="241200"/>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1003" b="0" i="0" u="none" strike="noStrike" cap="none" dirty="0">
                <a:solidFill>
                  <a:srgbClr val="7F7F7F"/>
                </a:solidFill>
                <a:latin typeface="Roboto"/>
                <a:ea typeface="Roboto"/>
                <a:cs typeface="Roboto"/>
                <a:sym typeface="Roboto"/>
              </a:rPr>
              <a:t>Functions</a:t>
            </a:r>
            <a:endParaRPr lang="en" sz="1003" b="0" i="0" u="none" strike="noStrike" cap="none" dirty="0">
              <a:solidFill>
                <a:srgbClr val="000000"/>
              </a:solidFill>
              <a:latin typeface="Roboto"/>
              <a:ea typeface="Roboto"/>
              <a:cs typeface="Roboto"/>
              <a:sym typeface="Roboto"/>
            </a:endParaRPr>
          </a:p>
        </p:txBody>
      </p:sp>
      <p:sp>
        <p:nvSpPr>
          <p:cNvPr id="463" name="Title"/>
          <p:cNvSpPr txBox="1"/>
          <p:nvPr/>
        </p:nvSpPr>
        <p:spPr>
          <a:xfrm>
            <a:off x="675600" y="520000"/>
            <a:ext cx="3560000" cy="425394"/>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2200" b="1" i="0" u="none" strike="noStrike" cap="none" dirty="0">
                <a:solidFill>
                  <a:srgbClr val="0053A1"/>
                </a:solidFill>
                <a:latin typeface="Poppins SemiBold"/>
                <a:ea typeface="Poppins SemiBold"/>
                <a:cs typeface="Poppins SemiBold"/>
                <a:sym typeface="Poppins SemiBold"/>
              </a:rPr>
              <a:t>Function </a:t>
            </a:r>
            <a:r>
              <a:rPr lang="en" sz="2200" b="1" i="0" u="none" strike="noStrike" cap="none" dirty="0">
                <a:solidFill>
                  <a:srgbClr val="000000"/>
                </a:solidFill>
                <a:latin typeface="Poppins SemiBold"/>
                <a:ea typeface="Poppins SemiBold"/>
                <a:cs typeface="Poppins SemiBold"/>
                <a:sym typeface="Poppins SemiBold"/>
              </a:rPr>
              <a:t>Overloading</a:t>
            </a:r>
            <a:endParaRPr lang="en" sz="2200" b="0" i="0" u="none" strike="noStrike" cap="none" dirty="0">
              <a:solidFill>
                <a:srgbClr val="000000"/>
              </a:solidFill>
              <a:latin typeface="Roboto"/>
              <a:ea typeface="Roboto"/>
              <a:cs typeface="Roboto"/>
              <a:sym typeface="Roboto"/>
            </a:endParaRPr>
          </a:p>
        </p:txBody>
      </p:sp>
      <p:sp>
        <p:nvSpPr>
          <p:cNvPr id="464" name="Body"/>
          <p:cNvSpPr txBox="1"/>
          <p:nvPr/>
        </p:nvSpPr>
        <p:spPr>
          <a:xfrm>
            <a:off x="620000" y="1048000"/>
            <a:ext cx="3560000" cy="1457600"/>
          </a:xfrm>
          <a:prstGeom prst="rect">
            <a:avLst/>
          </a:prstGeom>
          <a:noFill/>
        </p:spPr>
        <p:txBody>
          <a:bodyPr spcFirstLastPara="1" wrap="square" lIns="86025" tIns="43000" rIns="86025" bIns="43000" anchor="t" anchorCtr="0">
            <a:noAutofit/>
          </a:bodyPr>
          <a:lstStyle/>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One function, </a:t>
            </a:r>
            <a:r>
              <a:rPr lang="en" sz="1100" b="1" i="0" u="none" strike="noStrike" cap="none" dirty="0">
                <a:solidFill>
                  <a:schemeClr val="tx1"/>
                </a:solidFill>
                <a:latin typeface="Roboto"/>
                <a:ea typeface="Roboto"/>
                <a:cs typeface="Roboto"/>
                <a:sym typeface="Roboto"/>
              </a:rPr>
              <a:t>multiple call signatures</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Several declarations, then </a:t>
            </a:r>
            <a:r>
              <a:rPr lang="en" sz="1100" b="1" i="0" u="none" strike="noStrike" cap="none" dirty="0">
                <a:solidFill>
                  <a:schemeClr val="tx1"/>
                </a:solidFill>
                <a:latin typeface="Roboto"/>
                <a:ea typeface="Roboto"/>
                <a:cs typeface="Roboto"/>
                <a:sym typeface="Roboto"/>
              </a:rPr>
              <a:t>one implementation</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TypeScript picks the matching signature</a:t>
            </a:r>
            <a:endParaRPr lang="en" sz="1100" b="0" i="0" u="none" strike="noStrike" cap="none" dirty="0">
              <a:solidFill>
                <a:srgbClr val="000000"/>
              </a:solidFill>
              <a:latin typeface="Roboto"/>
              <a:ea typeface="Roboto"/>
              <a:cs typeface="Roboto"/>
              <a:sym typeface="Roboto"/>
            </a:endParaRPr>
          </a:p>
          <a:p>
            <a:pPr marL="0" marR="0" lvl="0" indent="0" algn="l" rtl="0">
              <a:lnSpc>
                <a:spcPct val="135000"/>
              </a:lnSpc>
              <a:spcBef>
                <a:spcPts val="0"/>
              </a:spcBef>
              <a:spcAft>
                <a:spcPts val="300"/>
              </a:spcAft>
              <a:buNone/>
            </a:pPr>
            <a:r>
              <a:rPr lang="en" sz="1100" b="0" i="0" u="none" strike="noStrike" cap="none" dirty="0">
                <a:solidFill>
                  <a:schemeClr val="tx1"/>
                </a:solidFill>
                <a:latin typeface="Roboto"/>
                <a:ea typeface="Roboto"/>
                <a:cs typeface="Roboto"/>
                <a:sym typeface="Roboto"/>
              </a:rPr>
              <a:t>Seen in DOM APIs like </a:t>
            </a:r>
            <a:r>
              <a:rPr lang="en" sz="1050" b="1" i="0" u="none" strike="noStrike" cap="none" dirty="0">
                <a:solidFill>
                  <a:srgbClr val="0053A1"/>
                </a:solidFill>
                <a:latin typeface="Courier New"/>
                <a:ea typeface="Courier New"/>
                <a:cs typeface="Courier New"/>
                <a:sym typeface="Courier New"/>
              </a:rPr>
              <a:t>document.createElement</a:t>
            </a:r>
            <a:r>
              <a:rPr lang="en" sz="1100" b="0" i="0" u="none" strike="noStrike" cap="none" dirty="0">
                <a:solidFill>
                  <a:schemeClr val="tx1"/>
                </a:solidFill>
                <a:latin typeface="Roboto"/>
                <a:ea typeface="Roboto"/>
                <a:cs typeface="Roboto"/>
                <a:sym typeface="Roboto"/>
              </a:rPr>
              <a:t>.</a:t>
            </a:r>
            <a:endParaRPr lang="en" sz="1100" b="0" i="0" u="none" strike="noStrike" cap="none" dirty="0">
              <a:solidFill>
                <a:srgbClr val="000000"/>
              </a:solidFill>
              <a:latin typeface="Roboto"/>
              <a:ea typeface="Roboto"/>
              <a:cs typeface="Roboto"/>
              <a:sym typeface="Roboto"/>
            </a:endParaRPr>
          </a:p>
        </p:txBody>
      </p:sp>
      <p:sp>
        <p:nvSpPr>
          <p:cNvPr id="465" name="Code panel"/>
          <p:cNvSpPr/>
          <p:nvPr/>
        </p:nvSpPr>
        <p:spPr>
          <a:xfrm>
            <a:off x="4300000" y="500000"/>
            <a:ext cx="4350000" cy="2170512"/>
          </a:xfrm>
          <a:prstGeom prst="roundRect">
            <a:avLst>
              <a:gd name="adj" fmla="val 3500"/>
            </a:avLst>
          </a:prstGeom>
          <a:solidFill>
            <a:srgbClr val="0E2455"/>
          </a:solidFill>
          <a:ln>
            <a:noFill/>
          </a:ln>
          <a:effectLst>
            <a:outerShdw blurRad="63500" dist="25400" dir="5400000" algn="t" rotWithShape="0">
              <a:srgbClr val="000000">
                <a:alpha val="22000"/>
              </a:srgbClr>
            </a:outerShdw>
          </a:effectLst>
        </p:spPr>
        <p:txBody>
          <a:bodyPr rtlCol="0" anchor="ctr"/>
          <a:lstStyle/>
          <a:p>
            <a:pPr algn="ctr"/>
          </a:p>
        </p:txBody>
      </p:sp>
      <p:sp>
        <p:nvSpPr>
          <p:cNvPr id="466" name="Dot 1"/>
          <p:cNvSpPr/>
          <p:nvPr/>
        </p:nvSpPr>
        <p:spPr>
          <a:xfrm>
            <a:off x="4420000" y="605000"/>
            <a:ext cx="70000" cy="70000"/>
          </a:xfrm>
          <a:prstGeom prst="ellipse">
            <a:avLst/>
          </a:prstGeom>
          <a:solidFill>
            <a:srgbClr val="C00000"/>
          </a:solidFill>
          <a:ln>
            <a:noFill/>
          </a:ln>
        </p:spPr>
        <p:txBody>
          <a:bodyPr rtlCol="0" anchor="ctr"/>
          <a:lstStyle/>
          <a:p>
            <a:pPr algn="ctr"/>
          </a:p>
        </p:txBody>
      </p:sp>
      <p:sp>
        <p:nvSpPr>
          <p:cNvPr id="467" name="Dot 2"/>
          <p:cNvSpPr/>
          <p:nvPr/>
        </p:nvSpPr>
        <p:spPr>
          <a:xfrm>
            <a:off x="4550000" y="605000"/>
            <a:ext cx="70000" cy="70000"/>
          </a:xfrm>
          <a:prstGeom prst="ellipse">
            <a:avLst/>
          </a:prstGeom>
          <a:solidFill>
            <a:srgbClr val="F2B705"/>
          </a:solidFill>
          <a:ln>
            <a:noFill/>
          </a:ln>
        </p:spPr>
        <p:txBody>
          <a:bodyPr rtlCol="0" anchor="ctr"/>
          <a:lstStyle/>
          <a:p>
            <a:pPr algn="ctr"/>
          </a:p>
        </p:txBody>
      </p:sp>
      <p:sp>
        <p:nvSpPr>
          <p:cNvPr id="468" name="Dot 3"/>
          <p:cNvSpPr/>
          <p:nvPr/>
        </p:nvSpPr>
        <p:spPr>
          <a:xfrm>
            <a:off x="4680000" y="605000"/>
            <a:ext cx="70000" cy="70000"/>
          </a:xfrm>
          <a:prstGeom prst="ellipse">
            <a:avLst/>
          </a:prstGeom>
          <a:solidFill>
            <a:srgbClr val="3DAE5C"/>
          </a:solidFill>
          <a:ln>
            <a:noFill/>
          </a:ln>
        </p:spPr>
        <p:txBody>
          <a:bodyPr rtlCol="0" anchor="ctr"/>
          <a:lstStyle/>
          <a:p>
            <a:pPr algn="ctr"/>
          </a:p>
        </p:txBody>
      </p:sp>
      <p:sp>
        <p:nvSpPr>
          <p:cNvPr id="469" name="Code label"/>
          <p:cNvSpPr txBox="1"/>
          <p:nvPr/>
        </p:nvSpPr>
        <p:spPr>
          <a:xfrm>
            <a:off x="7650000" y="555000"/>
            <a:ext cx="900000" cy="170000"/>
          </a:xfrm>
          <a:prstGeom prst="rect">
            <a:avLst/>
          </a:prstGeom>
          <a:noFill/>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800" b="1" i="0" u="none" strike="noStrike" cap="none" dirty="0">
                <a:solidFill>
                  <a:srgbClr val="8FA3C4"/>
                </a:solidFill>
                <a:latin typeface="Roboto"/>
                <a:ea typeface="Roboto"/>
                <a:cs typeface="Roboto"/>
                <a:sym typeface="Roboto"/>
              </a:rPr>
              <a:t>TS</a:t>
            </a:r>
            <a:endParaRPr lang="en" sz="800" b="0" i="0" u="none" strike="noStrike" cap="none" dirty="0">
              <a:solidFill>
                <a:srgbClr val="000000"/>
              </a:solidFill>
              <a:latin typeface="Roboto"/>
              <a:ea typeface="Roboto"/>
              <a:cs typeface="Roboto"/>
              <a:sym typeface="Roboto"/>
            </a:endParaRPr>
          </a:p>
        </p:txBody>
      </p:sp>
      <p:sp>
        <p:nvSpPr>
          <p:cNvPr id="470" name="Code"/>
          <p:cNvSpPr txBox="1"/>
          <p:nvPr/>
        </p:nvSpPr>
        <p:spPr>
          <a:xfrm>
            <a:off x="4360000" y="750000"/>
            <a:ext cx="4230000" cy="1890512"/>
          </a:xfrm>
          <a:prstGeom prst="rect">
            <a:avLst/>
          </a:prstGeom>
          <a:noFill/>
        </p:spPr>
        <p:txBody>
          <a:bodyPr spcFirstLastPara="1" wrap="square" lIns="86025" tIns="0" rIns="60000" bIns="0" anchor="t" anchorCtr="0">
            <a:noAutofit/>
          </a:bodyPr>
          <a:lstStyle/>
          <a:p>
            <a:pPr marL="0" marR="0" lvl="0" indent="0" algn="l" rtl="0">
              <a:lnSpc>
                <a:spcPct val="108000"/>
              </a:lnSpc>
              <a:spcBef>
                <a:spcPts val="0"/>
              </a:spcBef>
              <a:spcAft>
                <a:spcPts val="0"/>
              </a:spcAft>
              <a:buNone/>
            </a:pPr>
            <a:r>
              <a:rPr lang="en" sz="1000" b="0" i="1" u="none" strike="noStrike" cap="none" dirty="0">
                <a:solidFill>
                  <a:srgbClr val="8FA3C4"/>
                </a:solidFill>
                <a:latin typeface="Courier New"/>
                <a:ea typeface="Courier New"/>
                <a:cs typeface="Courier New"/>
                <a:sym typeface="Courier New"/>
              </a:rPr>
              <a:t>// Overload signatures</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8CC4FF"/>
                </a:solidFill>
                <a:latin typeface="Courier New"/>
                <a:ea typeface="Courier New"/>
                <a:cs typeface="Courier New"/>
                <a:sym typeface="Courier New"/>
              </a:rPr>
              <a:t>function</a:t>
            </a:r>
            <a:r>
              <a:rPr lang="en" sz="1000" b="0" i="0" u="none" strike="noStrike" cap="none" dirty="0">
                <a:solidFill>
                  <a:srgbClr val="E6ECF7"/>
                </a:solidFill>
                <a:latin typeface="Courier New"/>
                <a:ea typeface="Courier New"/>
                <a:cs typeface="Courier New"/>
                <a:sym typeface="Courier New"/>
              </a:rPr>
              <a:t> combine(a: string, b: string): string;</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8CC4FF"/>
                </a:solidFill>
                <a:latin typeface="Courier New"/>
                <a:ea typeface="Courier New"/>
                <a:cs typeface="Courier New"/>
                <a:sym typeface="Courier New"/>
              </a:rPr>
              <a:t>function</a:t>
            </a:r>
            <a:r>
              <a:rPr lang="en" sz="1000" b="0" i="0" u="none" strike="noStrike" cap="none" dirty="0">
                <a:solidFill>
                  <a:srgbClr val="E6ECF7"/>
                </a:solidFill>
                <a:latin typeface="Courier New"/>
                <a:ea typeface="Courier New"/>
                <a:cs typeface="Courier New"/>
                <a:sym typeface="Courier New"/>
              </a:rPr>
              <a:t> combine(a: number, b: number): number;</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1" u="none" strike="noStrike" cap="none" dirty="0">
                <a:solidFill>
                  <a:srgbClr val="8FA3C4"/>
                </a:solidFill>
                <a:latin typeface="Courier New"/>
                <a:ea typeface="Courier New"/>
                <a:cs typeface="Courier New"/>
                <a:sym typeface="Courier New"/>
              </a:rPr>
              <a:t>// Implementation (not callable directly)</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8CC4FF"/>
                </a:solidFill>
                <a:latin typeface="Courier New"/>
                <a:ea typeface="Courier New"/>
                <a:cs typeface="Courier New"/>
                <a:sym typeface="Courier New"/>
              </a:rPr>
              <a:t>function</a:t>
            </a:r>
            <a:r>
              <a:rPr lang="en" sz="1000" b="0" i="0" u="none" strike="noStrike" cap="none" dirty="0">
                <a:solidFill>
                  <a:srgbClr val="E6ECF7"/>
                </a:solidFill>
                <a:latin typeface="Courier New"/>
                <a:ea typeface="Courier New"/>
                <a:cs typeface="Courier New"/>
                <a:sym typeface="Courier New"/>
              </a:rPr>
              <a:t> combine(a: any, b: any): any {</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  </a:t>
            </a:r>
            <a:r>
              <a:rPr lang="en" sz="1000" b="0" i="0" u="none" strike="noStrike" cap="none" dirty="0">
                <a:solidFill>
                  <a:srgbClr val="8CC4FF"/>
                </a:solidFill>
                <a:latin typeface="Courier New"/>
                <a:ea typeface="Courier New"/>
                <a:cs typeface="Courier New"/>
                <a:sym typeface="Courier New"/>
              </a:rPr>
              <a:t>return</a:t>
            </a:r>
            <a:r>
              <a:rPr lang="en" sz="1000" b="0" i="0" u="none" strike="noStrike" cap="none" dirty="0">
                <a:solidFill>
                  <a:srgbClr val="E6ECF7"/>
                </a:solidFill>
                <a:latin typeface="Courier New"/>
                <a:ea typeface="Courier New"/>
                <a:cs typeface="Courier New"/>
                <a:sym typeface="Courier New"/>
              </a:rPr>
              <a:t> a + b;</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 </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combine(</a:t>
            </a:r>
            <a:r>
              <a:rPr lang="en" sz="1000" b="0" i="0" u="none" strike="noStrike" cap="none" dirty="0">
                <a:solidFill>
                  <a:srgbClr val="FFC878"/>
                </a:solidFill>
                <a:latin typeface="Courier New"/>
                <a:ea typeface="Courier New"/>
                <a:cs typeface="Courier New"/>
                <a:sym typeface="Courier New"/>
              </a:rPr>
              <a:t>"Hello, "</a:t>
            </a:r>
            <a:r>
              <a:rPr lang="en" sz="1000" b="0" i="0" u="none" strike="noStrike" cap="none" dirty="0">
                <a:solidFill>
                  <a:srgbClr val="E6ECF7"/>
                </a:solidFill>
                <a:latin typeface="Courier New"/>
                <a:ea typeface="Courier New"/>
                <a:cs typeface="Courier New"/>
                <a:sym typeface="Courier New"/>
              </a:rPr>
              <a:t>, </a:t>
            </a:r>
            <a:r>
              <a:rPr lang="en" sz="1000" b="0" i="0" u="none" strike="noStrike" cap="none" dirty="0">
                <a:solidFill>
                  <a:srgbClr val="FFC878"/>
                </a:solidFill>
                <a:latin typeface="Courier New"/>
                <a:ea typeface="Courier New"/>
                <a:cs typeface="Courier New"/>
                <a:sym typeface="Courier New"/>
              </a:rPr>
              <a:t>"World"</a:t>
            </a:r>
            <a:r>
              <a:rPr lang="en" sz="1000" b="0" i="0" u="none" strike="noStrike" cap="none" dirty="0">
                <a:solidFill>
                  <a:srgbClr val="E6ECF7"/>
                </a:solidFill>
                <a:latin typeface="Courier New"/>
                <a:ea typeface="Courier New"/>
                <a:cs typeface="Courier New"/>
                <a:sym typeface="Courier New"/>
              </a:rPr>
              <a:t>); </a:t>
            </a:r>
            <a:r>
              <a:rPr lang="en" sz="1000" b="0" i="1" u="none" strike="noStrike" cap="none" dirty="0">
                <a:solidFill>
                  <a:srgbClr val="8FA3C4"/>
                </a:solidFill>
                <a:latin typeface="Courier New"/>
                <a:ea typeface="Courier New"/>
                <a:cs typeface="Courier New"/>
                <a:sym typeface="Courier New"/>
              </a:rPr>
              <a:t>// string</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combine(</a:t>
            </a:r>
            <a:r>
              <a:rPr lang="en" sz="1000" b="0" i="0" u="none" strike="noStrike" cap="none" dirty="0">
                <a:solidFill>
                  <a:srgbClr val="F2B705"/>
                </a:solidFill>
                <a:latin typeface="Courier New"/>
                <a:ea typeface="Courier New"/>
                <a:cs typeface="Courier New"/>
                <a:sym typeface="Courier New"/>
              </a:rPr>
              <a:t>10</a:t>
            </a:r>
            <a:r>
              <a:rPr lang="en" sz="1000" b="0" i="0" u="none" strike="noStrike" cap="none" dirty="0">
                <a:solidFill>
                  <a:srgbClr val="E6ECF7"/>
                </a:solidFill>
                <a:latin typeface="Courier New"/>
                <a:ea typeface="Courier New"/>
                <a:cs typeface="Courier New"/>
                <a:sym typeface="Courier New"/>
              </a:rPr>
              <a:t>, </a:t>
            </a:r>
            <a:r>
              <a:rPr lang="en" sz="1000" b="0" i="0" u="none" strike="noStrike" cap="none" dirty="0">
                <a:solidFill>
                  <a:srgbClr val="F2B705"/>
                </a:solidFill>
                <a:latin typeface="Courier New"/>
                <a:ea typeface="Courier New"/>
                <a:cs typeface="Courier New"/>
                <a:sym typeface="Courier New"/>
              </a:rPr>
              <a:t>20</a:t>
            </a:r>
            <a:r>
              <a:rPr lang="en" sz="1000" b="0" i="0" u="none" strike="noStrike" cap="none" dirty="0">
                <a:solidFill>
                  <a:srgbClr val="E6ECF7"/>
                </a:solidFill>
                <a:latin typeface="Courier New"/>
                <a:ea typeface="Courier New"/>
                <a:cs typeface="Courier New"/>
                <a:sym typeface="Courier New"/>
              </a:rPr>
              <a:t>);             </a:t>
            </a:r>
            <a:r>
              <a:rPr lang="en" sz="1000" b="0" i="1" u="none" strike="noStrike" cap="none" dirty="0">
                <a:solidFill>
                  <a:srgbClr val="8FA3C4"/>
                </a:solidFill>
                <a:latin typeface="Courier New"/>
                <a:ea typeface="Courier New"/>
                <a:cs typeface="Courier New"/>
                <a:sym typeface="Courier New"/>
              </a:rPr>
              <a:t>// number</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combine(</a:t>
            </a:r>
            <a:r>
              <a:rPr lang="en" sz="1000" b="0" i="0" u="none" strike="noStrike" cap="none" dirty="0">
                <a:solidFill>
                  <a:srgbClr val="FFC878"/>
                </a:solidFill>
                <a:latin typeface="Courier New"/>
                <a:ea typeface="Courier New"/>
                <a:cs typeface="Courier New"/>
                <a:sym typeface="Courier New"/>
              </a:rPr>
              <a:t>"a"</a:t>
            </a:r>
            <a:r>
              <a:rPr lang="en" sz="1000" b="0" i="0" u="none" strike="noStrike" cap="none" dirty="0">
                <a:solidFill>
                  <a:srgbClr val="E6ECF7"/>
                </a:solidFill>
                <a:latin typeface="Courier New"/>
                <a:ea typeface="Courier New"/>
                <a:cs typeface="Courier New"/>
                <a:sym typeface="Courier New"/>
              </a:rPr>
              <a:t>, </a:t>
            </a:r>
            <a:r>
              <a:rPr lang="en" sz="1000" b="0" i="0" u="none" strike="noStrike" cap="none" dirty="0">
                <a:solidFill>
                  <a:srgbClr val="F2B705"/>
                </a:solidFill>
                <a:latin typeface="Courier New"/>
                <a:ea typeface="Courier New"/>
                <a:cs typeface="Courier New"/>
                <a:sym typeface="Courier New"/>
              </a:rPr>
              <a:t>5</a:t>
            </a:r>
            <a:r>
              <a:rPr lang="en" sz="1000" b="0" i="0" u="none" strike="noStrike" cap="none" dirty="0">
                <a:solidFill>
                  <a:srgbClr val="E6ECF7"/>
                </a:solidFill>
                <a:latin typeface="Courier New"/>
                <a:ea typeface="Courier New"/>
                <a:cs typeface="Courier New"/>
                <a:sym typeface="Courier New"/>
              </a:rPr>
              <a:t>);             </a:t>
            </a:r>
            <a:r>
              <a:rPr lang="en" sz="1000" b="0" i="1" u="none" strike="noStrike" cap="none" dirty="0">
                <a:solidFill>
                  <a:srgbClr val="8FA3C4"/>
                </a:solidFill>
                <a:latin typeface="Courier New"/>
                <a:ea typeface="Courier New"/>
                <a:cs typeface="Courier New"/>
                <a:sym typeface="Courier New"/>
              </a:rPr>
              <a:t>// Error: no overload</a:t>
            </a:r>
            <a:endParaRPr lang="en" sz="1000" b="0" i="0" u="none" strike="noStrike" cap="none" dirty="0">
              <a:solidFill>
                <a:srgbClr val="000000"/>
              </a:solidFill>
              <a:latin typeface="Roboto"/>
              <a:ea typeface="Roboto"/>
              <a:cs typeface="Roboto"/>
              <a:sym typeface="Roboto"/>
            </a:endParaRP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grpSpPr/>
      <p:pic>
        <p:nvPicPr>
          <p:cNvPr id="110" name="Google Shape;110;p15" title="Untitled-1-07.png"/>
          <p:cNvPicPr preferRelativeResize="0"/>
          <p:nvPr/>
        </p:nvPicPr>
        <p:blipFill rotWithShape="1">
          <a:blip r:embed="rId2">
            <a:alphaModFix/>
          </a:blip>
          <a:srcRect l="5100" r="4630" b="15895"/>
          <a:stretch/>
        </p:blipFill>
        <p:spPr>
          <a:xfrm>
            <a:off x="880549" y="4348257"/>
            <a:ext cx="2096958" cy="548700"/>
          </a:xfrm>
          <a:prstGeom prst="rect">
            <a:avLst/>
          </a:prstGeom>
          <a:noFill/>
          <a:ln>
            <a:noFill/>
          </a:ln>
        </p:spPr>
      </p:pic>
      <p:pic>
        <p:nvPicPr>
          <p:cNvPr id="111" name="Google Shape;111;p15" title="powerd by.png"/>
          <p:cNvPicPr preferRelativeResize="0"/>
          <p:nvPr/>
        </p:nvPicPr>
        <p:blipFill rotWithShape="1">
          <a:blip r:embed="rId5">
            <a:alphaModFix/>
          </a:blip>
          <a:srcRect l="6981" t="44048" r="6714" b="14302"/>
          <a:stretch/>
        </p:blipFill>
        <p:spPr>
          <a:xfrm>
            <a:off x="3537800" y="4500588"/>
            <a:ext cx="2130125" cy="355975"/>
          </a:xfrm>
          <a:prstGeom prst="rect">
            <a:avLst/>
          </a:prstGeom>
          <a:noFill/>
          <a:ln>
            <a:noFill/>
          </a:ln>
        </p:spPr>
      </p:pic>
      <p:sp>
        <p:nvSpPr>
          <p:cNvPr id="112" name="Google Shape;112;p15"/>
          <p:cNvSpPr txBox="1"/>
          <p:nvPr/>
        </p:nvSpPr>
        <p:spPr>
          <a:xfrm>
            <a:off x="5998012" y="4596047"/>
            <a:ext cx="2436900" cy="253800"/>
          </a:xfrm>
          <a:prstGeom prst="rect">
            <a:avLst/>
          </a:prstGeom>
          <a:noFill/>
          <a:ln>
            <a:noFill/>
          </a:ln>
        </p:spPr>
        <p:txBody>
          <a:bodyPr spcFirstLastPara="1" wrap="non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0053A1"/>
                </a:solidFill>
                <a:latin typeface="Roboto"/>
                <a:ea typeface="Roboto"/>
                <a:cs typeface="Roboto"/>
                <a:sym typeface="Roboto"/>
              </a:rPr>
              <a:t>www.</a:t>
            </a:r>
            <a:r>
              <a:rPr lang="en" sz="1200" b="1">
                <a:solidFill>
                  <a:srgbClr val="0053A1"/>
                </a:solidFill>
                <a:latin typeface="Roboto"/>
                <a:ea typeface="Roboto"/>
                <a:cs typeface="Roboto"/>
                <a:sym typeface="Roboto"/>
              </a:rPr>
              <a:t>careercraftacademy.com</a:t>
            </a:r>
            <a:endParaRPr sz="1200" b="1" i="0" u="none" strike="noStrike" cap="none">
              <a:solidFill>
                <a:srgbClr val="0053A1"/>
              </a:solidFill>
              <a:latin typeface="Roboto"/>
              <a:ea typeface="Roboto"/>
              <a:cs typeface="Roboto"/>
              <a:sym typeface="Roboto"/>
            </a:endParaRPr>
          </a:p>
        </p:txBody>
      </p:sp>
      <p:pic>
        <p:nvPicPr>
          <p:cNvPr id="114" name="Google Shape;114;p15"/>
          <p:cNvPicPr preferRelativeResize="0"/>
          <p:nvPr/>
        </p:nvPicPr>
        <p:blipFill>
          <a:blip r:embed="rId4">
            <a:alphaModFix/>
          </a:blip>
          <a:stretch>
            <a:fillRect/>
          </a:stretch>
        </p:blipFill>
        <p:spPr>
          <a:xfrm>
            <a:off x="8447868" y="4368945"/>
            <a:ext cx="334175" cy="480903"/>
          </a:xfrm>
          <a:prstGeom prst="rect">
            <a:avLst/>
          </a:prstGeom>
          <a:noFill/>
          <a:ln>
            <a:noFill/>
          </a:ln>
        </p:spPr>
      </p:pic>
      <p:sp>
        <p:nvSpPr>
          <p:cNvPr id="471" name="Kicker"/>
          <p:cNvSpPr txBox="1"/>
          <p:nvPr/>
        </p:nvSpPr>
        <p:spPr>
          <a:xfrm>
            <a:off x="675600" y="285000"/>
            <a:ext cx="3560000" cy="241200"/>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1003" b="0" i="0" u="none" strike="noStrike" cap="none" dirty="0">
                <a:solidFill>
                  <a:srgbClr val="7F7F7F"/>
                </a:solidFill>
                <a:latin typeface="Roboto"/>
                <a:ea typeface="Roboto"/>
                <a:cs typeface="Roboto"/>
                <a:sym typeface="Roboto"/>
              </a:rPr>
              <a:t>Object-Oriented Programming</a:t>
            </a:r>
            <a:endParaRPr lang="en" sz="1003" b="0" i="0" u="none" strike="noStrike" cap="none" dirty="0">
              <a:solidFill>
                <a:srgbClr val="000000"/>
              </a:solidFill>
              <a:latin typeface="Roboto"/>
              <a:ea typeface="Roboto"/>
              <a:cs typeface="Roboto"/>
              <a:sym typeface="Roboto"/>
            </a:endParaRPr>
          </a:p>
        </p:txBody>
      </p:sp>
      <p:sp>
        <p:nvSpPr>
          <p:cNvPr id="472" name="Title"/>
          <p:cNvSpPr txBox="1"/>
          <p:nvPr/>
        </p:nvSpPr>
        <p:spPr>
          <a:xfrm>
            <a:off x="675600" y="520000"/>
            <a:ext cx="3560000" cy="763948"/>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2200" b="1" i="0" u="none" strike="noStrike" cap="none" dirty="0">
                <a:solidFill>
                  <a:srgbClr val="0053A1"/>
                </a:solidFill>
                <a:latin typeface="Poppins SemiBold"/>
                <a:ea typeface="Poppins SemiBold"/>
                <a:cs typeface="Poppins SemiBold"/>
                <a:sym typeface="Poppins SemiBold"/>
              </a:rPr>
              <a:t>Classes in</a:t>
            </a:r>
            <a:endParaRPr lang="en" sz="2200" b="0" i="0" u="none" strike="noStrike" cap="none" dirty="0">
              <a:solidFill>
                <a:srgbClr val="000000"/>
              </a:solidFill>
              <a:latin typeface="Roboto"/>
              <a:ea typeface="Roboto"/>
              <a:cs typeface="Roboto"/>
              <a:sym typeface="Roboto"/>
            </a:endParaRPr>
          </a:p>
          <a:p>
            <a:pPr marL="0" marR="0" lvl="0" indent="0" algn="l" rtl="0">
              <a:lnSpc>
                <a:spcPct val="100000"/>
              </a:lnSpc>
              <a:spcBef>
                <a:spcPts val="0"/>
              </a:spcBef>
              <a:spcAft>
                <a:spcPts val="0"/>
              </a:spcAft>
              <a:buNone/>
            </a:pPr>
            <a:r>
              <a:rPr lang="en" sz="2200" b="1" i="0" u="none" strike="noStrike" cap="none" dirty="0">
                <a:solidFill>
                  <a:srgbClr val="000000"/>
                </a:solidFill>
                <a:latin typeface="Poppins SemiBold"/>
                <a:ea typeface="Poppins SemiBold"/>
                <a:cs typeface="Poppins SemiBold"/>
                <a:sym typeface="Poppins SemiBold"/>
              </a:rPr>
              <a:t>TypeScript</a:t>
            </a:r>
            <a:endParaRPr lang="en" sz="2200" b="0" i="0" u="none" strike="noStrike" cap="none" dirty="0">
              <a:solidFill>
                <a:srgbClr val="000000"/>
              </a:solidFill>
              <a:latin typeface="Roboto"/>
              <a:ea typeface="Roboto"/>
              <a:cs typeface="Roboto"/>
              <a:sym typeface="Roboto"/>
            </a:endParaRPr>
          </a:p>
        </p:txBody>
      </p:sp>
      <p:sp>
        <p:nvSpPr>
          <p:cNvPr id="473" name="Body"/>
          <p:cNvSpPr txBox="1"/>
          <p:nvPr/>
        </p:nvSpPr>
        <p:spPr>
          <a:xfrm>
            <a:off x="620000" y="1383000"/>
            <a:ext cx="3560000" cy="1246780"/>
          </a:xfrm>
          <a:prstGeom prst="rect">
            <a:avLst/>
          </a:prstGeom>
          <a:noFill/>
        </p:spPr>
        <p:txBody>
          <a:bodyPr spcFirstLastPara="1" wrap="square" lIns="86025" tIns="43000" rIns="86025" bIns="43000" anchor="t" anchorCtr="0">
            <a:noAutofit/>
          </a:bodyPr>
          <a:lstStyle/>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A </a:t>
            </a:r>
            <a:r>
              <a:rPr lang="en" sz="1100" b="1" i="0" u="none" strike="noStrike" cap="none" dirty="0">
                <a:solidFill>
                  <a:schemeClr val="tx1"/>
                </a:solidFill>
                <a:latin typeface="Roboto"/>
                <a:ea typeface="Roboto"/>
                <a:cs typeface="Roboto"/>
                <a:sym typeface="Roboto"/>
              </a:rPr>
              <a:t>class</a:t>
            </a:r>
            <a:r>
              <a:rPr lang="en" sz="1100" b="0" i="0" u="none" strike="noStrike" cap="none" dirty="0">
                <a:solidFill>
                  <a:schemeClr val="tx1"/>
                </a:solidFill>
                <a:latin typeface="Roboto"/>
                <a:ea typeface="Roboto"/>
                <a:cs typeface="Roboto"/>
                <a:sym typeface="Roboto"/>
              </a:rPr>
              <a:t> is a blueprint for objects</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TypeScript adds </a:t>
            </a:r>
            <a:r>
              <a:rPr lang="en" sz="1100" b="1" i="0" u="none" strike="noStrike" cap="none" dirty="0">
                <a:solidFill>
                  <a:schemeClr val="tx1"/>
                </a:solidFill>
                <a:latin typeface="Roboto"/>
                <a:ea typeface="Roboto"/>
                <a:cs typeface="Roboto"/>
                <a:sym typeface="Roboto"/>
              </a:rPr>
              <a:t>types</a:t>
            </a:r>
            <a:r>
              <a:rPr lang="en" sz="1100" b="0" i="0" u="none" strike="noStrike" cap="none" dirty="0">
                <a:solidFill>
                  <a:schemeClr val="tx1"/>
                </a:solidFill>
                <a:latin typeface="Roboto"/>
                <a:ea typeface="Roboto"/>
                <a:cs typeface="Roboto"/>
                <a:sym typeface="Roboto"/>
              </a:rPr>
              <a:t> to class members</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Declare properties </a:t>
            </a:r>
            <a:r>
              <a:rPr lang="en" sz="1100" b="1" i="0" u="none" strike="noStrike" cap="none" dirty="0">
                <a:solidFill>
                  <a:schemeClr val="tx1"/>
                </a:solidFill>
                <a:latin typeface="Roboto"/>
                <a:ea typeface="Roboto"/>
                <a:cs typeface="Roboto"/>
                <a:sym typeface="Roboto"/>
              </a:rPr>
              <a:t>before</a:t>
            </a:r>
            <a:r>
              <a:rPr lang="en" sz="1100" b="0" i="0" u="none" strike="noStrike" cap="none" dirty="0">
                <a:solidFill>
                  <a:schemeClr val="tx1"/>
                </a:solidFill>
                <a:latin typeface="Roboto"/>
                <a:ea typeface="Roboto"/>
                <a:cs typeface="Roboto"/>
                <a:sym typeface="Roboto"/>
              </a:rPr>
              <a:t> assigning them</a:t>
            </a:r>
            <a:endParaRPr lang="en" sz="1100" b="0" i="0" u="none" strike="noStrike" cap="none" dirty="0">
              <a:solidFill>
                <a:srgbClr val="000000"/>
              </a:solidFill>
              <a:latin typeface="Roboto"/>
              <a:ea typeface="Roboto"/>
              <a:cs typeface="Roboto"/>
              <a:sym typeface="Roboto"/>
            </a:endParaRPr>
          </a:p>
          <a:p>
            <a:pPr marL="0" marR="0" lvl="0" indent="0" algn="l" rtl="0">
              <a:lnSpc>
                <a:spcPct val="135000"/>
              </a:lnSpc>
              <a:spcBef>
                <a:spcPts val="0"/>
              </a:spcBef>
              <a:spcAft>
                <a:spcPts val="300"/>
              </a:spcAft>
              <a:buNone/>
            </a:pPr>
            <a:r>
              <a:rPr lang="en" sz="1100" b="0" i="0" u="none" strike="noStrike" cap="none" dirty="0">
                <a:solidFill>
                  <a:schemeClr val="tx1"/>
                </a:solidFill>
                <a:latin typeface="Roboto"/>
                <a:ea typeface="Roboto"/>
                <a:cs typeface="Roboto"/>
                <a:sym typeface="Roboto"/>
              </a:rPr>
              <a:t>Next slide: a shortcut that removes this boilerplate.</a:t>
            </a:r>
            <a:endParaRPr lang="en" sz="1100" b="0" i="0" u="none" strike="noStrike" cap="none" dirty="0">
              <a:solidFill>
                <a:srgbClr val="000000"/>
              </a:solidFill>
              <a:latin typeface="Roboto"/>
              <a:ea typeface="Roboto"/>
              <a:cs typeface="Roboto"/>
              <a:sym typeface="Roboto"/>
            </a:endParaRPr>
          </a:p>
        </p:txBody>
      </p:sp>
      <p:sp>
        <p:nvSpPr>
          <p:cNvPr id="474" name="Code panel"/>
          <p:cNvSpPr/>
          <p:nvPr/>
        </p:nvSpPr>
        <p:spPr>
          <a:xfrm>
            <a:off x="4300000" y="500000"/>
            <a:ext cx="4350000" cy="2878257"/>
          </a:xfrm>
          <a:prstGeom prst="roundRect">
            <a:avLst>
              <a:gd name="adj" fmla="val 3500"/>
            </a:avLst>
          </a:prstGeom>
          <a:solidFill>
            <a:srgbClr val="0E2455"/>
          </a:solidFill>
          <a:ln>
            <a:noFill/>
          </a:ln>
          <a:effectLst>
            <a:outerShdw blurRad="63500" dist="25400" dir="5400000" algn="t" rotWithShape="0">
              <a:srgbClr val="000000">
                <a:alpha val="22000"/>
              </a:srgbClr>
            </a:outerShdw>
          </a:effectLst>
        </p:spPr>
        <p:txBody>
          <a:bodyPr rtlCol="0" anchor="ctr"/>
          <a:lstStyle/>
          <a:p>
            <a:pPr algn="ctr"/>
          </a:p>
        </p:txBody>
      </p:sp>
      <p:sp>
        <p:nvSpPr>
          <p:cNvPr id="475" name="Dot 1"/>
          <p:cNvSpPr/>
          <p:nvPr/>
        </p:nvSpPr>
        <p:spPr>
          <a:xfrm>
            <a:off x="4420000" y="605000"/>
            <a:ext cx="70000" cy="70000"/>
          </a:xfrm>
          <a:prstGeom prst="ellipse">
            <a:avLst/>
          </a:prstGeom>
          <a:solidFill>
            <a:srgbClr val="C00000"/>
          </a:solidFill>
          <a:ln>
            <a:noFill/>
          </a:ln>
        </p:spPr>
        <p:txBody>
          <a:bodyPr rtlCol="0" anchor="ctr"/>
          <a:lstStyle/>
          <a:p>
            <a:pPr algn="ctr"/>
          </a:p>
        </p:txBody>
      </p:sp>
      <p:sp>
        <p:nvSpPr>
          <p:cNvPr id="476" name="Dot 2"/>
          <p:cNvSpPr/>
          <p:nvPr/>
        </p:nvSpPr>
        <p:spPr>
          <a:xfrm>
            <a:off x="4550000" y="605000"/>
            <a:ext cx="70000" cy="70000"/>
          </a:xfrm>
          <a:prstGeom prst="ellipse">
            <a:avLst/>
          </a:prstGeom>
          <a:solidFill>
            <a:srgbClr val="F2B705"/>
          </a:solidFill>
          <a:ln>
            <a:noFill/>
          </a:ln>
        </p:spPr>
        <p:txBody>
          <a:bodyPr rtlCol="0" anchor="ctr"/>
          <a:lstStyle/>
          <a:p>
            <a:pPr algn="ctr"/>
          </a:p>
        </p:txBody>
      </p:sp>
      <p:sp>
        <p:nvSpPr>
          <p:cNvPr id="477" name="Dot 3"/>
          <p:cNvSpPr/>
          <p:nvPr/>
        </p:nvSpPr>
        <p:spPr>
          <a:xfrm>
            <a:off x="4680000" y="605000"/>
            <a:ext cx="70000" cy="70000"/>
          </a:xfrm>
          <a:prstGeom prst="ellipse">
            <a:avLst/>
          </a:prstGeom>
          <a:solidFill>
            <a:srgbClr val="3DAE5C"/>
          </a:solidFill>
          <a:ln>
            <a:noFill/>
          </a:ln>
        </p:spPr>
        <p:txBody>
          <a:bodyPr rtlCol="0" anchor="ctr"/>
          <a:lstStyle/>
          <a:p>
            <a:pPr algn="ctr"/>
          </a:p>
        </p:txBody>
      </p:sp>
      <p:sp>
        <p:nvSpPr>
          <p:cNvPr id="478" name="Code label"/>
          <p:cNvSpPr txBox="1"/>
          <p:nvPr/>
        </p:nvSpPr>
        <p:spPr>
          <a:xfrm>
            <a:off x="7650000" y="555000"/>
            <a:ext cx="900000" cy="170000"/>
          </a:xfrm>
          <a:prstGeom prst="rect">
            <a:avLst/>
          </a:prstGeom>
          <a:noFill/>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800" b="1" i="0" u="none" strike="noStrike" cap="none" dirty="0">
                <a:solidFill>
                  <a:srgbClr val="8FA3C4"/>
                </a:solidFill>
                <a:latin typeface="Roboto"/>
                <a:ea typeface="Roboto"/>
                <a:cs typeface="Roboto"/>
                <a:sym typeface="Roboto"/>
              </a:rPr>
              <a:t>TS</a:t>
            </a:r>
            <a:endParaRPr lang="en" sz="800" b="0" i="0" u="none" strike="noStrike" cap="none" dirty="0">
              <a:solidFill>
                <a:srgbClr val="000000"/>
              </a:solidFill>
              <a:latin typeface="Roboto"/>
              <a:ea typeface="Roboto"/>
              <a:cs typeface="Roboto"/>
              <a:sym typeface="Roboto"/>
            </a:endParaRPr>
          </a:p>
        </p:txBody>
      </p:sp>
      <p:sp>
        <p:nvSpPr>
          <p:cNvPr id="479" name="Code"/>
          <p:cNvSpPr txBox="1"/>
          <p:nvPr/>
        </p:nvSpPr>
        <p:spPr>
          <a:xfrm>
            <a:off x="4360000" y="750000"/>
            <a:ext cx="4230000" cy="2598257"/>
          </a:xfrm>
          <a:prstGeom prst="rect">
            <a:avLst/>
          </a:prstGeom>
          <a:noFill/>
        </p:spPr>
        <p:txBody>
          <a:bodyPr spcFirstLastPara="1" wrap="square" lIns="86025" tIns="0" rIns="60000" bIns="0" anchor="t" anchorCtr="0">
            <a:noAutofit/>
          </a:bodyPr>
          <a:lstStyle/>
          <a:p>
            <a:pPr marL="0" marR="0" lvl="0" indent="0" algn="l" rtl="0">
              <a:lnSpc>
                <a:spcPct val="108000"/>
              </a:lnSpc>
              <a:spcBef>
                <a:spcPts val="0"/>
              </a:spcBef>
              <a:spcAft>
                <a:spcPts val="0"/>
              </a:spcAft>
              <a:buNone/>
            </a:pPr>
            <a:r>
              <a:rPr lang="en" sz="900" b="0" i="0" u="none" strike="noStrike" cap="none" dirty="0">
                <a:solidFill>
                  <a:srgbClr val="8CC4FF"/>
                </a:solidFill>
                <a:latin typeface="Courier New"/>
                <a:ea typeface="Courier New"/>
                <a:cs typeface="Courier New"/>
                <a:sym typeface="Courier New"/>
              </a:rPr>
              <a:t>class</a:t>
            </a:r>
            <a:r>
              <a:rPr lang="en" sz="900" b="0" i="0" u="none" strike="noStrike" cap="none" dirty="0">
                <a:solidFill>
                  <a:srgbClr val="E6ECF7"/>
                </a:solidFill>
                <a:latin typeface="Courier New"/>
                <a:ea typeface="Courier New"/>
                <a:cs typeface="Courier New"/>
                <a:sym typeface="Courier New"/>
              </a:rPr>
              <a:t> Person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name: string;</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age: number;</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8CC4FF"/>
                </a:solidFill>
                <a:latin typeface="Courier New"/>
                <a:ea typeface="Courier New"/>
                <a:cs typeface="Courier New"/>
                <a:sym typeface="Courier New"/>
              </a:rPr>
              <a:t>constructor</a:t>
            </a:r>
            <a:r>
              <a:rPr lang="en" sz="900" b="0" i="0" u="none" strike="noStrike" cap="none" dirty="0">
                <a:solidFill>
                  <a:srgbClr val="E6ECF7"/>
                </a:solidFill>
                <a:latin typeface="Courier New"/>
                <a:ea typeface="Courier New"/>
                <a:cs typeface="Courier New"/>
                <a:sym typeface="Courier New"/>
              </a:rPr>
              <a:t>(name: string, age: number)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8CC4FF"/>
                </a:solidFill>
                <a:latin typeface="Courier New"/>
                <a:ea typeface="Courier New"/>
                <a:cs typeface="Courier New"/>
                <a:sym typeface="Courier New"/>
              </a:rPr>
              <a:t>this</a:t>
            </a:r>
            <a:r>
              <a:rPr lang="en" sz="900" b="0" i="0" u="none" strike="noStrike" cap="none" dirty="0">
                <a:solidFill>
                  <a:srgbClr val="E6ECF7"/>
                </a:solidFill>
                <a:latin typeface="Courier New"/>
                <a:ea typeface="Courier New"/>
                <a:cs typeface="Courier New"/>
                <a:sym typeface="Courier New"/>
              </a:rPr>
              <a:t>.name = name;</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8CC4FF"/>
                </a:solidFill>
                <a:latin typeface="Courier New"/>
                <a:ea typeface="Courier New"/>
                <a:cs typeface="Courier New"/>
                <a:sym typeface="Courier New"/>
              </a:rPr>
              <a:t>this</a:t>
            </a:r>
            <a:r>
              <a:rPr lang="en" sz="900" b="0" i="0" u="none" strike="noStrike" cap="none" dirty="0">
                <a:solidFill>
                  <a:srgbClr val="E6ECF7"/>
                </a:solidFill>
                <a:latin typeface="Courier New"/>
                <a:ea typeface="Courier New"/>
                <a:cs typeface="Courier New"/>
                <a:sym typeface="Courier New"/>
              </a:rPr>
              <a:t>.age = age;</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introduce(): string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8CC4FF"/>
                </a:solidFill>
                <a:latin typeface="Courier New"/>
                <a:ea typeface="Courier New"/>
                <a:cs typeface="Courier New"/>
                <a:sym typeface="Courier New"/>
              </a:rPr>
              <a:t>return</a:t>
            </a: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FFC878"/>
                </a:solidFill>
                <a:latin typeface="Courier New"/>
                <a:ea typeface="Courier New"/>
                <a:cs typeface="Courier New"/>
                <a:sym typeface="Courier New"/>
              </a:rPr>
              <a:t>`Hi, I'm ${this.name}, ${this.age}.`</a:t>
            </a: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8CC4FF"/>
                </a:solidFill>
                <a:latin typeface="Courier New"/>
                <a:ea typeface="Courier New"/>
                <a:cs typeface="Courier New"/>
                <a:sym typeface="Courier New"/>
              </a:rPr>
              <a:t>const</a:t>
            </a:r>
            <a:r>
              <a:rPr lang="en" sz="900" b="0" i="0" u="none" strike="noStrike" cap="none" dirty="0">
                <a:solidFill>
                  <a:srgbClr val="E6ECF7"/>
                </a:solidFill>
                <a:latin typeface="Courier New"/>
                <a:ea typeface="Courier New"/>
                <a:cs typeface="Courier New"/>
                <a:sym typeface="Courier New"/>
              </a:rPr>
              <a:t> alice = </a:t>
            </a:r>
            <a:r>
              <a:rPr lang="en" sz="900" b="0" i="0" u="none" strike="noStrike" cap="none" dirty="0">
                <a:solidFill>
                  <a:srgbClr val="8CC4FF"/>
                </a:solidFill>
                <a:latin typeface="Courier New"/>
                <a:ea typeface="Courier New"/>
                <a:cs typeface="Courier New"/>
                <a:sym typeface="Courier New"/>
              </a:rPr>
              <a:t>new</a:t>
            </a:r>
            <a:r>
              <a:rPr lang="en" sz="900" b="0" i="0" u="none" strike="noStrike" cap="none" dirty="0">
                <a:solidFill>
                  <a:srgbClr val="E6ECF7"/>
                </a:solidFill>
                <a:latin typeface="Courier New"/>
                <a:ea typeface="Courier New"/>
                <a:cs typeface="Courier New"/>
                <a:sym typeface="Courier New"/>
              </a:rPr>
              <a:t> Person(</a:t>
            </a:r>
            <a:r>
              <a:rPr lang="en" sz="900" b="0" i="0" u="none" strike="noStrike" cap="none" dirty="0">
                <a:solidFill>
                  <a:srgbClr val="FFC878"/>
                </a:solidFill>
                <a:latin typeface="Courier New"/>
                <a:ea typeface="Courier New"/>
                <a:cs typeface="Courier New"/>
                <a:sym typeface="Courier New"/>
              </a:rPr>
              <a:t>"Alice"</a:t>
            </a: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F2B705"/>
                </a:solidFill>
                <a:latin typeface="Courier New"/>
                <a:ea typeface="Courier New"/>
                <a:cs typeface="Courier New"/>
                <a:sym typeface="Courier New"/>
              </a:rPr>
              <a:t>30</a:t>
            </a: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console.log(alice.introduce());</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alice.age = </a:t>
            </a:r>
            <a:r>
              <a:rPr lang="en" sz="900" b="0" i="0" u="none" strike="noStrike" cap="none" dirty="0">
                <a:solidFill>
                  <a:srgbClr val="FFC878"/>
                </a:solidFill>
                <a:latin typeface="Courier New"/>
                <a:ea typeface="Courier New"/>
                <a:cs typeface="Courier New"/>
                <a:sym typeface="Courier New"/>
              </a:rPr>
              <a:t>"thirty"</a:t>
            </a:r>
            <a:r>
              <a:rPr lang="en" sz="900" b="0" i="0" u="none" strike="noStrike" cap="none" dirty="0">
                <a:solidFill>
                  <a:srgbClr val="E6ECF7"/>
                </a:solidFill>
                <a:latin typeface="Courier New"/>
                <a:ea typeface="Courier New"/>
                <a:cs typeface="Courier New"/>
                <a:sym typeface="Courier New"/>
              </a:rPr>
              <a:t>; </a:t>
            </a:r>
            <a:r>
              <a:rPr lang="en" sz="900" b="0" i="1" u="none" strike="noStrike" cap="none" dirty="0">
                <a:solidFill>
                  <a:srgbClr val="8FA3C4"/>
                </a:solidFill>
                <a:latin typeface="Courier New"/>
                <a:ea typeface="Courier New"/>
                <a:cs typeface="Courier New"/>
                <a:sym typeface="Courier New"/>
              </a:rPr>
              <a:t>// Error</a:t>
            </a:r>
            <a:endParaRPr lang="en" sz="900" b="0" i="0" u="none" strike="noStrike" cap="none" dirty="0">
              <a:solidFill>
                <a:srgbClr val="000000"/>
              </a:solidFill>
              <a:latin typeface="Roboto"/>
              <a:ea typeface="Roboto"/>
              <a:cs typeface="Roboto"/>
              <a:sym typeface="Roboto"/>
            </a:endParaRP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grpSpPr/>
      <p:pic>
        <p:nvPicPr>
          <p:cNvPr id="110" name="Google Shape;110;p15" title="Untitled-1-07.png"/>
          <p:cNvPicPr preferRelativeResize="0"/>
          <p:nvPr/>
        </p:nvPicPr>
        <p:blipFill rotWithShape="1">
          <a:blip r:embed="rId2">
            <a:alphaModFix/>
          </a:blip>
          <a:srcRect l="5100" r="4630" b="15895"/>
          <a:stretch/>
        </p:blipFill>
        <p:spPr>
          <a:xfrm>
            <a:off x="880549" y="4348257"/>
            <a:ext cx="2096958" cy="548700"/>
          </a:xfrm>
          <a:prstGeom prst="rect">
            <a:avLst/>
          </a:prstGeom>
          <a:noFill/>
          <a:ln>
            <a:noFill/>
          </a:ln>
        </p:spPr>
      </p:pic>
      <p:pic>
        <p:nvPicPr>
          <p:cNvPr id="111" name="Google Shape;111;p15" title="powerd by.png"/>
          <p:cNvPicPr preferRelativeResize="0"/>
          <p:nvPr/>
        </p:nvPicPr>
        <p:blipFill rotWithShape="1">
          <a:blip r:embed="rId5">
            <a:alphaModFix/>
          </a:blip>
          <a:srcRect l="6981" t="44048" r="6714" b="14302"/>
          <a:stretch/>
        </p:blipFill>
        <p:spPr>
          <a:xfrm>
            <a:off x="3537800" y="4500588"/>
            <a:ext cx="2130125" cy="355975"/>
          </a:xfrm>
          <a:prstGeom prst="rect">
            <a:avLst/>
          </a:prstGeom>
          <a:noFill/>
          <a:ln>
            <a:noFill/>
          </a:ln>
        </p:spPr>
      </p:pic>
      <p:sp>
        <p:nvSpPr>
          <p:cNvPr id="112" name="Google Shape;112;p15"/>
          <p:cNvSpPr txBox="1"/>
          <p:nvPr/>
        </p:nvSpPr>
        <p:spPr>
          <a:xfrm>
            <a:off x="5998012" y="4596047"/>
            <a:ext cx="2436900" cy="253800"/>
          </a:xfrm>
          <a:prstGeom prst="rect">
            <a:avLst/>
          </a:prstGeom>
          <a:noFill/>
          <a:ln>
            <a:noFill/>
          </a:ln>
        </p:spPr>
        <p:txBody>
          <a:bodyPr spcFirstLastPara="1" wrap="non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0053A1"/>
                </a:solidFill>
                <a:latin typeface="Roboto"/>
                <a:ea typeface="Roboto"/>
                <a:cs typeface="Roboto"/>
                <a:sym typeface="Roboto"/>
              </a:rPr>
              <a:t>www.</a:t>
            </a:r>
            <a:r>
              <a:rPr lang="en" sz="1200" b="1">
                <a:solidFill>
                  <a:srgbClr val="0053A1"/>
                </a:solidFill>
                <a:latin typeface="Roboto"/>
                <a:ea typeface="Roboto"/>
                <a:cs typeface="Roboto"/>
                <a:sym typeface="Roboto"/>
              </a:rPr>
              <a:t>careercraftacademy.com</a:t>
            </a:r>
            <a:endParaRPr sz="1200" b="1" i="0" u="none" strike="noStrike" cap="none">
              <a:solidFill>
                <a:srgbClr val="0053A1"/>
              </a:solidFill>
              <a:latin typeface="Roboto"/>
              <a:ea typeface="Roboto"/>
              <a:cs typeface="Roboto"/>
              <a:sym typeface="Roboto"/>
            </a:endParaRPr>
          </a:p>
        </p:txBody>
      </p:sp>
      <p:pic>
        <p:nvPicPr>
          <p:cNvPr id="114" name="Google Shape;114;p15"/>
          <p:cNvPicPr preferRelativeResize="0"/>
          <p:nvPr/>
        </p:nvPicPr>
        <p:blipFill>
          <a:blip r:embed="rId4">
            <a:alphaModFix/>
          </a:blip>
          <a:stretch>
            <a:fillRect/>
          </a:stretch>
        </p:blipFill>
        <p:spPr>
          <a:xfrm>
            <a:off x="8447868" y="4368945"/>
            <a:ext cx="334175" cy="480903"/>
          </a:xfrm>
          <a:prstGeom prst="rect">
            <a:avLst/>
          </a:prstGeom>
          <a:noFill/>
          <a:ln>
            <a:noFill/>
          </a:ln>
        </p:spPr>
      </p:pic>
      <p:sp>
        <p:nvSpPr>
          <p:cNvPr id="480" name="Kicker"/>
          <p:cNvSpPr txBox="1"/>
          <p:nvPr/>
        </p:nvSpPr>
        <p:spPr>
          <a:xfrm>
            <a:off x="675600" y="285000"/>
            <a:ext cx="3560000" cy="241200"/>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1003" b="0" i="0" u="none" strike="noStrike" cap="none" dirty="0">
                <a:solidFill>
                  <a:srgbClr val="7F7F7F"/>
                </a:solidFill>
                <a:latin typeface="Roboto"/>
                <a:ea typeface="Roboto"/>
                <a:cs typeface="Roboto"/>
                <a:sym typeface="Roboto"/>
              </a:rPr>
              <a:t>Object-Oriented Programming</a:t>
            </a:r>
            <a:endParaRPr lang="en" sz="1003" b="0" i="0" u="none" strike="noStrike" cap="none" dirty="0">
              <a:solidFill>
                <a:srgbClr val="000000"/>
              </a:solidFill>
              <a:latin typeface="Roboto"/>
              <a:ea typeface="Roboto"/>
              <a:cs typeface="Roboto"/>
              <a:sym typeface="Roboto"/>
            </a:endParaRPr>
          </a:p>
        </p:txBody>
      </p:sp>
      <p:sp>
        <p:nvSpPr>
          <p:cNvPr id="481" name="Title"/>
          <p:cNvSpPr txBox="1"/>
          <p:nvPr/>
        </p:nvSpPr>
        <p:spPr>
          <a:xfrm>
            <a:off x="675600" y="520000"/>
            <a:ext cx="3560000" cy="425394"/>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2200" b="1" i="0" u="none" strike="noStrike" cap="none" dirty="0">
                <a:solidFill>
                  <a:srgbClr val="0053A1"/>
                </a:solidFill>
                <a:latin typeface="Poppins SemiBold"/>
                <a:ea typeface="Poppins SemiBold"/>
                <a:cs typeface="Poppins SemiBold"/>
                <a:sym typeface="Poppins SemiBold"/>
              </a:rPr>
              <a:t>Access </a:t>
            </a:r>
            <a:r>
              <a:rPr lang="en" sz="2200" b="1" i="0" u="none" strike="noStrike" cap="none" dirty="0">
                <a:solidFill>
                  <a:srgbClr val="000000"/>
                </a:solidFill>
                <a:latin typeface="Poppins SemiBold"/>
                <a:ea typeface="Poppins SemiBold"/>
                <a:cs typeface="Poppins SemiBold"/>
                <a:sym typeface="Poppins SemiBold"/>
              </a:rPr>
              <a:t>Modifiers</a:t>
            </a:r>
            <a:endParaRPr lang="en" sz="2200" b="0" i="0" u="none" strike="noStrike" cap="none" dirty="0">
              <a:solidFill>
                <a:srgbClr val="000000"/>
              </a:solidFill>
              <a:latin typeface="Roboto"/>
              <a:ea typeface="Roboto"/>
              <a:cs typeface="Roboto"/>
              <a:sym typeface="Roboto"/>
            </a:endParaRPr>
          </a:p>
        </p:txBody>
      </p:sp>
      <p:sp>
        <p:nvSpPr>
          <p:cNvPr id="482" name="Body"/>
          <p:cNvSpPr txBox="1"/>
          <p:nvPr/>
        </p:nvSpPr>
        <p:spPr>
          <a:xfrm>
            <a:off x="620000" y="1048000"/>
            <a:ext cx="3560000" cy="1696360"/>
          </a:xfrm>
          <a:prstGeom prst="rect">
            <a:avLst/>
          </a:prstGeom>
          <a:noFill/>
        </p:spPr>
        <p:txBody>
          <a:bodyPr spcFirstLastPara="1" wrap="square" lIns="86025" tIns="43000" rIns="86025" bIns="43000" anchor="t" anchorCtr="0">
            <a:noAutofit/>
          </a:bodyPr>
          <a:lstStyle/>
          <a:p>
            <a:pPr marL="171450" marR="0" lvl="0" indent="-171450" algn="l" rtl="0">
              <a:lnSpc>
                <a:spcPct val="125000"/>
              </a:lnSpc>
              <a:spcBef>
                <a:spcPts val="100"/>
              </a:spcBef>
              <a:spcAft>
                <a:spcPts val="0"/>
              </a:spcAft>
              <a:buClr>
                <a:srgbClr val="000000"/>
              </a:buClr>
              <a:buSzPts val="1100"/>
              <a:buFont typeface="Arial"/>
              <a:buChar char="•"/>
            </a:pPr>
            <a:r>
              <a:rPr lang="en" sz="1050" b="1" i="0" u="none" strike="noStrike" cap="none" dirty="0">
                <a:solidFill>
                  <a:srgbClr val="0053A1"/>
                </a:solidFill>
                <a:latin typeface="Courier New"/>
                <a:ea typeface="Courier New"/>
                <a:cs typeface="Courier New"/>
                <a:sym typeface="Courier New"/>
              </a:rPr>
              <a:t>public</a:t>
            </a:r>
            <a:r>
              <a:rPr lang="en" sz="1100" b="0" i="0" u="none" strike="noStrike" cap="none" dirty="0">
                <a:solidFill>
                  <a:schemeClr val="tx1"/>
                </a:solidFill>
                <a:latin typeface="Roboto"/>
                <a:ea typeface="Roboto"/>
                <a:cs typeface="Roboto"/>
                <a:sym typeface="Roboto"/>
              </a:rPr>
              <a:t> (default) - accessible anywhere</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050" b="1" i="0" u="none" strike="noStrike" cap="none" dirty="0">
                <a:solidFill>
                  <a:srgbClr val="0053A1"/>
                </a:solidFill>
                <a:latin typeface="Courier New"/>
                <a:ea typeface="Courier New"/>
                <a:cs typeface="Courier New"/>
                <a:sym typeface="Courier New"/>
              </a:rPr>
              <a:t>private</a:t>
            </a:r>
            <a:r>
              <a:rPr lang="en" sz="1100" b="0" i="0" u="none" strike="noStrike" cap="none" dirty="0">
                <a:solidFill>
                  <a:schemeClr val="tx1"/>
                </a:solidFill>
                <a:latin typeface="Roboto"/>
                <a:ea typeface="Roboto"/>
                <a:cs typeface="Roboto"/>
                <a:sym typeface="Roboto"/>
              </a:rPr>
              <a:t> - only inside the class</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050" b="1" i="0" u="none" strike="noStrike" cap="none" dirty="0">
                <a:solidFill>
                  <a:srgbClr val="0053A1"/>
                </a:solidFill>
                <a:latin typeface="Courier New"/>
                <a:ea typeface="Courier New"/>
                <a:cs typeface="Courier New"/>
                <a:sym typeface="Courier New"/>
              </a:rPr>
              <a:t>protected</a:t>
            </a:r>
            <a:r>
              <a:rPr lang="en" sz="1100" b="0" i="0" u="none" strike="noStrike" cap="none" dirty="0">
                <a:solidFill>
                  <a:schemeClr val="tx1"/>
                </a:solidFill>
                <a:latin typeface="Roboto"/>
                <a:ea typeface="Roboto"/>
                <a:cs typeface="Roboto"/>
                <a:sym typeface="Roboto"/>
              </a:rPr>
              <a:t> - class and subclasses</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050" b="1" i="0" u="none" strike="noStrike" cap="none" dirty="0">
                <a:solidFill>
                  <a:srgbClr val="0053A1"/>
                </a:solidFill>
                <a:latin typeface="Courier New"/>
                <a:ea typeface="Courier New"/>
                <a:cs typeface="Courier New"/>
                <a:sym typeface="Courier New"/>
              </a:rPr>
              <a:t>readonly</a:t>
            </a:r>
            <a:r>
              <a:rPr lang="en" sz="1100" b="0" i="0" u="none" strike="noStrike" cap="none" dirty="0">
                <a:solidFill>
                  <a:schemeClr val="tx1"/>
                </a:solidFill>
                <a:latin typeface="Roboto"/>
                <a:ea typeface="Roboto"/>
                <a:cs typeface="Roboto"/>
                <a:sym typeface="Roboto"/>
              </a:rPr>
              <a:t> - set once, never changed</a:t>
            </a:r>
            <a:endParaRPr lang="en" sz="1100" b="0" i="0" u="none" strike="noStrike" cap="none" dirty="0">
              <a:solidFill>
                <a:srgbClr val="000000"/>
              </a:solidFill>
              <a:latin typeface="Roboto"/>
              <a:ea typeface="Roboto"/>
              <a:cs typeface="Roboto"/>
              <a:sym typeface="Roboto"/>
            </a:endParaRPr>
          </a:p>
          <a:p>
            <a:pPr marL="0" marR="0" lvl="0" indent="0" algn="l" rtl="0">
              <a:lnSpc>
                <a:spcPct val="135000"/>
              </a:lnSpc>
              <a:spcBef>
                <a:spcPts val="0"/>
              </a:spcBef>
              <a:spcAft>
                <a:spcPts val="300"/>
              </a:spcAft>
              <a:buNone/>
            </a:pPr>
            <a:r>
              <a:rPr lang="en" sz="1100" b="1" i="0" u="none" strike="noStrike" cap="none" dirty="0">
                <a:solidFill>
                  <a:schemeClr val="tx1"/>
                </a:solidFill>
                <a:latin typeface="Roboto"/>
                <a:ea typeface="Roboto"/>
                <a:cs typeface="Roboto"/>
                <a:sym typeface="Roboto"/>
              </a:rPr>
              <a:t>Parameter properties:</a:t>
            </a:r>
            <a:r>
              <a:rPr lang="en" sz="1100" b="0" i="0" u="none" strike="noStrike" cap="none" dirty="0">
                <a:solidFill>
                  <a:schemeClr val="tx1"/>
                </a:solidFill>
                <a:latin typeface="Roboto"/>
                <a:ea typeface="Roboto"/>
                <a:cs typeface="Roboto"/>
                <a:sym typeface="Roboto"/>
              </a:rPr>
              <a:t> </a:t>
            </a:r>
            <a:r>
              <a:rPr lang="en" sz="1050" b="1" i="0" u="none" strike="noStrike" cap="none" dirty="0">
                <a:solidFill>
                  <a:srgbClr val="0053A1"/>
                </a:solidFill>
                <a:latin typeface="Courier New"/>
                <a:ea typeface="Courier New"/>
                <a:cs typeface="Courier New"/>
                <a:sym typeface="Courier New"/>
              </a:rPr>
              <a:t>private id: string</a:t>
            </a:r>
            <a:r>
              <a:rPr lang="en" sz="1100" b="0" i="0" u="none" strike="noStrike" cap="none" dirty="0">
                <a:solidFill>
                  <a:schemeClr val="tx1"/>
                </a:solidFill>
                <a:latin typeface="Roboto"/>
                <a:ea typeface="Roboto"/>
                <a:cs typeface="Roboto"/>
                <a:sym typeface="Roboto"/>
              </a:rPr>
              <a:t> in the constructor declares and assigns in one line.</a:t>
            </a:r>
            <a:endParaRPr lang="en" sz="1100" b="0" i="0" u="none" strike="noStrike" cap="none" dirty="0">
              <a:solidFill>
                <a:srgbClr val="000000"/>
              </a:solidFill>
              <a:latin typeface="Roboto"/>
              <a:ea typeface="Roboto"/>
              <a:cs typeface="Roboto"/>
              <a:sym typeface="Roboto"/>
            </a:endParaRPr>
          </a:p>
        </p:txBody>
      </p:sp>
      <p:sp>
        <p:nvSpPr>
          <p:cNvPr id="483" name="Code panel"/>
          <p:cNvSpPr/>
          <p:nvPr/>
        </p:nvSpPr>
        <p:spPr>
          <a:xfrm>
            <a:off x="4300000" y="500000"/>
            <a:ext cx="4350000" cy="3026390"/>
          </a:xfrm>
          <a:prstGeom prst="roundRect">
            <a:avLst>
              <a:gd name="adj" fmla="val 3500"/>
            </a:avLst>
          </a:prstGeom>
          <a:solidFill>
            <a:srgbClr val="0E2455"/>
          </a:solidFill>
          <a:ln>
            <a:noFill/>
          </a:ln>
          <a:effectLst>
            <a:outerShdw blurRad="63500" dist="25400" dir="5400000" algn="t" rotWithShape="0">
              <a:srgbClr val="000000">
                <a:alpha val="22000"/>
              </a:srgbClr>
            </a:outerShdw>
          </a:effectLst>
        </p:spPr>
        <p:txBody>
          <a:bodyPr rtlCol="0" anchor="ctr"/>
          <a:lstStyle/>
          <a:p>
            <a:pPr algn="ctr"/>
          </a:p>
        </p:txBody>
      </p:sp>
      <p:sp>
        <p:nvSpPr>
          <p:cNvPr id="484" name="Dot 1"/>
          <p:cNvSpPr/>
          <p:nvPr/>
        </p:nvSpPr>
        <p:spPr>
          <a:xfrm>
            <a:off x="4420000" y="605000"/>
            <a:ext cx="70000" cy="70000"/>
          </a:xfrm>
          <a:prstGeom prst="ellipse">
            <a:avLst/>
          </a:prstGeom>
          <a:solidFill>
            <a:srgbClr val="C00000"/>
          </a:solidFill>
          <a:ln>
            <a:noFill/>
          </a:ln>
        </p:spPr>
        <p:txBody>
          <a:bodyPr rtlCol="0" anchor="ctr"/>
          <a:lstStyle/>
          <a:p>
            <a:pPr algn="ctr"/>
          </a:p>
        </p:txBody>
      </p:sp>
      <p:sp>
        <p:nvSpPr>
          <p:cNvPr id="485" name="Dot 2"/>
          <p:cNvSpPr/>
          <p:nvPr/>
        </p:nvSpPr>
        <p:spPr>
          <a:xfrm>
            <a:off x="4550000" y="605000"/>
            <a:ext cx="70000" cy="70000"/>
          </a:xfrm>
          <a:prstGeom prst="ellipse">
            <a:avLst/>
          </a:prstGeom>
          <a:solidFill>
            <a:srgbClr val="F2B705"/>
          </a:solidFill>
          <a:ln>
            <a:noFill/>
          </a:ln>
        </p:spPr>
        <p:txBody>
          <a:bodyPr rtlCol="0" anchor="ctr"/>
          <a:lstStyle/>
          <a:p>
            <a:pPr algn="ctr"/>
          </a:p>
        </p:txBody>
      </p:sp>
      <p:sp>
        <p:nvSpPr>
          <p:cNvPr id="486" name="Dot 3"/>
          <p:cNvSpPr/>
          <p:nvPr/>
        </p:nvSpPr>
        <p:spPr>
          <a:xfrm>
            <a:off x="4680000" y="605000"/>
            <a:ext cx="70000" cy="70000"/>
          </a:xfrm>
          <a:prstGeom prst="ellipse">
            <a:avLst/>
          </a:prstGeom>
          <a:solidFill>
            <a:srgbClr val="3DAE5C"/>
          </a:solidFill>
          <a:ln>
            <a:noFill/>
          </a:ln>
        </p:spPr>
        <p:txBody>
          <a:bodyPr rtlCol="0" anchor="ctr"/>
          <a:lstStyle/>
          <a:p>
            <a:pPr algn="ctr"/>
          </a:p>
        </p:txBody>
      </p:sp>
      <p:sp>
        <p:nvSpPr>
          <p:cNvPr id="487" name="Code label"/>
          <p:cNvSpPr txBox="1"/>
          <p:nvPr/>
        </p:nvSpPr>
        <p:spPr>
          <a:xfrm>
            <a:off x="7650000" y="555000"/>
            <a:ext cx="900000" cy="170000"/>
          </a:xfrm>
          <a:prstGeom prst="rect">
            <a:avLst/>
          </a:prstGeom>
          <a:noFill/>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800" b="1" i="0" u="none" strike="noStrike" cap="none" dirty="0">
                <a:solidFill>
                  <a:srgbClr val="8FA3C4"/>
                </a:solidFill>
                <a:latin typeface="Roboto"/>
                <a:ea typeface="Roboto"/>
                <a:cs typeface="Roboto"/>
                <a:sym typeface="Roboto"/>
              </a:rPr>
              <a:t>TS</a:t>
            </a:r>
            <a:endParaRPr lang="en" sz="800" b="0" i="0" u="none" strike="noStrike" cap="none" dirty="0">
              <a:solidFill>
                <a:srgbClr val="000000"/>
              </a:solidFill>
              <a:latin typeface="Roboto"/>
              <a:ea typeface="Roboto"/>
              <a:cs typeface="Roboto"/>
              <a:sym typeface="Roboto"/>
            </a:endParaRPr>
          </a:p>
        </p:txBody>
      </p:sp>
      <p:sp>
        <p:nvSpPr>
          <p:cNvPr id="488" name="Code"/>
          <p:cNvSpPr txBox="1"/>
          <p:nvPr/>
        </p:nvSpPr>
        <p:spPr>
          <a:xfrm>
            <a:off x="4360000" y="750000"/>
            <a:ext cx="4230000" cy="2746390"/>
          </a:xfrm>
          <a:prstGeom prst="rect">
            <a:avLst/>
          </a:prstGeom>
          <a:noFill/>
        </p:spPr>
        <p:txBody>
          <a:bodyPr spcFirstLastPara="1" wrap="square" lIns="86025" tIns="0" rIns="60000" bIns="0" anchor="t" anchorCtr="0">
            <a:noAutofit/>
          </a:bodyPr>
          <a:lstStyle/>
          <a:p>
            <a:pPr marL="0" marR="0" lvl="0" indent="0" algn="l" rtl="0">
              <a:lnSpc>
                <a:spcPct val="108000"/>
              </a:lnSpc>
              <a:spcBef>
                <a:spcPts val="0"/>
              </a:spcBef>
              <a:spcAft>
                <a:spcPts val="0"/>
              </a:spcAft>
              <a:buNone/>
            </a:pPr>
            <a:r>
              <a:rPr lang="en" sz="900" b="0" i="0" u="none" strike="noStrike" cap="none" dirty="0">
                <a:solidFill>
                  <a:srgbClr val="8CC4FF"/>
                </a:solidFill>
                <a:latin typeface="Courier New"/>
                <a:ea typeface="Courier New"/>
                <a:cs typeface="Courier New"/>
                <a:sym typeface="Courier New"/>
              </a:rPr>
              <a:t>class</a:t>
            </a:r>
            <a:r>
              <a:rPr lang="en" sz="900" b="0" i="0" u="none" strike="noStrike" cap="none" dirty="0">
                <a:solidFill>
                  <a:srgbClr val="E6ECF7"/>
                </a:solidFill>
                <a:latin typeface="Courier New"/>
                <a:ea typeface="Courier New"/>
                <a:cs typeface="Courier New"/>
                <a:sym typeface="Courier New"/>
              </a:rPr>
              <a:t> BankAccount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public owner: string;</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private balance: number = </a:t>
            </a:r>
            <a:r>
              <a:rPr lang="en" sz="900" b="0" i="0" u="none" strike="noStrike" cap="none" dirty="0">
                <a:solidFill>
                  <a:srgbClr val="F2B705"/>
                </a:solidFill>
                <a:latin typeface="Courier New"/>
                <a:ea typeface="Courier New"/>
                <a:cs typeface="Courier New"/>
                <a:sym typeface="Courier New"/>
              </a:rPr>
              <a:t>0</a:t>
            </a: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8CC4FF"/>
                </a:solidFill>
                <a:latin typeface="Courier New"/>
                <a:ea typeface="Courier New"/>
                <a:cs typeface="Courier New"/>
                <a:sym typeface="Courier New"/>
              </a:rPr>
              <a:t>constructor</a:t>
            </a:r>
            <a:r>
              <a:rPr lang="en" sz="900" b="0" i="0" u="none" strike="noStrike" cap="none" dirty="0">
                <a:solidFill>
                  <a:srgbClr val="E6ECF7"/>
                </a:solidFill>
                <a:latin typeface="Courier New"/>
                <a:ea typeface="Courier New"/>
                <a:cs typeface="Courier New"/>
                <a:sym typeface="Courier New"/>
              </a:rPr>
              <a:t>(owner: string, private id: string)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8CC4FF"/>
                </a:solidFill>
                <a:latin typeface="Courier New"/>
                <a:ea typeface="Courier New"/>
                <a:cs typeface="Courier New"/>
                <a:sym typeface="Courier New"/>
              </a:rPr>
              <a:t>this</a:t>
            </a:r>
            <a:r>
              <a:rPr lang="en" sz="900" b="0" i="0" u="none" strike="noStrike" cap="none" dirty="0">
                <a:solidFill>
                  <a:srgbClr val="E6ECF7"/>
                </a:solidFill>
                <a:latin typeface="Courier New"/>
                <a:ea typeface="Courier New"/>
                <a:cs typeface="Courier New"/>
                <a:sym typeface="Courier New"/>
              </a:rPr>
              <a:t>.owner = owner;</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deposit(amount: number): void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8CC4FF"/>
                </a:solidFill>
                <a:latin typeface="Courier New"/>
                <a:ea typeface="Courier New"/>
                <a:cs typeface="Courier New"/>
                <a:sym typeface="Courier New"/>
              </a:rPr>
              <a:t>if</a:t>
            </a:r>
            <a:r>
              <a:rPr lang="en" sz="900" b="0" i="0" u="none" strike="noStrike" cap="none" dirty="0">
                <a:solidFill>
                  <a:srgbClr val="E6ECF7"/>
                </a:solidFill>
                <a:latin typeface="Courier New"/>
                <a:ea typeface="Courier New"/>
                <a:cs typeface="Courier New"/>
                <a:sym typeface="Courier New"/>
              </a:rPr>
              <a:t> (amount &gt; </a:t>
            </a:r>
            <a:r>
              <a:rPr lang="en" sz="900" b="0" i="0" u="none" strike="noStrike" cap="none" dirty="0">
                <a:solidFill>
                  <a:srgbClr val="F2B705"/>
                </a:solidFill>
                <a:latin typeface="Courier New"/>
                <a:ea typeface="Courier New"/>
                <a:cs typeface="Courier New"/>
                <a:sym typeface="Courier New"/>
              </a:rPr>
              <a:t>0</a:t>
            </a: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8CC4FF"/>
                </a:solidFill>
                <a:latin typeface="Courier New"/>
                <a:ea typeface="Courier New"/>
                <a:cs typeface="Courier New"/>
                <a:sym typeface="Courier New"/>
              </a:rPr>
              <a:t>this</a:t>
            </a:r>
            <a:r>
              <a:rPr lang="en" sz="900" b="0" i="0" u="none" strike="noStrike" cap="none" dirty="0">
                <a:solidFill>
                  <a:srgbClr val="E6ECF7"/>
                </a:solidFill>
                <a:latin typeface="Courier New"/>
                <a:ea typeface="Courier New"/>
                <a:cs typeface="Courier New"/>
                <a:sym typeface="Courier New"/>
              </a:rPr>
              <a:t>.balance += amount;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getBalance(): number { </a:t>
            </a:r>
            <a:r>
              <a:rPr lang="en" sz="900" b="0" i="0" u="none" strike="noStrike" cap="none" dirty="0">
                <a:solidFill>
                  <a:srgbClr val="8CC4FF"/>
                </a:solidFill>
                <a:latin typeface="Courier New"/>
                <a:ea typeface="Courier New"/>
                <a:cs typeface="Courier New"/>
                <a:sym typeface="Courier New"/>
              </a:rPr>
              <a:t>return</a:t>
            </a: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8CC4FF"/>
                </a:solidFill>
                <a:latin typeface="Courier New"/>
                <a:ea typeface="Courier New"/>
                <a:cs typeface="Courier New"/>
                <a:sym typeface="Courier New"/>
              </a:rPr>
              <a:t>this</a:t>
            </a:r>
            <a:r>
              <a:rPr lang="en" sz="900" b="0" i="0" u="none" strike="noStrike" cap="none" dirty="0">
                <a:solidFill>
                  <a:srgbClr val="E6ECF7"/>
                </a:solidFill>
                <a:latin typeface="Courier New"/>
                <a:ea typeface="Courier New"/>
                <a:cs typeface="Courier New"/>
                <a:sym typeface="Courier New"/>
              </a:rPr>
              <a:t>.balance;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8CC4FF"/>
                </a:solidFill>
                <a:latin typeface="Courier New"/>
                <a:ea typeface="Courier New"/>
                <a:cs typeface="Courier New"/>
                <a:sym typeface="Courier New"/>
              </a:rPr>
              <a:t>const</a:t>
            </a:r>
            <a:r>
              <a:rPr lang="en" sz="900" b="0" i="0" u="none" strike="noStrike" cap="none" dirty="0">
                <a:solidFill>
                  <a:srgbClr val="E6ECF7"/>
                </a:solidFill>
                <a:latin typeface="Courier New"/>
                <a:ea typeface="Courier New"/>
                <a:cs typeface="Courier New"/>
                <a:sym typeface="Courier New"/>
              </a:rPr>
              <a:t> acc = </a:t>
            </a:r>
            <a:r>
              <a:rPr lang="en" sz="900" b="0" i="0" u="none" strike="noStrike" cap="none" dirty="0">
                <a:solidFill>
                  <a:srgbClr val="8CC4FF"/>
                </a:solidFill>
                <a:latin typeface="Courier New"/>
                <a:ea typeface="Courier New"/>
                <a:cs typeface="Courier New"/>
                <a:sym typeface="Courier New"/>
              </a:rPr>
              <a:t>new</a:t>
            </a:r>
            <a:r>
              <a:rPr lang="en" sz="900" b="0" i="0" u="none" strike="noStrike" cap="none" dirty="0">
                <a:solidFill>
                  <a:srgbClr val="E6ECF7"/>
                </a:solidFill>
                <a:latin typeface="Courier New"/>
                <a:ea typeface="Courier New"/>
                <a:cs typeface="Courier New"/>
                <a:sym typeface="Courier New"/>
              </a:rPr>
              <a:t> BankAccount(</a:t>
            </a:r>
            <a:r>
              <a:rPr lang="en" sz="900" b="0" i="0" u="none" strike="noStrike" cap="none" dirty="0">
                <a:solidFill>
                  <a:srgbClr val="FFC878"/>
                </a:solidFill>
                <a:latin typeface="Courier New"/>
                <a:ea typeface="Courier New"/>
                <a:cs typeface="Courier New"/>
                <a:sym typeface="Courier New"/>
              </a:rPr>
              <a:t>"Alice"</a:t>
            </a: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FFC878"/>
                </a:solidFill>
                <a:latin typeface="Courier New"/>
                <a:ea typeface="Courier New"/>
                <a:cs typeface="Courier New"/>
                <a:sym typeface="Courier New"/>
              </a:rPr>
              <a:t>"A-101"</a:t>
            </a: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acc.deposit(</a:t>
            </a:r>
            <a:r>
              <a:rPr lang="en" sz="900" b="0" i="0" u="none" strike="noStrike" cap="none" dirty="0">
                <a:solidFill>
                  <a:srgbClr val="F2B705"/>
                </a:solidFill>
                <a:latin typeface="Courier New"/>
                <a:ea typeface="Courier New"/>
                <a:cs typeface="Courier New"/>
                <a:sym typeface="Courier New"/>
              </a:rPr>
              <a:t>500</a:t>
            </a: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acc.balance = </a:t>
            </a:r>
            <a:r>
              <a:rPr lang="en" sz="900" b="0" i="0" u="none" strike="noStrike" cap="none" dirty="0">
                <a:solidFill>
                  <a:srgbClr val="F2B705"/>
                </a:solidFill>
                <a:latin typeface="Courier New"/>
                <a:ea typeface="Courier New"/>
                <a:cs typeface="Courier New"/>
                <a:sym typeface="Courier New"/>
              </a:rPr>
              <a:t>999999</a:t>
            </a:r>
            <a:r>
              <a:rPr lang="en" sz="900" b="0" i="0" u="none" strike="noStrike" cap="none" dirty="0">
                <a:solidFill>
                  <a:srgbClr val="E6ECF7"/>
                </a:solidFill>
                <a:latin typeface="Courier New"/>
                <a:ea typeface="Courier New"/>
                <a:cs typeface="Courier New"/>
                <a:sym typeface="Courier New"/>
              </a:rPr>
              <a:t>; </a:t>
            </a:r>
            <a:r>
              <a:rPr lang="en" sz="900" b="0" i="1" u="none" strike="noStrike" cap="none" dirty="0">
                <a:solidFill>
                  <a:srgbClr val="8FA3C4"/>
                </a:solidFill>
                <a:latin typeface="Courier New"/>
                <a:ea typeface="Courier New"/>
                <a:cs typeface="Courier New"/>
                <a:sym typeface="Courier New"/>
              </a:rPr>
              <a:t>// Error: private</a:t>
            </a:r>
            <a:endParaRPr lang="en" sz="900" b="0" i="0" u="none" strike="noStrike" cap="none" dirty="0">
              <a:solidFill>
                <a:srgbClr val="000000"/>
              </a:solidFill>
              <a:latin typeface="Roboto"/>
              <a:ea typeface="Roboto"/>
              <a:cs typeface="Roboto"/>
              <a:sym typeface="Roboto"/>
            </a:endParaRP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grpSpPr/>
      <p:pic>
        <p:nvPicPr>
          <p:cNvPr id="110" name="Google Shape;110;p15" title="Untitled-1-07.png"/>
          <p:cNvPicPr preferRelativeResize="0"/>
          <p:nvPr/>
        </p:nvPicPr>
        <p:blipFill rotWithShape="1">
          <a:blip r:embed="rId2">
            <a:alphaModFix/>
          </a:blip>
          <a:srcRect l="5100" r="4630" b="15895"/>
          <a:stretch/>
        </p:blipFill>
        <p:spPr>
          <a:xfrm>
            <a:off x="880549" y="4348257"/>
            <a:ext cx="2096958" cy="548700"/>
          </a:xfrm>
          <a:prstGeom prst="rect">
            <a:avLst/>
          </a:prstGeom>
          <a:noFill/>
          <a:ln>
            <a:noFill/>
          </a:ln>
        </p:spPr>
      </p:pic>
      <p:pic>
        <p:nvPicPr>
          <p:cNvPr id="111" name="Google Shape;111;p15" title="powerd by.png"/>
          <p:cNvPicPr preferRelativeResize="0"/>
          <p:nvPr/>
        </p:nvPicPr>
        <p:blipFill rotWithShape="1">
          <a:blip r:embed="rId5">
            <a:alphaModFix/>
          </a:blip>
          <a:srcRect l="6981" t="44048" r="6714" b="14302"/>
          <a:stretch/>
        </p:blipFill>
        <p:spPr>
          <a:xfrm>
            <a:off x="3537800" y="4500588"/>
            <a:ext cx="2130125" cy="355975"/>
          </a:xfrm>
          <a:prstGeom prst="rect">
            <a:avLst/>
          </a:prstGeom>
          <a:noFill/>
          <a:ln>
            <a:noFill/>
          </a:ln>
        </p:spPr>
      </p:pic>
      <p:sp>
        <p:nvSpPr>
          <p:cNvPr id="112" name="Google Shape;112;p15"/>
          <p:cNvSpPr txBox="1"/>
          <p:nvPr/>
        </p:nvSpPr>
        <p:spPr>
          <a:xfrm>
            <a:off x="5998012" y="4596047"/>
            <a:ext cx="2436900" cy="253800"/>
          </a:xfrm>
          <a:prstGeom prst="rect">
            <a:avLst/>
          </a:prstGeom>
          <a:noFill/>
          <a:ln>
            <a:noFill/>
          </a:ln>
        </p:spPr>
        <p:txBody>
          <a:bodyPr spcFirstLastPara="1" wrap="non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0053A1"/>
                </a:solidFill>
                <a:latin typeface="Roboto"/>
                <a:ea typeface="Roboto"/>
                <a:cs typeface="Roboto"/>
                <a:sym typeface="Roboto"/>
              </a:rPr>
              <a:t>www.</a:t>
            </a:r>
            <a:r>
              <a:rPr lang="en" sz="1200" b="1">
                <a:solidFill>
                  <a:srgbClr val="0053A1"/>
                </a:solidFill>
                <a:latin typeface="Roboto"/>
                <a:ea typeface="Roboto"/>
                <a:cs typeface="Roboto"/>
                <a:sym typeface="Roboto"/>
              </a:rPr>
              <a:t>careercraftacademy.com</a:t>
            </a:r>
            <a:endParaRPr sz="1200" b="1" i="0" u="none" strike="noStrike" cap="none">
              <a:solidFill>
                <a:srgbClr val="0053A1"/>
              </a:solidFill>
              <a:latin typeface="Roboto"/>
              <a:ea typeface="Roboto"/>
              <a:cs typeface="Roboto"/>
              <a:sym typeface="Roboto"/>
            </a:endParaRPr>
          </a:p>
        </p:txBody>
      </p:sp>
      <p:pic>
        <p:nvPicPr>
          <p:cNvPr id="114" name="Google Shape;114;p15"/>
          <p:cNvPicPr preferRelativeResize="0"/>
          <p:nvPr/>
        </p:nvPicPr>
        <p:blipFill>
          <a:blip r:embed="rId4">
            <a:alphaModFix/>
          </a:blip>
          <a:stretch>
            <a:fillRect/>
          </a:stretch>
        </p:blipFill>
        <p:spPr>
          <a:xfrm>
            <a:off x="8447868" y="4368945"/>
            <a:ext cx="334175" cy="480903"/>
          </a:xfrm>
          <a:prstGeom prst="rect">
            <a:avLst/>
          </a:prstGeom>
          <a:noFill/>
          <a:ln>
            <a:noFill/>
          </a:ln>
        </p:spPr>
      </p:pic>
      <p:sp>
        <p:nvSpPr>
          <p:cNvPr id="489" name="Kicker"/>
          <p:cNvSpPr txBox="1"/>
          <p:nvPr/>
        </p:nvSpPr>
        <p:spPr>
          <a:xfrm>
            <a:off x="675600" y="285000"/>
            <a:ext cx="3560000" cy="241200"/>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1003" b="0" i="0" u="none" strike="noStrike" cap="none" dirty="0">
                <a:solidFill>
                  <a:srgbClr val="7F7F7F"/>
                </a:solidFill>
                <a:latin typeface="Roboto"/>
                <a:ea typeface="Roboto"/>
                <a:cs typeface="Roboto"/>
                <a:sym typeface="Roboto"/>
              </a:rPr>
              <a:t>Object-Oriented Programming</a:t>
            </a:r>
            <a:endParaRPr lang="en" sz="1003" b="0" i="0" u="none" strike="noStrike" cap="none" dirty="0">
              <a:solidFill>
                <a:srgbClr val="000000"/>
              </a:solidFill>
              <a:latin typeface="Roboto"/>
              <a:ea typeface="Roboto"/>
              <a:cs typeface="Roboto"/>
              <a:sym typeface="Roboto"/>
            </a:endParaRPr>
          </a:p>
        </p:txBody>
      </p:sp>
      <p:sp>
        <p:nvSpPr>
          <p:cNvPr id="490" name="Title"/>
          <p:cNvSpPr txBox="1"/>
          <p:nvPr/>
        </p:nvSpPr>
        <p:spPr>
          <a:xfrm>
            <a:off x="675600" y="520000"/>
            <a:ext cx="3560000" cy="425394"/>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2200" b="1" i="0" u="none" strike="noStrike" cap="none" dirty="0">
                <a:solidFill>
                  <a:srgbClr val="0053A1"/>
                </a:solidFill>
                <a:latin typeface="Poppins SemiBold"/>
                <a:ea typeface="Poppins SemiBold"/>
                <a:cs typeface="Poppins SemiBold"/>
                <a:sym typeface="Poppins SemiBold"/>
              </a:rPr>
              <a:t>Inheritance</a:t>
            </a:r>
            <a:endParaRPr lang="en" sz="2200" b="0" i="0" u="none" strike="noStrike" cap="none" dirty="0">
              <a:solidFill>
                <a:srgbClr val="000000"/>
              </a:solidFill>
              <a:latin typeface="Roboto"/>
              <a:ea typeface="Roboto"/>
              <a:cs typeface="Roboto"/>
              <a:sym typeface="Roboto"/>
            </a:endParaRPr>
          </a:p>
        </p:txBody>
      </p:sp>
      <p:sp>
        <p:nvSpPr>
          <p:cNvPr id="491" name="Body"/>
          <p:cNvSpPr txBox="1"/>
          <p:nvPr/>
        </p:nvSpPr>
        <p:spPr>
          <a:xfrm>
            <a:off x="620000" y="1048000"/>
            <a:ext cx="3560000" cy="1190900"/>
          </a:xfrm>
          <a:prstGeom prst="rect">
            <a:avLst/>
          </a:prstGeom>
          <a:noFill/>
        </p:spPr>
        <p:txBody>
          <a:bodyPr spcFirstLastPara="1" wrap="square" lIns="86025" tIns="43000" rIns="86025" bIns="43000" anchor="t" anchorCtr="0">
            <a:noAutofit/>
          </a:bodyPr>
          <a:lstStyle/>
          <a:p>
            <a:pPr marL="171450" marR="0" lvl="0" indent="-171450" algn="l" rtl="0">
              <a:lnSpc>
                <a:spcPct val="125000"/>
              </a:lnSpc>
              <a:spcBef>
                <a:spcPts val="100"/>
              </a:spcBef>
              <a:spcAft>
                <a:spcPts val="0"/>
              </a:spcAft>
              <a:buClr>
                <a:srgbClr val="000000"/>
              </a:buClr>
              <a:buSzPts val="1100"/>
              <a:buFont typeface="Arial"/>
              <a:buChar char="•"/>
            </a:pPr>
            <a:r>
              <a:rPr lang="en" sz="1050" b="1" i="0" u="none" strike="noStrike" cap="none" dirty="0">
                <a:solidFill>
                  <a:srgbClr val="0053A1"/>
                </a:solidFill>
                <a:latin typeface="Courier New"/>
                <a:ea typeface="Courier New"/>
                <a:cs typeface="Courier New"/>
                <a:sym typeface="Courier New"/>
              </a:rPr>
              <a:t>extends</a:t>
            </a:r>
            <a:r>
              <a:rPr lang="en" sz="1100" b="0" i="0" u="none" strike="noStrike" cap="none" dirty="0">
                <a:solidFill>
                  <a:schemeClr val="tx1"/>
                </a:solidFill>
                <a:latin typeface="Roboto"/>
                <a:ea typeface="Roboto"/>
                <a:cs typeface="Roboto"/>
                <a:sym typeface="Roboto"/>
              </a:rPr>
              <a:t> builds a child from a parent</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050" b="1" i="0" u="none" strike="noStrike" cap="none" dirty="0">
                <a:solidFill>
                  <a:srgbClr val="0053A1"/>
                </a:solidFill>
                <a:latin typeface="Courier New"/>
                <a:ea typeface="Courier New"/>
                <a:cs typeface="Courier New"/>
                <a:sym typeface="Courier New"/>
              </a:rPr>
              <a:t>super()</a:t>
            </a:r>
            <a:r>
              <a:rPr lang="en" sz="1100" b="0" i="0" u="none" strike="noStrike" cap="none" dirty="0">
                <a:solidFill>
                  <a:schemeClr val="tx1"/>
                </a:solidFill>
                <a:latin typeface="Roboto"/>
                <a:ea typeface="Roboto"/>
                <a:cs typeface="Roboto"/>
                <a:sym typeface="Roboto"/>
              </a:rPr>
              <a:t> calls the parent constructor</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Children can </a:t>
            </a:r>
            <a:r>
              <a:rPr lang="en" sz="1100" b="1" i="0" u="none" strike="noStrike" cap="none" dirty="0">
                <a:solidFill>
                  <a:schemeClr val="tx1"/>
                </a:solidFill>
                <a:latin typeface="Roboto"/>
                <a:ea typeface="Roboto"/>
                <a:cs typeface="Roboto"/>
                <a:sym typeface="Roboto"/>
              </a:rPr>
              <a:t>override</a:t>
            </a:r>
            <a:r>
              <a:rPr lang="en" sz="1100" b="0" i="0" u="none" strike="noStrike" cap="none" dirty="0">
                <a:solidFill>
                  <a:schemeClr val="tx1"/>
                </a:solidFill>
                <a:latin typeface="Roboto"/>
                <a:ea typeface="Roboto"/>
                <a:cs typeface="Roboto"/>
                <a:sym typeface="Roboto"/>
              </a:rPr>
              <a:t> methods</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050" b="1" i="0" u="none" strike="noStrike" cap="none" dirty="0">
                <a:solidFill>
                  <a:srgbClr val="0053A1"/>
                </a:solidFill>
                <a:latin typeface="Courier New"/>
                <a:ea typeface="Courier New"/>
                <a:cs typeface="Courier New"/>
                <a:sym typeface="Courier New"/>
              </a:rPr>
              <a:t>protected</a:t>
            </a:r>
            <a:r>
              <a:rPr lang="en" sz="1100" b="0" i="0" u="none" strike="noStrike" cap="none" dirty="0">
                <a:solidFill>
                  <a:schemeClr val="tx1"/>
                </a:solidFill>
                <a:latin typeface="Roboto"/>
                <a:ea typeface="Roboto"/>
                <a:cs typeface="Roboto"/>
                <a:sym typeface="Roboto"/>
              </a:rPr>
              <a:t> members are visible to children</a:t>
            </a:r>
            <a:endParaRPr lang="en" sz="1100" b="0" i="0" u="none" strike="noStrike" cap="none" dirty="0">
              <a:solidFill>
                <a:srgbClr val="000000"/>
              </a:solidFill>
              <a:latin typeface="Roboto"/>
              <a:ea typeface="Roboto"/>
              <a:cs typeface="Roboto"/>
              <a:sym typeface="Roboto"/>
            </a:endParaRPr>
          </a:p>
        </p:txBody>
      </p:sp>
      <p:sp>
        <p:nvSpPr>
          <p:cNvPr id="492" name="Parent"/>
          <p:cNvSpPr/>
          <p:nvPr/>
        </p:nvSpPr>
        <p:spPr>
          <a:xfrm>
            <a:off x="675600" y="2418900"/>
            <a:ext cx="1250000" cy="420000"/>
          </a:xfrm>
          <a:prstGeom prst="roundRect">
            <a:avLst>
              <a:gd name="adj" fmla="val 12000"/>
            </a:avLst>
          </a:prstGeom>
          <a:solidFill>
            <a:srgbClr val="0053A1"/>
          </a:solidFill>
          <a:ln>
            <a:noFill/>
          </a:ln>
        </p:spPr>
        <p:txBody>
          <a:bodyPr wrap="square" lIns="45720" tIns="45720" rIns="45720" bIns="45720" rtlCol="0" anchor="ctr">
            <a:noAutofit/>
          </a:bodyPr>
          <a:lstStyle/>
          <a:p>
            <a:pPr marL="0" marR="0" lvl="0" indent="0" algn="ctr" rtl="0">
              <a:lnSpc>
                <a:spcPct val="100000"/>
              </a:lnSpc>
              <a:spcBef>
                <a:spcPts val="0"/>
              </a:spcBef>
              <a:spcAft>
                <a:spcPts val="0"/>
              </a:spcAft>
              <a:buNone/>
            </a:pPr>
            <a:r>
              <a:rPr lang="en" sz="900" b="1" i="0" u="none" strike="noStrike" cap="none" dirty="0">
                <a:solidFill>
                  <a:srgbClr val="FFFFFF"/>
                </a:solidFill>
                <a:latin typeface="Poppins SemiBold"/>
                <a:ea typeface="Poppins SemiBold"/>
                <a:cs typeface="Poppins SemiBold"/>
                <a:sym typeface="Poppins SemiBold"/>
              </a:rPr>
              <a:t>Animal (parent)</a:t>
            </a:r>
            <a:endParaRPr lang="en" sz="900" b="0" i="0" u="none" strike="noStrike" cap="none" dirty="0">
              <a:solidFill>
                <a:srgbClr val="000000"/>
              </a:solidFill>
              <a:latin typeface="Roboto"/>
              <a:ea typeface="Roboto"/>
              <a:cs typeface="Roboto"/>
              <a:sym typeface="Roboto"/>
            </a:endParaRPr>
          </a:p>
        </p:txBody>
      </p:sp>
      <p:sp>
        <p:nvSpPr>
          <p:cNvPr id="493" name="extends"/>
          <p:cNvSpPr txBox="1"/>
          <p:nvPr/>
        </p:nvSpPr>
        <p:spPr>
          <a:xfrm>
            <a:off x="1930000" y="2378900"/>
            <a:ext cx="600000" cy="200000"/>
          </a:xfrm>
          <a:prstGeom prst="rect">
            <a:avLst/>
          </a:prstGeom>
          <a:noFill/>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850" b="1" i="0" u="none" strike="noStrike" cap="none" dirty="0">
                <a:solidFill>
                  <a:srgbClr val="C00000"/>
                </a:solidFill>
                <a:latin typeface="Courier New"/>
                <a:ea typeface="Courier New"/>
                <a:cs typeface="Courier New"/>
                <a:sym typeface="Courier New"/>
              </a:rPr>
              <a:t>extends</a:t>
            </a:r>
            <a:endParaRPr lang="en" sz="850" b="0" i="0" u="none" strike="noStrike" cap="none" dirty="0">
              <a:solidFill>
                <a:srgbClr val="000000"/>
              </a:solidFill>
              <a:latin typeface="Roboto"/>
              <a:ea typeface="Roboto"/>
              <a:cs typeface="Roboto"/>
              <a:sym typeface="Roboto"/>
            </a:endParaRPr>
          </a:p>
        </p:txBody>
      </p:sp>
      <p:sp>
        <p:nvSpPr>
          <p:cNvPr id="494" name="Arrow"/>
          <p:cNvSpPr/>
          <p:nvPr/>
        </p:nvSpPr>
        <p:spPr>
          <a:xfrm>
            <a:off x="1990000" y="2588900"/>
            <a:ext cx="480000" cy="200000"/>
          </a:xfrm>
          <a:prstGeom prst="rightArrow">
            <a:avLst/>
          </a:prstGeom>
          <a:solidFill>
            <a:srgbClr val="C00000"/>
          </a:solidFill>
          <a:ln>
            <a:noFill/>
          </a:ln>
        </p:spPr>
        <p:txBody>
          <a:bodyPr rtlCol="0" anchor="ctr"/>
          <a:lstStyle/>
          <a:p>
            <a:pPr algn="ctr"/>
          </a:p>
        </p:txBody>
      </p:sp>
      <p:sp>
        <p:nvSpPr>
          <p:cNvPr id="495" name="Child"/>
          <p:cNvSpPr/>
          <p:nvPr/>
        </p:nvSpPr>
        <p:spPr>
          <a:xfrm>
            <a:off x="2530000" y="2418900"/>
            <a:ext cx="1250000" cy="420000"/>
          </a:xfrm>
          <a:prstGeom prst="roundRect">
            <a:avLst>
              <a:gd name="adj" fmla="val 12000"/>
            </a:avLst>
          </a:prstGeom>
          <a:solidFill>
            <a:srgbClr val="C00000"/>
          </a:solidFill>
          <a:ln>
            <a:noFill/>
          </a:ln>
        </p:spPr>
        <p:txBody>
          <a:bodyPr wrap="square" lIns="45720" tIns="45720" rIns="45720" bIns="45720" rtlCol="0" anchor="ctr">
            <a:noAutofit/>
          </a:bodyPr>
          <a:lstStyle/>
          <a:p>
            <a:pPr marL="0" marR="0" lvl="0" indent="0" algn="ctr" rtl="0">
              <a:lnSpc>
                <a:spcPct val="100000"/>
              </a:lnSpc>
              <a:spcBef>
                <a:spcPts val="0"/>
              </a:spcBef>
              <a:spcAft>
                <a:spcPts val="0"/>
              </a:spcAft>
              <a:buNone/>
            </a:pPr>
            <a:r>
              <a:rPr lang="en" sz="900" b="1" i="0" u="none" strike="noStrike" cap="none" dirty="0">
                <a:solidFill>
                  <a:srgbClr val="FFFFFF"/>
                </a:solidFill>
                <a:latin typeface="Poppins SemiBold"/>
                <a:ea typeface="Poppins SemiBold"/>
                <a:cs typeface="Poppins SemiBold"/>
                <a:sym typeface="Poppins SemiBold"/>
              </a:rPr>
              <a:t>Dog (child)</a:t>
            </a:r>
            <a:endParaRPr lang="en" sz="900" b="0" i="0" u="none" strike="noStrike" cap="none" dirty="0">
              <a:solidFill>
                <a:srgbClr val="000000"/>
              </a:solidFill>
              <a:latin typeface="Roboto"/>
              <a:ea typeface="Roboto"/>
              <a:cs typeface="Roboto"/>
              <a:sym typeface="Roboto"/>
            </a:endParaRPr>
          </a:p>
        </p:txBody>
      </p:sp>
      <p:sp>
        <p:nvSpPr>
          <p:cNvPr id="496" name="Code panel"/>
          <p:cNvSpPr/>
          <p:nvPr/>
        </p:nvSpPr>
        <p:spPr>
          <a:xfrm>
            <a:off x="4300000" y="500000"/>
            <a:ext cx="4350000" cy="3470788"/>
          </a:xfrm>
          <a:prstGeom prst="roundRect">
            <a:avLst>
              <a:gd name="adj" fmla="val 3500"/>
            </a:avLst>
          </a:prstGeom>
          <a:solidFill>
            <a:srgbClr val="0E2455"/>
          </a:solidFill>
          <a:ln>
            <a:noFill/>
          </a:ln>
          <a:effectLst>
            <a:outerShdw blurRad="63500" dist="25400" dir="5400000" algn="t" rotWithShape="0">
              <a:srgbClr val="000000">
                <a:alpha val="22000"/>
              </a:srgbClr>
            </a:outerShdw>
          </a:effectLst>
        </p:spPr>
        <p:txBody>
          <a:bodyPr rtlCol="0" anchor="ctr"/>
          <a:lstStyle/>
          <a:p>
            <a:pPr algn="ctr"/>
          </a:p>
        </p:txBody>
      </p:sp>
      <p:sp>
        <p:nvSpPr>
          <p:cNvPr id="497" name="Dot 1"/>
          <p:cNvSpPr/>
          <p:nvPr/>
        </p:nvSpPr>
        <p:spPr>
          <a:xfrm>
            <a:off x="4420000" y="605000"/>
            <a:ext cx="70000" cy="70000"/>
          </a:xfrm>
          <a:prstGeom prst="ellipse">
            <a:avLst/>
          </a:prstGeom>
          <a:solidFill>
            <a:srgbClr val="C00000"/>
          </a:solidFill>
          <a:ln>
            <a:noFill/>
          </a:ln>
        </p:spPr>
        <p:txBody>
          <a:bodyPr rtlCol="0" anchor="ctr"/>
          <a:lstStyle/>
          <a:p>
            <a:pPr algn="ctr"/>
          </a:p>
        </p:txBody>
      </p:sp>
      <p:sp>
        <p:nvSpPr>
          <p:cNvPr id="498" name="Dot 2"/>
          <p:cNvSpPr/>
          <p:nvPr/>
        </p:nvSpPr>
        <p:spPr>
          <a:xfrm>
            <a:off x="4550000" y="605000"/>
            <a:ext cx="70000" cy="70000"/>
          </a:xfrm>
          <a:prstGeom prst="ellipse">
            <a:avLst/>
          </a:prstGeom>
          <a:solidFill>
            <a:srgbClr val="F2B705"/>
          </a:solidFill>
          <a:ln>
            <a:noFill/>
          </a:ln>
        </p:spPr>
        <p:txBody>
          <a:bodyPr rtlCol="0" anchor="ctr"/>
          <a:lstStyle/>
          <a:p>
            <a:pPr algn="ctr"/>
          </a:p>
        </p:txBody>
      </p:sp>
      <p:sp>
        <p:nvSpPr>
          <p:cNvPr id="499" name="Dot 3"/>
          <p:cNvSpPr/>
          <p:nvPr/>
        </p:nvSpPr>
        <p:spPr>
          <a:xfrm>
            <a:off x="4680000" y="605000"/>
            <a:ext cx="70000" cy="70000"/>
          </a:xfrm>
          <a:prstGeom prst="ellipse">
            <a:avLst/>
          </a:prstGeom>
          <a:solidFill>
            <a:srgbClr val="3DAE5C"/>
          </a:solidFill>
          <a:ln>
            <a:noFill/>
          </a:ln>
        </p:spPr>
        <p:txBody>
          <a:bodyPr rtlCol="0" anchor="ctr"/>
          <a:lstStyle/>
          <a:p>
            <a:pPr algn="ctr"/>
          </a:p>
        </p:txBody>
      </p:sp>
      <p:sp>
        <p:nvSpPr>
          <p:cNvPr id="500" name="Code label"/>
          <p:cNvSpPr txBox="1"/>
          <p:nvPr/>
        </p:nvSpPr>
        <p:spPr>
          <a:xfrm>
            <a:off x="7650000" y="555000"/>
            <a:ext cx="900000" cy="170000"/>
          </a:xfrm>
          <a:prstGeom prst="rect">
            <a:avLst/>
          </a:prstGeom>
          <a:noFill/>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800" b="1" i="0" u="none" strike="noStrike" cap="none" dirty="0">
                <a:solidFill>
                  <a:srgbClr val="8FA3C4"/>
                </a:solidFill>
                <a:latin typeface="Roboto"/>
                <a:ea typeface="Roboto"/>
                <a:cs typeface="Roboto"/>
                <a:sym typeface="Roboto"/>
              </a:rPr>
              <a:t>TS</a:t>
            </a:r>
            <a:endParaRPr lang="en" sz="800" b="0" i="0" u="none" strike="noStrike" cap="none" dirty="0">
              <a:solidFill>
                <a:srgbClr val="000000"/>
              </a:solidFill>
              <a:latin typeface="Roboto"/>
              <a:ea typeface="Roboto"/>
              <a:cs typeface="Roboto"/>
              <a:sym typeface="Roboto"/>
            </a:endParaRPr>
          </a:p>
        </p:txBody>
      </p:sp>
      <p:sp>
        <p:nvSpPr>
          <p:cNvPr id="501" name="Code"/>
          <p:cNvSpPr txBox="1"/>
          <p:nvPr/>
        </p:nvSpPr>
        <p:spPr>
          <a:xfrm>
            <a:off x="4360000" y="750000"/>
            <a:ext cx="4230000" cy="3190788"/>
          </a:xfrm>
          <a:prstGeom prst="rect">
            <a:avLst/>
          </a:prstGeom>
          <a:noFill/>
        </p:spPr>
        <p:txBody>
          <a:bodyPr spcFirstLastPara="1" wrap="square" lIns="86025" tIns="0" rIns="60000" bIns="0" anchor="t" anchorCtr="0">
            <a:noAutofit/>
          </a:bodyPr>
          <a:lstStyle/>
          <a:p>
            <a:pPr marL="0" marR="0" lvl="0" indent="0" algn="l" rtl="0">
              <a:lnSpc>
                <a:spcPct val="108000"/>
              </a:lnSpc>
              <a:spcBef>
                <a:spcPts val="0"/>
              </a:spcBef>
              <a:spcAft>
                <a:spcPts val="0"/>
              </a:spcAft>
              <a:buNone/>
            </a:pPr>
            <a:r>
              <a:rPr lang="en" sz="900" b="0" i="0" u="none" strike="noStrike" cap="none" dirty="0">
                <a:solidFill>
                  <a:srgbClr val="8CC4FF"/>
                </a:solidFill>
                <a:latin typeface="Courier New"/>
                <a:ea typeface="Courier New"/>
                <a:cs typeface="Courier New"/>
                <a:sym typeface="Courier New"/>
              </a:rPr>
              <a:t>class</a:t>
            </a:r>
            <a:r>
              <a:rPr lang="en" sz="900" b="0" i="0" u="none" strike="noStrike" cap="none" dirty="0">
                <a:solidFill>
                  <a:srgbClr val="E6ECF7"/>
                </a:solidFill>
                <a:latin typeface="Courier New"/>
                <a:ea typeface="Courier New"/>
                <a:cs typeface="Courier New"/>
                <a:sym typeface="Courier New"/>
              </a:rPr>
              <a:t> Animal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8CC4FF"/>
                </a:solidFill>
                <a:latin typeface="Courier New"/>
                <a:ea typeface="Courier New"/>
                <a:cs typeface="Courier New"/>
                <a:sym typeface="Courier New"/>
              </a:rPr>
              <a:t>constructor</a:t>
            </a:r>
            <a:r>
              <a:rPr lang="en" sz="900" b="0" i="0" u="none" strike="noStrike" cap="none" dirty="0">
                <a:solidFill>
                  <a:srgbClr val="E6ECF7"/>
                </a:solidFill>
                <a:latin typeface="Courier New"/>
                <a:ea typeface="Courier New"/>
                <a:cs typeface="Courier New"/>
                <a:sym typeface="Courier New"/>
              </a:rPr>
              <a:t>(protected name: string)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makeSound(): string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8CC4FF"/>
                </a:solidFill>
                <a:latin typeface="Courier New"/>
                <a:ea typeface="Courier New"/>
                <a:cs typeface="Courier New"/>
                <a:sym typeface="Courier New"/>
              </a:rPr>
              <a:t>return</a:t>
            </a: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FFC878"/>
                </a:solidFill>
                <a:latin typeface="Courier New"/>
                <a:ea typeface="Courier New"/>
                <a:cs typeface="Courier New"/>
                <a:sym typeface="Courier New"/>
              </a:rPr>
              <a:t>"Some generic sound"</a:t>
            </a: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8CC4FF"/>
                </a:solidFill>
                <a:latin typeface="Courier New"/>
                <a:ea typeface="Courier New"/>
                <a:cs typeface="Courier New"/>
                <a:sym typeface="Courier New"/>
              </a:rPr>
              <a:t>class</a:t>
            </a:r>
            <a:r>
              <a:rPr lang="en" sz="900" b="0" i="0" u="none" strike="noStrike" cap="none" dirty="0">
                <a:solidFill>
                  <a:srgbClr val="E6ECF7"/>
                </a:solidFill>
                <a:latin typeface="Courier New"/>
                <a:ea typeface="Courier New"/>
                <a:cs typeface="Courier New"/>
                <a:sym typeface="Courier New"/>
              </a:rPr>
              <a:t> Dog </a:t>
            </a:r>
            <a:r>
              <a:rPr lang="en" sz="900" b="0" i="0" u="none" strike="noStrike" cap="none" dirty="0">
                <a:solidFill>
                  <a:srgbClr val="8CC4FF"/>
                </a:solidFill>
                <a:latin typeface="Courier New"/>
                <a:ea typeface="Courier New"/>
                <a:cs typeface="Courier New"/>
                <a:sym typeface="Courier New"/>
              </a:rPr>
              <a:t>extends</a:t>
            </a:r>
            <a:r>
              <a:rPr lang="en" sz="900" b="0" i="0" u="none" strike="noStrike" cap="none" dirty="0">
                <a:solidFill>
                  <a:srgbClr val="E6ECF7"/>
                </a:solidFill>
                <a:latin typeface="Courier New"/>
                <a:ea typeface="Courier New"/>
                <a:cs typeface="Courier New"/>
                <a:sym typeface="Courier New"/>
              </a:rPr>
              <a:t> Animal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8CC4FF"/>
                </a:solidFill>
                <a:latin typeface="Courier New"/>
                <a:ea typeface="Courier New"/>
                <a:cs typeface="Courier New"/>
                <a:sym typeface="Courier New"/>
              </a:rPr>
              <a:t>constructor</a:t>
            </a:r>
            <a:r>
              <a:rPr lang="en" sz="900" b="0" i="0" u="none" strike="noStrike" cap="none" dirty="0">
                <a:solidFill>
                  <a:srgbClr val="E6ECF7"/>
                </a:solidFill>
                <a:latin typeface="Courier New"/>
                <a:ea typeface="Courier New"/>
                <a:cs typeface="Courier New"/>
                <a:sym typeface="Courier New"/>
              </a:rPr>
              <a:t>(name: string, private breed: string)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8CC4FF"/>
                </a:solidFill>
                <a:latin typeface="Courier New"/>
                <a:ea typeface="Courier New"/>
                <a:cs typeface="Courier New"/>
                <a:sym typeface="Courier New"/>
              </a:rPr>
              <a:t>super</a:t>
            </a:r>
            <a:r>
              <a:rPr lang="en" sz="900" b="0" i="0" u="none" strike="noStrike" cap="none" dirty="0">
                <a:solidFill>
                  <a:srgbClr val="E6ECF7"/>
                </a:solidFill>
                <a:latin typeface="Courier New"/>
                <a:ea typeface="Courier New"/>
                <a:cs typeface="Courier New"/>
                <a:sym typeface="Courier New"/>
              </a:rPr>
              <a:t>(name); </a:t>
            </a:r>
            <a:r>
              <a:rPr lang="en" sz="900" b="0" i="1" u="none" strike="noStrike" cap="none" dirty="0">
                <a:solidFill>
                  <a:srgbClr val="8FA3C4"/>
                </a:solidFill>
                <a:latin typeface="Courier New"/>
                <a:ea typeface="Courier New"/>
                <a:cs typeface="Courier New"/>
                <a:sym typeface="Courier New"/>
              </a:rPr>
              <a:t>// must call parent first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makeSound(): string { </a:t>
            </a:r>
            <a:r>
              <a:rPr lang="en" sz="900" b="0" i="1" u="none" strike="noStrike" cap="none" dirty="0">
                <a:solidFill>
                  <a:srgbClr val="8FA3C4"/>
                </a:solidFill>
                <a:latin typeface="Courier New"/>
                <a:ea typeface="Courier New"/>
                <a:cs typeface="Courier New"/>
                <a:sym typeface="Courier New"/>
              </a:rPr>
              <a:t>// override</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8CC4FF"/>
                </a:solidFill>
                <a:latin typeface="Courier New"/>
                <a:ea typeface="Courier New"/>
                <a:cs typeface="Courier New"/>
                <a:sym typeface="Courier New"/>
              </a:rPr>
              <a:t>return</a:t>
            </a: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FFC878"/>
                </a:solidFill>
                <a:latin typeface="Courier New"/>
                <a:ea typeface="Courier New"/>
                <a:cs typeface="Courier New"/>
                <a:sym typeface="Courier New"/>
              </a:rPr>
              <a:t>"Woof! Woof!"</a:t>
            </a: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fetch(): string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8CC4FF"/>
                </a:solidFill>
                <a:latin typeface="Courier New"/>
                <a:ea typeface="Courier New"/>
                <a:cs typeface="Courier New"/>
                <a:sym typeface="Courier New"/>
              </a:rPr>
              <a:t>return</a:t>
            </a: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FFC878"/>
                </a:solidFill>
                <a:latin typeface="Courier New"/>
                <a:ea typeface="Courier New"/>
                <a:cs typeface="Courier New"/>
                <a:sym typeface="Courier New"/>
              </a:rPr>
              <a:t>`${this.name} fetches the ball.`</a:t>
            </a: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8CC4FF"/>
                </a:solidFill>
                <a:latin typeface="Courier New"/>
                <a:ea typeface="Courier New"/>
                <a:cs typeface="Courier New"/>
                <a:sym typeface="Courier New"/>
              </a:rPr>
              <a:t>const</a:t>
            </a:r>
            <a:r>
              <a:rPr lang="en" sz="900" b="0" i="0" u="none" strike="noStrike" cap="none" dirty="0">
                <a:solidFill>
                  <a:srgbClr val="E6ECF7"/>
                </a:solidFill>
                <a:latin typeface="Courier New"/>
                <a:ea typeface="Courier New"/>
                <a:cs typeface="Courier New"/>
                <a:sym typeface="Courier New"/>
              </a:rPr>
              <a:t> rex = </a:t>
            </a:r>
            <a:r>
              <a:rPr lang="en" sz="900" b="0" i="0" u="none" strike="noStrike" cap="none" dirty="0">
                <a:solidFill>
                  <a:srgbClr val="8CC4FF"/>
                </a:solidFill>
                <a:latin typeface="Courier New"/>
                <a:ea typeface="Courier New"/>
                <a:cs typeface="Courier New"/>
                <a:sym typeface="Courier New"/>
              </a:rPr>
              <a:t>new</a:t>
            </a:r>
            <a:r>
              <a:rPr lang="en" sz="900" b="0" i="0" u="none" strike="noStrike" cap="none" dirty="0">
                <a:solidFill>
                  <a:srgbClr val="E6ECF7"/>
                </a:solidFill>
                <a:latin typeface="Courier New"/>
                <a:ea typeface="Courier New"/>
                <a:cs typeface="Courier New"/>
                <a:sym typeface="Courier New"/>
              </a:rPr>
              <a:t> Dog(</a:t>
            </a:r>
            <a:r>
              <a:rPr lang="en" sz="900" b="0" i="0" u="none" strike="noStrike" cap="none" dirty="0">
                <a:solidFill>
                  <a:srgbClr val="FFC878"/>
                </a:solidFill>
                <a:latin typeface="Courier New"/>
                <a:ea typeface="Courier New"/>
                <a:cs typeface="Courier New"/>
                <a:sym typeface="Courier New"/>
              </a:rPr>
              <a:t>"Rex"</a:t>
            </a: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FFC878"/>
                </a:solidFill>
                <a:latin typeface="Courier New"/>
                <a:ea typeface="Courier New"/>
                <a:cs typeface="Courier New"/>
                <a:sym typeface="Courier New"/>
              </a:rPr>
              <a:t>"Labrador"</a:t>
            </a: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console.log(rex.makeSound());</a:t>
            </a:r>
            <a:endParaRPr lang="en" sz="900" b="0" i="0" u="none" strike="noStrike" cap="none" dirty="0">
              <a:solidFill>
                <a:srgbClr val="000000"/>
              </a:solidFill>
              <a:latin typeface="Roboto"/>
              <a:ea typeface="Roboto"/>
              <a:cs typeface="Roboto"/>
              <a:sym typeface="Roboto"/>
            </a:endParaRP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grpSpPr/>
      <p:pic>
        <p:nvPicPr>
          <p:cNvPr id="110" name="Google Shape;110;p15" title="Untitled-1-07.png"/>
          <p:cNvPicPr preferRelativeResize="0"/>
          <p:nvPr/>
        </p:nvPicPr>
        <p:blipFill rotWithShape="1">
          <a:blip r:embed="rId2">
            <a:alphaModFix/>
          </a:blip>
          <a:srcRect l="5100" r="4630" b="15895"/>
          <a:stretch/>
        </p:blipFill>
        <p:spPr>
          <a:xfrm>
            <a:off x="880549" y="4348257"/>
            <a:ext cx="2096958" cy="548700"/>
          </a:xfrm>
          <a:prstGeom prst="rect">
            <a:avLst/>
          </a:prstGeom>
          <a:noFill/>
          <a:ln>
            <a:noFill/>
          </a:ln>
        </p:spPr>
      </p:pic>
      <p:pic>
        <p:nvPicPr>
          <p:cNvPr id="111" name="Google Shape;111;p15" title="powerd by.png"/>
          <p:cNvPicPr preferRelativeResize="0"/>
          <p:nvPr/>
        </p:nvPicPr>
        <p:blipFill rotWithShape="1">
          <a:blip r:embed="rId5">
            <a:alphaModFix/>
          </a:blip>
          <a:srcRect l="6981" t="44048" r="6714" b="14302"/>
          <a:stretch/>
        </p:blipFill>
        <p:spPr>
          <a:xfrm>
            <a:off x="3537800" y="4500588"/>
            <a:ext cx="2130125" cy="355975"/>
          </a:xfrm>
          <a:prstGeom prst="rect">
            <a:avLst/>
          </a:prstGeom>
          <a:noFill/>
          <a:ln>
            <a:noFill/>
          </a:ln>
        </p:spPr>
      </p:pic>
      <p:sp>
        <p:nvSpPr>
          <p:cNvPr id="112" name="Google Shape;112;p15"/>
          <p:cNvSpPr txBox="1"/>
          <p:nvPr/>
        </p:nvSpPr>
        <p:spPr>
          <a:xfrm>
            <a:off x="5998012" y="4596047"/>
            <a:ext cx="2436900" cy="253800"/>
          </a:xfrm>
          <a:prstGeom prst="rect">
            <a:avLst/>
          </a:prstGeom>
          <a:noFill/>
          <a:ln>
            <a:noFill/>
          </a:ln>
        </p:spPr>
        <p:txBody>
          <a:bodyPr spcFirstLastPara="1" wrap="non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0053A1"/>
                </a:solidFill>
                <a:latin typeface="Roboto"/>
                <a:ea typeface="Roboto"/>
                <a:cs typeface="Roboto"/>
                <a:sym typeface="Roboto"/>
              </a:rPr>
              <a:t>www.</a:t>
            </a:r>
            <a:r>
              <a:rPr lang="en" sz="1200" b="1">
                <a:solidFill>
                  <a:srgbClr val="0053A1"/>
                </a:solidFill>
                <a:latin typeface="Roboto"/>
                <a:ea typeface="Roboto"/>
                <a:cs typeface="Roboto"/>
                <a:sym typeface="Roboto"/>
              </a:rPr>
              <a:t>careercraftacademy.com</a:t>
            </a:r>
            <a:endParaRPr sz="1200" b="1" i="0" u="none" strike="noStrike" cap="none">
              <a:solidFill>
                <a:srgbClr val="0053A1"/>
              </a:solidFill>
              <a:latin typeface="Roboto"/>
              <a:ea typeface="Roboto"/>
              <a:cs typeface="Roboto"/>
              <a:sym typeface="Roboto"/>
            </a:endParaRPr>
          </a:p>
        </p:txBody>
      </p:sp>
      <p:pic>
        <p:nvPicPr>
          <p:cNvPr id="114" name="Google Shape;114;p15"/>
          <p:cNvPicPr preferRelativeResize="0"/>
          <p:nvPr/>
        </p:nvPicPr>
        <p:blipFill>
          <a:blip r:embed="rId4">
            <a:alphaModFix/>
          </a:blip>
          <a:stretch>
            <a:fillRect/>
          </a:stretch>
        </p:blipFill>
        <p:spPr>
          <a:xfrm>
            <a:off x="8447868" y="4368945"/>
            <a:ext cx="334175" cy="480903"/>
          </a:xfrm>
          <a:prstGeom prst="rect">
            <a:avLst/>
          </a:prstGeom>
          <a:noFill/>
          <a:ln>
            <a:noFill/>
          </a:ln>
        </p:spPr>
      </p:pic>
      <p:sp>
        <p:nvSpPr>
          <p:cNvPr id="502" name="Kicker"/>
          <p:cNvSpPr txBox="1"/>
          <p:nvPr/>
        </p:nvSpPr>
        <p:spPr>
          <a:xfrm>
            <a:off x="675600" y="285000"/>
            <a:ext cx="3560000" cy="241200"/>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1003" b="0" i="0" u="none" strike="noStrike" cap="none" dirty="0">
                <a:solidFill>
                  <a:srgbClr val="7F7F7F"/>
                </a:solidFill>
                <a:latin typeface="Roboto"/>
                <a:ea typeface="Roboto"/>
                <a:cs typeface="Roboto"/>
                <a:sym typeface="Roboto"/>
              </a:rPr>
              <a:t>Object-Oriented Programming</a:t>
            </a:r>
            <a:endParaRPr lang="en" sz="1003" b="0" i="0" u="none" strike="noStrike" cap="none" dirty="0">
              <a:solidFill>
                <a:srgbClr val="000000"/>
              </a:solidFill>
              <a:latin typeface="Roboto"/>
              <a:ea typeface="Roboto"/>
              <a:cs typeface="Roboto"/>
              <a:sym typeface="Roboto"/>
            </a:endParaRPr>
          </a:p>
        </p:txBody>
      </p:sp>
      <p:sp>
        <p:nvSpPr>
          <p:cNvPr id="503" name="Title"/>
          <p:cNvSpPr txBox="1"/>
          <p:nvPr/>
        </p:nvSpPr>
        <p:spPr>
          <a:xfrm>
            <a:off x="675600" y="520000"/>
            <a:ext cx="3560000" cy="425394"/>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2200" b="1" i="0" u="none" strike="noStrike" cap="none" dirty="0">
                <a:solidFill>
                  <a:srgbClr val="0053A1"/>
                </a:solidFill>
                <a:latin typeface="Poppins SemiBold"/>
                <a:ea typeface="Poppins SemiBold"/>
                <a:cs typeface="Poppins SemiBold"/>
                <a:sym typeface="Poppins SemiBold"/>
              </a:rPr>
              <a:t>Abstract </a:t>
            </a:r>
            <a:r>
              <a:rPr lang="en" sz="2200" b="1" i="0" u="none" strike="noStrike" cap="none" dirty="0">
                <a:solidFill>
                  <a:srgbClr val="000000"/>
                </a:solidFill>
                <a:latin typeface="Poppins SemiBold"/>
                <a:ea typeface="Poppins SemiBold"/>
                <a:cs typeface="Poppins SemiBold"/>
                <a:sym typeface="Poppins SemiBold"/>
              </a:rPr>
              <a:t>Classes</a:t>
            </a:r>
            <a:endParaRPr lang="en" sz="2200" b="0" i="0" u="none" strike="noStrike" cap="none" dirty="0">
              <a:solidFill>
                <a:srgbClr val="000000"/>
              </a:solidFill>
              <a:latin typeface="Roboto"/>
              <a:ea typeface="Roboto"/>
              <a:cs typeface="Roboto"/>
              <a:sym typeface="Roboto"/>
            </a:endParaRPr>
          </a:p>
        </p:txBody>
      </p:sp>
      <p:sp>
        <p:nvSpPr>
          <p:cNvPr id="504" name="Body"/>
          <p:cNvSpPr txBox="1"/>
          <p:nvPr/>
        </p:nvSpPr>
        <p:spPr>
          <a:xfrm>
            <a:off x="620000" y="1048000"/>
            <a:ext cx="3560000" cy="1442360"/>
          </a:xfrm>
          <a:prstGeom prst="rect">
            <a:avLst/>
          </a:prstGeom>
          <a:noFill/>
        </p:spPr>
        <p:txBody>
          <a:bodyPr spcFirstLastPara="1" wrap="square" lIns="86025" tIns="43000" rIns="86025" bIns="43000" anchor="t" anchorCtr="0">
            <a:noAutofit/>
          </a:bodyPr>
          <a:lstStyle/>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Declared with </a:t>
            </a:r>
            <a:r>
              <a:rPr lang="en" sz="1050" b="1" i="0" u="none" strike="noStrike" cap="none" dirty="0">
                <a:solidFill>
                  <a:srgbClr val="0053A1"/>
                </a:solidFill>
                <a:latin typeface="Courier New"/>
                <a:ea typeface="Courier New"/>
                <a:cs typeface="Courier New"/>
                <a:sym typeface="Courier New"/>
              </a:rPr>
              <a:t>abstract</a:t>
            </a:r>
            <a:r>
              <a:rPr lang="en" sz="1100" b="0" i="0" u="none" strike="noStrike" cap="none" dirty="0">
                <a:solidFill>
                  <a:schemeClr val="tx1"/>
                </a:solidFill>
                <a:latin typeface="Roboto"/>
                <a:ea typeface="Roboto"/>
                <a:cs typeface="Roboto"/>
                <a:sym typeface="Roboto"/>
              </a:rPr>
              <a:t> - </a:t>
            </a:r>
            <a:r>
              <a:rPr lang="en" sz="1100" b="1" i="0" u="none" strike="noStrike" cap="none" dirty="0">
                <a:solidFill>
                  <a:schemeClr val="tx1"/>
                </a:solidFill>
                <a:latin typeface="Roboto"/>
                <a:ea typeface="Roboto"/>
                <a:cs typeface="Roboto"/>
                <a:sym typeface="Roboto"/>
              </a:rPr>
              <a:t>cannot be instantiated</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Mix of implemented and </a:t>
            </a:r>
            <a:r>
              <a:rPr lang="en" sz="1100" b="1" i="0" u="none" strike="noStrike" cap="none" dirty="0">
                <a:solidFill>
                  <a:schemeClr val="tx1"/>
                </a:solidFill>
                <a:latin typeface="Roboto"/>
                <a:ea typeface="Roboto"/>
                <a:cs typeface="Roboto"/>
                <a:sym typeface="Roboto"/>
              </a:rPr>
              <a:t>abstract methods</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Subclasses </a:t>
            </a:r>
            <a:r>
              <a:rPr lang="en" sz="1100" b="1" i="0" u="none" strike="noStrike" cap="none" dirty="0">
                <a:solidFill>
                  <a:schemeClr val="tx1"/>
                </a:solidFill>
                <a:latin typeface="Roboto"/>
                <a:ea typeface="Roboto"/>
                <a:cs typeface="Roboto"/>
                <a:sym typeface="Roboto"/>
              </a:rPr>
              <a:t>must</a:t>
            </a:r>
            <a:r>
              <a:rPr lang="en" sz="1100" b="0" i="0" u="none" strike="noStrike" cap="none" dirty="0">
                <a:solidFill>
                  <a:schemeClr val="tx1"/>
                </a:solidFill>
                <a:latin typeface="Roboto"/>
                <a:ea typeface="Roboto"/>
                <a:cs typeface="Roboto"/>
                <a:sym typeface="Roboto"/>
              </a:rPr>
              <a:t> implement abstract methods</a:t>
            </a:r>
            <a:endParaRPr lang="en" sz="1100" b="0" i="0" u="none" strike="noStrike" cap="none" dirty="0">
              <a:solidFill>
                <a:srgbClr val="000000"/>
              </a:solidFill>
              <a:latin typeface="Roboto"/>
              <a:ea typeface="Roboto"/>
              <a:cs typeface="Roboto"/>
              <a:sym typeface="Roboto"/>
            </a:endParaRPr>
          </a:p>
          <a:p>
            <a:pPr marL="0" marR="0" lvl="0" indent="0" algn="l" rtl="0">
              <a:lnSpc>
                <a:spcPct val="135000"/>
              </a:lnSpc>
              <a:spcBef>
                <a:spcPts val="0"/>
              </a:spcBef>
              <a:spcAft>
                <a:spcPts val="300"/>
              </a:spcAft>
              <a:buNone/>
            </a:pPr>
            <a:r>
              <a:rPr lang="en" sz="1100" b="0" i="0" u="none" strike="noStrike" cap="none" dirty="0">
                <a:solidFill>
                  <a:schemeClr val="tx1"/>
                </a:solidFill>
                <a:latin typeface="Roboto"/>
                <a:ea typeface="Roboto"/>
                <a:cs typeface="Roboto"/>
                <a:sym typeface="Roboto"/>
              </a:rPr>
              <a:t>A mandatory contract plus shared logic.</a:t>
            </a:r>
            <a:endParaRPr lang="en" sz="1100" b="0" i="0" u="none" strike="noStrike" cap="none" dirty="0">
              <a:solidFill>
                <a:srgbClr val="000000"/>
              </a:solidFill>
              <a:latin typeface="Roboto"/>
              <a:ea typeface="Roboto"/>
              <a:cs typeface="Roboto"/>
              <a:sym typeface="Roboto"/>
            </a:endParaRPr>
          </a:p>
        </p:txBody>
      </p:sp>
      <p:sp>
        <p:nvSpPr>
          <p:cNvPr id="505" name="Code panel"/>
          <p:cNvSpPr/>
          <p:nvPr/>
        </p:nvSpPr>
        <p:spPr>
          <a:xfrm>
            <a:off x="4300000" y="500000"/>
            <a:ext cx="4350000" cy="3322656"/>
          </a:xfrm>
          <a:prstGeom prst="roundRect">
            <a:avLst>
              <a:gd name="adj" fmla="val 3500"/>
            </a:avLst>
          </a:prstGeom>
          <a:solidFill>
            <a:srgbClr val="0E2455"/>
          </a:solidFill>
          <a:ln>
            <a:noFill/>
          </a:ln>
          <a:effectLst>
            <a:outerShdw blurRad="63500" dist="25400" dir="5400000" algn="t" rotWithShape="0">
              <a:srgbClr val="000000">
                <a:alpha val="22000"/>
              </a:srgbClr>
            </a:outerShdw>
          </a:effectLst>
        </p:spPr>
        <p:txBody>
          <a:bodyPr rtlCol="0" anchor="ctr"/>
          <a:lstStyle/>
          <a:p>
            <a:pPr algn="ctr"/>
          </a:p>
        </p:txBody>
      </p:sp>
      <p:sp>
        <p:nvSpPr>
          <p:cNvPr id="506" name="Dot 1"/>
          <p:cNvSpPr/>
          <p:nvPr/>
        </p:nvSpPr>
        <p:spPr>
          <a:xfrm>
            <a:off x="4420000" y="605000"/>
            <a:ext cx="70000" cy="70000"/>
          </a:xfrm>
          <a:prstGeom prst="ellipse">
            <a:avLst/>
          </a:prstGeom>
          <a:solidFill>
            <a:srgbClr val="C00000"/>
          </a:solidFill>
          <a:ln>
            <a:noFill/>
          </a:ln>
        </p:spPr>
        <p:txBody>
          <a:bodyPr rtlCol="0" anchor="ctr"/>
          <a:lstStyle/>
          <a:p>
            <a:pPr algn="ctr"/>
          </a:p>
        </p:txBody>
      </p:sp>
      <p:sp>
        <p:nvSpPr>
          <p:cNvPr id="507" name="Dot 2"/>
          <p:cNvSpPr/>
          <p:nvPr/>
        </p:nvSpPr>
        <p:spPr>
          <a:xfrm>
            <a:off x="4550000" y="605000"/>
            <a:ext cx="70000" cy="70000"/>
          </a:xfrm>
          <a:prstGeom prst="ellipse">
            <a:avLst/>
          </a:prstGeom>
          <a:solidFill>
            <a:srgbClr val="F2B705"/>
          </a:solidFill>
          <a:ln>
            <a:noFill/>
          </a:ln>
        </p:spPr>
        <p:txBody>
          <a:bodyPr rtlCol="0" anchor="ctr"/>
          <a:lstStyle/>
          <a:p>
            <a:pPr algn="ctr"/>
          </a:p>
        </p:txBody>
      </p:sp>
      <p:sp>
        <p:nvSpPr>
          <p:cNvPr id="508" name="Dot 3"/>
          <p:cNvSpPr/>
          <p:nvPr/>
        </p:nvSpPr>
        <p:spPr>
          <a:xfrm>
            <a:off x="4680000" y="605000"/>
            <a:ext cx="70000" cy="70000"/>
          </a:xfrm>
          <a:prstGeom prst="ellipse">
            <a:avLst/>
          </a:prstGeom>
          <a:solidFill>
            <a:srgbClr val="3DAE5C"/>
          </a:solidFill>
          <a:ln>
            <a:noFill/>
          </a:ln>
        </p:spPr>
        <p:txBody>
          <a:bodyPr rtlCol="0" anchor="ctr"/>
          <a:lstStyle/>
          <a:p>
            <a:pPr algn="ctr"/>
          </a:p>
        </p:txBody>
      </p:sp>
      <p:sp>
        <p:nvSpPr>
          <p:cNvPr id="509" name="Code label"/>
          <p:cNvSpPr txBox="1"/>
          <p:nvPr/>
        </p:nvSpPr>
        <p:spPr>
          <a:xfrm>
            <a:off x="7650000" y="555000"/>
            <a:ext cx="900000" cy="170000"/>
          </a:xfrm>
          <a:prstGeom prst="rect">
            <a:avLst/>
          </a:prstGeom>
          <a:noFill/>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800" b="1" i="0" u="none" strike="noStrike" cap="none" dirty="0">
                <a:solidFill>
                  <a:srgbClr val="8FA3C4"/>
                </a:solidFill>
                <a:latin typeface="Roboto"/>
                <a:ea typeface="Roboto"/>
                <a:cs typeface="Roboto"/>
                <a:sym typeface="Roboto"/>
              </a:rPr>
              <a:t>TS</a:t>
            </a:r>
            <a:endParaRPr lang="en" sz="800" b="0" i="0" u="none" strike="noStrike" cap="none" dirty="0">
              <a:solidFill>
                <a:srgbClr val="000000"/>
              </a:solidFill>
              <a:latin typeface="Roboto"/>
              <a:ea typeface="Roboto"/>
              <a:cs typeface="Roboto"/>
              <a:sym typeface="Roboto"/>
            </a:endParaRPr>
          </a:p>
        </p:txBody>
      </p:sp>
      <p:sp>
        <p:nvSpPr>
          <p:cNvPr id="510" name="Code"/>
          <p:cNvSpPr txBox="1"/>
          <p:nvPr/>
        </p:nvSpPr>
        <p:spPr>
          <a:xfrm>
            <a:off x="4360000" y="750000"/>
            <a:ext cx="4230000" cy="3042656"/>
          </a:xfrm>
          <a:prstGeom prst="rect">
            <a:avLst/>
          </a:prstGeom>
          <a:noFill/>
        </p:spPr>
        <p:txBody>
          <a:bodyPr spcFirstLastPara="1" wrap="square" lIns="86025" tIns="0" rIns="60000" bIns="0" anchor="t" anchorCtr="0">
            <a:noAutofit/>
          </a:bodyPr>
          <a:lstStyle/>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abstract </a:t>
            </a:r>
            <a:r>
              <a:rPr lang="en" sz="900" b="0" i="0" u="none" strike="noStrike" cap="none" dirty="0">
                <a:solidFill>
                  <a:srgbClr val="8CC4FF"/>
                </a:solidFill>
                <a:latin typeface="Courier New"/>
                <a:ea typeface="Courier New"/>
                <a:cs typeface="Courier New"/>
                <a:sym typeface="Courier New"/>
              </a:rPr>
              <a:t>class</a:t>
            </a:r>
            <a:r>
              <a:rPr lang="en" sz="900" b="0" i="0" u="none" strike="noStrike" cap="none" dirty="0">
                <a:solidFill>
                  <a:srgbClr val="E6ECF7"/>
                </a:solidFill>
                <a:latin typeface="Courier New"/>
                <a:ea typeface="Courier New"/>
                <a:cs typeface="Courier New"/>
                <a:sym typeface="Courier New"/>
              </a:rPr>
              <a:t> Shape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abstract area(): number; </a:t>
            </a:r>
            <a:r>
              <a:rPr lang="en" sz="900" b="0" i="1" u="none" strike="noStrike" cap="none" dirty="0">
                <a:solidFill>
                  <a:srgbClr val="8FA3C4"/>
                </a:solidFill>
                <a:latin typeface="Courier New"/>
                <a:ea typeface="Courier New"/>
                <a:cs typeface="Courier New"/>
                <a:sym typeface="Courier New"/>
              </a:rPr>
              <a:t>// must implement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describe(): string {     </a:t>
            </a:r>
            <a:r>
              <a:rPr lang="en" sz="900" b="0" i="1" u="none" strike="noStrike" cap="none" dirty="0">
                <a:solidFill>
                  <a:srgbClr val="8FA3C4"/>
                </a:solidFill>
                <a:latin typeface="Courier New"/>
                <a:ea typeface="Courier New"/>
                <a:cs typeface="Courier New"/>
                <a:sym typeface="Courier New"/>
              </a:rPr>
              <a:t>// shared logic</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8CC4FF"/>
                </a:solidFill>
                <a:latin typeface="Courier New"/>
                <a:ea typeface="Courier New"/>
                <a:cs typeface="Courier New"/>
                <a:sym typeface="Courier New"/>
              </a:rPr>
              <a:t>return</a:t>
            </a: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FFC878"/>
                </a:solidFill>
                <a:latin typeface="Courier New"/>
                <a:ea typeface="Courier New"/>
                <a:cs typeface="Courier New"/>
                <a:sym typeface="Courier New"/>
              </a:rPr>
              <a:t>`Area: ${this.area()}`</a:t>
            </a: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8CC4FF"/>
                </a:solidFill>
                <a:latin typeface="Courier New"/>
                <a:ea typeface="Courier New"/>
                <a:cs typeface="Courier New"/>
                <a:sym typeface="Courier New"/>
              </a:rPr>
              <a:t>class</a:t>
            </a:r>
            <a:r>
              <a:rPr lang="en" sz="900" b="0" i="0" u="none" strike="noStrike" cap="none" dirty="0">
                <a:solidFill>
                  <a:srgbClr val="E6ECF7"/>
                </a:solidFill>
                <a:latin typeface="Courier New"/>
                <a:ea typeface="Courier New"/>
                <a:cs typeface="Courier New"/>
                <a:sym typeface="Courier New"/>
              </a:rPr>
              <a:t> Circle </a:t>
            </a:r>
            <a:r>
              <a:rPr lang="en" sz="900" b="0" i="0" u="none" strike="noStrike" cap="none" dirty="0">
                <a:solidFill>
                  <a:srgbClr val="8CC4FF"/>
                </a:solidFill>
                <a:latin typeface="Courier New"/>
                <a:ea typeface="Courier New"/>
                <a:cs typeface="Courier New"/>
                <a:sym typeface="Courier New"/>
              </a:rPr>
              <a:t>extends</a:t>
            </a:r>
            <a:r>
              <a:rPr lang="en" sz="900" b="0" i="0" u="none" strike="noStrike" cap="none" dirty="0">
                <a:solidFill>
                  <a:srgbClr val="E6ECF7"/>
                </a:solidFill>
                <a:latin typeface="Courier New"/>
                <a:ea typeface="Courier New"/>
                <a:cs typeface="Courier New"/>
                <a:sym typeface="Courier New"/>
              </a:rPr>
              <a:t> Shape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8CC4FF"/>
                </a:solidFill>
                <a:latin typeface="Courier New"/>
                <a:ea typeface="Courier New"/>
                <a:cs typeface="Courier New"/>
                <a:sym typeface="Courier New"/>
              </a:rPr>
              <a:t>constructor</a:t>
            </a:r>
            <a:r>
              <a:rPr lang="en" sz="900" b="0" i="0" u="none" strike="noStrike" cap="none" dirty="0">
                <a:solidFill>
                  <a:srgbClr val="E6ECF7"/>
                </a:solidFill>
                <a:latin typeface="Courier New"/>
                <a:ea typeface="Courier New"/>
                <a:cs typeface="Courier New"/>
                <a:sym typeface="Courier New"/>
              </a:rPr>
              <a:t>(private radius: number) { </a:t>
            </a:r>
            <a:r>
              <a:rPr lang="en" sz="900" b="0" i="0" u="none" strike="noStrike" cap="none" dirty="0">
                <a:solidFill>
                  <a:srgbClr val="8CC4FF"/>
                </a:solidFill>
                <a:latin typeface="Courier New"/>
                <a:ea typeface="Courier New"/>
                <a:cs typeface="Courier New"/>
                <a:sym typeface="Courier New"/>
              </a:rPr>
              <a:t>super</a:t>
            </a: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area(): number { </a:t>
            </a:r>
            <a:r>
              <a:rPr lang="en" sz="900" b="0" i="0" u="none" strike="noStrike" cap="none" dirty="0">
                <a:solidFill>
                  <a:srgbClr val="8CC4FF"/>
                </a:solidFill>
                <a:latin typeface="Courier New"/>
                <a:ea typeface="Courier New"/>
                <a:cs typeface="Courier New"/>
                <a:sym typeface="Courier New"/>
              </a:rPr>
              <a:t>return</a:t>
            </a:r>
            <a:r>
              <a:rPr lang="en" sz="900" b="0" i="0" u="none" strike="noStrike" cap="none" dirty="0">
                <a:solidFill>
                  <a:srgbClr val="E6ECF7"/>
                </a:solidFill>
                <a:latin typeface="Courier New"/>
                <a:ea typeface="Courier New"/>
                <a:cs typeface="Courier New"/>
                <a:sym typeface="Courier New"/>
              </a:rPr>
              <a:t> Math.PI * </a:t>
            </a:r>
            <a:r>
              <a:rPr lang="en" sz="900" b="0" i="0" u="none" strike="noStrike" cap="none" dirty="0">
                <a:solidFill>
                  <a:srgbClr val="8CC4FF"/>
                </a:solidFill>
                <a:latin typeface="Courier New"/>
                <a:ea typeface="Courier New"/>
                <a:cs typeface="Courier New"/>
                <a:sym typeface="Courier New"/>
              </a:rPr>
              <a:t>this</a:t>
            </a:r>
            <a:r>
              <a:rPr lang="en" sz="900" b="0" i="0" u="none" strike="noStrike" cap="none" dirty="0">
                <a:solidFill>
                  <a:srgbClr val="E6ECF7"/>
                </a:solidFill>
                <a:latin typeface="Courier New"/>
                <a:ea typeface="Courier New"/>
                <a:cs typeface="Courier New"/>
                <a:sym typeface="Courier New"/>
              </a:rPr>
              <a:t>.radius ** </a:t>
            </a:r>
            <a:r>
              <a:rPr lang="en" sz="900" b="0" i="0" u="none" strike="noStrike" cap="none" dirty="0">
                <a:solidFill>
                  <a:srgbClr val="F2B705"/>
                </a:solidFill>
                <a:latin typeface="Courier New"/>
                <a:ea typeface="Courier New"/>
                <a:cs typeface="Courier New"/>
                <a:sym typeface="Courier New"/>
              </a:rPr>
              <a:t>2</a:t>
            </a: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8CC4FF"/>
                </a:solidFill>
                <a:latin typeface="Courier New"/>
                <a:ea typeface="Courier New"/>
                <a:cs typeface="Courier New"/>
                <a:sym typeface="Courier New"/>
              </a:rPr>
              <a:t>class</a:t>
            </a:r>
            <a:r>
              <a:rPr lang="en" sz="900" b="0" i="0" u="none" strike="noStrike" cap="none" dirty="0">
                <a:solidFill>
                  <a:srgbClr val="E6ECF7"/>
                </a:solidFill>
                <a:latin typeface="Courier New"/>
                <a:ea typeface="Courier New"/>
                <a:cs typeface="Courier New"/>
                <a:sym typeface="Courier New"/>
              </a:rPr>
              <a:t> Square </a:t>
            </a:r>
            <a:r>
              <a:rPr lang="en" sz="900" b="0" i="0" u="none" strike="noStrike" cap="none" dirty="0">
                <a:solidFill>
                  <a:srgbClr val="8CC4FF"/>
                </a:solidFill>
                <a:latin typeface="Courier New"/>
                <a:ea typeface="Courier New"/>
                <a:cs typeface="Courier New"/>
                <a:sym typeface="Courier New"/>
              </a:rPr>
              <a:t>extends</a:t>
            </a:r>
            <a:r>
              <a:rPr lang="en" sz="900" b="0" i="0" u="none" strike="noStrike" cap="none" dirty="0">
                <a:solidFill>
                  <a:srgbClr val="E6ECF7"/>
                </a:solidFill>
                <a:latin typeface="Courier New"/>
                <a:ea typeface="Courier New"/>
                <a:cs typeface="Courier New"/>
                <a:sym typeface="Courier New"/>
              </a:rPr>
              <a:t> Shape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8CC4FF"/>
                </a:solidFill>
                <a:latin typeface="Courier New"/>
                <a:ea typeface="Courier New"/>
                <a:cs typeface="Courier New"/>
                <a:sym typeface="Courier New"/>
              </a:rPr>
              <a:t>constructor</a:t>
            </a:r>
            <a:r>
              <a:rPr lang="en" sz="900" b="0" i="0" u="none" strike="noStrike" cap="none" dirty="0">
                <a:solidFill>
                  <a:srgbClr val="E6ECF7"/>
                </a:solidFill>
                <a:latin typeface="Courier New"/>
                <a:ea typeface="Courier New"/>
                <a:cs typeface="Courier New"/>
                <a:sym typeface="Courier New"/>
              </a:rPr>
              <a:t>(private side: number) { </a:t>
            </a:r>
            <a:r>
              <a:rPr lang="en" sz="900" b="0" i="0" u="none" strike="noStrike" cap="none" dirty="0">
                <a:solidFill>
                  <a:srgbClr val="8CC4FF"/>
                </a:solidFill>
                <a:latin typeface="Courier New"/>
                <a:ea typeface="Courier New"/>
                <a:cs typeface="Courier New"/>
                <a:sym typeface="Courier New"/>
              </a:rPr>
              <a:t>super</a:t>
            </a: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area(): number { </a:t>
            </a:r>
            <a:r>
              <a:rPr lang="en" sz="900" b="0" i="0" u="none" strike="noStrike" cap="none" dirty="0">
                <a:solidFill>
                  <a:srgbClr val="8CC4FF"/>
                </a:solidFill>
                <a:latin typeface="Courier New"/>
                <a:ea typeface="Courier New"/>
                <a:cs typeface="Courier New"/>
                <a:sym typeface="Courier New"/>
              </a:rPr>
              <a:t>return</a:t>
            </a: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8CC4FF"/>
                </a:solidFill>
                <a:latin typeface="Courier New"/>
                <a:ea typeface="Courier New"/>
                <a:cs typeface="Courier New"/>
                <a:sym typeface="Courier New"/>
              </a:rPr>
              <a:t>this</a:t>
            </a:r>
            <a:r>
              <a:rPr lang="en" sz="900" b="0" i="0" u="none" strike="noStrike" cap="none" dirty="0">
                <a:solidFill>
                  <a:srgbClr val="E6ECF7"/>
                </a:solidFill>
                <a:latin typeface="Courier New"/>
                <a:ea typeface="Courier New"/>
                <a:cs typeface="Courier New"/>
                <a:sym typeface="Courier New"/>
              </a:rPr>
              <a:t>.side ** </a:t>
            </a:r>
            <a:r>
              <a:rPr lang="en" sz="900" b="0" i="0" u="none" strike="noStrike" cap="none" dirty="0">
                <a:solidFill>
                  <a:srgbClr val="F2B705"/>
                </a:solidFill>
                <a:latin typeface="Courier New"/>
                <a:ea typeface="Courier New"/>
                <a:cs typeface="Courier New"/>
                <a:sym typeface="Courier New"/>
              </a:rPr>
              <a:t>2</a:t>
            </a: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8CC4FF"/>
                </a:solidFill>
                <a:latin typeface="Courier New"/>
                <a:ea typeface="Courier New"/>
                <a:cs typeface="Courier New"/>
                <a:sym typeface="Courier New"/>
              </a:rPr>
              <a:t>const</a:t>
            </a:r>
            <a:r>
              <a:rPr lang="en" sz="900" b="0" i="0" u="none" strike="noStrike" cap="none" dirty="0">
                <a:solidFill>
                  <a:srgbClr val="E6ECF7"/>
                </a:solidFill>
                <a:latin typeface="Courier New"/>
                <a:ea typeface="Courier New"/>
                <a:cs typeface="Courier New"/>
                <a:sym typeface="Courier New"/>
              </a:rPr>
              <a:t> shapes: Shape[] = [</a:t>
            </a:r>
            <a:r>
              <a:rPr lang="en" sz="900" b="0" i="0" u="none" strike="noStrike" cap="none" dirty="0">
                <a:solidFill>
                  <a:srgbClr val="8CC4FF"/>
                </a:solidFill>
                <a:latin typeface="Courier New"/>
                <a:ea typeface="Courier New"/>
                <a:cs typeface="Courier New"/>
                <a:sym typeface="Courier New"/>
              </a:rPr>
              <a:t>new</a:t>
            </a:r>
            <a:r>
              <a:rPr lang="en" sz="900" b="0" i="0" u="none" strike="noStrike" cap="none" dirty="0">
                <a:solidFill>
                  <a:srgbClr val="E6ECF7"/>
                </a:solidFill>
                <a:latin typeface="Courier New"/>
                <a:ea typeface="Courier New"/>
                <a:cs typeface="Courier New"/>
                <a:sym typeface="Courier New"/>
              </a:rPr>
              <a:t> Circle(</a:t>
            </a:r>
            <a:r>
              <a:rPr lang="en" sz="900" b="0" i="0" u="none" strike="noStrike" cap="none" dirty="0">
                <a:solidFill>
                  <a:srgbClr val="F2B705"/>
                </a:solidFill>
                <a:latin typeface="Courier New"/>
                <a:ea typeface="Courier New"/>
                <a:cs typeface="Courier New"/>
                <a:sym typeface="Courier New"/>
              </a:rPr>
              <a:t>5</a:t>
            </a: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8CC4FF"/>
                </a:solidFill>
                <a:latin typeface="Courier New"/>
                <a:ea typeface="Courier New"/>
                <a:cs typeface="Courier New"/>
                <a:sym typeface="Courier New"/>
              </a:rPr>
              <a:t>new</a:t>
            </a:r>
            <a:r>
              <a:rPr lang="en" sz="900" b="0" i="0" u="none" strike="noStrike" cap="none" dirty="0">
                <a:solidFill>
                  <a:srgbClr val="E6ECF7"/>
                </a:solidFill>
                <a:latin typeface="Courier New"/>
                <a:ea typeface="Courier New"/>
                <a:cs typeface="Courier New"/>
                <a:sym typeface="Courier New"/>
              </a:rPr>
              <a:t> Square(</a:t>
            </a:r>
            <a:r>
              <a:rPr lang="en" sz="900" b="0" i="0" u="none" strike="noStrike" cap="none" dirty="0">
                <a:solidFill>
                  <a:srgbClr val="F2B705"/>
                </a:solidFill>
                <a:latin typeface="Courier New"/>
                <a:ea typeface="Courier New"/>
                <a:cs typeface="Courier New"/>
                <a:sym typeface="Courier New"/>
              </a:rPr>
              <a:t>4</a:t>
            </a: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shapes.forEach(s =&gt; console.log(s.describe()));</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8CC4FF"/>
                </a:solidFill>
                <a:latin typeface="Courier New"/>
                <a:ea typeface="Courier New"/>
                <a:cs typeface="Courier New"/>
                <a:sym typeface="Courier New"/>
              </a:rPr>
              <a:t>new</a:t>
            </a:r>
            <a:r>
              <a:rPr lang="en" sz="900" b="0" i="0" u="none" strike="noStrike" cap="none" dirty="0">
                <a:solidFill>
                  <a:srgbClr val="E6ECF7"/>
                </a:solidFill>
                <a:latin typeface="Courier New"/>
                <a:ea typeface="Courier New"/>
                <a:cs typeface="Courier New"/>
                <a:sym typeface="Courier New"/>
              </a:rPr>
              <a:t> Shape(); </a:t>
            </a:r>
            <a:r>
              <a:rPr lang="en" sz="900" b="0" i="1" u="none" strike="noStrike" cap="none" dirty="0">
                <a:solidFill>
                  <a:srgbClr val="8FA3C4"/>
                </a:solidFill>
                <a:latin typeface="Courier New"/>
                <a:ea typeface="Courier New"/>
                <a:cs typeface="Courier New"/>
                <a:sym typeface="Courier New"/>
              </a:rPr>
              <a:t>// Error: abstract class</a:t>
            </a:r>
            <a:endParaRPr lang="en" sz="900" b="0" i="0" u="none" strike="noStrike" cap="none" dirty="0">
              <a:solidFill>
                <a:srgbClr val="000000"/>
              </a:solidFill>
              <a:latin typeface="Roboto"/>
              <a:ea typeface="Roboto"/>
              <a:cs typeface="Roboto"/>
              <a:sym typeface="Roboto"/>
            </a:endParaRP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grpSpPr/>
      <p:pic>
        <p:nvPicPr>
          <p:cNvPr id="110" name="Google Shape;110;p15" title="Untitled-1-07.png"/>
          <p:cNvPicPr preferRelativeResize="0"/>
          <p:nvPr/>
        </p:nvPicPr>
        <p:blipFill rotWithShape="1">
          <a:blip r:embed="rId2">
            <a:alphaModFix/>
          </a:blip>
          <a:srcRect l="5100" r="4630" b="15895"/>
          <a:stretch/>
        </p:blipFill>
        <p:spPr>
          <a:xfrm>
            <a:off x="880549" y="4348257"/>
            <a:ext cx="2096958" cy="548700"/>
          </a:xfrm>
          <a:prstGeom prst="rect">
            <a:avLst/>
          </a:prstGeom>
          <a:noFill/>
          <a:ln>
            <a:noFill/>
          </a:ln>
        </p:spPr>
      </p:pic>
      <p:pic>
        <p:nvPicPr>
          <p:cNvPr id="111" name="Google Shape;111;p15" title="powerd by.png"/>
          <p:cNvPicPr preferRelativeResize="0"/>
          <p:nvPr/>
        </p:nvPicPr>
        <p:blipFill rotWithShape="1">
          <a:blip r:embed="rId5">
            <a:alphaModFix/>
          </a:blip>
          <a:srcRect l="6981" t="44048" r="6714" b="14302"/>
          <a:stretch/>
        </p:blipFill>
        <p:spPr>
          <a:xfrm>
            <a:off x="3537800" y="4500588"/>
            <a:ext cx="2130125" cy="355975"/>
          </a:xfrm>
          <a:prstGeom prst="rect">
            <a:avLst/>
          </a:prstGeom>
          <a:noFill/>
          <a:ln>
            <a:noFill/>
          </a:ln>
        </p:spPr>
      </p:pic>
      <p:sp>
        <p:nvSpPr>
          <p:cNvPr id="112" name="Google Shape;112;p15"/>
          <p:cNvSpPr txBox="1"/>
          <p:nvPr/>
        </p:nvSpPr>
        <p:spPr>
          <a:xfrm>
            <a:off x="5998012" y="4596047"/>
            <a:ext cx="2436900" cy="253800"/>
          </a:xfrm>
          <a:prstGeom prst="rect">
            <a:avLst/>
          </a:prstGeom>
          <a:noFill/>
          <a:ln>
            <a:noFill/>
          </a:ln>
        </p:spPr>
        <p:txBody>
          <a:bodyPr spcFirstLastPara="1" wrap="non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0053A1"/>
                </a:solidFill>
                <a:latin typeface="Roboto"/>
                <a:ea typeface="Roboto"/>
                <a:cs typeface="Roboto"/>
                <a:sym typeface="Roboto"/>
              </a:rPr>
              <a:t>www.</a:t>
            </a:r>
            <a:r>
              <a:rPr lang="en" sz="1200" b="1">
                <a:solidFill>
                  <a:srgbClr val="0053A1"/>
                </a:solidFill>
                <a:latin typeface="Roboto"/>
                <a:ea typeface="Roboto"/>
                <a:cs typeface="Roboto"/>
                <a:sym typeface="Roboto"/>
              </a:rPr>
              <a:t>careercraftacademy.com</a:t>
            </a:r>
            <a:endParaRPr sz="1200" b="1" i="0" u="none" strike="noStrike" cap="none">
              <a:solidFill>
                <a:srgbClr val="0053A1"/>
              </a:solidFill>
              <a:latin typeface="Roboto"/>
              <a:ea typeface="Roboto"/>
              <a:cs typeface="Roboto"/>
              <a:sym typeface="Roboto"/>
            </a:endParaRPr>
          </a:p>
        </p:txBody>
      </p:sp>
      <p:pic>
        <p:nvPicPr>
          <p:cNvPr id="114" name="Google Shape;114;p15"/>
          <p:cNvPicPr preferRelativeResize="0"/>
          <p:nvPr/>
        </p:nvPicPr>
        <p:blipFill>
          <a:blip r:embed="rId4">
            <a:alphaModFix/>
          </a:blip>
          <a:stretch>
            <a:fillRect/>
          </a:stretch>
        </p:blipFill>
        <p:spPr>
          <a:xfrm>
            <a:off x="8447868" y="4368945"/>
            <a:ext cx="334175" cy="480903"/>
          </a:xfrm>
          <a:prstGeom prst="rect">
            <a:avLst/>
          </a:prstGeom>
          <a:noFill/>
          <a:ln>
            <a:noFill/>
          </a:ln>
        </p:spPr>
      </p:pic>
      <p:sp>
        <p:nvSpPr>
          <p:cNvPr id="511" name="Kicker"/>
          <p:cNvSpPr txBox="1"/>
          <p:nvPr/>
        </p:nvSpPr>
        <p:spPr>
          <a:xfrm>
            <a:off x="675600" y="285000"/>
            <a:ext cx="3560000" cy="241200"/>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1003" b="0" i="0" u="none" strike="noStrike" cap="none" dirty="0">
                <a:solidFill>
                  <a:srgbClr val="7F7F7F"/>
                </a:solidFill>
                <a:latin typeface="Roboto"/>
                <a:ea typeface="Roboto"/>
                <a:cs typeface="Roboto"/>
                <a:sym typeface="Roboto"/>
              </a:rPr>
              <a:t>Object-Oriented Programming</a:t>
            </a:r>
            <a:endParaRPr lang="en" sz="1003" b="0" i="0" u="none" strike="noStrike" cap="none" dirty="0">
              <a:solidFill>
                <a:srgbClr val="000000"/>
              </a:solidFill>
              <a:latin typeface="Roboto"/>
              <a:ea typeface="Roboto"/>
              <a:cs typeface="Roboto"/>
              <a:sym typeface="Roboto"/>
            </a:endParaRPr>
          </a:p>
        </p:txBody>
      </p:sp>
      <p:sp>
        <p:nvSpPr>
          <p:cNvPr id="512" name="Title"/>
          <p:cNvSpPr txBox="1"/>
          <p:nvPr/>
        </p:nvSpPr>
        <p:spPr>
          <a:xfrm>
            <a:off x="675600" y="520000"/>
            <a:ext cx="3560000" cy="763948"/>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2200" b="1" i="0" u="none" strike="noStrike" cap="none" dirty="0">
                <a:solidFill>
                  <a:srgbClr val="0053A1"/>
                </a:solidFill>
                <a:latin typeface="Poppins SemiBold"/>
                <a:ea typeface="Poppins SemiBold"/>
                <a:cs typeface="Poppins SemiBold"/>
                <a:sym typeface="Poppins SemiBold"/>
              </a:rPr>
              <a:t>Getters, Setters</a:t>
            </a:r>
            <a:endParaRPr lang="en" sz="2200" b="0" i="0" u="none" strike="noStrike" cap="none" dirty="0">
              <a:solidFill>
                <a:srgbClr val="000000"/>
              </a:solidFill>
              <a:latin typeface="Roboto"/>
              <a:ea typeface="Roboto"/>
              <a:cs typeface="Roboto"/>
              <a:sym typeface="Roboto"/>
            </a:endParaRPr>
          </a:p>
          <a:p>
            <a:pPr marL="0" marR="0" lvl="0" indent="0" algn="l" rtl="0">
              <a:lnSpc>
                <a:spcPct val="100000"/>
              </a:lnSpc>
              <a:spcBef>
                <a:spcPts val="0"/>
              </a:spcBef>
              <a:spcAft>
                <a:spcPts val="0"/>
              </a:spcAft>
              <a:buNone/>
            </a:pPr>
            <a:r>
              <a:rPr lang="en" sz="2200" b="1" i="0" u="none" strike="noStrike" cap="none" dirty="0">
                <a:solidFill>
                  <a:srgbClr val="000000"/>
                </a:solidFill>
                <a:latin typeface="Poppins SemiBold"/>
                <a:ea typeface="Poppins SemiBold"/>
                <a:cs typeface="Poppins SemiBold"/>
                <a:sym typeface="Poppins SemiBold"/>
              </a:rPr>
              <a:t>and Static Members</a:t>
            </a:r>
            <a:endParaRPr lang="en" sz="2200" b="0" i="0" u="none" strike="noStrike" cap="none" dirty="0">
              <a:solidFill>
                <a:srgbClr val="000000"/>
              </a:solidFill>
              <a:latin typeface="Roboto"/>
              <a:ea typeface="Roboto"/>
              <a:cs typeface="Roboto"/>
              <a:sym typeface="Roboto"/>
            </a:endParaRPr>
          </a:p>
        </p:txBody>
      </p:sp>
      <p:sp>
        <p:nvSpPr>
          <p:cNvPr id="513" name="Body"/>
          <p:cNvSpPr txBox="1"/>
          <p:nvPr/>
        </p:nvSpPr>
        <p:spPr>
          <a:xfrm>
            <a:off x="620000" y="1383000"/>
            <a:ext cx="3560000" cy="1178200"/>
          </a:xfrm>
          <a:prstGeom prst="rect">
            <a:avLst/>
          </a:prstGeom>
          <a:noFill/>
        </p:spPr>
        <p:txBody>
          <a:bodyPr spcFirstLastPara="1" wrap="square" lIns="86025" tIns="43000" rIns="86025" bIns="43000" anchor="t" anchorCtr="0">
            <a:noAutofit/>
          </a:bodyPr>
          <a:lstStyle/>
          <a:p>
            <a:pPr marL="171450" marR="0" lvl="0" indent="-171450" algn="l" rtl="0">
              <a:lnSpc>
                <a:spcPct val="125000"/>
              </a:lnSpc>
              <a:spcBef>
                <a:spcPts val="100"/>
              </a:spcBef>
              <a:spcAft>
                <a:spcPts val="0"/>
              </a:spcAft>
              <a:buClr>
                <a:srgbClr val="000000"/>
              </a:buClr>
              <a:buSzPts val="1100"/>
              <a:buFont typeface="Arial"/>
              <a:buChar char="•"/>
            </a:pPr>
            <a:r>
              <a:rPr lang="en" sz="1050" b="1" i="0" u="none" strike="noStrike" cap="none" dirty="0">
                <a:solidFill>
                  <a:srgbClr val="0053A1"/>
                </a:solidFill>
                <a:latin typeface="Courier New"/>
                <a:ea typeface="Courier New"/>
                <a:cs typeface="Courier New"/>
                <a:sym typeface="Courier New"/>
              </a:rPr>
              <a:t>get</a:t>
            </a:r>
            <a:r>
              <a:rPr lang="en" sz="1100" b="0" i="0" u="none" strike="noStrike" cap="none" dirty="0">
                <a:solidFill>
                  <a:schemeClr val="tx1"/>
                </a:solidFill>
                <a:latin typeface="Roboto"/>
                <a:ea typeface="Roboto"/>
                <a:cs typeface="Roboto"/>
                <a:sym typeface="Roboto"/>
              </a:rPr>
              <a:t> / </a:t>
            </a:r>
            <a:r>
              <a:rPr lang="en" sz="1050" b="1" i="0" u="none" strike="noStrike" cap="none" dirty="0">
                <a:solidFill>
                  <a:srgbClr val="0053A1"/>
                </a:solidFill>
                <a:latin typeface="Courier New"/>
                <a:ea typeface="Courier New"/>
                <a:cs typeface="Courier New"/>
                <a:sym typeface="Courier New"/>
              </a:rPr>
              <a:t>set</a:t>
            </a:r>
            <a:r>
              <a:rPr lang="en" sz="1100" b="0" i="0" u="none" strike="noStrike" cap="none" dirty="0">
                <a:solidFill>
                  <a:schemeClr val="tx1"/>
                </a:solidFill>
                <a:latin typeface="Roboto"/>
                <a:ea typeface="Roboto"/>
                <a:cs typeface="Roboto"/>
                <a:sym typeface="Roboto"/>
              </a:rPr>
              <a:t> look like properties but run methods</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Setters can </a:t>
            </a:r>
            <a:r>
              <a:rPr lang="en" sz="1100" b="1" i="0" u="none" strike="noStrike" cap="none" dirty="0">
                <a:solidFill>
                  <a:schemeClr val="tx1"/>
                </a:solidFill>
                <a:latin typeface="Roboto"/>
                <a:ea typeface="Roboto"/>
                <a:cs typeface="Roboto"/>
                <a:sym typeface="Roboto"/>
              </a:rPr>
              <a:t>validate</a:t>
            </a:r>
            <a:r>
              <a:rPr lang="en" sz="1100" b="0" i="0" u="none" strike="noStrike" cap="none" dirty="0">
                <a:solidFill>
                  <a:schemeClr val="tx1"/>
                </a:solidFill>
                <a:latin typeface="Roboto"/>
                <a:ea typeface="Roboto"/>
                <a:cs typeface="Roboto"/>
                <a:sym typeface="Roboto"/>
              </a:rPr>
              <a:t> values</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050" b="1" i="0" u="none" strike="noStrike" cap="none" dirty="0">
                <a:solidFill>
                  <a:srgbClr val="0053A1"/>
                </a:solidFill>
                <a:latin typeface="Courier New"/>
                <a:ea typeface="Courier New"/>
                <a:cs typeface="Courier New"/>
                <a:sym typeface="Courier New"/>
              </a:rPr>
              <a:t>static</a:t>
            </a:r>
            <a:r>
              <a:rPr lang="en" sz="1100" b="0" i="0" u="none" strike="noStrike" cap="none" dirty="0">
                <a:solidFill>
                  <a:schemeClr val="tx1"/>
                </a:solidFill>
                <a:latin typeface="Roboto"/>
                <a:ea typeface="Roboto"/>
                <a:cs typeface="Roboto"/>
                <a:sym typeface="Roboto"/>
              </a:rPr>
              <a:t> members belong to the </a:t>
            </a:r>
            <a:r>
              <a:rPr lang="en" sz="1100" b="1" i="0" u="none" strike="noStrike" cap="none" dirty="0">
                <a:solidFill>
                  <a:schemeClr val="tx1"/>
                </a:solidFill>
                <a:latin typeface="Roboto"/>
                <a:ea typeface="Roboto"/>
                <a:cs typeface="Roboto"/>
                <a:sym typeface="Roboto"/>
              </a:rPr>
              <a:t>class</a:t>
            </a:r>
            <a:r>
              <a:rPr lang="en" sz="1100" b="0" i="0" u="none" strike="noStrike" cap="none" dirty="0">
                <a:solidFill>
                  <a:schemeClr val="tx1"/>
                </a:solidFill>
                <a:latin typeface="Roboto"/>
                <a:ea typeface="Roboto"/>
                <a:cs typeface="Roboto"/>
                <a:sym typeface="Roboto"/>
              </a:rPr>
              <a:t>, not instances</a:t>
            </a:r>
            <a:endParaRPr lang="en" sz="1100" b="0" i="0" u="none" strike="noStrike" cap="none" dirty="0">
              <a:solidFill>
                <a:srgbClr val="000000"/>
              </a:solidFill>
              <a:latin typeface="Roboto"/>
              <a:ea typeface="Roboto"/>
              <a:cs typeface="Roboto"/>
              <a:sym typeface="Roboto"/>
            </a:endParaRPr>
          </a:p>
        </p:txBody>
      </p:sp>
      <p:sp>
        <p:nvSpPr>
          <p:cNvPr id="514" name="Code panel"/>
          <p:cNvSpPr/>
          <p:nvPr/>
        </p:nvSpPr>
        <p:spPr>
          <a:xfrm>
            <a:off x="4300000" y="500000"/>
            <a:ext cx="4350000" cy="3470788"/>
          </a:xfrm>
          <a:prstGeom prst="roundRect">
            <a:avLst>
              <a:gd name="adj" fmla="val 3500"/>
            </a:avLst>
          </a:prstGeom>
          <a:solidFill>
            <a:srgbClr val="0E2455"/>
          </a:solidFill>
          <a:ln>
            <a:noFill/>
          </a:ln>
          <a:effectLst>
            <a:outerShdw blurRad="63500" dist="25400" dir="5400000" algn="t" rotWithShape="0">
              <a:srgbClr val="000000">
                <a:alpha val="22000"/>
              </a:srgbClr>
            </a:outerShdw>
          </a:effectLst>
        </p:spPr>
        <p:txBody>
          <a:bodyPr rtlCol="0" anchor="ctr"/>
          <a:lstStyle/>
          <a:p>
            <a:pPr algn="ctr"/>
          </a:p>
        </p:txBody>
      </p:sp>
      <p:sp>
        <p:nvSpPr>
          <p:cNvPr id="515" name="Dot 1"/>
          <p:cNvSpPr/>
          <p:nvPr/>
        </p:nvSpPr>
        <p:spPr>
          <a:xfrm>
            <a:off x="4420000" y="605000"/>
            <a:ext cx="70000" cy="70000"/>
          </a:xfrm>
          <a:prstGeom prst="ellipse">
            <a:avLst/>
          </a:prstGeom>
          <a:solidFill>
            <a:srgbClr val="C00000"/>
          </a:solidFill>
          <a:ln>
            <a:noFill/>
          </a:ln>
        </p:spPr>
        <p:txBody>
          <a:bodyPr rtlCol="0" anchor="ctr"/>
          <a:lstStyle/>
          <a:p>
            <a:pPr algn="ctr"/>
          </a:p>
        </p:txBody>
      </p:sp>
      <p:sp>
        <p:nvSpPr>
          <p:cNvPr id="516" name="Dot 2"/>
          <p:cNvSpPr/>
          <p:nvPr/>
        </p:nvSpPr>
        <p:spPr>
          <a:xfrm>
            <a:off x="4550000" y="605000"/>
            <a:ext cx="70000" cy="70000"/>
          </a:xfrm>
          <a:prstGeom prst="ellipse">
            <a:avLst/>
          </a:prstGeom>
          <a:solidFill>
            <a:srgbClr val="F2B705"/>
          </a:solidFill>
          <a:ln>
            <a:noFill/>
          </a:ln>
        </p:spPr>
        <p:txBody>
          <a:bodyPr rtlCol="0" anchor="ctr"/>
          <a:lstStyle/>
          <a:p>
            <a:pPr algn="ctr"/>
          </a:p>
        </p:txBody>
      </p:sp>
      <p:sp>
        <p:nvSpPr>
          <p:cNvPr id="517" name="Dot 3"/>
          <p:cNvSpPr/>
          <p:nvPr/>
        </p:nvSpPr>
        <p:spPr>
          <a:xfrm>
            <a:off x="4680000" y="605000"/>
            <a:ext cx="70000" cy="70000"/>
          </a:xfrm>
          <a:prstGeom prst="ellipse">
            <a:avLst/>
          </a:prstGeom>
          <a:solidFill>
            <a:srgbClr val="3DAE5C"/>
          </a:solidFill>
          <a:ln>
            <a:noFill/>
          </a:ln>
        </p:spPr>
        <p:txBody>
          <a:bodyPr rtlCol="0" anchor="ctr"/>
          <a:lstStyle/>
          <a:p>
            <a:pPr algn="ctr"/>
          </a:p>
        </p:txBody>
      </p:sp>
      <p:sp>
        <p:nvSpPr>
          <p:cNvPr id="518" name="Code label"/>
          <p:cNvSpPr txBox="1"/>
          <p:nvPr/>
        </p:nvSpPr>
        <p:spPr>
          <a:xfrm>
            <a:off x="7650000" y="555000"/>
            <a:ext cx="900000" cy="170000"/>
          </a:xfrm>
          <a:prstGeom prst="rect">
            <a:avLst/>
          </a:prstGeom>
          <a:noFill/>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800" b="1" i="0" u="none" strike="noStrike" cap="none" dirty="0">
                <a:solidFill>
                  <a:srgbClr val="8FA3C4"/>
                </a:solidFill>
                <a:latin typeface="Roboto"/>
                <a:ea typeface="Roboto"/>
                <a:cs typeface="Roboto"/>
                <a:sym typeface="Roboto"/>
              </a:rPr>
              <a:t>TS</a:t>
            </a:r>
            <a:endParaRPr lang="en" sz="800" b="0" i="0" u="none" strike="noStrike" cap="none" dirty="0">
              <a:solidFill>
                <a:srgbClr val="000000"/>
              </a:solidFill>
              <a:latin typeface="Roboto"/>
              <a:ea typeface="Roboto"/>
              <a:cs typeface="Roboto"/>
              <a:sym typeface="Roboto"/>
            </a:endParaRPr>
          </a:p>
        </p:txBody>
      </p:sp>
      <p:sp>
        <p:nvSpPr>
          <p:cNvPr id="519" name="Code"/>
          <p:cNvSpPr txBox="1"/>
          <p:nvPr/>
        </p:nvSpPr>
        <p:spPr>
          <a:xfrm>
            <a:off x="4360000" y="750000"/>
            <a:ext cx="4230000" cy="3190788"/>
          </a:xfrm>
          <a:prstGeom prst="rect">
            <a:avLst/>
          </a:prstGeom>
          <a:noFill/>
        </p:spPr>
        <p:txBody>
          <a:bodyPr spcFirstLastPara="1" wrap="square" lIns="86025" tIns="0" rIns="60000" bIns="0" anchor="t" anchorCtr="0">
            <a:noAutofit/>
          </a:bodyPr>
          <a:lstStyle/>
          <a:p>
            <a:pPr marL="0" marR="0" lvl="0" indent="0" algn="l" rtl="0">
              <a:lnSpc>
                <a:spcPct val="108000"/>
              </a:lnSpc>
              <a:spcBef>
                <a:spcPts val="0"/>
              </a:spcBef>
              <a:spcAft>
                <a:spcPts val="0"/>
              </a:spcAft>
              <a:buNone/>
            </a:pPr>
            <a:r>
              <a:rPr lang="en" sz="900" b="0" i="0" u="none" strike="noStrike" cap="none" dirty="0">
                <a:solidFill>
                  <a:srgbClr val="8CC4FF"/>
                </a:solidFill>
                <a:latin typeface="Courier New"/>
                <a:ea typeface="Courier New"/>
                <a:cs typeface="Courier New"/>
                <a:sym typeface="Courier New"/>
              </a:rPr>
              <a:t>class</a:t>
            </a:r>
            <a:r>
              <a:rPr lang="en" sz="900" b="0" i="0" u="none" strike="noStrike" cap="none" dirty="0">
                <a:solidFill>
                  <a:srgbClr val="E6ECF7"/>
                </a:solidFill>
                <a:latin typeface="Courier New"/>
                <a:ea typeface="Courier New"/>
                <a:cs typeface="Courier New"/>
                <a:sym typeface="Courier New"/>
              </a:rPr>
              <a:t> Temperature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private _celsius: number = </a:t>
            </a:r>
            <a:r>
              <a:rPr lang="en" sz="900" b="0" i="0" u="none" strike="noStrike" cap="none" dirty="0">
                <a:solidFill>
                  <a:srgbClr val="F2B705"/>
                </a:solidFill>
                <a:latin typeface="Courier New"/>
                <a:ea typeface="Courier New"/>
                <a:cs typeface="Courier New"/>
                <a:sym typeface="Courier New"/>
              </a:rPr>
              <a:t>0</a:t>
            </a: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get celsius(): number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8CC4FF"/>
                </a:solidFill>
                <a:latin typeface="Courier New"/>
                <a:ea typeface="Courier New"/>
                <a:cs typeface="Courier New"/>
                <a:sym typeface="Courier New"/>
              </a:rPr>
              <a:t>return</a:t>
            </a: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8CC4FF"/>
                </a:solidFill>
                <a:latin typeface="Courier New"/>
                <a:ea typeface="Courier New"/>
                <a:cs typeface="Courier New"/>
                <a:sym typeface="Courier New"/>
              </a:rPr>
              <a:t>this</a:t>
            </a:r>
            <a:r>
              <a:rPr lang="en" sz="900" b="0" i="0" u="none" strike="noStrike" cap="none" dirty="0">
                <a:solidFill>
                  <a:srgbClr val="E6ECF7"/>
                </a:solidFill>
                <a:latin typeface="Courier New"/>
                <a:ea typeface="Courier New"/>
                <a:cs typeface="Courier New"/>
                <a:sym typeface="Courier New"/>
              </a:rPr>
              <a:t>._celsius;</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set celsius(value: number)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8CC4FF"/>
                </a:solidFill>
                <a:latin typeface="Courier New"/>
                <a:ea typeface="Courier New"/>
                <a:cs typeface="Courier New"/>
                <a:sym typeface="Courier New"/>
              </a:rPr>
              <a:t>if</a:t>
            </a:r>
            <a:r>
              <a:rPr lang="en" sz="900" b="0" i="0" u="none" strike="noStrike" cap="none" dirty="0">
                <a:solidFill>
                  <a:srgbClr val="E6ECF7"/>
                </a:solidFill>
                <a:latin typeface="Courier New"/>
                <a:ea typeface="Courier New"/>
                <a:cs typeface="Courier New"/>
                <a:sym typeface="Courier New"/>
              </a:rPr>
              <a:t> (value &lt; -</a:t>
            </a:r>
            <a:r>
              <a:rPr lang="en" sz="900" b="0" i="0" u="none" strike="noStrike" cap="none" dirty="0">
                <a:solidFill>
                  <a:srgbClr val="F2B705"/>
                </a:solidFill>
                <a:latin typeface="Courier New"/>
                <a:ea typeface="Courier New"/>
                <a:cs typeface="Courier New"/>
                <a:sym typeface="Courier New"/>
              </a:rPr>
              <a:t>273.15</a:t>
            </a: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throw </a:t>
            </a:r>
            <a:r>
              <a:rPr lang="en" sz="900" b="0" i="0" u="none" strike="noStrike" cap="none" dirty="0">
                <a:solidFill>
                  <a:srgbClr val="8CC4FF"/>
                </a:solidFill>
                <a:latin typeface="Courier New"/>
                <a:ea typeface="Courier New"/>
                <a:cs typeface="Courier New"/>
                <a:sym typeface="Courier New"/>
              </a:rPr>
              <a:t>new</a:t>
            </a:r>
            <a:r>
              <a:rPr lang="en" sz="900" b="0" i="0" u="none" strike="noStrike" cap="none" dirty="0">
                <a:solidFill>
                  <a:srgbClr val="E6ECF7"/>
                </a:solidFill>
                <a:latin typeface="Courier New"/>
                <a:ea typeface="Courier New"/>
                <a:cs typeface="Courier New"/>
                <a:sym typeface="Courier New"/>
              </a:rPr>
              <a:t> Error(</a:t>
            </a:r>
            <a:r>
              <a:rPr lang="en" sz="900" b="0" i="0" u="none" strike="noStrike" cap="none" dirty="0">
                <a:solidFill>
                  <a:srgbClr val="FFC878"/>
                </a:solidFill>
                <a:latin typeface="Courier New"/>
                <a:ea typeface="Courier New"/>
                <a:cs typeface="Courier New"/>
                <a:sym typeface="Courier New"/>
              </a:rPr>
              <a:t>"Below absolute zero!"</a:t>
            </a: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8CC4FF"/>
                </a:solidFill>
                <a:latin typeface="Courier New"/>
                <a:ea typeface="Courier New"/>
                <a:cs typeface="Courier New"/>
                <a:sym typeface="Courier New"/>
              </a:rPr>
              <a:t>this</a:t>
            </a:r>
            <a:r>
              <a:rPr lang="en" sz="900" b="0" i="0" u="none" strike="noStrike" cap="none" dirty="0">
                <a:solidFill>
                  <a:srgbClr val="E6ECF7"/>
                </a:solidFill>
                <a:latin typeface="Courier New"/>
                <a:ea typeface="Courier New"/>
                <a:cs typeface="Courier New"/>
                <a:sym typeface="Courier New"/>
              </a:rPr>
              <a:t>._celsius = value;</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static fromFahrenheit(f: number): Temperature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8CC4FF"/>
                </a:solidFill>
                <a:latin typeface="Courier New"/>
                <a:ea typeface="Courier New"/>
                <a:cs typeface="Courier New"/>
                <a:sym typeface="Courier New"/>
              </a:rPr>
              <a:t>const</a:t>
            </a:r>
            <a:r>
              <a:rPr lang="en" sz="900" b="0" i="0" u="none" strike="noStrike" cap="none" dirty="0">
                <a:solidFill>
                  <a:srgbClr val="E6ECF7"/>
                </a:solidFill>
                <a:latin typeface="Courier New"/>
                <a:ea typeface="Courier New"/>
                <a:cs typeface="Courier New"/>
                <a:sym typeface="Courier New"/>
              </a:rPr>
              <a:t> t = </a:t>
            </a:r>
            <a:r>
              <a:rPr lang="en" sz="900" b="0" i="0" u="none" strike="noStrike" cap="none" dirty="0">
                <a:solidFill>
                  <a:srgbClr val="8CC4FF"/>
                </a:solidFill>
                <a:latin typeface="Courier New"/>
                <a:ea typeface="Courier New"/>
                <a:cs typeface="Courier New"/>
                <a:sym typeface="Courier New"/>
              </a:rPr>
              <a:t>new</a:t>
            </a:r>
            <a:r>
              <a:rPr lang="en" sz="900" b="0" i="0" u="none" strike="noStrike" cap="none" dirty="0">
                <a:solidFill>
                  <a:srgbClr val="E6ECF7"/>
                </a:solidFill>
                <a:latin typeface="Courier New"/>
                <a:ea typeface="Courier New"/>
                <a:cs typeface="Courier New"/>
                <a:sym typeface="Courier New"/>
              </a:rPr>
              <a:t> Temperature();</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t._celsius = (f - </a:t>
            </a:r>
            <a:r>
              <a:rPr lang="en" sz="900" b="0" i="0" u="none" strike="noStrike" cap="none" dirty="0">
                <a:solidFill>
                  <a:srgbClr val="F2B705"/>
                </a:solidFill>
                <a:latin typeface="Courier New"/>
                <a:ea typeface="Courier New"/>
                <a:cs typeface="Courier New"/>
                <a:sym typeface="Courier New"/>
              </a:rPr>
              <a:t>32</a:t>
            </a:r>
            <a:r>
              <a:rPr lang="en" sz="900" b="0" i="0" u="none" strike="noStrike" cap="none" dirty="0">
                <a:solidFill>
                  <a:srgbClr val="E6ECF7"/>
                </a:solidFill>
                <a:latin typeface="Courier New"/>
                <a:ea typeface="Courier New"/>
                <a:cs typeface="Courier New"/>
                <a:sym typeface="Courier New"/>
              </a:rPr>
              <a:t>) * </a:t>
            </a:r>
            <a:r>
              <a:rPr lang="en" sz="900" b="0" i="0" u="none" strike="noStrike" cap="none" dirty="0">
                <a:solidFill>
                  <a:srgbClr val="F2B705"/>
                </a:solidFill>
                <a:latin typeface="Courier New"/>
                <a:ea typeface="Courier New"/>
                <a:cs typeface="Courier New"/>
                <a:sym typeface="Courier New"/>
              </a:rPr>
              <a:t>5</a:t>
            </a:r>
            <a:r>
              <a:rPr lang="en" sz="900" b="0" i="0" u="none" strike="noStrike" cap="none" dirty="0">
                <a:solidFill>
                  <a:srgbClr val="E6ECF7"/>
                </a:solidFill>
                <a:latin typeface="Courier New"/>
                <a:ea typeface="Courier New"/>
                <a:cs typeface="Courier New"/>
                <a:sym typeface="Courier New"/>
              </a:rPr>
              <a:t> / </a:t>
            </a:r>
            <a:r>
              <a:rPr lang="en" sz="900" b="0" i="0" u="none" strike="noStrike" cap="none" dirty="0">
                <a:solidFill>
                  <a:srgbClr val="F2B705"/>
                </a:solidFill>
                <a:latin typeface="Courier New"/>
                <a:ea typeface="Courier New"/>
                <a:cs typeface="Courier New"/>
                <a:sym typeface="Courier New"/>
              </a:rPr>
              <a:t>9</a:t>
            </a: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8CC4FF"/>
                </a:solidFill>
                <a:latin typeface="Courier New"/>
                <a:ea typeface="Courier New"/>
                <a:cs typeface="Courier New"/>
                <a:sym typeface="Courier New"/>
              </a:rPr>
              <a:t>return</a:t>
            </a:r>
            <a:r>
              <a:rPr lang="en" sz="900" b="0" i="0" u="none" strike="noStrike" cap="none" dirty="0">
                <a:solidFill>
                  <a:srgbClr val="E6ECF7"/>
                </a:solidFill>
                <a:latin typeface="Courier New"/>
                <a:ea typeface="Courier New"/>
                <a:cs typeface="Courier New"/>
                <a:sym typeface="Courier New"/>
              </a:rPr>
              <a:t> 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8CC4FF"/>
                </a:solidFill>
                <a:latin typeface="Courier New"/>
                <a:ea typeface="Courier New"/>
                <a:cs typeface="Courier New"/>
                <a:sym typeface="Courier New"/>
              </a:rPr>
              <a:t>const</a:t>
            </a:r>
            <a:r>
              <a:rPr lang="en" sz="900" b="0" i="0" u="none" strike="noStrike" cap="none" dirty="0">
                <a:solidFill>
                  <a:srgbClr val="E6ECF7"/>
                </a:solidFill>
                <a:latin typeface="Courier New"/>
                <a:ea typeface="Courier New"/>
                <a:cs typeface="Courier New"/>
                <a:sym typeface="Courier New"/>
              </a:rPr>
              <a:t> temp = </a:t>
            </a:r>
            <a:r>
              <a:rPr lang="en" sz="900" b="0" i="0" u="none" strike="noStrike" cap="none" dirty="0">
                <a:solidFill>
                  <a:srgbClr val="8CC4FF"/>
                </a:solidFill>
                <a:latin typeface="Courier New"/>
                <a:ea typeface="Courier New"/>
                <a:cs typeface="Courier New"/>
                <a:sym typeface="Courier New"/>
              </a:rPr>
              <a:t>new</a:t>
            </a:r>
            <a:r>
              <a:rPr lang="en" sz="900" b="0" i="0" u="none" strike="noStrike" cap="none" dirty="0">
                <a:solidFill>
                  <a:srgbClr val="E6ECF7"/>
                </a:solidFill>
                <a:latin typeface="Courier New"/>
                <a:ea typeface="Courier New"/>
                <a:cs typeface="Courier New"/>
                <a:sym typeface="Courier New"/>
              </a:rPr>
              <a:t> Temperature();</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temp.celsius = </a:t>
            </a:r>
            <a:r>
              <a:rPr lang="en" sz="900" b="0" i="0" u="none" strike="noStrike" cap="none" dirty="0">
                <a:solidFill>
                  <a:srgbClr val="F2B705"/>
                </a:solidFill>
                <a:latin typeface="Courier New"/>
                <a:ea typeface="Courier New"/>
                <a:cs typeface="Courier New"/>
                <a:sym typeface="Courier New"/>
              </a:rPr>
              <a:t>25</a:t>
            </a:r>
            <a:r>
              <a:rPr lang="en" sz="900" b="0" i="0" u="none" strike="noStrike" cap="none" dirty="0">
                <a:solidFill>
                  <a:srgbClr val="E6ECF7"/>
                </a:solidFill>
                <a:latin typeface="Courier New"/>
                <a:ea typeface="Courier New"/>
                <a:cs typeface="Courier New"/>
                <a:sym typeface="Courier New"/>
              </a:rPr>
              <a:t>;         </a:t>
            </a:r>
            <a:r>
              <a:rPr lang="en" sz="900" b="0" i="1" u="none" strike="noStrike" cap="none" dirty="0">
                <a:solidFill>
                  <a:srgbClr val="8FA3C4"/>
                </a:solidFill>
                <a:latin typeface="Courier New"/>
                <a:ea typeface="Courier New"/>
                <a:cs typeface="Courier New"/>
                <a:sym typeface="Courier New"/>
              </a:rPr>
              <a:t>// setter</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console.log(temp.celsius); </a:t>
            </a:r>
            <a:r>
              <a:rPr lang="en" sz="900" b="0" i="1" u="none" strike="noStrike" cap="none" dirty="0">
                <a:solidFill>
                  <a:srgbClr val="8FA3C4"/>
                </a:solidFill>
                <a:latin typeface="Courier New"/>
                <a:ea typeface="Courier New"/>
                <a:cs typeface="Courier New"/>
                <a:sym typeface="Courier New"/>
              </a:rPr>
              <a:t>// getter: 25</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Temperature.fromFahrenheit(</a:t>
            </a:r>
            <a:r>
              <a:rPr lang="en" sz="900" b="0" i="0" u="none" strike="noStrike" cap="none" dirty="0">
                <a:solidFill>
                  <a:srgbClr val="F2B705"/>
                </a:solidFill>
                <a:latin typeface="Courier New"/>
                <a:ea typeface="Courier New"/>
                <a:cs typeface="Courier New"/>
                <a:sym typeface="Courier New"/>
              </a:rPr>
              <a:t>212</a:t>
            </a:r>
            <a:r>
              <a:rPr lang="en" sz="900" b="0" i="0" u="none" strike="noStrike" cap="none" dirty="0">
                <a:solidFill>
                  <a:srgbClr val="E6ECF7"/>
                </a:solidFill>
                <a:latin typeface="Courier New"/>
                <a:ea typeface="Courier New"/>
                <a:cs typeface="Courier New"/>
                <a:sym typeface="Courier New"/>
              </a:rPr>
              <a:t>); </a:t>
            </a:r>
            <a:r>
              <a:rPr lang="en" sz="900" b="0" i="1" u="none" strike="noStrike" cap="none" dirty="0">
                <a:solidFill>
                  <a:srgbClr val="8FA3C4"/>
                </a:solidFill>
                <a:latin typeface="Courier New"/>
                <a:ea typeface="Courier New"/>
                <a:cs typeface="Courier New"/>
                <a:sym typeface="Courier New"/>
              </a:rPr>
              <a:t>// static</a:t>
            </a:r>
            <a:endParaRPr lang="en" sz="900" b="0" i="0" u="none" strike="noStrike" cap="none" dirty="0">
              <a:solidFill>
                <a:srgbClr val="000000"/>
              </a:solidFill>
              <a:latin typeface="Roboto"/>
              <a:ea typeface="Roboto"/>
              <a:cs typeface="Roboto"/>
              <a:sym typeface="Roboto"/>
            </a:endParaRP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grpSpPr/>
      <p:pic>
        <p:nvPicPr>
          <p:cNvPr id="110" name="Google Shape;110;p15" title="Untitled-1-07.png"/>
          <p:cNvPicPr preferRelativeResize="0"/>
          <p:nvPr/>
        </p:nvPicPr>
        <p:blipFill rotWithShape="1">
          <a:blip r:embed="rId2">
            <a:alphaModFix/>
          </a:blip>
          <a:srcRect l="5100" r="4630" b="15895"/>
          <a:stretch/>
        </p:blipFill>
        <p:spPr>
          <a:xfrm>
            <a:off x="880549" y="4348257"/>
            <a:ext cx="2096958" cy="548700"/>
          </a:xfrm>
          <a:prstGeom prst="rect">
            <a:avLst/>
          </a:prstGeom>
          <a:noFill/>
          <a:ln>
            <a:noFill/>
          </a:ln>
        </p:spPr>
      </p:pic>
      <p:pic>
        <p:nvPicPr>
          <p:cNvPr id="111" name="Google Shape;111;p15" title="powerd by.png"/>
          <p:cNvPicPr preferRelativeResize="0"/>
          <p:nvPr/>
        </p:nvPicPr>
        <p:blipFill rotWithShape="1">
          <a:blip r:embed="rId5">
            <a:alphaModFix/>
          </a:blip>
          <a:srcRect l="6981" t="44048" r="6714" b="14302"/>
          <a:stretch/>
        </p:blipFill>
        <p:spPr>
          <a:xfrm>
            <a:off x="3537800" y="4500588"/>
            <a:ext cx="2130125" cy="355975"/>
          </a:xfrm>
          <a:prstGeom prst="rect">
            <a:avLst/>
          </a:prstGeom>
          <a:noFill/>
          <a:ln>
            <a:noFill/>
          </a:ln>
        </p:spPr>
      </p:pic>
      <p:sp>
        <p:nvSpPr>
          <p:cNvPr id="112" name="Google Shape;112;p15"/>
          <p:cNvSpPr txBox="1"/>
          <p:nvPr/>
        </p:nvSpPr>
        <p:spPr>
          <a:xfrm>
            <a:off x="5998012" y="4596047"/>
            <a:ext cx="2436900" cy="253800"/>
          </a:xfrm>
          <a:prstGeom prst="rect">
            <a:avLst/>
          </a:prstGeom>
          <a:noFill/>
          <a:ln>
            <a:noFill/>
          </a:ln>
        </p:spPr>
        <p:txBody>
          <a:bodyPr spcFirstLastPara="1" wrap="non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0053A1"/>
                </a:solidFill>
                <a:latin typeface="Roboto"/>
                <a:ea typeface="Roboto"/>
                <a:cs typeface="Roboto"/>
                <a:sym typeface="Roboto"/>
              </a:rPr>
              <a:t>www.</a:t>
            </a:r>
            <a:r>
              <a:rPr lang="en" sz="1200" b="1">
                <a:solidFill>
                  <a:srgbClr val="0053A1"/>
                </a:solidFill>
                <a:latin typeface="Roboto"/>
                <a:ea typeface="Roboto"/>
                <a:cs typeface="Roboto"/>
                <a:sym typeface="Roboto"/>
              </a:rPr>
              <a:t>careercraftacademy.com</a:t>
            </a:r>
            <a:endParaRPr sz="1200" b="1" i="0" u="none" strike="noStrike" cap="none">
              <a:solidFill>
                <a:srgbClr val="0053A1"/>
              </a:solidFill>
              <a:latin typeface="Roboto"/>
              <a:ea typeface="Roboto"/>
              <a:cs typeface="Roboto"/>
              <a:sym typeface="Roboto"/>
            </a:endParaRPr>
          </a:p>
        </p:txBody>
      </p:sp>
      <p:pic>
        <p:nvPicPr>
          <p:cNvPr id="114" name="Google Shape;114;p15"/>
          <p:cNvPicPr preferRelativeResize="0"/>
          <p:nvPr/>
        </p:nvPicPr>
        <p:blipFill>
          <a:blip r:embed="rId4">
            <a:alphaModFix/>
          </a:blip>
          <a:stretch>
            <a:fillRect/>
          </a:stretch>
        </p:blipFill>
        <p:spPr>
          <a:xfrm>
            <a:off x="8447868" y="4368945"/>
            <a:ext cx="334175" cy="480903"/>
          </a:xfrm>
          <a:prstGeom prst="rect">
            <a:avLst/>
          </a:prstGeom>
          <a:noFill/>
          <a:ln>
            <a:noFill/>
          </a:ln>
        </p:spPr>
      </p:pic>
      <p:sp>
        <p:nvSpPr>
          <p:cNvPr id="520" name="Kicker"/>
          <p:cNvSpPr txBox="1"/>
          <p:nvPr/>
        </p:nvSpPr>
        <p:spPr>
          <a:xfrm>
            <a:off x="675600" y="285000"/>
            <a:ext cx="3560000" cy="241200"/>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1003" b="0" i="0" u="none" strike="noStrike" cap="none" dirty="0">
                <a:solidFill>
                  <a:srgbClr val="7F7F7F"/>
                </a:solidFill>
                <a:latin typeface="Roboto"/>
                <a:ea typeface="Roboto"/>
                <a:cs typeface="Roboto"/>
                <a:sym typeface="Roboto"/>
              </a:rPr>
              <a:t>Interfaces and Types</a:t>
            </a:r>
            <a:endParaRPr lang="en" sz="1003" b="0" i="0" u="none" strike="noStrike" cap="none" dirty="0">
              <a:solidFill>
                <a:srgbClr val="000000"/>
              </a:solidFill>
              <a:latin typeface="Roboto"/>
              <a:ea typeface="Roboto"/>
              <a:cs typeface="Roboto"/>
              <a:sym typeface="Roboto"/>
            </a:endParaRPr>
          </a:p>
        </p:txBody>
      </p:sp>
      <p:sp>
        <p:nvSpPr>
          <p:cNvPr id="521" name="Title"/>
          <p:cNvSpPr txBox="1"/>
          <p:nvPr/>
        </p:nvSpPr>
        <p:spPr>
          <a:xfrm>
            <a:off x="675600" y="520000"/>
            <a:ext cx="3560000" cy="763948"/>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2200" b="1" i="0" u="none" strike="noStrike" cap="none" dirty="0">
                <a:solidFill>
                  <a:srgbClr val="0053A1"/>
                </a:solidFill>
                <a:latin typeface="Poppins SemiBold"/>
                <a:ea typeface="Poppins SemiBold"/>
                <a:cs typeface="Poppins SemiBold"/>
                <a:sym typeface="Poppins SemiBold"/>
              </a:rPr>
              <a:t>Introduction</a:t>
            </a:r>
            <a:endParaRPr lang="en" sz="2200" b="0" i="0" u="none" strike="noStrike" cap="none" dirty="0">
              <a:solidFill>
                <a:srgbClr val="000000"/>
              </a:solidFill>
              <a:latin typeface="Roboto"/>
              <a:ea typeface="Roboto"/>
              <a:cs typeface="Roboto"/>
              <a:sym typeface="Roboto"/>
            </a:endParaRPr>
          </a:p>
          <a:p>
            <a:pPr marL="0" marR="0" lvl="0" indent="0" algn="l" rtl="0">
              <a:lnSpc>
                <a:spcPct val="100000"/>
              </a:lnSpc>
              <a:spcBef>
                <a:spcPts val="0"/>
              </a:spcBef>
              <a:spcAft>
                <a:spcPts val="0"/>
              </a:spcAft>
              <a:buNone/>
            </a:pPr>
            <a:r>
              <a:rPr lang="en" sz="2200" b="1" i="0" u="none" strike="noStrike" cap="none" dirty="0">
                <a:solidFill>
                  <a:srgbClr val="000000"/>
                </a:solidFill>
                <a:latin typeface="Poppins SemiBold"/>
                <a:ea typeface="Poppins SemiBold"/>
                <a:cs typeface="Poppins SemiBold"/>
                <a:sym typeface="Poppins SemiBold"/>
              </a:rPr>
              <a:t>to Interfaces</a:t>
            </a:r>
            <a:endParaRPr lang="en" sz="2200" b="0" i="0" u="none" strike="noStrike" cap="none" dirty="0">
              <a:solidFill>
                <a:srgbClr val="000000"/>
              </a:solidFill>
              <a:latin typeface="Roboto"/>
              <a:ea typeface="Roboto"/>
              <a:cs typeface="Roboto"/>
              <a:sym typeface="Roboto"/>
            </a:endParaRPr>
          </a:p>
        </p:txBody>
      </p:sp>
      <p:sp>
        <p:nvSpPr>
          <p:cNvPr id="522" name="Body"/>
          <p:cNvSpPr txBox="1"/>
          <p:nvPr/>
        </p:nvSpPr>
        <p:spPr>
          <a:xfrm>
            <a:off x="620000" y="1383000"/>
            <a:ext cx="3560000" cy="1612540"/>
          </a:xfrm>
          <a:prstGeom prst="rect">
            <a:avLst/>
          </a:prstGeom>
          <a:noFill/>
        </p:spPr>
        <p:txBody>
          <a:bodyPr spcFirstLastPara="1" wrap="square" lIns="86025" tIns="43000" rIns="86025" bIns="43000" anchor="t" anchorCtr="0">
            <a:noAutofit/>
          </a:bodyPr>
          <a:lstStyle/>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An </a:t>
            </a:r>
            <a:r>
              <a:rPr lang="en" sz="1100" b="1" i="0" u="none" strike="noStrike" cap="none" dirty="0">
                <a:solidFill>
                  <a:schemeClr val="tx1"/>
                </a:solidFill>
                <a:latin typeface="Roboto"/>
                <a:ea typeface="Roboto"/>
                <a:cs typeface="Roboto"/>
                <a:sym typeface="Roboto"/>
              </a:rPr>
              <a:t>interface</a:t>
            </a:r>
            <a:r>
              <a:rPr lang="en" sz="1100" b="0" i="0" u="none" strike="noStrike" cap="none" dirty="0">
                <a:solidFill>
                  <a:schemeClr val="tx1"/>
                </a:solidFill>
                <a:latin typeface="Roboto"/>
                <a:ea typeface="Roboto"/>
                <a:cs typeface="Roboto"/>
                <a:sym typeface="Roboto"/>
              </a:rPr>
              <a:t> is a contract for an object's shape</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Lists required properties and methods</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Exists </a:t>
            </a:r>
            <a:r>
              <a:rPr lang="en" sz="1100" b="1" i="0" u="none" strike="noStrike" cap="none" dirty="0">
                <a:solidFill>
                  <a:schemeClr val="tx1"/>
                </a:solidFill>
                <a:latin typeface="Roboto"/>
                <a:ea typeface="Roboto"/>
                <a:cs typeface="Roboto"/>
                <a:sym typeface="Roboto"/>
              </a:rPr>
              <a:t>only at compile time</a:t>
            </a:r>
            <a:r>
              <a:rPr lang="en" sz="1100" b="0" i="0" u="none" strike="noStrike" cap="none" dirty="0">
                <a:solidFill>
                  <a:schemeClr val="tx1"/>
                </a:solidFill>
                <a:latin typeface="Roboto"/>
                <a:ea typeface="Roboto"/>
                <a:cs typeface="Roboto"/>
                <a:sym typeface="Roboto"/>
              </a:rPr>
              <a:t> - no JS output</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Any object with the right shape fits (structural typing)</a:t>
            </a:r>
            <a:endParaRPr lang="en" sz="1100" b="0" i="0" u="none" strike="noStrike" cap="none" dirty="0">
              <a:solidFill>
                <a:srgbClr val="000000"/>
              </a:solidFill>
              <a:latin typeface="Roboto"/>
              <a:ea typeface="Roboto"/>
              <a:cs typeface="Roboto"/>
              <a:sym typeface="Roboto"/>
            </a:endParaRPr>
          </a:p>
        </p:txBody>
      </p:sp>
      <p:sp>
        <p:nvSpPr>
          <p:cNvPr id="523" name="Code panel"/>
          <p:cNvSpPr/>
          <p:nvPr/>
        </p:nvSpPr>
        <p:spPr>
          <a:xfrm>
            <a:off x="4300000" y="500000"/>
            <a:ext cx="4350000" cy="2581992"/>
          </a:xfrm>
          <a:prstGeom prst="roundRect">
            <a:avLst>
              <a:gd name="adj" fmla="val 3500"/>
            </a:avLst>
          </a:prstGeom>
          <a:solidFill>
            <a:srgbClr val="0E2455"/>
          </a:solidFill>
          <a:ln>
            <a:noFill/>
          </a:ln>
          <a:effectLst>
            <a:outerShdw blurRad="63500" dist="25400" dir="5400000" algn="t" rotWithShape="0">
              <a:srgbClr val="000000">
                <a:alpha val="22000"/>
              </a:srgbClr>
            </a:outerShdw>
          </a:effectLst>
        </p:spPr>
        <p:txBody>
          <a:bodyPr rtlCol="0" anchor="ctr"/>
          <a:lstStyle/>
          <a:p>
            <a:pPr algn="ctr"/>
          </a:p>
        </p:txBody>
      </p:sp>
      <p:sp>
        <p:nvSpPr>
          <p:cNvPr id="524" name="Dot 1"/>
          <p:cNvSpPr/>
          <p:nvPr/>
        </p:nvSpPr>
        <p:spPr>
          <a:xfrm>
            <a:off x="4420000" y="605000"/>
            <a:ext cx="70000" cy="70000"/>
          </a:xfrm>
          <a:prstGeom prst="ellipse">
            <a:avLst/>
          </a:prstGeom>
          <a:solidFill>
            <a:srgbClr val="C00000"/>
          </a:solidFill>
          <a:ln>
            <a:noFill/>
          </a:ln>
        </p:spPr>
        <p:txBody>
          <a:bodyPr rtlCol="0" anchor="ctr"/>
          <a:lstStyle/>
          <a:p>
            <a:pPr algn="ctr"/>
          </a:p>
        </p:txBody>
      </p:sp>
      <p:sp>
        <p:nvSpPr>
          <p:cNvPr id="525" name="Dot 2"/>
          <p:cNvSpPr/>
          <p:nvPr/>
        </p:nvSpPr>
        <p:spPr>
          <a:xfrm>
            <a:off x="4550000" y="605000"/>
            <a:ext cx="70000" cy="70000"/>
          </a:xfrm>
          <a:prstGeom prst="ellipse">
            <a:avLst/>
          </a:prstGeom>
          <a:solidFill>
            <a:srgbClr val="F2B705"/>
          </a:solidFill>
          <a:ln>
            <a:noFill/>
          </a:ln>
        </p:spPr>
        <p:txBody>
          <a:bodyPr rtlCol="0" anchor="ctr"/>
          <a:lstStyle/>
          <a:p>
            <a:pPr algn="ctr"/>
          </a:p>
        </p:txBody>
      </p:sp>
      <p:sp>
        <p:nvSpPr>
          <p:cNvPr id="526" name="Dot 3"/>
          <p:cNvSpPr/>
          <p:nvPr/>
        </p:nvSpPr>
        <p:spPr>
          <a:xfrm>
            <a:off x="4680000" y="605000"/>
            <a:ext cx="70000" cy="70000"/>
          </a:xfrm>
          <a:prstGeom prst="ellipse">
            <a:avLst/>
          </a:prstGeom>
          <a:solidFill>
            <a:srgbClr val="3DAE5C"/>
          </a:solidFill>
          <a:ln>
            <a:noFill/>
          </a:ln>
        </p:spPr>
        <p:txBody>
          <a:bodyPr rtlCol="0" anchor="ctr"/>
          <a:lstStyle/>
          <a:p>
            <a:pPr algn="ctr"/>
          </a:p>
        </p:txBody>
      </p:sp>
      <p:sp>
        <p:nvSpPr>
          <p:cNvPr id="527" name="Code label"/>
          <p:cNvSpPr txBox="1"/>
          <p:nvPr/>
        </p:nvSpPr>
        <p:spPr>
          <a:xfrm>
            <a:off x="7650000" y="555000"/>
            <a:ext cx="900000" cy="170000"/>
          </a:xfrm>
          <a:prstGeom prst="rect">
            <a:avLst/>
          </a:prstGeom>
          <a:noFill/>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800" b="1" i="0" u="none" strike="noStrike" cap="none" dirty="0">
                <a:solidFill>
                  <a:srgbClr val="8FA3C4"/>
                </a:solidFill>
                <a:latin typeface="Roboto"/>
                <a:ea typeface="Roboto"/>
                <a:cs typeface="Roboto"/>
                <a:sym typeface="Roboto"/>
              </a:rPr>
              <a:t>TS</a:t>
            </a:r>
            <a:endParaRPr lang="en" sz="800" b="0" i="0" u="none" strike="noStrike" cap="none" dirty="0">
              <a:solidFill>
                <a:srgbClr val="000000"/>
              </a:solidFill>
              <a:latin typeface="Roboto"/>
              <a:ea typeface="Roboto"/>
              <a:cs typeface="Roboto"/>
              <a:sym typeface="Roboto"/>
            </a:endParaRPr>
          </a:p>
        </p:txBody>
      </p:sp>
      <p:sp>
        <p:nvSpPr>
          <p:cNvPr id="528" name="Code"/>
          <p:cNvSpPr txBox="1"/>
          <p:nvPr/>
        </p:nvSpPr>
        <p:spPr>
          <a:xfrm>
            <a:off x="4360000" y="750000"/>
            <a:ext cx="4230000" cy="2301992"/>
          </a:xfrm>
          <a:prstGeom prst="rect">
            <a:avLst/>
          </a:prstGeom>
          <a:noFill/>
        </p:spPr>
        <p:txBody>
          <a:bodyPr spcFirstLastPara="1" wrap="square" lIns="86025" tIns="0" rIns="60000" bIns="0" anchor="t" anchorCtr="0">
            <a:noAutofit/>
          </a:bodyPr>
          <a:lstStyle/>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interface Person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name: string;</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age: number;</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8CC4FF"/>
                </a:solidFill>
                <a:latin typeface="Courier New"/>
                <a:ea typeface="Courier New"/>
                <a:cs typeface="Courier New"/>
                <a:sym typeface="Courier New"/>
              </a:rPr>
              <a:t>function</a:t>
            </a:r>
            <a:r>
              <a:rPr lang="en" sz="900" b="0" i="0" u="none" strike="noStrike" cap="none" dirty="0">
                <a:solidFill>
                  <a:srgbClr val="E6ECF7"/>
                </a:solidFill>
                <a:latin typeface="Courier New"/>
                <a:ea typeface="Courier New"/>
                <a:cs typeface="Courier New"/>
                <a:sym typeface="Courier New"/>
              </a:rPr>
              <a:t> introduce(person: Person): string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8CC4FF"/>
                </a:solidFill>
                <a:latin typeface="Courier New"/>
                <a:ea typeface="Courier New"/>
                <a:cs typeface="Courier New"/>
                <a:sym typeface="Courier New"/>
              </a:rPr>
              <a:t>return</a:t>
            </a: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FFC878"/>
                </a:solidFill>
                <a:latin typeface="Courier New"/>
                <a:ea typeface="Courier New"/>
                <a:cs typeface="Courier New"/>
                <a:sym typeface="Courier New"/>
              </a:rPr>
              <a:t>`Hi, I'm ${person.name} (${person.age}).`</a:t>
            </a: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1" u="none" strike="noStrike" cap="none" dirty="0">
                <a:solidFill>
                  <a:srgbClr val="8FA3C4"/>
                </a:solidFill>
                <a:latin typeface="Courier New"/>
                <a:ea typeface="Courier New"/>
                <a:cs typeface="Courier New"/>
                <a:sym typeface="Courier New"/>
              </a:rPr>
              <a:t>// OK</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introduce({ name: </a:t>
            </a:r>
            <a:r>
              <a:rPr lang="en" sz="900" b="0" i="0" u="none" strike="noStrike" cap="none" dirty="0">
                <a:solidFill>
                  <a:srgbClr val="FFC878"/>
                </a:solidFill>
                <a:latin typeface="Courier New"/>
                <a:ea typeface="Courier New"/>
                <a:cs typeface="Courier New"/>
                <a:sym typeface="Courier New"/>
              </a:rPr>
              <a:t>"Alice"</a:t>
            </a:r>
            <a:r>
              <a:rPr lang="en" sz="900" b="0" i="0" u="none" strike="noStrike" cap="none" dirty="0">
                <a:solidFill>
                  <a:srgbClr val="E6ECF7"/>
                </a:solidFill>
                <a:latin typeface="Courier New"/>
                <a:ea typeface="Courier New"/>
                <a:cs typeface="Courier New"/>
                <a:sym typeface="Courier New"/>
              </a:rPr>
              <a:t>, age: </a:t>
            </a:r>
            <a:r>
              <a:rPr lang="en" sz="900" b="0" i="0" u="none" strike="noStrike" cap="none" dirty="0">
                <a:solidFill>
                  <a:srgbClr val="F2B705"/>
                </a:solidFill>
                <a:latin typeface="Courier New"/>
                <a:ea typeface="Courier New"/>
                <a:cs typeface="Courier New"/>
                <a:sym typeface="Courier New"/>
              </a:rPr>
              <a:t>30</a:t>
            </a: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1" u="none" strike="noStrike" cap="none" dirty="0">
                <a:solidFill>
                  <a:srgbClr val="8FA3C4"/>
                </a:solidFill>
                <a:latin typeface="Courier New"/>
                <a:ea typeface="Courier New"/>
                <a:cs typeface="Courier New"/>
                <a:sym typeface="Courier New"/>
              </a:rPr>
              <a:t>// Error: 'age' is missing</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introduce({ name: </a:t>
            </a:r>
            <a:r>
              <a:rPr lang="en" sz="900" b="0" i="0" u="none" strike="noStrike" cap="none" dirty="0">
                <a:solidFill>
                  <a:srgbClr val="FFC878"/>
                </a:solidFill>
                <a:latin typeface="Courier New"/>
                <a:ea typeface="Courier New"/>
                <a:cs typeface="Courier New"/>
                <a:sym typeface="Courier New"/>
              </a:rPr>
              <a:t>"Bob"</a:t>
            </a: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1" u="none" strike="noStrike" cap="none" dirty="0">
                <a:solidFill>
                  <a:srgbClr val="8FA3C4"/>
                </a:solidFill>
                <a:latin typeface="Courier New"/>
                <a:ea typeface="Courier New"/>
                <a:cs typeface="Courier New"/>
                <a:sym typeface="Courier New"/>
              </a:rPr>
              <a:t>// Error: extra property 'city'</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introduce({ name: </a:t>
            </a:r>
            <a:r>
              <a:rPr lang="en" sz="900" b="0" i="0" u="none" strike="noStrike" cap="none" dirty="0">
                <a:solidFill>
                  <a:srgbClr val="FFC878"/>
                </a:solidFill>
                <a:latin typeface="Courier New"/>
                <a:ea typeface="Courier New"/>
                <a:cs typeface="Courier New"/>
                <a:sym typeface="Courier New"/>
              </a:rPr>
              <a:t>"Eve"</a:t>
            </a:r>
            <a:r>
              <a:rPr lang="en" sz="900" b="0" i="0" u="none" strike="noStrike" cap="none" dirty="0">
                <a:solidFill>
                  <a:srgbClr val="E6ECF7"/>
                </a:solidFill>
                <a:latin typeface="Courier New"/>
                <a:ea typeface="Courier New"/>
                <a:cs typeface="Courier New"/>
                <a:sym typeface="Courier New"/>
              </a:rPr>
              <a:t>, age: </a:t>
            </a:r>
            <a:r>
              <a:rPr lang="en" sz="900" b="0" i="0" u="none" strike="noStrike" cap="none" dirty="0">
                <a:solidFill>
                  <a:srgbClr val="F2B705"/>
                </a:solidFill>
                <a:latin typeface="Courier New"/>
                <a:ea typeface="Courier New"/>
                <a:cs typeface="Courier New"/>
                <a:sym typeface="Courier New"/>
              </a:rPr>
              <a:t>22</a:t>
            </a:r>
            <a:r>
              <a:rPr lang="en" sz="900" b="0" i="0" u="none" strike="noStrike" cap="none" dirty="0">
                <a:solidFill>
                  <a:srgbClr val="E6ECF7"/>
                </a:solidFill>
                <a:latin typeface="Courier New"/>
                <a:ea typeface="Courier New"/>
                <a:cs typeface="Courier New"/>
                <a:sym typeface="Courier New"/>
              </a:rPr>
              <a:t>, city: </a:t>
            </a:r>
            <a:r>
              <a:rPr lang="en" sz="900" b="0" i="0" u="none" strike="noStrike" cap="none" dirty="0">
                <a:solidFill>
                  <a:srgbClr val="FFC878"/>
                </a:solidFill>
                <a:latin typeface="Courier New"/>
                <a:ea typeface="Courier New"/>
                <a:cs typeface="Courier New"/>
                <a:sym typeface="Courier New"/>
              </a:rPr>
              <a:t>"NY"</a:t>
            </a: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grpSpPr/>
      <p:pic>
        <p:nvPicPr>
          <p:cNvPr id="110" name="Google Shape;110;p15" title="Untitled-1-07.png"/>
          <p:cNvPicPr preferRelativeResize="0"/>
          <p:nvPr/>
        </p:nvPicPr>
        <p:blipFill rotWithShape="1">
          <a:blip r:embed="rId2">
            <a:alphaModFix/>
          </a:blip>
          <a:srcRect l="5100" r="4630" b="15895"/>
          <a:stretch/>
        </p:blipFill>
        <p:spPr>
          <a:xfrm>
            <a:off x="880549" y="4348257"/>
            <a:ext cx="2096958" cy="548700"/>
          </a:xfrm>
          <a:prstGeom prst="rect">
            <a:avLst/>
          </a:prstGeom>
          <a:noFill/>
          <a:ln>
            <a:noFill/>
          </a:ln>
        </p:spPr>
      </p:pic>
      <p:pic>
        <p:nvPicPr>
          <p:cNvPr id="111" name="Google Shape;111;p15" title="powerd by.png"/>
          <p:cNvPicPr preferRelativeResize="0"/>
          <p:nvPr/>
        </p:nvPicPr>
        <p:blipFill rotWithShape="1">
          <a:blip r:embed="rId5">
            <a:alphaModFix/>
          </a:blip>
          <a:srcRect l="6981" t="44048" r="6714" b="14302"/>
          <a:stretch/>
        </p:blipFill>
        <p:spPr>
          <a:xfrm>
            <a:off x="3537800" y="4500588"/>
            <a:ext cx="2130125" cy="355975"/>
          </a:xfrm>
          <a:prstGeom prst="rect">
            <a:avLst/>
          </a:prstGeom>
          <a:noFill/>
          <a:ln>
            <a:noFill/>
          </a:ln>
        </p:spPr>
      </p:pic>
      <p:sp>
        <p:nvSpPr>
          <p:cNvPr id="112" name="Google Shape;112;p15"/>
          <p:cNvSpPr txBox="1"/>
          <p:nvPr/>
        </p:nvSpPr>
        <p:spPr>
          <a:xfrm>
            <a:off x="5998012" y="4596047"/>
            <a:ext cx="2436900" cy="253800"/>
          </a:xfrm>
          <a:prstGeom prst="rect">
            <a:avLst/>
          </a:prstGeom>
          <a:noFill/>
          <a:ln>
            <a:noFill/>
          </a:ln>
        </p:spPr>
        <p:txBody>
          <a:bodyPr spcFirstLastPara="1" wrap="non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0053A1"/>
                </a:solidFill>
                <a:latin typeface="Roboto"/>
                <a:ea typeface="Roboto"/>
                <a:cs typeface="Roboto"/>
                <a:sym typeface="Roboto"/>
              </a:rPr>
              <a:t>www.</a:t>
            </a:r>
            <a:r>
              <a:rPr lang="en" sz="1200" b="1">
                <a:solidFill>
                  <a:srgbClr val="0053A1"/>
                </a:solidFill>
                <a:latin typeface="Roboto"/>
                <a:ea typeface="Roboto"/>
                <a:cs typeface="Roboto"/>
                <a:sym typeface="Roboto"/>
              </a:rPr>
              <a:t>careercraftacademy.com</a:t>
            </a:r>
            <a:endParaRPr sz="1200" b="1" i="0" u="none" strike="noStrike" cap="none">
              <a:solidFill>
                <a:srgbClr val="0053A1"/>
              </a:solidFill>
              <a:latin typeface="Roboto"/>
              <a:ea typeface="Roboto"/>
              <a:cs typeface="Roboto"/>
              <a:sym typeface="Roboto"/>
            </a:endParaRPr>
          </a:p>
        </p:txBody>
      </p:sp>
      <p:pic>
        <p:nvPicPr>
          <p:cNvPr id="114" name="Google Shape;114;p15"/>
          <p:cNvPicPr preferRelativeResize="0"/>
          <p:nvPr/>
        </p:nvPicPr>
        <p:blipFill>
          <a:blip r:embed="rId4">
            <a:alphaModFix/>
          </a:blip>
          <a:stretch>
            <a:fillRect/>
          </a:stretch>
        </p:blipFill>
        <p:spPr>
          <a:xfrm>
            <a:off x="8447868" y="4368945"/>
            <a:ext cx="334175" cy="480903"/>
          </a:xfrm>
          <a:prstGeom prst="rect">
            <a:avLst/>
          </a:prstGeom>
          <a:noFill/>
          <a:ln>
            <a:noFill/>
          </a:ln>
        </p:spPr>
      </p:pic>
      <p:sp>
        <p:nvSpPr>
          <p:cNvPr id="529" name="Kicker"/>
          <p:cNvSpPr txBox="1"/>
          <p:nvPr/>
        </p:nvSpPr>
        <p:spPr>
          <a:xfrm>
            <a:off x="675600" y="285000"/>
            <a:ext cx="3560000" cy="241200"/>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1003" b="0" i="0" u="none" strike="noStrike" cap="none" dirty="0">
                <a:solidFill>
                  <a:srgbClr val="7F7F7F"/>
                </a:solidFill>
                <a:latin typeface="Roboto"/>
                <a:ea typeface="Roboto"/>
                <a:cs typeface="Roboto"/>
                <a:sym typeface="Roboto"/>
              </a:rPr>
              <a:t>Interfaces and Types</a:t>
            </a:r>
            <a:endParaRPr lang="en" sz="1003" b="0" i="0" u="none" strike="noStrike" cap="none" dirty="0">
              <a:solidFill>
                <a:srgbClr val="000000"/>
              </a:solidFill>
              <a:latin typeface="Roboto"/>
              <a:ea typeface="Roboto"/>
              <a:cs typeface="Roboto"/>
              <a:sym typeface="Roboto"/>
            </a:endParaRPr>
          </a:p>
        </p:txBody>
      </p:sp>
      <p:sp>
        <p:nvSpPr>
          <p:cNvPr id="530" name="Title"/>
          <p:cNvSpPr txBox="1"/>
          <p:nvPr/>
        </p:nvSpPr>
        <p:spPr>
          <a:xfrm>
            <a:off x="675600" y="520000"/>
            <a:ext cx="3560000" cy="763948"/>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2200" b="1" i="0" u="none" strike="noStrike" cap="none" dirty="0">
                <a:solidFill>
                  <a:srgbClr val="0053A1"/>
                </a:solidFill>
                <a:latin typeface="Poppins SemiBold"/>
                <a:ea typeface="Poppins SemiBold"/>
                <a:cs typeface="Poppins SemiBold"/>
                <a:sym typeface="Poppins SemiBold"/>
              </a:rPr>
              <a:t>Optional, Readonly</a:t>
            </a:r>
            <a:endParaRPr lang="en" sz="2200" b="0" i="0" u="none" strike="noStrike" cap="none" dirty="0">
              <a:solidFill>
                <a:srgbClr val="000000"/>
              </a:solidFill>
              <a:latin typeface="Roboto"/>
              <a:ea typeface="Roboto"/>
              <a:cs typeface="Roboto"/>
              <a:sym typeface="Roboto"/>
            </a:endParaRPr>
          </a:p>
          <a:p>
            <a:pPr marL="0" marR="0" lvl="0" indent="0" algn="l" rtl="0">
              <a:lnSpc>
                <a:spcPct val="100000"/>
              </a:lnSpc>
              <a:spcBef>
                <a:spcPts val="0"/>
              </a:spcBef>
              <a:spcAft>
                <a:spcPts val="0"/>
              </a:spcAft>
              <a:buNone/>
            </a:pPr>
            <a:r>
              <a:rPr lang="en" sz="2200" b="1" i="0" u="none" strike="noStrike" cap="none" dirty="0">
                <a:solidFill>
                  <a:srgbClr val="000000"/>
                </a:solidFill>
                <a:latin typeface="Poppins SemiBold"/>
                <a:ea typeface="Poppins SemiBold"/>
                <a:cs typeface="Poppins SemiBold"/>
                <a:sym typeface="Poppins SemiBold"/>
              </a:rPr>
              <a:t>and Extending</a:t>
            </a:r>
            <a:endParaRPr lang="en" sz="2200" b="0" i="0" u="none" strike="noStrike" cap="none" dirty="0">
              <a:solidFill>
                <a:srgbClr val="000000"/>
              </a:solidFill>
              <a:latin typeface="Roboto"/>
              <a:ea typeface="Roboto"/>
              <a:cs typeface="Roboto"/>
              <a:sym typeface="Roboto"/>
            </a:endParaRPr>
          </a:p>
        </p:txBody>
      </p:sp>
      <p:sp>
        <p:nvSpPr>
          <p:cNvPr id="531" name="Body"/>
          <p:cNvSpPr txBox="1"/>
          <p:nvPr/>
        </p:nvSpPr>
        <p:spPr>
          <a:xfrm>
            <a:off x="620000" y="1383000"/>
            <a:ext cx="3560000" cy="1190900"/>
          </a:xfrm>
          <a:prstGeom prst="rect">
            <a:avLst/>
          </a:prstGeom>
          <a:noFill/>
        </p:spPr>
        <p:txBody>
          <a:bodyPr spcFirstLastPara="1" wrap="square" lIns="86025" tIns="43000" rIns="86025" bIns="43000" anchor="t" anchorCtr="0">
            <a:noAutofit/>
          </a:bodyPr>
          <a:lstStyle/>
          <a:p>
            <a:pPr marL="171450" marR="0" lvl="0" indent="-171450" algn="l" rtl="0">
              <a:lnSpc>
                <a:spcPct val="125000"/>
              </a:lnSpc>
              <a:spcBef>
                <a:spcPts val="100"/>
              </a:spcBef>
              <a:spcAft>
                <a:spcPts val="0"/>
              </a:spcAft>
              <a:buClr>
                <a:srgbClr val="000000"/>
              </a:buClr>
              <a:buSzPts val="1100"/>
              <a:buFont typeface="Arial"/>
              <a:buChar char="•"/>
            </a:pPr>
            <a:r>
              <a:rPr lang="en" sz="1100" b="1" i="0" u="none" strike="noStrike" cap="none" dirty="0">
                <a:solidFill>
                  <a:schemeClr val="tx1"/>
                </a:solidFill>
                <a:latin typeface="Roboto"/>
                <a:ea typeface="Roboto"/>
                <a:cs typeface="Roboto"/>
                <a:sym typeface="Roboto"/>
              </a:rPr>
              <a:t>Optional</a:t>
            </a:r>
            <a:r>
              <a:rPr lang="en" sz="1100" b="0" i="0" u="none" strike="noStrike" cap="none" dirty="0">
                <a:solidFill>
                  <a:schemeClr val="tx1"/>
                </a:solidFill>
                <a:latin typeface="Roboto"/>
                <a:ea typeface="Roboto"/>
                <a:cs typeface="Roboto"/>
                <a:sym typeface="Roboto"/>
              </a:rPr>
              <a:t> properties use </a:t>
            </a:r>
            <a:r>
              <a:rPr lang="en" sz="1050" b="1" i="0" u="none" strike="noStrike" cap="none" dirty="0">
                <a:solidFill>
                  <a:srgbClr val="0053A1"/>
                </a:solidFill>
                <a:latin typeface="Courier New"/>
                <a:ea typeface="Courier New"/>
                <a:cs typeface="Courier New"/>
                <a:sym typeface="Courier New"/>
              </a:rPr>
              <a:t>?</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050" b="1" i="0" u="none" strike="noStrike" cap="none" dirty="0">
                <a:solidFill>
                  <a:srgbClr val="0053A1"/>
                </a:solidFill>
                <a:latin typeface="Courier New"/>
                <a:ea typeface="Courier New"/>
                <a:cs typeface="Courier New"/>
                <a:sym typeface="Courier New"/>
              </a:rPr>
              <a:t>readonly</a:t>
            </a:r>
            <a:r>
              <a:rPr lang="en" sz="1100" b="0" i="0" u="none" strike="noStrike" cap="none" dirty="0">
                <a:solidFill>
                  <a:schemeClr val="tx1"/>
                </a:solidFill>
                <a:latin typeface="Roboto"/>
                <a:ea typeface="Roboto"/>
                <a:cs typeface="Roboto"/>
                <a:sym typeface="Roboto"/>
              </a:rPr>
              <a:t> - cannot change after creation</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1" i="0" u="none" strike="noStrike" cap="none" dirty="0">
                <a:solidFill>
                  <a:schemeClr val="tx1"/>
                </a:solidFill>
                <a:latin typeface="Roboto"/>
                <a:ea typeface="Roboto"/>
                <a:cs typeface="Roboto"/>
                <a:sym typeface="Roboto"/>
              </a:rPr>
              <a:t>Method signatures</a:t>
            </a:r>
            <a:r>
              <a:rPr lang="en" sz="1100" b="0" i="0" u="none" strike="noStrike" cap="none" dirty="0">
                <a:solidFill>
                  <a:schemeClr val="tx1"/>
                </a:solidFill>
                <a:latin typeface="Roboto"/>
                <a:ea typeface="Roboto"/>
                <a:cs typeface="Roboto"/>
                <a:sym typeface="Roboto"/>
              </a:rPr>
              <a:t> describe functions</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050" b="1" i="0" u="none" strike="noStrike" cap="none" dirty="0">
                <a:solidFill>
                  <a:srgbClr val="0053A1"/>
                </a:solidFill>
                <a:latin typeface="Courier New"/>
                <a:ea typeface="Courier New"/>
                <a:cs typeface="Courier New"/>
                <a:sym typeface="Courier New"/>
              </a:rPr>
              <a:t>extends</a:t>
            </a:r>
            <a:r>
              <a:rPr lang="en" sz="1100" b="0" i="0" u="none" strike="noStrike" cap="none" dirty="0">
                <a:solidFill>
                  <a:schemeClr val="tx1"/>
                </a:solidFill>
                <a:latin typeface="Roboto"/>
                <a:ea typeface="Roboto"/>
                <a:cs typeface="Roboto"/>
                <a:sym typeface="Roboto"/>
              </a:rPr>
              <a:t> - inherit from one or more interfaces</a:t>
            </a:r>
            <a:endParaRPr lang="en" sz="1100" b="0" i="0" u="none" strike="noStrike" cap="none" dirty="0">
              <a:solidFill>
                <a:srgbClr val="000000"/>
              </a:solidFill>
              <a:latin typeface="Roboto"/>
              <a:ea typeface="Roboto"/>
              <a:cs typeface="Roboto"/>
              <a:sym typeface="Roboto"/>
            </a:endParaRPr>
          </a:p>
        </p:txBody>
      </p:sp>
      <p:sp>
        <p:nvSpPr>
          <p:cNvPr id="532" name="Code panel"/>
          <p:cNvSpPr/>
          <p:nvPr/>
        </p:nvSpPr>
        <p:spPr>
          <a:xfrm>
            <a:off x="4300000" y="500000"/>
            <a:ext cx="4350000" cy="3026390"/>
          </a:xfrm>
          <a:prstGeom prst="roundRect">
            <a:avLst>
              <a:gd name="adj" fmla="val 3500"/>
            </a:avLst>
          </a:prstGeom>
          <a:solidFill>
            <a:srgbClr val="0E2455"/>
          </a:solidFill>
          <a:ln>
            <a:noFill/>
          </a:ln>
          <a:effectLst>
            <a:outerShdw blurRad="63500" dist="25400" dir="5400000" algn="t" rotWithShape="0">
              <a:srgbClr val="000000">
                <a:alpha val="22000"/>
              </a:srgbClr>
            </a:outerShdw>
          </a:effectLst>
        </p:spPr>
        <p:txBody>
          <a:bodyPr rtlCol="0" anchor="ctr"/>
          <a:lstStyle/>
          <a:p>
            <a:pPr algn="ctr"/>
          </a:p>
        </p:txBody>
      </p:sp>
      <p:sp>
        <p:nvSpPr>
          <p:cNvPr id="533" name="Dot 1"/>
          <p:cNvSpPr/>
          <p:nvPr/>
        </p:nvSpPr>
        <p:spPr>
          <a:xfrm>
            <a:off x="4420000" y="605000"/>
            <a:ext cx="70000" cy="70000"/>
          </a:xfrm>
          <a:prstGeom prst="ellipse">
            <a:avLst/>
          </a:prstGeom>
          <a:solidFill>
            <a:srgbClr val="C00000"/>
          </a:solidFill>
          <a:ln>
            <a:noFill/>
          </a:ln>
        </p:spPr>
        <p:txBody>
          <a:bodyPr rtlCol="0" anchor="ctr"/>
          <a:lstStyle/>
          <a:p>
            <a:pPr algn="ctr"/>
          </a:p>
        </p:txBody>
      </p:sp>
      <p:sp>
        <p:nvSpPr>
          <p:cNvPr id="534" name="Dot 2"/>
          <p:cNvSpPr/>
          <p:nvPr/>
        </p:nvSpPr>
        <p:spPr>
          <a:xfrm>
            <a:off x="4550000" y="605000"/>
            <a:ext cx="70000" cy="70000"/>
          </a:xfrm>
          <a:prstGeom prst="ellipse">
            <a:avLst/>
          </a:prstGeom>
          <a:solidFill>
            <a:srgbClr val="F2B705"/>
          </a:solidFill>
          <a:ln>
            <a:noFill/>
          </a:ln>
        </p:spPr>
        <p:txBody>
          <a:bodyPr rtlCol="0" anchor="ctr"/>
          <a:lstStyle/>
          <a:p>
            <a:pPr algn="ctr"/>
          </a:p>
        </p:txBody>
      </p:sp>
      <p:sp>
        <p:nvSpPr>
          <p:cNvPr id="535" name="Dot 3"/>
          <p:cNvSpPr/>
          <p:nvPr/>
        </p:nvSpPr>
        <p:spPr>
          <a:xfrm>
            <a:off x="4680000" y="605000"/>
            <a:ext cx="70000" cy="70000"/>
          </a:xfrm>
          <a:prstGeom prst="ellipse">
            <a:avLst/>
          </a:prstGeom>
          <a:solidFill>
            <a:srgbClr val="3DAE5C"/>
          </a:solidFill>
          <a:ln>
            <a:noFill/>
          </a:ln>
        </p:spPr>
        <p:txBody>
          <a:bodyPr rtlCol="0" anchor="ctr"/>
          <a:lstStyle/>
          <a:p>
            <a:pPr algn="ctr"/>
          </a:p>
        </p:txBody>
      </p:sp>
      <p:sp>
        <p:nvSpPr>
          <p:cNvPr id="536" name="Code label"/>
          <p:cNvSpPr txBox="1"/>
          <p:nvPr/>
        </p:nvSpPr>
        <p:spPr>
          <a:xfrm>
            <a:off x="7650000" y="555000"/>
            <a:ext cx="900000" cy="170000"/>
          </a:xfrm>
          <a:prstGeom prst="rect">
            <a:avLst/>
          </a:prstGeom>
          <a:noFill/>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800" b="1" i="0" u="none" strike="noStrike" cap="none" dirty="0">
                <a:solidFill>
                  <a:srgbClr val="8FA3C4"/>
                </a:solidFill>
                <a:latin typeface="Roboto"/>
                <a:ea typeface="Roboto"/>
                <a:cs typeface="Roboto"/>
                <a:sym typeface="Roboto"/>
              </a:rPr>
              <a:t>TS</a:t>
            </a:r>
            <a:endParaRPr lang="en" sz="800" b="0" i="0" u="none" strike="noStrike" cap="none" dirty="0">
              <a:solidFill>
                <a:srgbClr val="000000"/>
              </a:solidFill>
              <a:latin typeface="Roboto"/>
              <a:ea typeface="Roboto"/>
              <a:cs typeface="Roboto"/>
              <a:sym typeface="Roboto"/>
            </a:endParaRPr>
          </a:p>
        </p:txBody>
      </p:sp>
      <p:sp>
        <p:nvSpPr>
          <p:cNvPr id="537" name="Code"/>
          <p:cNvSpPr txBox="1"/>
          <p:nvPr/>
        </p:nvSpPr>
        <p:spPr>
          <a:xfrm>
            <a:off x="4360000" y="750000"/>
            <a:ext cx="4230000" cy="2746390"/>
          </a:xfrm>
          <a:prstGeom prst="rect">
            <a:avLst/>
          </a:prstGeom>
          <a:noFill/>
        </p:spPr>
        <p:txBody>
          <a:bodyPr spcFirstLastPara="1" wrap="square" lIns="86025" tIns="0" rIns="60000" bIns="0" anchor="t" anchorCtr="0">
            <a:noAutofit/>
          </a:bodyPr>
          <a:lstStyle/>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interface Vehicle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readonly vin: string;</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brand: string;</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year?: number; </a:t>
            </a:r>
            <a:r>
              <a:rPr lang="en" sz="900" b="0" i="1" u="none" strike="noStrike" cap="none" dirty="0">
                <a:solidFill>
                  <a:srgbClr val="8FA3C4"/>
                </a:solidFill>
                <a:latin typeface="Courier New"/>
                <a:ea typeface="Courier New"/>
                <a:cs typeface="Courier New"/>
                <a:sym typeface="Courier New"/>
              </a:rPr>
              <a:t>// optional</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start(): void;</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interface Electric { batteryCapacity: number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interface ElectricCar </a:t>
            </a:r>
            <a:r>
              <a:rPr lang="en" sz="900" b="0" i="0" u="none" strike="noStrike" cap="none" dirty="0">
                <a:solidFill>
                  <a:srgbClr val="8CC4FF"/>
                </a:solidFill>
                <a:latin typeface="Courier New"/>
                <a:ea typeface="Courier New"/>
                <a:cs typeface="Courier New"/>
                <a:sym typeface="Courier New"/>
              </a:rPr>
              <a:t>extends</a:t>
            </a:r>
            <a:r>
              <a:rPr lang="en" sz="900" b="0" i="0" u="none" strike="noStrike" cap="none" dirty="0">
                <a:solidFill>
                  <a:srgbClr val="E6ECF7"/>
                </a:solidFill>
                <a:latin typeface="Courier New"/>
                <a:ea typeface="Courier New"/>
                <a:cs typeface="Courier New"/>
                <a:sym typeface="Courier New"/>
              </a:rPr>
              <a:t> Vehicle, Electric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chargingTime: number;</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8CC4FF"/>
                </a:solidFill>
                <a:latin typeface="Courier New"/>
                <a:ea typeface="Courier New"/>
                <a:cs typeface="Courier New"/>
                <a:sym typeface="Courier New"/>
              </a:rPr>
              <a:t>const</a:t>
            </a:r>
            <a:r>
              <a:rPr lang="en" sz="900" b="0" i="0" u="none" strike="noStrike" cap="none" dirty="0">
                <a:solidFill>
                  <a:srgbClr val="E6ECF7"/>
                </a:solidFill>
                <a:latin typeface="Courier New"/>
                <a:ea typeface="Courier New"/>
                <a:cs typeface="Courier New"/>
                <a:sym typeface="Courier New"/>
              </a:rPr>
              <a:t> myCar: ElectricCar =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vin: </a:t>
            </a:r>
            <a:r>
              <a:rPr lang="en" sz="900" b="0" i="0" u="none" strike="noStrike" cap="none" dirty="0">
                <a:solidFill>
                  <a:srgbClr val="FFC878"/>
                </a:solidFill>
                <a:latin typeface="Courier New"/>
                <a:ea typeface="Courier New"/>
                <a:cs typeface="Courier New"/>
                <a:sym typeface="Courier New"/>
              </a:rPr>
              <a:t>"1HGCM82633A"</a:t>
            </a: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brand: </a:t>
            </a:r>
            <a:r>
              <a:rPr lang="en" sz="900" b="0" i="0" u="none" strike="noStrike" cap="none" dirty="0">
                <a:solidFill>
                  <a:srgbClr val="FFC878"/>
                </a:solidFill>
                <a:latin typeface="Courier New"/>
                <a:ea typeface="Courier New"/>
                <a:cs typeface="Courier New"/>
                <a:sym typeface="Courier New"/>
              </a:rPr>
              <a:t>"Tesla"</a:t>
            </a: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start() { console.log(</a:t>
            </a:r>
            <a:r>
              <a:rPr lang="en" sz="900" b="0" i="0" u="none" strike="noStrike" cap="none" dirty="0">
                <a:solidFill>
                  <a:srgbClr val="FFC878"/>
                </a:solidFill>
                <a:latin typeface="Courier New"/>
                <a:ea typeface="Courier New"/>
                <a:cs typeface="Courier New"/>
                <a:sym typeface="Courier New"/>
              </a:rPr>
              <a:t>"Started"</a:t>
            </a: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batteryCapacity: </a:t>
            </a:r>
            <a:r>
              <a:rPr lang="en" sz="900" b="0" i="0" u="none" strike="noStrike" cap="none" dirty="0">
                <a:solidFill>
                  <a:srgbClr val="F2B705"/>
                </a:solidFill>
                <a:latin typeface="Courier New"/>
                <a:ea typeface="Courier New"/>
                <a:cs typeface="Courier New"/>
                <a:sym typeface="Courier New"/>
              </a:rPr>
              <a:t>75</a:t>
            </a: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chargingTime: </a:t>
            </a:r>
            <a:r>
              <a:rPr lang="en" sz="900" b="0" i="0" u="none" strike="noStrike" cap="none" dirty="0">
                <a:solidFill>
                  <a:srgbClr val="F2B705"/>
                </a:solidFill>
                <a:latin typeface="Courier New"/>
                <a:ea typeface="Courier New"/>
                <a:cs typeface="Courier New"/>
                <a:sym typeface="Courier New"/>
              </a:rPr>
              <a:t>30</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myCar.vin = </a:t>
            </a:r>
            <a:r>
              <a:rPr lang="en" sz="900" b="0" i="0" u="none" strike="noStrike" cap="none" dirty="0">
                <a:solidFill>
                  <a:srgbClr val="FFC878"/>
                </a:solidFill>
                <a:latin typeface="Courier New"/>
                <a:ea typeface="Courier New"/>
                <a:cs typeface="Courier New"/>
                <a:sym typeface="Courier New"/>
              </a:rPr>
              <a:t>"NEW"</a:t>
            </a:r>
            <a:r>
              <a:rPr lang="en" sz="900" b="0" i="0" u="none" strike="noStrike" cap="none" dirty="0">
                <a:solidFill>
                  <a:srgbClr val="E6ECF7"/>
                </a:solidFill>
                <a:latin typeface="Courier New"/>
                <a:ea typeface="Courier New"/>
                <a:cs typeface="Courier New"/>
                <a:sym typeface="Courier New"/>
              </a:rPr>
              <a:t>; </a:t>
            </a:r>
            <a:r>
              <a:rPr lang="en" sz="900" b="0" i="1" u="none" strike="noStrike" cap="none" dirty="0">
                <a:solidFill>
                  <a:srgbClr val="8FA3C4"/>
                </a:solidFill>
                <a:latin typeface="Courier New"/>
                <a:ea typeface="Courier New"/>
                <a:cs typeface="Courier New"/>
                <a:sym typeface="Courier New"/>
              </a:rPr>
              <a:t>// Error: readonly</a:t>
            </a:r>
            <a:endParaRPr lang="en" sz="900" b="0" i="0" u="none" strike="noStrike" cap="none" dirty="0">
              <a:solidFill>
                <a:srgbClr val="000000"/>
              </a:solidFill>
              <a:latin typeface="Roboto"/>
              <a:ea typeface="Roboto"/>
              <a:cs typeface="Roboto"/>
              <a:sym typeface="Roboto"/>
            </a:endParaRP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grpSpPr/>
      <p:pic>
        <p:nvPicPr>
          <p:cNvPr id="110" name="Google Shape;110;p15" title="Untitled-1-07.png"/>
          <p:cNvPicPr preferRelativeResize="0"/>
          <p:nvPr/>
        </p:nvPicPr>
        <p:blipFill rotWithShape="1">
          <a:blip r:embed="rId2">
            <a:alphaModFix/>
          </a:blip>
          <a:srcRect l="5100" r="4630" b="15895"/>
          <a:stretch/>
        </p:blipFill>
        <p:spPr>
          <a:xfrm>
            <a:off x="880549" y="4348257"/>
            <a:ext cx="2096958" cy="548700"/>
          </a:xfrm>
          <a:prstGeom prst="rect">
            <a:avLst/>
          </a:prstGeom>
          <a:noFill/>
          <a:ln>
            <a:noFill/>
          </a:ln>
        </p:spPr>
      </p:pic>
      <p:pic>
        <p:nvPicPr>
          <p:cNvPr id="111" name="Google Shape;111;p15" title="powerd by.png"/>
          <p:cNvPicPr preferRelativeResize="0"/>
          <p:nvPr/>
        </p:nvPicPr>
        <p:blipFill rotWithShape="1">
          <a:blip r:embed="rId5">
            <a:alphaModFix/>
          </a:blip>
          <a:srcRect l="6981" t="44048" r="6714" b="14302"/>
          <a:stretch/>
        </p:blipFill>
        <p:spPr>
          <a:xfrm>
            <a:off x="3537800" y="4500588"/>
            <a:ext cx="2130125" cy="355975"/>
          </a:xfrm>
          <a:prstGeom prst="rect">
            <a:avLst/>
          </a:prstGeom>
          <a:noFill/>
          <a:ln>
            <a:noFill/>
          </a:ln>
        </p:spPr>
      </p:pic>
      <p:sp>
        <p:nvSpPr>
          <p:cNvPr id="112" name="Google Shape;112;p15"/>
          <p:cNvSpPr txBox="1"/>
          <p:nvPr/>
        </p:nvSpPr>
        <p:spPr>
          <a:xfrm>
            <a:off x="5998012" y="4596047"/>
            <a:ext cx="2436900" cy="253800"/>
          </a:xfrm>
          <a:prstGeom prst="rect">
            <a:avLst/>
          </a:prstGeom>
          <a:noFill/>
          <a:ln>
            <a:noFill/>
          </a:ln>
        </p:spPr>
        <p:txBody>
          <a:bodyPr spcFirstLastPara="1" wrap="non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0053A1"/>
                </a:solidFill>
                <a:latin typeface="Roboto"/>
                <a:ea typeface="Roboto"/>
                <a:cs typeface="Roboto"/>
                <a:sym typeface="Roboto"/>
              </a:rPr>
              <a:t>www.</a:t>
            </a:r>
            <a:r>
              <a:rPr lang="en" sz="1200" b="1">
                <a:solidFill>
                  <a:srgbClr val="0053A1"/>
                </a:solidFill>
                <a:latin typeface="Roboto"/>
                <a:ea typeface="Roboto"/>
                <a:cs typeface="Roboto"/>
                <a:sym typeface="Roboto"/>
              </a:rPr>
              <a:t>careercraftacademy.com</a:t>
            </a:r>
            <a:endParaRPr sz="1200" b="1" i="0" u="none" strike="noStrike" cap="none">
              <a:solidFill>
                <a:srgbClr val="0053A1"/>
              </a:solidFill>
              <a:latin typeface="Roboto"/>
              <a:ea typeface="Roboto"/>
              <a:cs typeface="Roboto"/>
              <a:sym typeface="Roboto"/>
            </a:endParaRPr>
          </a:p>
        </p:txBody>
      </p:sp>
      <p:pic>
        <p:nvPicPr>
          <p:cNvPr id="114" name="Google Shape;114;p15"/>
          <p:cNvPicPr preferRelativeResize="0"/>
          <p:nvPr/>
        </p:nvPicPr>
        <p:blipFill>
          <a:blip r:embed="rId4">
            <a:alphaModFix/>
          </a:blip>
          <a:stretch>
            <a:fillRect/>
          </a:stretch>
        </p:blipFill>
        <p:spPr>
          <a:xfrm>
            <a:off x="8447868" y="4368945"/>
            <a:ext cx="334175" cy="480903"/>
          </a:xfrm>
          <a:prstGeom prst="rect">
            <a:avLst/>
          </a:prstGeom>
          <a:noFill/>
          <a:ln>
            <a:noFill/>
          </a:ln>
        </p:spPr>
      </p:pic>
      <p:sp>
        <p:nvSpPr>
          <p:cNvPr id="538" name="Kicker"/>
          <p:cNvSpPr txBox="1"/>
          <p:nvPr/>
        </p:nvSpPr>
        <p:spPr>
          <a:xfrm>
            <a:off x="675600" y="285000"/>
            <a:ext cx="3560000" cy="241200"/>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1003" b="0" i="0" u="none" strike="noStrike" cap="none" dirty="0">
                <a:solidFill>
                  <a:srgbClr val="7F7F7F"/>
                </a:solidFill>
                <a:latin typeface="Roboto"/>
                <a:ea typeface="Roboto"/>
                <a:cs typeface="Roboto"/>
                <a:sym typeface="Roboto"/>
              </a:rPr>
              <a:t>Interfaces and Types</a:t>
            </a:r>
            <a:endParaRPr lang="en" sz="1003" b="0" i="0" u="none" strike="noStrike" cap="none" dirty="0">
              <a:solidFill>
                <a:srgbClr val="000000"/>
              </a:solidFill>
              <a:latin typeface="Roboto"/>
              <a:ea typeface="Roboto"/>
              <a:cs typeface="Roboto"/>
              <a:sym typeface="Roboto"/>
            </a:endParaRPr>
          </a:p>
        </p:txBody>
      </p:sp>
      <p:sp>
        <p:nvSpPr>
          <p:cNvPr id="539" name="Title"/>
          <p:cNvSpPr txBox="1"/>
          <p:nvPr/>
        </p:nvSpPr>
        <p:spPr>
          <a:xfrm>
            <a:off x="675600" y="520000"/>
            <a:ext cx="3560000" cy="425394"/>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2200" b="1" i="0" u="none" strike="noStrike" cap="none" dirty="0">
                <a:solidFill>
                  <a:srgbClr val="0053A1"/>
                </a:solidFill>
                <a:latin typeface="Poppins SemiBold"/>
                <a:ea typeface="Poppins SemiBold"/>
                <a:cs typeface="Poppins SemiBold"/>
                <a:sym typeface="Poppins SemiBold"/>
              </a:rPr>
              <a:t>Type </a:t>
            </a:r>
            <a:r>
              <a:rPr lang="en" sz="2200" b="1" i="0" u="none" strike="noStrike" cap="none" dirty="0">
                <a:solidFill>
                  <a:srgbClr val="000000"/>
                </a:solidFill>
                <a:latin typeface="Poppins SemiBold"/>
                <a:ea typeface="Poppins SemiBold"/>
                <a:cs typeface="Poppins SemiBold"/>
                <a:sym typeface="Poppins SemiBold"/>
              </a:rPr>
              <a:t>Aliases</a:t>
            </a:r>
            <a:endParaRPr lang="en" sz="2200" b="0" i="0" u="none" strike="noStrike" cap="none" dirty="0">
              <a:solidFill>
                <a:srgbClr val="000000"/>
              </a:solidFill>
              <a:latin typeface="Roboto"/>
              <a:ea typeface="Roboto"/>
              <a:cs typeface="Roboto"/>
              <a:sym typeface="Roboto"/>
            </a:endParaRPr>
          </a:p>
        </p:txBody>
      </p:sp>
      <p:sp>
        <p:nvSpPr>
          <p:cNvPr id="540" name="Body"/>
          <p:cNvSpPr txBox="1"/>
          <p:nvPr/>
        </p:nvSpPr>
        <p:spPr>
          <a:xfrm>
            <a:off x="620000" y="1048000"/>
            <a:ext cx="3560000" cy="1457600"/>
          </a:xfrm>
          <a:prstGeom prst="rect">
            <a:avLst/>
          </a:prstGeom>
          <a:noFill/>
        </p:spPr>
        <p:txBody>
          <a:bodyPr spcFirstLastPara="1" wrap="square" lIns="86025" tIns="43000" rIns="86025" bIns="43000" anchor="t" anchorCtr="0">
            <a:noAutofit/>
          </a:bodyPr>
          <a:lstStyle/>
          <a:p>
            <a:pPr marL="171450" marR="0" lvl="0" indent="-171450" algn="l" rtl="0">
              <a:lnSpc>
                <a:spcPct val="125000"/>
              </a:lnSpc>
              <a:spcBef>
                <a:spcPts val="100"/>
              </a:spcBef>
              <a:spcAft>
                <a:spcPts val="0"/>
              </a:spcAft>
              <a:buClr>
                <a:srgbClr val="000000"/>
              </a:buClr>
              <a:buSzPts val="1100"/>
              <a:buFont typeface="Arial"/>
              <a:buChar char="•"/>
            </a:pPr>
            <a:r>
              <a:rPr lang="en" sz="1050" b="1" i="0" u="none" strike="noStrike" cap="none" dirty="0">
                <a:solidFill>
                  <a:srgbClr val="0053A1"/>
                </a:solidFill>
                <a:latin typeface="Courier New"/>
                <a:ea typeface="Courier New"/>
                <a:cs typeface="Courier New"/>
                <a:sym typeface="Courier New"/>
              </a:rPr>
              <a:t>type</a:t>
            </a:r>
            <a:r>
              <a:rPr lang="en" sz="1100" b="0" i="0" u="none" strike="noStrike" cap="none" dirty="0">
                <a:solidFill>
                  <a:schemeClr val="tx1"/>
                </a:solidFill>
                <a:latin typeface="Roboto"/>
                <a:ea typeface="Roboto"/>
                <a:cs typeface="Roboto"/>
                <a:sym typeface="Roboto"/>
              </a:rPr>
              <a:t> gives a name to </a:t>
            </a:r>
            <a:r>
              <a:rPr lang="en" sz="1100" b="1" i="0" u="none" strike="noStrike" cap="none" dirty="0">
                <a:solidFill>
                  <a:schemeClr val="tx1"/>
                </a:solidFill>
                <a:latin typeface="Roboto"/>
                <a:ea typeface="Roboto"/>
                <a:cs typeface="Roboto"/>
                <a:sym typeface="Roboto"/>
              </a:rPr>
              <a:t>any</a:t>
            </a:r>
            <a:r>
              <a:rPr lang="en" sz="1100" b="0" i="0" u="none" strike="noStrike" cap="none" dirty="0">
                <a:solidFill>
                  <a:schemeClr val="tx1"/>
                </a:solidFill>
                <a:latin typeface="Roboto"/>
                <a:ea typeface="Roboto"/>
                <a:cs typeface="Roboto"/>
                <a:sym typeface="Roboto"/>
              </a:rPr>
              <a:t> type</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Alias primitives, unions, tuples, functions, objects</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Syntax: </a:t>
            </a:r>
            <a:r>
              <a:rPr lang="en" sz="1050" b="1" i="0" u="none" strike="noStrike" cap="none" dirty="0">
                <a:solidFill>
                  <a:srgbClr val="0053A1"/>
                </a:solidFill>
                <a:latin typeface="Courier New"/>
                <a:ea typeface="Courier New"/>
                <a:cs typeface="Courier New"/>
                <a:sym typeface="Courier New"/>
              </a:rPr>
              <a:t>type Name = ...</a:t>
            </a:r>
            <a:endParaRPr lang="en" sz="1100" b="0" i="0" u="none" strike="noStrike" cap="none" dirty="0">
              <a:solidFill>
                <a:srgbClr val="000000"/>
              </a:solidFill>
              <a:latin typeface="Roboto"/>
              <a:ea typeface="Roboto"/>
              <a:cs typeface="Roboto"/>
              <a:sym typeface="Roboto"/>
            </a:endParaRPr>
          </a:p>
          <a:p>
            <a:pPr marL="0" marR="0" lvl="0" indent="0" algn="l" rtl="0">
              <a:lnSpc>
                <a:spcPct val="135000"/>
              </a:lnSpc>
              <a:spcBef>
                <a:spcPts val="0"/>
              </a:spcBef>
              <a:spcAft>
                <a:spcPts val="300"/>
              </a:spcAft>
              <a:buNone/>
            </a:pPr>
            <a:r>
              <a:rPr lang="en" sz="1100" b="0" i="0" u="none" strike="noStrike" cap="none" dirty="0">
                <a:solidFill>
                  <a:schemeClr val="tx1"/>
                </a:solidFill>
                <a:latin typeface="Roboto"/>
                <a:ea typeface="Roboto"/>
                <a:cs typeface="Roboto"/>
                <a:sym typeface="Roboto"/>
              </a:rPr>
              <a:t>Unions like </a:t>
            </a:r>
            <a:r>
              <a:rPr lang="en" sz="1050" b="1" i="0" u="none" strike="noStrike" cap="none" dirty="0">
                <a:solidFill>
                  <a:srgbClr val="0053A1"/>
                </a:solidFill>
                <a:latin typeface="Courier New"/>
                <a:ea typeface="Courier New"/>
                <a:cs typeface="Courier New"/>
                <a:sym typeface="Courier New"/>
              </a:rPr>
              <a:t>ID = string | number</a:t>
            </a:r>
            <a:r>
              <a:rPr lang="en" sz="1100" b="0" i="0" u="none" strike="noStrike" cap="none" dirty="0">
                <a:solidFill>
                  <a:schemeClr val="tx1"/>
                </a:solidFill>
                <a:latin typeface="Roboto"/>
                <a:ea typeface="Roboto"/>
                <a:cs typeface="Roboto"/>
                <a:sym typeface="Roboto"/>
              </a:rPr>
              <a:t> are impossible with interfaces.</a:t>
            </a:r>
            <a:endParaRPr lang="en" sz="1100" b="0" i="0" u="none" strike="noStrike" cap="none" dirty="0">
              <a:solidFill>
                <a:srgbClr val="000000"/>
              </a:solidFill>
              <a:latin typeface="Roboto"/>
              <a:ea typeface="Roboto"/>
              <a:cs typeface="Roboto"/>
              <a:sym typeface="Roboto"/>
            </a:endParaRPr>
          </a:p>
        </p:txBody>
      </p:sp>
      <p:sp>
        <p:nvSpPr>
          <p:cNvPr id="541" name="Code panel"/>
          <p:cNvSpPr/>
          <p:nvPr/>
        </p:nvSpPr>
        <p:spPr>
          <a:xfrm>
            <a:off x="4300000" y="500000"/>
            <a:ext cx="4350000" cy="3322656"/>
          </a:xfrm>
          <a:prstGeom prst="roundRect">
            <a:avLst>
              <a:gd name="adj" fmla="val 3500"/>
            </a:avLst>
          </a:prstGeom>
          <a:solidFill>
            <a:srgbClr val="0E2455"/>
          </a:solidFill>
          <a:ln>
            <a:noFill/>
          </a:ln>
          <a:effectLst>
            <a:outerShdw blurRad="63500" dist="25400" dir="5400000" algn="t" rotWithShape="0">
              <a:srgbClr val="000000">
                <a:alpha val="22000"/>
              </a:srgbClr>
            </a:outerShdw>
          </a:effectLst>
        </p:spPr>
        <p:txBody>
          <a:bodyPr rtlCol="0" anchor="ctr"/>
          <a:lstStyle/>
          <a:p>
            <a:pPr algn="ctr"/>
          </a:p>
        </p:txBody>
      </p:sp>
      <p:sp>
        <p:nvSpPr>
          <p:cNvPr id="542" name="Dot 1"/>
          <p:cNvSpPr/>
          <p:nvPr/>
        </p:nvSpPr>
        <p:spPr>
          <a:xfrm>
            <a:off x="4420000" y="605000"/>
            <a:ext cx="70000" cy="70000"/>
          </a:xfrm>
          <a:prstGeom prst="ellipse">
            <a:avLst/>
          </a:prstGeom>
          <a:solidFill>
            <a:srgbClr val="C00000"/>
          </a:solidFill>
          <a:ln>
            <a:noFill/>
          </a:ln>
        </p:spPr>
        <p:txBody>
          <a:bodyPr rtlCol="0" anchor="ctr"/>
          <a:lstStyle/>
          <a:p>
            <a:pPr algn="ctr"/>
          </a:p>
        </p:txBody>
      </p:sp>
      <p:sp>
        <p:nvSpPr>
          <p:cNvPr id="543" name="Dot 2"/>
          <p:cNvSpPr/>
          <p:nvPr/>
        </p:nvSpPr>
        <p:spPr>
          <a:xfrm>
            <a:off x="4550000" y="605000"/>
            <a:ext cx="70000" cy="70000"/>
          </a:xfrm>
          <a:prstGeom prst="ellipse">
            <a:avLst/>
          </a:prstGeom>
          <a:solidFill>
            <a:srgbClr val="F2B705"/>
          </a:solidFill>
          <a:ln>
            <a:noFill/>
          </a:ln>
        </p:spPr>
        <p:txBody>
          <a:bodyPr rtlCol="0" anchor="ctr"/>
          <a:lstStyle/>
          <a:p>
            <a:pPr algn="ctr"/>
          </a:p>
        </p:txBody>
      </p:sp>
      <p:sp>
        <p:nvSpPr>
          <p:cNvPr id="544" name="Dot 3"/>
          <p:cNvSpPr/>
          <p:nvPr/>
        </p:nvSpPr>
        <p:spPr>
          <a:xfrm>
            <a:off x="4680000" y="605000"/>
            <a:ext cx="70000" cy="70000"/>
          </a:xfrm>
          <a:prstGeom prst="ellipse">
            <a:avLst/>
          </a:prstGeom>
          <a:solidFill>
            <a:srgbClr val="3DAE5C"/>
          </a:solidFill>
          <a:ln>
            <a:noFill/>
          </a:ln>
        </p:spPr>
        <p:txBody>
          <a:bodyPr rtlCol="0" anchor="ctr"/>
          <a:lstStyle/>
          <a:p>
            <a:pPr algn="ctr"/>
          </a:p>
        </p:txBody>
      </p:sp>
      <p:sp>
        <p:nvSpPr>
          <p:cNvPr id="545" name="Code label"/>
          <p:cNvSpPr txBox="1"/>
          <p:nvPr/>
        </p:nvSpPr>
        <p:spPr>
          <a:xfrm>
            <a:off x="7650000" y="555000"/>
            <a:ext cx="900000" cy="170000"/>
          </a:xfrm>
          <a:prstGeom prst="rect">
            <a:avLst/>
          </a:prstGeom>
          <a:noFill/>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800" b="1" i="0" u="none" strike="noStrike" cap="none" dirty="0">
                <a:solidFill>
                  <a:srgbClr val="8FA3C4"/>
                </a:solidFill>
                <a:latin typeface="Roboto"/>
                <a:ea typeface="Roboto"/>
                <a:cs typeface="Roboto"/>
                <a:sym typeface="Roboto"/>
              </a:rPr>
              <a:t>TS</a:t>
            </a:r>
            <a:endParaRPr lang="en" sz="800" b="0" i="0" u="none" strike="noStrike" cap="none" dirty="0">
              <a:solidFill>
                <a:srgbClr val="000000"/>
              </a:solidFill>
              <a:latin typeface="Roboto"/>
              <a:ea typeface="Roboto"/>
              <a:cs typeface="Roboto"/>
              <a:sym typeface="Roboto"/>
            </a:endParaRPr>
          </a:p>
        </p:txBody>
      </p:sp>
      <p:sp>
        <p:nvSpPr>
          <p:cNvPr id="546" name="Code"/>
          <p:cNvSpPr txBox="1"/>
          <p:nvPr/>
        </p:nvSpPr>
        <p:spPr>
          <a:xfrm>
            <a:off x="4360000" y="750000"/>
            <a:ext cx="4230000" cy="3042656"/>
          </a:xfrm>
          <a:prstGeom prst="rect">
            <a:avLst/>
          </a:prstGeom>
          <a:noFill/>
        </p:spPr>
        <p:txBody>
          <a:bodyPr spcFirstLastPara="1" wrap="square" lIns="86025" tIns="0" rIns="60000" bIns="0" anchor="t" anchorCtr="0">
            <a:noAutofit/>
          </a:bodyPr>
          <a:lstStyle/>
          <a:p>
            <a:pPr marL="0" marR="0" lvl="0" indent="0" algn="l" rtl="0">
              <a:lnSpc>
                <a:spcPct val="108000"/>
              </a:lnSpc>
              <a:spcBef>
                <a:spcPts val="0"/>
              </a:spcBef>
              <a:spcAft>
                <a:spcPts val="0"/>
              </a:spcAft>
              <a:buNone/>
            </a:pPr>
            <a:r>
              <a:rPr lang="en" sz="900" b="0" i="1" u="none" strike="noStrike" cap="none" dirty="0">
                <a:solidFill>
                  <a:srgbClr val="8FA3C4"/>
                </a:solidFill>
                <a:latin typeface="Courier New"/>
                <a:ea typeface="Courier New"/>
                <a:cs typeface="Courier New"/>
                <a:sym typeface="Courier New"/>
              </a:rPr>
              <a:t>// Object shape</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type User =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id: number;</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username: string;</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isAdmin: boolean;</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1" u="none" strike="noStrike" cap="none" dirty="0">
                <a:solidFill>
                  <a:srgbClr val="8FA3C4"/>
                </a:solidFill>
                <a:latin typeface="Courier New"/>
                <a:ea typeface="Courier New"/>
                <a:cs typeface="Courier New"/>
                <a:sym typeface="Courier New"/>
              </a:rPr>
              <a:t>// Unions</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type ID = string | number;</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type Theme = </a:t>
            </a:r>
            <a:r>
              <a:rPr lang="en" sz="900" b="0" i="0" u="none" strike="noStrike" cap="none" dirty="0">
                <a:solidFill>
                  <a:srgbClr val="FFC878"/>
                </a:solidFill>
                <a:latin typeface="Courier New"/>
                <a:ea typeface="Courier New"/>
                <a:cs typeface="Courier New"/>
                <a:sym typeface="Courier New"/>
              </a:rPr>
              <a:t>"light"</a:t>
            </a:r>
            <a:r>
              <a:rPr lang="en" sz="900" b="0" i="0" u="none" strike="noStrike" cap="none" dirty="0">
                <a:solidFill>
                  <a:srgbClr val="E6ECF7"/>
                </a:solidFill>
                <a:latin typeface="Courier New"/>
                <a:ea typeface="Courier New"/>
                <a:cs typeface="Courier New"/>
                <a:sym typeface="Courier New"/>
              </a:rPr>
              <a:t> | </a:t>
            </a:r>
            <a:r>
              <a:rPr lang="en" sz="900" b="0" i="0" u="none" strike="noStrike" cap="none" dirty="0">
                <a:solidFill>
                  <a:srgbClr val="FFC878"/>
                </a:solidFill>
                <a:latin typeface="Courier New"/>
                <a:ea typeface="Courier New"/>
                <a:cs typeface="Courier New"/>
                <a:sym typeface="Courier New"/>
              </a:rPr>
              <a:t>"dark"</a:t>
            </a: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1" u="none" strike="noStrike" cap="none" dirty="0">
                <a:solidFill>
                  <a:srgbClr val="8FA3C4"/>
                </a:solidFill>
                <a:latin typeface="Courier New"/>
                <a:ea typeface="Courier New"/>
                <a:cs typeface="Courier New"/>
                <a:sym typeface="Courier New"/>
              </a:rPr>
              <a:t>// Function and tuple</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type Transformer = (input: string) =&gt; string;</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type Point = [number, number];</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8CC4FF"/>
                </a:solidFill>
                <a:latin typeface="Courier New"/>
                <a:ea typeface="Courier New"/>
                <a:cs typeface="Courier New"/>
                <a:sym typeface="Courier New"/>
              </a:rPr>
              <a:t>const</a:t>
            </a:r>
            <a:r>
              <a:rPr lang="en" sz="900" b="0" i="0" u="none" strike="noStrike" cap="none" dirty="0">
                <a:solidFill>
                  <a:srgbClr val="E6ECF7"/>
                </a:solidFill>
                <a:latin typeface="Courier New"/>
                <a:ea typeface="Courier New"/>
                <a:cs typeface="Courier New"/>
                <a:sym typeface="Courier New"/>
              </a:rPr>
              <a:t> u: User =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id: </a:t>
            </a:r>
            <a:r>
              <a:rPr lang="en" sz="900" b="0" i="0" u="none" strike="noStrike" cap="none" dirty="0">
                <a:solidFill>
                  <a:srgbClr val="F2B705"/>
                </a:solidFill>
                <a:latin typeface="Courier New"/>
                <a:ea typeface="Courier New"/>
                <a:cs typeface="Courier New"/>
                <a:sym typeface="Courier New"/>
              </a:rPr>
              <a:t>1</a:t>
            </a:r>
            <a:r>
              <a:rPr lang="en" sz="900" b="0" i="0" u="none" strike="noStrike" cap="none" dirty="0">
                <a:solidFill>
                  <a:srgbClr val="E6ECF7"/>
                </a:solidFill>
                <a:latin typeface="Courier New"/>
                <a:ea typeface="Courier New"/>
                <a:cs typeface="Courier New"/>
                <a:sym typeface="Courier New"/>
              </a:rPr>
              <a:t>, username: </a:t>
            </a:r>
            <a:r>
              <a:rPr lang="en" sz="900" b="0" i="0" u="none" strike="noStrike" cap="none" dirty="0">
                <a:solidFill>
                  <a:srgbClr val="FFC878"/>
                </a:solidFill>
                <a:latin typeface="Courier New"/>
                <a:ea typeface="Courier New"/>
                <a:cs typeface="Courier New"/>
                <a:sym typeface="Courier New"/>
              </a:rPr>
              <a:t>"sam"</a:t>
            </a:r>
            <a:r>
              <a:rPr lang="en" sz="900" b="0" i="0" u="none" strike="noStrike" cap="none" dirty="0">
                <a:solidFill>
                  <a:srgbClr val="E6ECF7"/>
                </a:solidFill>
                <a:latin typeface="Courier New"/>
                <a:ea typeface="Courier New"/>
                <a:cs typeface="Courier New"/>
                <a:sym typeface="Courier New"/>
              </a:rPr>
              <a:t>, isAdmin: </a:t>
            </a:r>
            <a:r>
              <a:rPr lang="en" sz="900" b="0" i="0" u="none" strike="noStrike" cap="none" dirty="0">
                <a:solidFill>
                  <a:srgbClr val="8CC4FF"/>
                </a:solidFill>
                <a:latin typeface="Courier New"/>
                <a:ea typeface="Courier New"/>
                <a:cs typeface="Courier New"/>
                <a:sym typeface="Courier New"/>
              </a:rPr>
              <a:t>false</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8CC4FF"/>
                </a:solidFill>
                <a:latin typeface="Courier New"/>
                <a:ea typeface="Courier New"/>
                <a:cs typeface="Courier New"/>
                <a:sym typeface="Courier New"/>
              </a:rPr>
              <a:t>const</a:t>
            </a:r>
            <a:r>
              <a:rPr lang="en" sz="900" b="0" i="0" u="none" strike="noStrike" cap="none" dirty="0">
                <a:solidFill>
                  <a:srgbClr val="E6ECF7"/>
                </a:solidFill>
                <a:latin typeface="Courier New"/>
                <a:ea typeface="Courier New"/>
                <a:cs typeface="Courier New"/>
                <a:sym typeface="Courier New"/>
              </a:rPr>
              <a:t> userId: ID = </a:t>
            </a:r>
            <a:r>
              <a:rPr lang="en" sz="900" b="0" i="0" u="none" strike="noStrike" cap="none" dirty="0">
                <a:solidFill>
                  <a:srgbClr val="F2B705"/>
                </a:solidFill>
                <a:latin typeface="Courier New"/>
                <a:ea typeface="Courier New"/>
                <a:cs typeface="Courier New"/>
                <a:sym typeface="Courier New"/>
              </a:rPr>
              <a:t>42</a:t>
            </a: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8CC4FF"/>
                </a:solidFill>
                <a:latin typeface="Courier New"/>
                <a:ea typeface="Courier New"/>
                <a:cs typeface="Courier New"/>
                <a:sym typeface="Courier New"/>
              </a:rPr>
              <a:t>const</a:t>
            </a:r>
            <a:r>
              <a:rPr lang="en" sz="900" b="0" i="0" u="none" strike="noStrike" cap="none" dirty="0">
                <a:solidFill>
                  <a:srgbClr val="E6ECF7"/>
                </a:solidFill>
                <a:latin typeface="Courier New"/>
                <a:ea typeface="Courier New"/>
                <a:cs typeface="Courier New"/>
                <a:sym typeface="Courier New"/>
              </a:rPr>
              <a:t> origin: Point = [</a:t>
            </a:r>
            <a:r>
              <a:rPr lang="en" sz="900" b="0" i="0" u="none" strike="noStrike" cap="none" dirty="0">
                <a:solidFill>
                  <a:srgbClr val="F2B705"/>
                </a:solidFill>
                <a:latin typeface="Courier New"/>
                <a:ea typeface="Courier New"/>
                <a:cs typeface="Courier New"/>
                <a:sym typeface="Courier New"/>
              </a:rPr>
              <a:t>0</a:t>
            </a: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F2B705"/>
                </a:solidFill>
                <a:latin typeface="Courier New"/>
                <a:ea typeface="Courier New"/>
                <a:cs typeface="Courier New"/>
                <a:sym typeface="Courier New"/>
              </a:rPr>
              <a:t>0</a:t>
            </a: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grpSpPr/>
      <p:pic>
        <p:nvPicPr>
          <p:cNvPr id="110" name="Google Shape;110;p15" title="Untitled-1-07.png"/>
          <p:cNvPicPr preferRelativeResize="0"/>
          <p:nvPr/>
        </p:nvPicPr>
        <p:blipFill rotWithShape="1">
          <a:blip r:embed="rId2">
            <a:alphaModFix/>
          </a:blip>
          <a:srcRect l="5100" r="4630" b="15895"/>
          <a:stretch/>
        </p:blipFill>
        <p:spPr>
          <a:xfrm>
            <a:off x="880549" y="4348257"/>
            <a:ext cx="2096958" cy="548700"/>
          </a:xfrm>
          <a:prstGeom prst="rect">
            <a:avLst/>
          </a:prstGeom>
          <a:noFill/>
          <a:ln>
            <a:noFill/>
          </a:ln>
        </p:spPr>
      </p:pic>
      <p:pic>
        <p:nvPicPr>
          <p:cNvPr id="111" name="Google Shape;111;p15" title="powerd by.png"/>
          <p:cNvPicPr preferRelativeResize="0"/>
          <p:nvPr/>
        </p:nvPicPr>
        <p:blipFill rotWithShape="1">
          <a:blip r:embed="rId5">
            <a:alphaModFix/>
          </a:blip>
          <a:srcRect l="6981" t="44048" r="6714" b="14302"/>
          <a:stretch/>
        </p:blipFill>
        <p:spPr>
          <a:xfrm>
            <a:off x="3537800" y="4500588"/>
            <a:ext cx="2130125" cy="355975"/>
          </a:xfrm>
          <a:prstGeom prst="rect">
            <a:avLst/>
          </a:prstGeom>
          <a:noFill/>
          <a:ln>
            <a:noFill/>
          </a:ln>
        </p:spPr>
      </p:pic>
      <p:sp>
        <p:nvSpPr>
          <p:cNvPr id="112" name="Google Shape;112;p15"/>
          <p:cNvSpPr txBox="1"/>
          <p:nvPr/>
        </p:nvSpPr>
        <p:spPr>
          <a:xfrm>
            <a:off x="5998012" y="4596047"/>
            <a:ext cx="2436900" cy="253800"/>
          </a:xfrm>
          <a:prstGeom prst="rect">
            <a:avLst/>
          </a:prstGeom>
          <a:noFill/>
          <a:ln>
            <a:noFill/>
          </a:ln>
        </p:spPr>
        <p:txBody>
          <a:bodyPr spcFirstLastPara="1" wrap="non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0053A1"/>
                </a:solidFill>
                <a:latin typeface="Roboto"/>
                <a:ea typeface="Roboto"/>
                <a:cs typeface="Roboto"/>
                <a:sym typeface="Roboto"/>
              </a:rPr>
              <a:t>www.</a:t>
            </a:r>
            <a:r>
              <a:rPr lang="en" sz="1200" b="1">
                <a:solidFill>
                  <a:srgbClr val="0053A1"/>
                </a:solidFill>
                <a:latin typeface="Roboto"/>
                <a:ea typeface="Roboto"/>
                <a:cs typeface="Roboto"/>
                <a:sym typeface="Roboto"/>
              </a:rPr>
              <a:t>careercraftacademy.com</a:t>
            </a:r>
            <a:endParaRPr sz="1200" b="1" i="0" u="none" strike="noStrike" cap="none">
              <a:solidFill>
                <a:srgbClr val="0053A1"/>
              </a:solidFill>
              <a:latin typeface="Roboto"/>
              <a:ea typeface="Roboto"/>
              <a:cs typeface="Roboto"/>
              <a:sym typeface="Roboto"/>
            </a:endParaRPr>
          </a:p>
        </p:txBody>
      </p:sp>
      <p:pic>
        <p:nvPicPr>
          <p:cNvPr id="114" name="Google Shape;114;p15"/>
          <p:cNvPicPr preferRelativeResize="0"/>
          <p:nvPr/>
        </p:nvPicPr>
        <p:blipFill>
          <a:blip r:embed="rId4">
            <a:alphaModFix/>
          </a:blip>
          <a:stretch>
            <a:fillRect/>
          </a:stretch>
        </p:blipFill>
        <p:spPr>
          <a:xfrm>
            <a:off x="8447868" y="4368945"/>
            <a:ext cx="334175" cy="480903"/>
          </a:xfrm>
          <a:prstGeom prst="rect">
            <a:avLst/>
          </a:prstGeom>
          <a:noFill/>
          <a:ln>
            <a:noFill/>
          </a:ln>
        </p:spPr>
      </p:pic>
      <p:sp>
        <p:nvSpPr>
          <p:cNvPr id="548" name="Kicker"/>
          <p:cNvSpPr txBox="1"/>
          <p:nvPr/>
        </p:nvSpPr>
        <p:spPr>
          <a:xfrm>
            <a:off x="675600" y="285000"/>
            <a:ext cx="3560000" cy="241200"/>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1003" b="0" i="0" u="none" strike="noStrike" cap="none" dirty="0">
                <a:solidFill>
                  <a:srgbClr val="7F7F7F"/>
                </a:solidFill>
                <a:latin typeface="Roboto"/>
                <a:ea typeface="Roboto"/>
                <a:cs typeface="Roboto"/>
                <a:sym typeface="Roboto"/>
              </a:rPr>
              <a:t>Interfaces and Types</a:t>
            </a:r>
            <a:endParaRPr lang="en" sz="1003" b="0" i="0" u="none" strike="noStrike" cap="none" dirty="0">
              <a:solidFill>
                <a:srgbClr val="000000"/>
              </a:solidFill>
              <a:latin typeface="Roboto"/>
              <a:ea typeface="Roboto"/>
              <a:cs typeface="Roboto"/>
              <a:sym typeface="Roboto"/>
            </a:endParaRPr>
          </a:p>
        </p:txBody>
      </p:sp>
      <p:sp>
        <p:nvSpPr>
          <p:cNvPr id="549" name="Title"/>
          <p:cNvSpPr txBox="1"/>
          <p:nvPr/>
        </p:nvSpPr>
        <p:spPr>
          <a:xfrm>
            <a:off x="675600" y="520000"/>
            <a:ext cx="3560000" cy="763948"/>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2200" b="1" i="0" u="none" strike="noStrike" cap="none" dirty="0">
                <a:solidFill>
                  <a:srgbClr val="0053A1"/>
                </a:solidFill>
                <a:latin typeface="Poppins SemiBold"/>
                <a:ea typeface="Poppins SemiBold"/>
                <a:cs typeface="Poppins SemiBold"/>
                <a:sym typeface="Poppins SemiBold"/>
              </a:rPr>
              <a:t>Interface vs Type</a:t>
            </a:r>
            <a:endParaRPr lang="en" sz="2200" b="0" i="0" u="none" strike="noStrike" cap="none" dirty="0">
              <a:solidFill>
                <a:srgbClr val="000000"/>
              </a:solidFill>
              <a:latin typeface="Roboto"/>
              <a:ea typeface="Roboto"/>
              <a:cs typeface="Roboto"/>
              <a:sym typeface="Roboto"/>
            </a:endParaRPr>
          </a:p>
          <a:p>
            <a:pPr marL="0" marR="0" lvl="0" indent="0" algn="l" rtl="0">
              <a:lnSpc>
                <a:spcPct val="100000"/>
              </a:lnSpc>
              <a:spcBef>
                <a:spcPts val="0"/>
              </a:spcBef>
              <a:spcAft>
                <a:spcPts val="0"/>
              </a:spcAft>
              <a:buNone/>
            </a:pPr>
            <a:r>
              <a:rPr lang="en" sz="2200" b="1" i="0" u="none" strike="noStrike" cap="none" dirty="0">
                <a:solidFill>
                  <a:srgbClr val="000000"/>
                </a:solidFill>
                <a:latin typeface="Poppins SemiBold"/>
                <a:ea typeface="Poppins SemiBold"/>
                <a:cs typeface="Poppins SemiBold"/>
                <a:sym typeface="Poppins SemiBold"/>
              </a:rPr>
              <a:t>Which One to Use?</a:t>
            </a:r>
            <a:endParaRPr lang="en" sz="2200" b="0" i="0" u="none" strike="noStrike" cap="none" dirty="0">
              <a:solidFill>
                <a:srgbClr val="000000"/>
              </a:solidFill>
              <a:latin typeface="Roboto"/>
              <a:ea typeface="Roboto"/>
              <a:cs typeface="Roboto"/>
              <a:sym typeface="Roboto"/>
            </a:endParaRPr>
          </a:p>
        </p:txBody>
      </p:sp>
      <p:graphicFrame>
        <p:nvGraphicFramePr>
          <p:cNvPr id="547" name="Table"/>
          <p:cNvGraphicFramePr>
            <a:graphicFrameLocks noGrp="1"/>
          </p:cNvGraphicFramePr>
          <p:nvPr/>
        </p:nvGraphicFramePr>
        <p:xfrm>
          <a:off x="675600" y="1420000"/>
          <a:ext cx="3450000" cy="204000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250000"/>
                <a:gridCol w="1100000"/>
                <a:gridCol w="1100000"/>
              </a:tblGrid>
              <a:tr h="340000">
                <a:tc>
                  <a:txBody>
                    <a:bodyPr/>
                    <a:lstStyle/>
                    <a:p>
                      <a:r>
                        <a:rPr lang="en-IN" sz="900" b="1" dirty="0">
                          <a:solidFill>
                            <a:schemeClr val="tx1"/>
                          </a:solidFill>
                          <a:latin typeface="Roboto" panose="02000000000000000000" pitchFamily="2" charset="0"/>
                          <a:ea typeface="Roboto" panose="02000000000000000000" pitchFamily="2" charset="0"/>
                          <a:cs typeface="Roboto" panose="02000000000000000000" pitchFamily="2" charset="0"/>
                        </a:rPr>
                        <a:t>Aspect</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IN" sz="900" b="1" dirty="0">
                          <a:solidFill>
                            <a:schemeClr val="tx1"/>
                          </a:solidFill>
                          <a:latin typeface="Roboto" panose="02000000000000000000" pitchFamily="2" charset="0"/>
                          <a:ea typeface="Roboto" panose="02000000000000000000" pitchFamily="2" charset="0"/>
                          <a:cs typeface="Roboto" panose="02000000000000000000" pitchFamily="2" charset="0"/>
                        </a:rPr>
                        <a:t>interface</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IN" sz="900" b="1" dirty="0">
                          <a:solidFill>
                            <a:schemeClr val="tx1"/>
                          </a:solidFill>
                          <a:latin typeface="Roboto" panose="02000000000000000000" pitchFamily="2" charset="0"/>
                          <a:ea typeface="Roboto" panose="02000000000000000000" pitchFamily="2" charset="0"/>
                          <a:cs typeface="Roboto" panose="02000000000000000000" pitchFamily="2" charset="0"/>
                        </a:rPr>
                        <a:t>type</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r>
              <a:tr h="340000">
                <a:tc>
                  <a:txBody>
                    <a:bodyPr/>
                    <a:lstStyle/>
                    <a:p>
                      <a:r>
                        <a:rPr lang="en-IN" sz="900" b="1" dirty="0">
                          <a:solidFill>
                            <a:schemeClr val="tx1"/>
                          </a:solidFill>
                          <a:latin typeface="Roboto" panose="02000000000000000000" pitchFamily="2" charset="0"/>
                          <a:ea typeface="Roboto" panose="02000000000000000000" pitchFamily="2" charset="0"/>
                          <a:cs typeface="Roboto" panose="02000000000000000000" pitchFamily="2" charset="0"/>
                        </a:rPr>
                        <a:t>Object shapes</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900" b="0" dirty="0">
                          <a:solidFill>
                            <a:schemeClr val="tx1"/>
                          </a:solidFill>
                          <a:latin typeface="Roboto" panose="02000000000000000000" pitchFamily="2" charset="0"/>
                          <a:ea typeface="Roboto" panose="02000000000000000000" pitchFamily="2" charset="0"/>
                          <a:cs typeface="Roboto" panose="02000000000000000000" pitchFamily="2" charset="0"/>
                        </a:rPr>
                        <a:t>Excellent</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900" b="0" dirty="0">
                          <a:solidFill>
                            <a:schemeClr val="tx1"/>
                          </a:solidFill>
                          <a:latin typeface="Roboto" panose="02000000000000000000" pitchFamily="2" charset="0"/>
                          <a:ea typeface="Roboto" panose="02000000000000000000" pitchFamily="2" charset="0"/>
                          <a:cs typeface="Roboto" panose="02000000000000000000" pitchFamily="2" charset="0"/>
                        </a:rPr>
                        <a:t>Excellent</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40000">
                <a:tc>
                  <a:txBody>
                    <a:bodyPr/>
                    <a:lstStyle/>
                    <a:p>
                      <a:r>
                        <a:rPr lang="en-IN" sz="900" b="1" dirty="0">
                          <a:solidFill>
                            <a:schemeClr val="tx1"/>
                          </a:solidFill>
                          <a:latin typeface="Roboto" panose="02000000000000000000" pitchFamily="2" charset="0"/>
                          <a:ea typeface="Roboto" panose="02000000000000000000" pitchFamily="2" charset="0"/>
                          <a:cs typeface="Roboto" panose="02000000000000000000" pitchFamily="2" charset="0"/>
                        </a:rPr>
                        <a:t>Primitives, unions</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900" b="0" dirty="0">
                          <a:solidFill>
                            <a:schemeClr val="tx1"/>
                          </a:solidFill>
                          <a:latin typeface="Roboto" panose="02000000000000000000" pitchFamily="2" charset="0"/>
                          <a:ea typeface="Roboto" panose="02000000000000000000" pitchFamily="2" charset="0"/>
                          <a:cs typeface="Roboto" panose="02000000000000000000" pitchFamily="2" charset="0"/>
                        </a:rPr>
                        <a:t>No</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900" b="0" dirty="0">
                          <a:solidFill>
                            <a:schemeClr val="tx1"/>
                          </a:solidFill>
                          <a:latin typeface="Roboto" panose="02000000000000000000" pitchFamily="2" charset="0"/>
                          <a:ea typeface="Roboto" panose="02000000000000000000" pitchFamily="2" charset="0"/>
                          <a:cs typeface="Roboto" panose="02000000000000000000" pitchFamily="2" charset="0"/>
                        </a:rPr>
                        <a:t>Yes</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40000">
                <a:tc>
                  <a:txBody>
                    <a:bodyPr/>
                    <a:lstStyle/>
                    <a:p>
                      <a:r>
                        <a:rPr lang="en-IN" sz="900" b="1" dirty="0">
                          <a:solidFill>
                            <a:schemeClr val="tx1"/>
                          </a:solidFill>
                          <a:latin typeface="Roboto" panose="02000000000000000000" pitchFamily="2" charset="0"/>
                          <a:ea typeface="Roboto" panose="02000000000000000000" pitchFamily="2" charset="0"/>
                          <a:cs typeface="Roboto" panose="02000000000000000000" pitchFamily="2" charset="0"/>
                        </a:rPr>
                        <a:t>Extends / combines</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900" b="0" dirty="0">
                          <a:solidFill>
                            <a:schemeClr val="tx1"/>
                          </a:solidFill>
                          <a:latin typeface="Roboto" panose="02000000000000000000" pitchFamily="2" charset="0"/>
                          <a:ea typeface="Roboto" panose="02000000000000000000" pitchFamily="2" charset="0"/>
                          <a:cs typeface="Roboto" panose="02000000000000000000" pitchFamily="2" charset="0"/>
                        </a:rPr>
                        <a:t>extends</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900" b="0" dirty="0">
                          <a:solidFill>
                            <a:schemeClr val="tx1"/>
                          </a:solidFill>
                          <a:latin typeface="Roboto" panose="02000000000000000000" pitchFamily="2" charset="0"/>
                          <a:ea typeface="Roboto" panose="02000000000000000000" pitchFamily="2" charset="0"/>
                          <a:cs typeface="Roboto" panose="02000000000000000000" pitchFamily="2" charset="0"/>
                        </a:rPr>
                        <a:t>&amp; intersection</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40000">
                <a:tc>
                  <a:txBody>
                    <a:bodyPr/>
                    <a:lstStyle/>
                    <a:p>
                      <a:r>
                        <a:rPr lang="en-IN" sz="900" b="1" dirty="0">
                          <a:solidFill>
                            <a:schemeClr val="tx1"/>
                          </a:solidFill>
                          <a:latin typeface="Roboto" panose="02000000000000000000" pitchFamily="2" charset="0"/>
                          <a:ea typeface="Roboto" panose="02000000000000000000" pitchFamily="2" charset="0"/>
                          <a:cs typeface="Roboto" panose="02000000000000000000" pitchFamily="2" charset="0"/>
                        </a:rPr>
                        <a:t>Declaration merging</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900" b="0" dirty="0">
                          <a:solidFill>
                            <a:schemeClr val="tx1"/>
                          </a:solidFill>
                          <a:latin typeface="Roboto" panose="02000000000000000000" pitchFamily="2" charset="0"/>
                          <a:ea typeface="Roboto" panose="02000000000000000000" pitchFamily="2" charset="0"/>
                          <a:cs typeface="Roboto" panose="02000000000000000000" pitchFamily="2" charset="0"/>
                        </a:rPr>
                        <a:t>Yes</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900" b="0" dirty="0">
                          <a:solidFill>
                            <a:schemeClr val="tx1"/>
                          </a:solidFill>
                          <a:latin typeface="Roboto" panose="02000000000000000000" pitchFamily="2" charset="0"/>
                          <a:ea typeface="Roboto" panose="02000000000000000000" pitchFamily="2" charset="0"/>
                          <a:cs typeface="Roboto" panose="02000000000000000000" pitchFamily="2" charset="0"/>
                        </a:rPr>
                        <a:t>No</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40000">
                <a:tc>
                  <a:txBody>
                    <a:bodyPr/>
                    <a:lstStyle/>
                    <a:p>
                      <a:r>
                        <a:rPr lang="en-IN" sz="900" b="1" dirty="0">
                          <a:solidFill>
                            <a:schemeClr val="tx1"/>
                          </a:solidFill>
                          <a:latin typeface="Roboto" panose="02000000000000000000" pitchFamily="2" charset="0"/>
                          <a:ea typeface="Roboto" panose="02000000000000000000" pitchFamily="2" charset="0"/>
                          <a:cs typeface="Roboto" panose="02000000000000000000" pitchFamily="2" charset="0"/>
                        </a:rPr>
                        <a:t>Error messages</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900" b="0" dirty="0">
                          <a:solidFill>
                            <a:schemeClr val="tx1"/>
                          </a:solidFill>
                          <a:latin typeface="Roboto" panose="02000000000000000000" pitchFamily="2" charset="0"/>
                          <a:ea typeface="Roboto" panose="02000000000000000000" pitchFamily="2" charset="0"/>
                          <a:cs typeface="Roboto" panose="02000000000000000000" pitchFamily="2" charset="0"/>
                        </a:rPr>
                        <a:t>Clearer</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900" b="0" dirty="0">
                          <a:solidFill>
                            <a:schemeClr val="tx1"/>
                          </a:solidFill>
                          <a:latin typeface="Roboto" panose="02000000000000000000" pitchFamily="2" charset="0"/>
                          <a:ea typeface="Roboto" panose="02000000000000000000" pitchFamily="2" charset="0"/>
                          <a:cs typeface="Roboto" panose="02000000000000000000" pitchFamily="2" charset="0"/>
                        </a:rPr>
                        <a:t>Can be verbose</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550" name="Code panel"/>
          <p:cNvSpPr/>
          <p:nvPr/>
        </p:nvSpPr>
        <p:spPr>
          <a:xfrm>
            <a:off x="4300000" y="500000"/>
            <a:ext cx="4350000" cy="853776"/>
          </a:xfrm>
          <a:prstGeom prst="roundRect">
            <a:avLst>
              <a:gd name="adj" fmla="val 3500"/>
            </a:avLst>
          </a:prstGeom>
          <a:solidFill>
            <a:srgbClr val="0E2455"/>
          </a:solidFill>
          <a:ln>
            <a:noFill/>
          </a:ln>
          <a:effectLst>
            <a:outerShdw blurRad="63500" dist="25400" dir="5400000" algn="t" rotWithShape="0">
              <a:srgbClr val="000000">
                <a:alpha val="22000"/>
              </a:srgbClr>
            </a:outerShdw>
          </a:effectLst>
        </p:spPr>
        <p:txBody>
          <a:bodyPr rtlCol="0" anchor="ctr"/>
          <a:lstStyle/>
          <a:p>
            <a:pPr algn="ctr"/>
          </a:p>
        </p:txBody>
      </p:sp>
      <p:sp>
        <p:nvSpPr>
          <p:cNvPr id="551" name="Dot 1"/>
          <p:cNvSpPr/>
          <p:nvPr/>
        </p:nvSpPr>
        <p:spPr>
          <a:xfrm>
            <a:off x="4420000" y="605000"/>
            <a:ext cx="70000" cy="70000"/>
          </a:xfrm>
          <a:prstGeom prst="ellipse">
            <a:avLst/>
          </a:prstGeom>
          <a:solidFill>
            <a:srgbClr val="C00000"/>
          </a:solidFill>
          <a:ln>
            <a:noFill/>
          </a:ln>
        </p:spPr>
        <p:txBody>
          <a:bodyPr rtlCol="0" anchor="ctr"/>
          <a:lstStyle/>
          <a:p>
            <a:pPr algn="ctr"/>
          </a:p>
        </p:txBody>
      </p:sp>
      <p:sp>
        <p:nvSpPr>
          <p:cNvPr id="552" name="Dot 2"/>
          <p:cNvSpPr/>
          <p:nvPr/>
        </p:nvSpPr>
        <p:spPr>
          <a:xfrm>
            <a:off x="4550000" y="605000"/>
            <a:ext cx="70000" cy="70000"/>
          </a:xfrm>
          <a:prstGeom prst="ellipse">
            <a:avLst/>
          </a:prstGeom>
          <a:solidFill>
            <a:srgbClr val="F2B705"/>
          </a:solidFill>
          <a:ln>
            <a:noFill/>
          </a:ln>
        </p:spPr>
        <p:txBody>
          <a:bodyPr rtlCol="0" anchor="ctr"/>
          <a:lstStyle/>
          <a:p>
            <a:pPr algn="ctr"/>
          </a:p>
        </p:txBody>
      </p:sp>
      <p:sp>
        <p:nvSpPr>
          <p:cNvPr id="553" name="Dot 3"/>
          <p:cNvSpPr/>
          <p:nvPr/>
        </p:nvSpPr>
        <p:spPr>
          <a:xfrm>
            <a:off x="4680000" y="605000"/>
            <a:ext cx="70000" cy="70000"/>
          </a:xfrm>
          <a:prstGeom prst="ellipse">
            <a:avLst/>
          </a:prstGeom>
          <a:solidFill>
            <a:srgbClr val="3DAE5C"/>
          </a:solidFill>
          <a:ln>
            <a:noFill/>
          </a:ln>
        </p:spPr>
        <p:txBody>
          <a:bodyPr rtlCol="0" anchor="ctr"/>
          <a:lstStyle/>
          <a:p>
            <a:pPr algn="ctr"/>
          </a:p>
        </p:txBody>
      </p:sp>
      <p:sp>
        <p:nvSpPr>
          <p:cNvPr id="554" name="File name"/>
          <p:cNvSpPr txBox="1"/>
          <p:nvPr/>
        </p:nvSpPr>
        <p:spPr>
          <a:xfrm>
            <a:off x="4860000" y="560000"/>
            <a:ext cx="2200000" cy="170000"/>
          </a:xfrm>
          <a:prstGeom prst="rect">
            <a:avLst/>
          </a:prstGeom>
          <a:noFill/>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 sz="900" b="1" i="0" u="none" strike="noStrike" cap="none" dirty="0">
                <a:solidFill>
                  <a:srgbClr val="8FA3C4"/>
                </a:solidFill>
                <a:latin typeface="Courier New"/>
                <a:ea typeface="Courier New"/>
                <a:cs typeface="Courier New"/>
                <a:sym typeface="Courier New"/>
              </a:rPr>
              <a:t>declaration merging</a:t>
            </a:r>
            <a:endParaRPr lang="en" sz="900" b="0" i="0" u="none" strike="noStrike" cap="none" dirty="0">
              <a:solidFill>
                <a:srgbClr val="000000"/>
              </a:solidFill>
              <a:latin typeface="Roboto"/>
              <a:ea typeface="Roboto"/>
              <a:cs typeface="Roboto"/>
              <a:sym typeface="Roboto"/>
            </a:endParaRPr>
          </a:p>
        </p:txBody>
      </p:sp>
      <p:sp>
        <p:nvSpPr>
          <p:cNvPr id="555" name="Code label"/>
          <p:cNvSpPr txBox="1"/>
          <p:nvPr/>
        </p:nvSpPr>
        <p:spPr>
          <a:xfrm>
            <a:off x="7650000" y="555000"/>
            <a:ext cx="900000" cy="170000"/>
          </a:xfrm>
          <a:prstGeom prst="rect">
            <a:avLst/>
          </a:prstGeom>
          <a:noFill/>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800" b="1" i="0" u="none" strike="noStrike" cap="none" dirty="0">
                <a:solidFill>
                  <a:srgbClr val="8FA3C4"/>
                </a:solidFill>
                <a:latin typeface="Roboto"/>
                <a:ea typeface="Roboto"/>
                <a:cs typeface="Roboto"/>
                <a:sym typeface="Roboto"/>
              </a:rPr>
              <a:t>TS</a:t>
            </a:r>
            <a:endParaRPr lang="en" sz="800" b="0" i="0" u="none" strike="noStrike" cap="none" dirty="0">
              <a:solidFill>
                <a:srgbClr val="000000"/>
              </a:solidFill>
              <a:latin typeface="Roboto"/>
              <a:ea typeface="Roboto"/>
              <a:cs typeface="Roboto"/>
              <a:sym typeface="Roboto"/>
            </a:endParaRPr>
          </a:p>
        </p:txBody>
      </p:sp>
      <p:sp>
        <p:nvSpPr>
          <p:cNvPr id="556" name="Code"/>
          <p:cNvSpPr txBox="1"/>
          <p:nvPr/>
        </p:nvSpPr>
        <p:spPr>
          <a:xfrm>
            <a:off x="4360000" y="750000"/>
            <a:ext cx="4230000" cy="573776"/>
          </a:xfrm>
          <a:prstGeom prst="rect">
            <a:avLst/>
          </a:prstGeom>
          <a:noFill/>
        </p:spPr>
        <p:txBody>
          <a:bodyPr spcFirstLastPara="1" wrap="square" lIns="86025" tIns="0" rIns="60000" bIns="0" anchor="t" anchorCtr="0">
            <a:noAutofit/>
          </a:bodyPr>
          <a:lstStyle/>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interface Window { title: string }</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interface Window { version: number }</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1" u="none" strike="noStrike" cap="none" dirty="0">
                <a:solidFill>
                  <a:srgbClr val="8FA3C4"/>
                </a:solidFill>
                <a:latin typeface="Courier New"/>
                <a:ea typeface="Courier New"/>
                <a:cs typeface="Courier New"/>
                <a:sym typeface="Courier New"/>
              </a:rPr>
              <a:t>// Window now has BOTH title and version</a:t>
            </a:r>
            <a:endParaRPr lang="en" sz="1000" b="0" i="0" u="none" strike="noStrike" cap="none" dirty="0">
              <a:solidFill>
                <a:srgbClr val="000000"/>
              </a:solidFill>
              <a:latin typeface="Roboto"/>
              <a:ea typeface="Roboto"/>
              <a:cs typeface="Roboto"/>
              <a:sym typeface="Roboto"/>
            </a:endParaRPr>
          </a:p>
        </p:txBody>
      </p:sp>
      <p:sp>
        <p:nvSpPr>
          <p:cNvPr id="557" name="Visual panel"/>
          <p:cNvSpPr/>
          <p:nvPr/>
        </p:nvSpPr>
        <p:spPr>
          <a:xfrm>
            <a:off x="4300000" y="1473776"/>
            <a:ext cx="4350000" cy="2000000"/>
          </a:xfrm>
          <a:prstGeom prst="roundRect">
            <a:avLst>
              <a:gd name="adj" fmla="val 3000"/>
            </a:avLst>
          </a:prstGeom>
          <a:solidFill>
            <a:srgbClr val="FFFFFF"/>
          </a:solidFill>
          <a:ln w="9525">
            <a:solidFill>
              <a:srgbClr val="D9D9D9"/>
            </a:solidFill>
          </a:ln>
          <a:effectLst>
            <a:outerShdw blurRad="63500" dist="25400" dir="5400000" algn="t" rotWithShape="0">
              <a:srgbClr val="000000">
                <a:alpha val="22000"/>
              </a:srgbClr>
            </a:outerShdw>
          </a:effectLst>
        </p:spPr>
        <p:txBody>
          <a:bodyPr rtlCol="0" anchor="ctr"/>
          <a:lstStyle/>
          <a:p>
            <a:pPr algn="ctr"/>
          </a:p>
        </p:txBody>
      </p:sp>
      <p:sp>
        <p:nvSpPr>
          <p:cNvPr id="558" name="Panel heading"/>
          <p:cNvSpPr txBox="1"/>
          <p:nvPr/>
        </p:nvSpPr>
        <p:spPr>
          <a:xfrm>
            <a:off x="4450000" y="1583776"/>
            <a:ext cx="4000000" cy="270000"/>
          </a:xfrm>
          <a:prstGeom prst="rect">
            <a:avLst/>
          </a:prstGeom>
          <a:noFill/>
        </p:spPr>
        <p:txBody>
          <a:bodyPr spcFirstLastPara="1" wrap="square" lIns="0" tIns="30000" rIns="0" bIns="0" anchor="t" anchorCtr="0">
            <a:noAutofit/>
          </a:bodyPr>
          <a:lstStyle/>
          <a:p>
            <a:pPr marL="0" marR="0" lvl="0" indent="0" algn="l" rtl="0">
              <a:lnSpc>
                <a:spcPct val="100000"/>
              </a:lnSpc>
              <a:spcBef>
                <a:spcPts val="0"/>
              </a:spcBef>
              <a:spcAft>
                <a:spcPts val="0"/>
              </a:spcAft>
              <a:buNone/>
            </a:pPr>
            <a:r>
              <a:rPr lang="en" sz="1100" b="1" i="0" u="none" strike="noStrike" cap="none" dirty="0">
                <a:solidFill>
                  <a:srgbClr val="0053A1"/>
                </a:solidFill>
                <a:latin typeface="Poppins SemiBold"/>
                <a:ea typeface="Poppins SemiBold"/>
                <a:cs typeface="Poppins SemiBold"/>
                <a:sym typeface="Poppins SemiBold"/>
              </a:rPr>
              <a:t>Guidelines</a:t>
            </a:r>
            <a:endParaRPr lang="en" sz="1100" b="0" i="0" u="none" strike="noStrike" cap="none" dirty="0">
              <a:solidFill>
                <a:srgbClr val="000000"/>
              </a:solidFill>
              <a:latin typeface="Roboto"/>
              <a:ea typeface="Roboto"/>
              <a:cs typeface="Roboto"/>
              <a:sym typeface="Roboto"/>
            </a:endParaRPr>
          </a:p>
        </p:txBody>
      </p:sp>
      <p:sp>
        <p:nvSpPr>
          <p:cNvPr id="559" name="Body"/>
          <p:cNvSpPr txBox="1"/>
          <p:nvPr/>
        </p:nvSpPr>
        <p:spPr>
          <a:xfrm>
            <a:off x="4400000" y="1893776"/>
            <a:ext cx="4100000" cy="1500000"/>
          </a:xfrm>
          <a:prstGeom prst="rect">
            <a:avLst/>
          </a:prstGeom>
          <a:noFill/>
        </p:spPr>
        <p:txBody>
          <a:bodyPr spcFirstLastPara="1" wrap="square" lIns="86025" tIns="43000" rIns="86025" bIns="43000" anchor="t" anchorCtr="0">
            <a:noAutofit/>
          </a:bodyPr>
          <a:lstStyle/>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Object or class contract: </a:t>
            </a:r>
            <a:r>
              <a:rPr lang="en" sz="1100" b="1" i="0" u="none" strike="noStrike" cap="none" dirty="0">
                <a:solidFill>
                  <a:schemeClr val="tx1"/>
                </a:solidFill>
                <a:latin typeface="Roboto"/>
                <a:ea typeface="Roboto"/>
                <a:cs typeface="Roboto"/>
                <a:sym typeface="Roboto"/>
              </a:rPr>
              <a:t>interface</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Unions, primitives, combinations: </a:t>
            </a:r>
            <a:r>
              <a:rPr lang="en" sz="1100" b="1" i="0" u="none" strike="noStrike" cap="none" dirty="0">
                <a:solidFill>
                  <a:schemeClr val="tx1"/>
                </a:solidFill>
                <a:latin typeface="Roboto"/>
                <a:ea typeface="Roboto"/>
                <a:cs typeface="Roboto"/>
                <a:sym typeface="Roboto"/>
              </a:rPr>
              <a:t>type</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Pick one and stay consistent</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95% interchangeable for objects - do not stress</a:t>
            </a:r>
            <a:endParaRPr lang="en" sz="1100" b="0" i="0" u="none" strike="noStrike" cap="none" dirty="0">
              <a:solidFill>
                <a:srgbClr val="000000"/>
              </a:solidFill>
              <a:latin typeface="Roboto"/>
              <a:ea typeface="Roboto"/>
              <a:cs typeface="Roboto"/>
              <a:sym typeface="Roboto"/>
            </a:endParaRP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grpSpPr/>
      <p:pic>
        <p:nvPicPr>
          <p:cNvPr id="110" name="Google Shape;110;p15" title="Untitled-1-07.png"/>
          <p:cNvPicPr preferRelativeResize="0"/>
          <p:nvPr/>
        </p:nvPicPr>
        <p:blipFill rotWithShape="1">
          <a:blip r:embed="rId2">
            <a:alphaModFix/>
          </a:blip>
          <a:srcRect l="5100" r="4630" b="15895"/>
          <a:stretch/>
        </p:blipFill>
        <p:spPr>
          <a:xfrm>
            <a:off x="880549" y="4348257"/>
            <a:ext cx="2096958" cy="548700"/>
          </a:xfrm>
          <a:prstGeom prst="rect">
            <a:avLst/>
          </a:prstGeom>
          <a:noFill/>
          <a:ln>
            <a:noFill/>
          </a:ln>
        </p:spPr>
      </p:pic>
      <p:pic>
        <p:nvPicPr>
          <p:cNvPr id="111" name="Google Shape;111;p15" title="powerd by.png"/>
          <p:cNvPicPr preferRelativeResize="0"/>
          <p:nvPr/>
        </p:nvPicPr>
        <p:blipFill rotWithShape="1">
          <a:blip r:embed="rId5">
            <a:alphaModFix/>
          </a:blip>
          <a:srcRect l="6981" t="44048" r="6714" b="14302"/>
          <a:stretch/>
        </p:blipFill>
        <p:spPr>
          <a:xfrm>
            <a:off x="3537800" y="4500588"/>
            <a:ext cx="2130125" cy="355975"/>
          </a:xfrm>
          <a:prstGeom prst="rect">
            <a:avLst/>
          </a:prstGeom>
          <a:noFill/>
          <a:ln>
            <a:noFill/>
          </a:ln>
        </p:spPr>
      </p:pic>
      <p:sp>
        <p:nvSpPr>
          <p:cNvPr id="112" name="Google Shape;112;p15"/>
          <p:cNvSpPr txBox="1"/>
          <p:nvPr/>
        </p:nvSpPr>
        <p:spPr>
          <a:xfrm>
            <a:off x="5998012" y="4596047"/>
            <a:ext cx="2436900" cy="253800"/>
          </a:xfrm>
          <a:prstGeom prst="rect">
            <a:avLst/>
          </a:prstGeom>
          <a:noFill/>
          <a:ln>
            <a:noFill/>
          </a:ln>
        </p:spPr>
        <p:txBody>
          <a:bodyPr spcFirstLastPara="1" wrap="non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0053A1"/>
                </a:solidFill>
                <a:latin typeface="Roboto"/>
                <a:ea typeface="Roboto"/>
                <a:cs typeface="Roboto"/>
                <a:sym typeface="Roboto"/>
              </a:rPr>
              <a:t>www.</a:t>
            </a:r>
            <a:r>
              <a:rPr lang="en" sz="1200" b="1">
                <a:solidFill>
                  <a:srgbClr val="0053A1"/>
                </a:solidFill>
                <a:latin typeface="Roboto"/>
                <a:ea typeface="Roboto"/>
                <a:cs typeface="Roboto"/>
                <a:sym typeface="Roboto"/>
              </a:rPr>
              <a:t>careercraftacademy.com</a:t>
            </a:r>
            <a:endParaRPr sz="1200" b="1" i="0" u="none" strike="noStrike" cap="none">
              <a:solidFill>
                <a:srgbClr val="0053A1"/>
              </a:solidFill>
              <a:latin typeface="Roboto"/>
              <a:ea typeface="Roboto"/>
              <a:cs typeface="Roboto"/>
              <a:sym typeface="Roboto"/>
            </a:endParaRPr>
          </a:p>
        </p:txBody>
      </p:sp>
      <p:pic>
        <p:nvPicPr>
          <p:cNvPr id="114" name="Google Shape;114;p15"/>
          <p:cNvPicPr preferRelativeResize="0"/>
          <p:nvPr/>
        </p:nvPicPr>
        <p:blipFill>
          <a:blip r:embed="rId4">
            <a:alphaModFix/>
          </a:blip>
          <a:stretch>
            <a:fillRect/>
          </a:stretch>
        </p:blipFill>
        <p:spPr>
          <a:xfrm>
            <a:off x="8447868" y="4368945"/>
            <a:ext cx="334175" cy="480903"/>
          </a:xfrm>
          <a:prstGeom prst="rect">
            <a:avLst/>
          </a:prstGeom>
          <a:noFill/>
          <a:ln>
            <a:noFill/>
          </a:ln>
        </p:spPr>
      </p:pic>
      <p:sp>
        <p:nvSpPr>
          <p:cNvPr id="560" name="Kicker"/>
          <p:cNvSpPr txBox="1"/>
          <p:nvPr/>
        </p:nvSpPr>
        <p:spPr>
          <a:xfrm>
            <a:off x="675600" y="285000"/>
            <a:ext cx="3560000" cy="241200"/>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1003" b="0" i="0" u="none" strike="noStrike" cap="none" dirty="0">
                <a:solidFill>
                  <a:srgbClr val="7F7F7F"/>
                </a:solidFill>
                <a:latin typeface="Roboto"/>
                <a:ea typeface="Roboto"/>
                <a:cs typeface="Roboto"/>
                <a:sym typeface="Roboto"/>
              </a:rPr>
              <a:t>Advanced Types</a:t>
            </a:r>
            <a:endParaRPr lang="en" sz="1003" b="0" i="0" u="none" strike="noStrike" cap="none" dirty="0">
              <a:solidFill>
                <a:srgbClr val="000000"/>
              </a:solidFill>
              <a:latin typeface="Roboto"/>
              <a:ea typeface="Roboto"/>
              <a:cs typeface="Roboto"/>
              <a:sym typeface="Roboto"/>
            </a:endParaRPr>
          </a:p>
        </p:txBody>
      </p:sp>
      <p:sp>
        <p:nvSpPr>
          <p:cNvPr id="561" name="Title"/>
          <p:cNvSpPr txBox="1"/>
          <p:nvPr/>
        </p:nvSpPr>
        <p:spPr>
          <a:xfrm>
            <a:off x="675600" y="520000"/>
            <a:ext cx="3560000" cy="763948"/>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2200" b="1" i="0" u="none" strike="noStrike" cap="none" dirty="0">
                <a:solidFill>
                  <a:srgbClr val="0053A1"/>
                </a:solidFill>
                <a:latin typeface="Poppins SemiBold"/>
                <a:ea typeface="Poppins SemiBold"/>
                <a:cs typeface="Poppins SemiBold"/>
                <a:sym typeface="Poppins SemiBold"/>
              </a:rPr>
              <a:t>Union and</a:t>
            </a:r>
            <a:endParaRPr lang="en" sz="2200" b="0" i="0" u="none" strike="noStrike" cap="none" dirty="0">
              <a:solidFill>
                <a:srgbClr val="000000"/>
              </a:solidFill>
              <a:latin typeface="Roboto"/>
              <a:ea typeface="Roboto"/>
              <a:cs typeface="Roboto"/>
              <a:sym typeface="Roboto"/>
            </a:endParaRPr>
          </a:p>
          <a:p>
            <a:pPr marL="0" marR="0" lvl="0" indent="0" algn="l" rtl="0">
              <a:lnSpc>
                <a:spcPct val="100000"/>
              </a:lnSpc>
              <a:spcBef>
                <a:spcPts val="0"/>
              </a:spcBef>
              <a:spcAft>
                <a:spcPts val="0"/>
              </a:spcAft>
              <a:buNone/>
            </a:pPr>
            <a:r>
              <a:rPr lang="en" sz="2200" b="1" i="0" u="none" strike="noStrike" cap="none" dirty="0">
                <a:solidFill>
                  <a:srgbClr val="000000"/>
                </a:solidFill>
                <a:latin typeface="Poppins SemiBold"/>
                <a:ea typeface="Poppins SemiBold"/>
                <a:cs typeface="Poppins SemiBold"/>
                <a:sym typeface="Poppins SemiBold"/>
              </a:rPr>
              <a:t>Intersection Types</a:t>
            </a:r>
            <a:endParaRPr lang="en" sz="2200" b="0" i="0" u="none" strike="noStrike" cap="none" dirty="0">
              <a:solidFill>
                <a:srgbClr val="000000"/>
              </a:solidFill>
              <a:latin typeface="Roboto"/>
              <a:ea typeface="Roboto"/>
              <a:cs typeface="Roboto"/>
              <a:sym typeface="Roboto"/>
            </a:endParaRPr>
          </a:p>
        </p:txBody>
      </p:sp>
      <p:sp>
        <p:nvSpPr>
          <p:cNvPr id="562" name="Body"/>
          <p:cNvSpPr txBox="1"/>
          <p:nvPr/>
        </p:nvSpPr>
        <p:spPr>
          <a:xfrm>
            <a:off x="620000" y="1383000"/>
            <a:ext cx="3560000" cy="1246780"/>
          </a:xfrm>
          <a:prstGeom prst="rect">
            <a:avLst/>
          </a:prstGeom>
          <a:noFill/>
        </p:spPr>
        <p:txBody>
          <a:bodyPr spcFirstLastPara="1" wrap="square" lIns="86025" tIns="43000" rIns="86025" bIns="43000" anchor="t" anchorCtr="0">
            <a:noAutofit/>
          </a:bodyPr>
          <a:lstStyle/>
          <a:p>
            <a:pPr marL="171450" marR="0" lvl="0" indent="-171450" algn="l" rtl="0">
              <a:lnSpc>
                <a:spcPct val="125000"/>
              </a:lnSpc>
              <a:spcBef>
                <a:spcPts val="100"/>
              </a:spcBef>
              <a:spcAft>
                <a:spcPts val="0"/>
              </a:spcAft>
              <a:buClr>
                <a:srgbClr val="000000"/>
              </a:buClr>
              <a:buSzPts val="1100"/>
              <a:buFont typeface="Arial"/>
              <a:buChar char="•"/>
            </a:pPr>
            <a:r>
              <a:rPr lang="en" sz="1100" b="1" i="0" u="none" strike="noStrike" cap="none" dirty="0">
                <a:solidFill>
                  <a:schemeClr val="tx1"/>
                </a:solidFill>
                <a:latin typeface="Roboto"/>
                <a:ea typeface="Roboto"/>
                <a:cs typeface="Roboto"/>
                <a:sym typeface="Roboto"/>
              </a:rPr>
              <a:t>Union</a:t>
            </a:r>
            <a:r>
              <a:rPr lang="en" sz="1100" b="0" i="0" u="none" strike="noStrike" cap="none" dirty="0">
                <a:solidFill>
                  <a:schemeClr val="tx1"/>
                </a:solidFill>
                <a:latin typeface="Roboto"/>
                <a:ea typeface="Roboto"/>
                <a:cs typeface="Roboto"/>
                <a:sym typeface="Roboto"/>
              </a:rPr>
              <a:t> </a:t>
            </a:r>
            <a:r>
              <a:rPr lang="en" sz="1050" b="1" i="0" u="none" strike="noStrike" cap="none" dirty="0">
                <a:solidFill>
                  <a:srgbClr val="0053A1"/>
                </a:solidFill>
                <a:latin typeface="Courier New"/>
                <a:ea typeface="Courier New"/>
                <a:cs typeface="Courier New"/>
                <a:sym typeface="Courier New"/>
              </a:rPr>
              <a:t>|</a:t>
            </a:r>
            <a:r>
              <a:rPr lang="en" sz="1100" b="0" i="0" u="none" strike="noStrike" cap="none" dirty="0">
                <a:solidFill>
                  <a:schemeClr val="tx1"/>
                </a:solidFill>
                <a:latin typeface="Roboto"/>
                <a:ea typeface="Roboto"/>
                <a:cs typeface="Roboto"/>
                <a:sym typeface="Roboto"/>
              </a:rPr>
              <a:t> - one of several types</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1" i="0" u="none" strike="noStrike" cap="none" dirty="0">
                <a:solidFill>
                  <a:schemeClr val="tx1"/>
                </a:solidFill>
                <a:latin typeface="Roboto"/>
                <a:ea typeface="Roboto"/>
                <a:cs typeface="Roboto"/>
                <a:sym typeface="Roboto"/>
              </a:rPr>
              <a:t>Intersection</a:t>
            </a:r>
            <a:r>
              <a:rPr lang="en" sz="1100" b="0" i="0" u="none" strike="noStrike" cap="none" dirty="0">
                <a:solidFill>
                  <a:schemeClr val="tx1"/>
                </a:solidFill>
                <a:latin typeface="Roboto"/>
                <a:ea typeface="Roboto"/>
                <a:cs typeface="Roboto"/>
                <a:sym typeface="Roboto"/>
              </a:rPr>
              <a:t> </a:t>
            </a:r>
            <a:r>
              <a:rPr lang="en" sz="1050" b="1" i="0" u="none" strike="noStrike" cap="none" dirty="0">
                <a:solidFill>
                  <a:srgbClr val="0053A1"/>
                </a:solidFill>
                <a:latin typeface="Courier New"/>
                <a:ea typeface="Courier New"/>
                <a:cs typeface="Courier New"/>
                <a:sym typeface="Courier New"/>
              </a:rPr>
              <a:t>&amp;</a:t>
            </a:r>
            <a:r>
              <a:rPr lang="en" sz="1100" b="0" i="0" u="none" strike="noStrike" cap="none" dirty="0">
                <a:solidFill>
                  <a:schemeClr val="tx1"/>
                </a:solidFill>
                <a:latin typeface="Roboto"/>
                <a:ea typeface="Roboto"/>
                <a:cs typeface="Roboto"/>
                <a:sym typeface="Roboto"/>
              </a:rPr>
              <a:t> - all types combined</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1" i="0" u="none" strike="noStrike" cap="none" dirty="0">
                <a:solidFill>
                  <a:schemeClr val="tx1"/>
                </a:solidFill>
                <a:latin typeface="Roboto"/>
                <a:ea typeface="Roboto"/>
                <a:cs typeface="Roboto"/>
                <a:sym typeface="Roboto"/>
              </a:rPr>
              <a:t>Narrowing</a:t>
            </a:r>
            <a:r>
              <a:rPr lang="en" sz="1100" b="0" i="0" u="none" strike="noStrike" cap="none" dirty="0">
                <a:solidFill>
                  <a:schemeClr val="tx1"/>
                </a:solidFill>
                <a:latin typeface="Roboto"/>
                <a:ea typeface="Roboto"/>
                <a:cs typeface="Roboto"/>
                <a:sym typeface="Roboto"/>
              </a:rPr>
              <a:t> - </a:t>
            </a:r>
            <a:r>
              <a:rPr lang="en" sz="1050" b="1" i="0" u="none" strike="noStrike" cap="none" dirty="0">
                <a:solidFill>
                  <a:srgbClr val="0053A1"/>
                </a:solidFill>
                <a:latin typeface="Courier New"/>
                <a:ea typeface="Courier New"/>
                <a:cs typeface="Courier New"/>
                <a:sym typeface="Courier New"/>
              </a:rPr>
              <a:t>typeof</a:t>
            </a:r>
            <a:r>
              <a:rPr lang="en" sz="1100" b="0" i="0" u="none" strike="noStrike" cap="none" dirty="0">
                <a:solidFill>
                  <a:schemeClr val="tx1"/>
                </a:solidFill>
                <a:latin typeface="Roboto"/>
                <a:ea typeface="Roboto"/>
                <a:cs typeface="Roboto"/>
                <a:sym typeface="Roboto"/>
              </a:rPr>
              <a:t>, </a:t>
            </a:r>
            <a:r>
              <a:rPr lang="en" sz="1050" b="1" i="0" u="none" strike="noStrike" cap="none" dirty="0">
                <a:solidFill>
                  <a:srgbClr val="0053A1"/>
                </a:solidFill>
                <a:latin typeface="Courier New"/>
                <a:ea typeface="Courier New"/>
                <a:cs typeface="Courier New"/>
                <a:sym typeface="Courier New"/>
              </a:rPr>
              <a:t>in</a:t>
            </a:r>
            <a:r>
              <a:rPr lang="en" sz="1100" b="0" i="0" u="none" strike="noStrike" cap="none" dirty="0">
                <a:solidFill>
                  <a:schemeClr val="tx1"/>
                </a:solidFill>
                <a:latin typeface="Roboto"/>
                <a:ea typeface="Roboto"/>
                <a:cs typeface="Roboto"/>
                <a:sym typeface="Roboto"/>
              </a:rPr>
              <a:t> checks</a:t>
            </a:r>
            <a:endParaRPr lang="en" sz="1100" b="0" i="0" u="none" strike="noStrike" cap="none" dirty="0">
              <a:solidFill>
                <a:srgbClr val="000000"/>
              </a:solidFill>
              <a:latin typeface="Roboto"/>
              <a:ea typeface="Roboto"/>
              <a:cs typeface="Roboto"/>
              <a:sym typeface="Roboto"/>
            </a:endParaRPr>
          </a:p>
          <a:p>
            <a:pPr marL="0" marR="0" lvl="0" indent="0" algn="l" rtl="0">
              <a:lnSpc>
                <a:spcPct val="135000"/>
              </a:lnSpc>
              <a:spcBef>
                <a:spcPts val="0"/>
              </a:spcBef>
              <a:spcAft>
                <a:spcPts val="300"/>
              </a:spcAft>
              <a:buNone/>
            </a:pPr>
            <a:r>
              <a:rPr lang="en" sz="1100" b="0" i="0" u="none" strike="noStrike" cap="none" dirty="0">
                <a:solidFill>
                  <a:schemeClr val="tx1"/>
                </a:solidFill>
                <a:latin typeface="Roboto"/>
                <a:ea typeface="Roboto"/>
                <a:cs typeface="Roboto"/>
                <a:sym typeface="Roboto"/>
              </a:rPr>
              <a:t>Unions model either / or data: success or failure.</a:t>
            </a:r>
            <a:endParaRPr lang="en" sz="1100" b="0" i="0" u="none" strike="noStrike" cap="none" dirty="0">
              <a:solidFill>
                <a:srgbClr val="000000"/>
              </a:solidFill>
              <a:latin typeface="Roboto"/>
              <a:ea typeface="Roboto"/>
              <a:cs typeface="Roboto"/>
              <a:sym typeface="Roboto"/>
            </a:endParaRPr>
          </a:p>
        </p:txBody>
      </p:sp>
      <p:sp>
        <p:nvSpPr>
          <p:cNvPr id="563" name="Code panel"/>
          <p:cNvSpPr/>
          <p:nvPr/>
        </p:nvSpPr>
        <p:spPr>
          <a:xfrm>
            <a:off x="4300000" y="500000"/>
            <a:ext cx="4350000" cy="2581992"/>
          </a:xfrm>
          <a:prstGeom prst="roundRect">
            <a:avLst>
              <a:gd name="adj" fmla="val 3500"/>
            </a:avLst>
          </a:prstGeom>
          <a:solidFill>
            <a:srgbClr val="0E2455"/>
          </a:solidFill>
          <a:ln>
            <a:noFill/>
          </a:ln>
          <a:effectLst>
            <a:outerShdw blurRad="63500" dist="25400" dir="5400000" algn="t" rotWithShape="0">
              <a:srgbClr val="000000">
                <a:alpha val="22000"/>
              </a:srgbClr>
            </a:outerShdw>
          </a:effectLst>
        </p:spPr>
        <p:txBody>
          <a:bodyPr rtlCol="0" anchor="ctr"/>
          <a:lstStyle/>
          <a:p>
            <a:pPr algn="ctr"/>
          </a:p>
        </p:txBody>
      </p:sp>
      <p:sp>
        <p:nvSpPr>
          <p:cNvPr id="564" name="Dot 1"/>
          <p:cNvSpPr/>
          <p:nvPr/>
        </p:nvSpPr>
        <p:spPr>
          <a:xfrm>
            <a:off x="4420000" y="605000"/>
            <a:ext cx="70000" cy="70000"/>
          </a:xfrm>
          <a:prstGeom prst="ellipse">
            <a:avLst/>
          </a:prstGeom>
          <a:solidFill>
            <a:srgbClr val="C00000"/>
          </a:solidFill>
          <a:ln>
            <a:noFill/>
          </a:ln>
        </p:spPr>
        <p:txBody>
          <a:bodyPr rtlCol="0" anchor="ctr"/>
          <a:lstStyle/>
          <a:p>
            <a:pPr algn="ctr"/>
          </a:p>
        </p:txBody>
      </p:sp>
      <p:sp>
        <p:nvSpPr>
          <p:cNvPr id="565" name="Dot 2"/>
          <p:cNvSpPr/>
          <p:nvPr/>
        </p:nvSpPr>
        <p:spPr>
          <a:xfrm>
            <a:off x="4550000" y="605000"/>
            <a:ext cx="70000" cy="70000"/>
          </a:xfrm>
          <a:prstGeom prst="ellipse">
            <a:avLst/>
          </a:prstGeom>
          <a:solidFill>
            <a:srgbClr val="F2B705"/>
          </a:solidFill>
          <a:ln>
            <a:noFill/>
          </a:ln>
        </p:spPr>
        <p:txBody>
          <a:bodyPr rtlCol="0" anchor="ctr"/>
          <a:lstStyle/>
          <a:p>
            <a:pPr algn="ctr"/>
          </a:p>
        </p:txBody>
      </p:sp>
      <p:sp>
        <p:nvSpPr>
          <p:cNvPr id="566" name="Dot 3"/>
          <p:cNvSpPr/>
          <p:nvPr/>
        </p:nvSpPr>
        <p:spPr>
          <a:xfrm>
            <a:off x="4680000" y="605000"/>
            <a:ext cx="70000" cy="70000"/>
          </a:xfrm>
          <a:prstGeom prst="ellipse">
            <a:avLst/>
          </a:prstGeom>
          <a:solidFill>
            <a:srgbClr val="3DAE5C"/>
          </a:solidFill>
          <a:ln>
            <a:noFill/>
          </a:ln>
        </p:spPr>
        <p:txBody>
          <a:bodyPr rtlCol="0" anchor="ctr"/>
          <a:lstStyle/>
          <a:p>
            <a:pPr algn="ctr"/>
          </a:p>
        </p:txBody>
      </p:sp>
      <p:sp>
        <p:nvSpPr>
          <p:cNvPr id="567" name="Code label"/>
          <p:cNvSpPr txBox="1"/>
          <p:nvPr/>
        </p:nvSpPr>
        <p:spPr>
          <a:xfrm>
            <a:off x="7650000" y="555000"/>
            <a:ext cx="900000" cy="170000"/>
          </a:xfrm>
          <a:prstGeom prst="rect">
            <a:avLst/>
          </a:prstGeom>
          <a:noFill/>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800" b="1" i="0" u="none" strike="noStrike" cap="none" dirty="0">
                <a:solidFill>
                  <a:srgbClr val="8FA3C4"/>
                </a:solidFill>
                <a:latin typeface="Roboto"/>
                <a:ea typeface="Roboto"/>
                <a:cs typeface="Roboto"/>
                <a:sym typeface="Roboto"/>
              </a:rPr>
              <a:t>TS</a:t>
            </a:r>
            <a:endParaRPr lang="en" sz="800" b="0" i="0" u="none" strike="noStrike" cap="none" dirty="0">
              <a:solidFill>
                <a:srgbClr val="000000"/>
              </a:solidFill>
              <a:latin typeface="Roboto"/>
              <a:ea typeface="Roboto"/>
              <a:cs typeface="Roboto"/>
              <a:sym typeface="Roboto"/>
            </a:endParaRPr>
          </a:p>
        </p:txBody>
      </p:sp>
      <p:sp>
        <p:nvSpPr>
          <p:cNvPr id="568" name="Code"/>
          <p:cNvSpPr txBox="1"/>
          <p:nvPr/>
        </p:nvSpPr>
        <p:spPr>
          <a:xfrm>
            <a:off x="4360000" y="750000"/>
            <a:ext cx="4230000" cy="2301992"/>
          </a:xfrm>
          <a:prstGeom prst="rect">
            <a:avLst/>
          </a:prstGeom>
          <a:noFill/>
        </p:spPr>
        <p:txBody>
          <a:bodyPr spcFirstLastPara="1" wrap="square" lIns="86025" tIns="0" rIns="60000" bIns="0" anchor="t" anchorCtr="0">
            <a:noAutofit/>
          </a:bodyPr>
          <a:lstStyle/>
          <a:p>
            <a:pPr marL="0" marR="0" lvl="0" indent="0" algn="l" rtl="0">
              <a:lnSpc>
                <a:spcPct val="108000"/>
              </a:lnSpc>
              <a:spcBef>
                <a:spcPts val="0"/>
              </a:spcBef>
              <a:spcAft>
                <a:spcPts val="0"/>
              </a:spcAft>
              <a:buNone/>
            </a:pPr>
            <a:r>
              <a:rPr lang="en" sz="900" b="0" i="1" u="none" strike="noStrike" cap="none" dirty="0">
                <a:solidFill>
                  <a:srgbClr val="8FA3C4"/>
                </a:solidFill>
                <a:latin typeface="Courier New"/>
                <a:ea typeface="Courier New"/>
                <a:cs typeface="Courier New"/>
                <a:sym typeface="Courier New"/>
              </a:rPr>
              <a:t>// UNION</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8CC4FF"/>
                </a:solidFill>
                <a:latin typeface="Courier New"/>
                <a:ea typeface="Courier New"/>
                <a:cs typeface="Courier New"/>
                <a:sym typeface="Courier New"/>
              </a:rPr>
              <a:t>function</a:t>
            </a:r>
            <a:r>
              <a:rPr lang="en" sz="900" b="0" i="0" u="none" strike="noStrike" cap="none" dirty="0">
                <a:solidFill>
                  <a:srgbClr val="E6ECF7"/>
                </a:solidFill>
                <a:latin typeface="Courier New"/>
                <a:ea typeface="Courier New"/>
                <a:cs typeface="Courier New"/>
                <a:sym typeface="Courier New"/>
              </a:rPr>
              <a:t> formatId(id: string | number): string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8CC4FF"/>
                </a:solidFill>
                <a:latin typeface="Courier New"/>
                <a:ea typeface="Courier New"/>
                <a:cs typeface="Courier New"/>
                <a:sym typeface="Courier New"/>
              </a:rPr>
              <a:t>if</a:t>
            </a:r>
            <a:r>
              <a:rPr lang="en" sz="900" b="0" i="0" u="none" strike="noStrike" cap="none" dirty="0">
                <a:solidFill>
                  <a:srgbClr val="E6ECF7"/>
                </a:solidFill>
                <a:latin typeface="Courier New"/>
                <a:ea typeface="Courier New"/>
                <a:cs typeface="Courier New"/>
                <a:sym typeface="Courier New"/>
              </a:rPr>
              <a:t> (typeof id === </a:t>
            </a:r>
            <a:r>
              <a:rPr lang="en" sz="900" b="0" i="0" u="none" strike="noStrike" cap="none" dirty="0">
                <a:solidFill>
                  <a:srgbClr val="FFC878"/>
                </a:solidFill>
                <a:latin typeface="Courier New"/>
                <a:ea typeface="Courier New"/>
                <a:cs typeface="Courier New"/>
                <a:sym typeface="Courier New"/>
              </a:rPr>
              <a:t>"string"</a:t>
            </a: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8CC4FF"/>
                </a:solidFill>
                <a:latin typeface="Courier New"/>
                <a:ea typeface="Courier New"/>
                <a:cs typeface="Courier New"/>
                <a:sym typeface="Courier New"/>
              </a:rPr>
              <a:t>return</a:t>
            </a:r>
            <a:r>
              <a:rPr lang="en" sz="900" b="0" i="0" u="none" strike="noStrike" cap="none" dirty="0">
                <a:solidFill>
                  <a:srgbClr val="E6ECF7"/>
                </a:solidFill>
                <a:latin typeface="Courier New"/>
                <a:ea typeface="Courier New"/>
                <a:cs typeface="Courier New"/>
                <a:sym typeface="Courier New"/>
              </a:rPr>
              <a:t> id.toUpperCase();</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8CC4FF"/>
                </a:solidFill>
                <a:latin typeface="Courier New"/>
                <a:ea typeface="Courier New"/>
                <a:cs typeface="Courier New"/>
                <a:sym typeface="Courier New"/>
              </a:rPr>
              <a:t>return</a:t>
            </a:r>
            <a:r>
              <a:rPr lang="en" sz="900" b="0" i="0" u="none" strike="noStrike" cap="none" dirty="0">
                <a:solidFill>
                  <a:srgbClr val="E6ECF7"/>
                </a:solidFill>
                <a:latin typeface="Courier New"/>
                <a:ea typeface="Courier New"/>
                <a:cs typeface="Courier New"/>
                <a:sym typeface="Courier New"/>
              </a:rPr>
              <a:t> id.toFixed(</a:t>
            </a:r>
            <a:r>
              <a:rPr lang="en" sz="900" b="0" i="0" u="none" strike="noStrike" cap="none" dirty="0">
                <a:solidFill>
                  <a:srgbClr val="F2B705"/>
                </a:solidFill>
                <a:latin typeface="Courier New"/>
                <a:ea typeface="Courier New"/>
                <a:cs typeface="Courier New"/>
                <a:sym typeface="Courier New"/>
              </a:rPr>
              <a:t>0</a:t>
            </a:r>
            <a:r>
              <a:rPr lang="en" sz="900" b="0" i="0" u="none" strike="noStrike" cap="none" dirty="0">
                <a:solidFill>
                  <a:srgbClr val="E6ECF7"/>
                </a:solidFill>
                <a:latin typeface="Courier New"/>
                <a:ea typeface="Courier New"/>
                <a:cs typeface="Courier New"/>
                <a:sym typeface="Courier New"/>
              </a:rPr>
              <a:t>); </a:t>
            </a:r>
            <a:r>
              <a:rPr lang="en" sz="900" b="0" i="1" u="none" strike="noStrike" cap="none" dirty="0">
                <a:solidFill>
                  <a:srgbClr val="8FA3C4"/>
                </a:solidFill>
                <a:latin typeface="Courier New"/>
                <a:ea typeface="Courier New"/>
                <a:cs typeface="Courier New"/>
                <a:sym typeface="Courier New"/>
              </a:rPr>
              <a:t>// narrowed to number</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1" u="none" strike="noStrike" cap="none" dirty="0">
                <a:solidFill>
                  <a:srgbClr val="8FA3C4"/>
                </a:solidFill>
                <a:latin typeface="Courier New"/>
                <a:ea typeface="Courier New"/>
                <a:cs typeface="Courier New"/>
                <a:sym typeface="Courier New"/>
              </a:rPr>
              <a:t>// INTERSECTION</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type Serializable = { serialize(): string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type Loggable = { log(): void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type SmartObject = Serializable &amp; Loggable;</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1" u="none" strike="noStrike" cap="none" dirty="0">
                <a:solidFill>
                  <a:srgbClr val="8FA3C4"/>
                </a:solidFill>
                <a:latin typeface="Courier New"/>
                <a:ea typeface="Courier New"/>
                <a:cs typeface="Courier New"/>
                <a:sym typeface="Courier New"/>
              </a:rPr>
              <a:t>// Discriminated union</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type Result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 { ok: </a:t>
            </a:r>
            <a:r>
              <a:rPr lang="en" sz="900" b="0" i="0" u="none" strike="noStrike" cap="none" dirty="0">
                <a:solidFill>
                  <a:srgbClr val="8CC4FF"/>
                </a:solidFill>
                <a:latin typeface="Courier New"/>
                <a:ea typeface="Courier New"/>
                <a:cs typeface="Courier New"/>
                <a:sym typeface="Courier New"/>
              </a:rPr>
              <a:t>true</a:t>
            </a:r>
            <a:r>
              <a:rPr lang="en" sz="900" b="0" i="0" u="none" strike="noStrike" cap="none" dirty="0">
                <a:solidFill>
                  <a:srgbClr val="E6ECF7"/>
                </a:solidFill>
                <a:latin typeface="Courier New"/>
                <a:ea typeface="Courier New"/>
                <a:cs typeface="Courier New"/>
                <a:sym typeface="Courier New"/>
              </a:rPr>
              <a:t>; value: string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 { ok: </a:t>
            </a:r>
            <a:r>
              <a:rPr lang="en" sz="900" b="0" i="0" u="none" strike="noStrike" cap="none" dirty="0">
                <a:solidFill>
                  <a:srgbClr val="8CC4FF"/>
                </a:solidFill>
                <a:latin typeface="Courier New"/>
                <a:ea typeface="Courier New"/>
                <a:cs typeface="Courier New"/>
                <a:sym typeface="Courier New"/>
              </a:rPr>
              <a:t>false</a:t>
            </a:r>
            <a:r>
              <a:rPr lang="en" sz="900" b="0" i="0" u="none" strike="noStrike" cap="none" dirty="0">
                <a:solidFill>
                  <a:srgbClr val="E6ECF7"/>
                </a:solidFill>
                <a:latin typeface="Courier New"/>
                <a:ea typeface="Courier New"/>
                <a:cs typeface="Courier New"/>
                <a:sym typeface="Courier New"/>
              </a:rPr>
              <a:t>; error: string };</a:t>
            </a:r>
            <a:endParaRPr lang="en" sz="900" b="0" i="0" u="none" strike="noStrike" cap="none" dirty="0">
              <a:solidFill>
                <a:srgbClr val="000000"/>
              </a:solidFill>
              <a:latin typeface="Roboto"/>
              <a:ea typeface="Roboto"/>
              <a:cs typeface="Roboto"/>
              <a:sym typeface="Roboto"/>
            </a:endParaRP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grpSpPr/>
      <p:pic>
        <p:nvPicPr>
          <p:cNvPr id="110" name="Google Shape;110;p15" title="Untitled-1-07.png"/>
          <p:cNvPicPr preferRelativeResize="0"/>
          <p:nvPr/>
        </p:nvPicPr>
        <p:blipFill rotWithShape="1">
          <a:blip r:embed="rId2">
            <a:alphaModFix/>
          </a:blip>
          <a:srcRect l="5100" r="4630" b="15895"/>
          <a:stretch/>
        </p:blipFill>
        <p:spPr>
          <a:xfrm>
            <a:off x="880549" y="4348257"/>
            <a:ext cx="2096958" cy="548700"/>
          </a:xfrm>
          <a:prstGeom prst="rect">
            <a:avLst/>
          </a:prstGeom>
          <a:noFill/>
          <a:ln>
            <a:noFill/>
          </a:ln>
        </p:spPr>
      </p:pic>
      <p:pic>
        <p:nvPicPr>
          <p:cNvPr id="111" name="Google Shape;111;p15" title="powerd by.png"/>
          <p:cNvPicPr preferRelativeResize="0"/>
          <p:nvPr/>
        </p:nvPicPr>
        <p:blipFill rotWithShape="1">
          <a:blip r:embed="rId5">
            <a:alphaModFix/>
          </a:blip>
          <a:srcRect l="6981" t="44048" r="6714" b="14302"/>
          <a:stretch/>
        </p:blipFill>
        <p:spPr>
          <a:xfrm>
            <a:off x="3537800" y="4500588"/>
            <a:ext cx="2130125" cy="355975"/>
          </a:xfrm>
          <a:prstGeom prst="rect">
            <a:avLst/>
          </a:prstGeom>
          <a:noFill/>
          <a:ln>
            <a:noFill/>
          </a:ln>
        </p:spPr>
      </p:pic>
      <p:sp>
        <p:nvSpPr>
          <p:cNvPr id="112" name="Google Shape;112;p15"/>
          <p:cNvSpPr txBox="1"/>
          <p:nvPr/>
        </p:nvSpPr>
        <p:spPr>
          <a:xfrm>
            <a:off x="5998012" y="4596047"/>
            <a:ext cx="2436900" cy="253800"/>
          </a:xfrm>
          <a:prstGeom prst="rect">
            <a:avLst/>
          </a:prstGeom>
          <a:noFill/>
          <a:ln>
            <a:noFill/>
          </a:ln>
        </p:spPr>
        <p:txBody>
          <a:bodyPr spcFirstLastPara="1" wrap="non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0053A1"/>
                </a:solidFill>
                <a:latin typeface="Roboto"/>
                <a:ea typeface="Roboto"/>
                <a:cs typeface="Roboto"/>
                <a:sym typeface="Roboto"/>
              </a:rPr>
              <a:t>www.</a:t>
            </a:r>
            <a:r>
              <a:rPr lang="en" sz="1200" b="1">
                <a:solidFill>
                  <a:srgbClr val="0053A1"/>
                </a:solidFill>
                <a:latin typeface="Roboto"/>
                <a:ea typeface="Roboto"/>
                <a:cs typeface="Roboto"/>
                <a:sym typeface="Roboto"/>
              </a:rPr>
              <a:t>careercraftacademy.com</a:t>
            </a:r>
            <a:endParaRPr sz="1200" b="1" i="0" u="none" strike="noStrike" cap="none">
              <a:solidFill>
                <a:srgbClr val="0053A1"/>
              </a:solidFill>
              <a:latin typeface="Roboto"/>
              <a:ea typeface="Roboto"/>
              <a:cs typeface="Roboto"/>
              <a:sym typeface="Roboto"/>
            </a:endParaRPr>
          </a:p>
        </p:txBody>
      </p:sp>
      <p:pic>
        <p:nvPicPr>
          <p:cNvPr id="114" name="Google Shape;114;p15"/>
          <p:cNvPicPr preferRelativeResize="0"/>
          <p:nvPr/>
        </p:nvPicPr>
        <p:blipFill>
          <a:blip r:embed="rId4">
            <a:alphaModFix/>
          </a:blip>
          <a:stretch>
            <a:fillRect/>
          </a:stretch>
        </p:blipFill>
        <p:spPr>
          <a:xfrm>
            <a:off x="8447868" y="4368945"/>
            <a:ext cx="334175" cy="480903"/>
          </a:xfrm>
          <a:prstGeom prst="rect">
            <a:avLst/>
          </a:prstGeom>
          <a:noFill/>
          <a:ln>
            <a:noFill/>
          </a:ln>
        </p:spPr>
      </p:pic>
      <p:sp>
        <p:nvSpPr>
          <p:cNvPr id="569" name="Kicker"/>
          <p:cNvSpPr txBox="1"/>
          <p:nvPr/>
        </p:nvSpPr>
        <p:spPr>
          <a:xfrm>
            <a:off x="675600" y="285000"/>
            <a:ext cx="3560000" cy="241200"/>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1003" b="0" i="0" u="none" strike="noStrike" cap="none" dirty="0">
                <a:solidFill>
                  <a:srgbClr val="7F7F7F"/>
                </a:solidFill>
                <a:latin typeface="Roboto"/>
                <a:ea typeface="Roboto"/>
                <a:cs typeface="Roboto"/>
                <a:sym typeface="Roboto"/>
              </a:rPr>
              <a:t>Advanced Types</a:t>
            </a:r>
            <a:endParaRPr lang="en" sz="1003" b="0" i="0" u="none" strike="noStrike" cap="none" dirty="0">
              <a:solidFill>
                <a:srgbClr val="000000"/>
              </a:solidFill>
              <a:latin typeface="Roboto"/>
              <a:ea typeface="Roboto"/>
              <a:cs typeface="Roboto"/>
              <a:sym typeface="Roboto"/>
            </a:endParaRPr>
          </a:p>
        </p:txBody>
      </p:sp>
      <p:sp>
        <p:nvSpPr>
          <p:cNvPr id="570" name="Title"/>
          <p:cNvSpPr txBox="1"/>
          <p:nvPr/>
        </p:nvSpPr>
        <p:spPr>
          <a:xfrm>
            <a:off x="675600" y="520000"/>
            <a:ext cx="3560000" cy="425394"/>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2200" b="1" i="0" u="none" strike="noStrike" cap="none" dirty="0">
                <a:solidFill>
                  <a:srgbClr val="0053A1"/>
                </a:solidFill>
                <a:latin typeface="Poppins SemiBold"/>
                <a:ea typeface="Poppins SemiBold"/>
                <a:cs typeface="Poppins SemiBold"/>
                <a:sym typeface="Poppins SemiBold"/>
              </a:rPr>
              <a:t>Generics</a:t>
            </a:r>
            <a:endParaRPr lang="en" sz="2200" b="0" i="0" u="none" strike="noStrike" cap="none" dirty="0">
              <a:solidFill>
                <a:srgbClr val="000000"/>
              </a:solidFill>
              <a:latin typeface="Roboto"/>
              <a:ea typeface="Roboto"/>
              <a:cs typeface="Roboto"/>
              <a:sym typeface="Roboto"/>
            </a:endParaRPr>
          </a:p>
        </p:txBody>
      </p:sp>
      <p:sp>
        <p:nvSpPr>
          <p:cNvPr id="571" name="Body"/>
          <p:cNvSpPr txBox="1"/>
          <p:nvPr/>
        </p:nvSpPr>
        <p:spPr>
          <a:xfrm>
            <a:off x="620000" y="1048000"/>
            <a:ext cx="3560000" cy="1457600"/>
          </a:xfrm>
          <a:prstGeom prst="rect">
            <a:avLst/>
          </a:prstGeom>
          <a:noFill/>
        </p:spPr>
        <p:txBody>
          <a:bodyPr spcFirstLastPara="1" wrap="square" lIns="86025" tIns="43000" rIns="86025" bIns="43000" anchor="t" anchorCtr="0">
            <a:noAutofit/>
          </a:bodyPr>
          <a:lstStyle/>
          <a:p>
            <a:pPr marL="171450" marR="0" lvl="0" indent="-171450" algn="l" rtl="0">
              <a:lnSpc>
                <a:spcPct val="125000"/>
              </a:lnSpc>
              <a:spcBef>
                <a:spcPts val="100"/>
              </a:spcBef>
              <a:spcAft>
                <a:spcPts val="0"/>
              </a:spcAft>
              <a:buClr>
                <a:srgbClr val="000000"/>
              </a:buClr>
              <a:buSzPts val="1100"/>
              <a:buFont typeface="Arial"/>
              <a:buChar char="•"/>
            </a:pPr>
            <a:r>
              <a:rPr lang="en" sz="1100" b="1" i="0" u="none" strike="noStrike" cap="none" dirty="0">
                <a:solidFill>
                  <a:schemeClr val="tx1"/>
                </a:solidFill>
                <a:latin typeface="Roboto"/>
                <a:ea typeface="Roboto"/>
                <a:cs typeface="Roboto"/>
                <a:sym typeface="Roboto"/>
              </a:rPr>
              <a:t>Generics</a:t>
            </a:r>
            <a:r>
              <a:rPr lang="en" sz="1100" b="0" i="0" u="none" strike="noStrike" cap="none" dirty="0">
                <a:solidFill>
                  <a:schemeClr val="tx1"/>
                </a:solidFill>
                <a:latin typeface="Roboto"/>
                <a:ea typeface="Roboto"/>
                <a:cs typeface="Roboto"/>
                <a:sym typeface="Roboto"/>
              </a:rPr>
              <a:t> </a:t>
            </a:r>
            <a:r>
              <a:rPr lang="en" sz="1050" b="1" i="0" u="none" strike="noStrike" cap="none" dirty="0">
                <a:solidFill>
                  <a:srgbClr val="0053A1"/>
                </a:solidFill>
                <a:latin typeface="Courier New"/>
                <a:ea typeface="Courier New"/>
                <a:cs typeface="Courier New"/>
                <a:sym typeface="Courier New"/>
              </a:rPr>
              <a:t>&lt;T&gt;</a:t>
            </a:r>
            <a:r>
              <a:rPr lang="en" sz="1100" b="0" i="0" u="none" strike="noStrike" cap="none" dirty="0">
                <a:solidFill>
                  <a:schemeClr val="tx1"/>
                </a:solidFill>
                <a:latin typeface="Roboto"/>
                <a:ea typeface="Roboto"/>
                <a:cs typeface="Roboto"/>
                <a:sym typeface="Roboto"/>
              </a:rPr>
              <a:t> are type variables</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050" b="1" i="0" u="none" strike="noStrike" cap="none" dirty="0">
                <a:solidFill>
                  <a:srgbClr val="0053A1"/>
                </a:solidFill>
                <a:latin typeface="Courier New"/>
                <a:ea typeface="Courier New"/>
                <a:cs typeface="Courier New"/>
                <a:sym typeface="Courier New"/>
              </a:rPr>
              <a:t>&lt;T&gt;</a:t>
            </a:r>
            <a:r>
              <a:rPr lang="en" sz="1100" b="0" i="0" u="none" strike="noStrike" cap="none" dirty="0">
                <a:solidFill>
                  <a:schemeClr val="tx1"/>
                </a:solidFill>
                <a:latin typeface="Roboto"/>
                <a:ea typeface="Roboto"/>
                <a:cs typeface="Roboto"/>
                <a:sym typeface="Roboto"/>
              </a:rPr>
              <a:t> is a placeholder filled in at call time</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050" b="1" i="0" u="none" strike="noStrike" cap="none" dirty="0">
                <a:solidFill>
                  <a:srgbClr val="0053A1"/>
                </a:solidFill>
                <a:latin typeface="Courier New"/>
                <a:ea typeface="Courier New"/>
                <a:cs typeface="Courier New"/>
                <a:sym typeface="Courier New"/>
              </a:rPr>
              <a:t>extends</a:t>
            </a:r>
            <a:r>
              <a:rPr lang="en" sz="1100" b="0" i="0" u="none" strike="noStrike" cap="none" dirty="0">
                <a:solidFill>
                  <a:schemeClr val="tx1"/>
                </a:solidFill>
                <a:latin typeface="Roboto"/>
                <a:ea typeface="Roboto"/>
                <a:cs typeface="Roboto"/>
                <a:sym typeface="Roboto"/>
              </a:rPr>
              <a:t> adds constraints</a:t>
            </a:r>
            <a:endParaRPr lang="en" sz="1100" b="0" i="0" u="none" strike="noStrike" cap="none" dirty="0">
              <a:solidFill>
                <a:srgbClr val="000000"/>
              </a:solidFill>
              <a:latin typeface="Roboto"/>
              <a:ea typeface="Roboto"/>
              <a:cs typeface="Roboto"/>
              <a:sym typeface="Roboto"/>
            </a:endParaRPr>
          </a:p>
          <a:p>
            <a:pPr marL="0" marR="0" lvl="0" indent="0" algn="l" rtl="0">
              <a:lnSpc>
                <a:spcPct val="135000"/>
              </a:lnSpc>
              <a:spcBef>
                <a:spcPts val="0"/>
              </a:spcBef>
              <a:spcAft>
                <a:spcPts val="300"/>
              </a:spcAft>
              <a:buNone/>
            </a:pPr>
            <a:r>
              <a:rPr lang="en" sz="1100" b="0" i="0" u="none" strike="noStrike" cap="none" dirty="0">
                <a:solidFill>
                  <a:schemeClr val="tx1"/>
                </a:solidFill>
                <a:latin typeface="Roboto"/>
                <a:ea typeface="Roboto"/>
                <a:cs typeface="Roboto"/>
                <a:sym typeface="Roboto"/>
              </a:rPr>
              <a:t>You already use them: </a:t>
            </a:r>
            <a:r>
              <a:rPr lang="en" sz="1050" b="1" i="0" u="none" strike="noStrike" cap="none" dirty="0">
                <a:solidFill>
                  <a:srgbClr val="0053A1"/>
                </a:solidFill>
                <a:latin typeface="Courier New"/>
                <a:ea typeface="Courier New"/>
                <a:cs typeface="Courier New"/>
                <a:sym typeface="Courier New"/>
              </a:rPr>
              <a:t>string[]</a:t>
            </a:r>
            <a:r>
              <a:rPr lang="en" sz="1100" b="0" i="0" u="none" strike="noStrike" cap="none" dirty="0">
                <a:solidFill>
                  <a:schemeClr val="tx1"/>
                </a:solidFill>
                <a:latin typeface="Roboto"/>
                <a:ea typeface="Roboto"/>
                <a:cs typeface="Roboto"/>
                <a:sym typeface="Roboto"/>
              </a:rPr>
              <a:t> is </a:t>
            </a:r>
            <a:r>
              <a:rPr lang="en" sz="1050" b="1" i="0" u="none" strike="noStrike" cap="none" dirty="0">
                <a:solidFill>
                  <a:srgbClr val="0053A1"/>
                </a:solidFill>
                <a:latin typeface="Courier New"/>
                <a:ea typeface="Courier New"/>
                <a:cs typeface="Courier New"/>
                <a:sym typeface="Courier New"/>
              </a:rPr>
              <a:t>Array&lt;string&gt;</a:t>
            </a:r>
            <a:r>
              <a:rPr lang="en" sz="1100" b="0" i="0" u="none" strike="noStrike" cap="none" dirty="0">
                <a:solidFill>
                  <a:schemeClr val="tx1"/>
                </a:solidFill>
                <a:latin typeface="Roboto"/>
                <a:ea typeface="Roboto"/>
                <a:cs typeface="Roboto"/>
                <a:sym typeface="Roboto"/>
              </a:rPr>
              <a:t>.</a:t>
            </a:r>
            <a:endParaRPr lang="en" sz="1100" b="0" i="0" u="none" strike="noStrike" cap="none" dirty="0">
              <a:solidFill>
                <a:srgbClr val="000000"/>
              </a:solidFill>
              <a:latin typeface="Roboto"/>
              <a:ea typeface="Roboto"/>
              <a:cs typeface="Roboto"/>
              <a:sym typeface="Roboto"/>
            </a:endParaRPr>
          </a:p>
        </p:txBody>
      </p:sp>
      <p:sp>
        <p:nvSpPr>
          <p:cNvPr id="572" name="Code panel"/>
          <p:cNvSpPr/>
          <p:nvPr/>
        </p:nvSpPr>
        <p:spPr>
          <a:xfrm>
            <a:off x="4300000" y="500000"/>
            <a:ext cx="4350000" cy="3026390"/>
          </a:xfrm>
          <a:prstGeom prst="roundRect">
            <a:avLst>
              <a:gd name="adj" fmla="val 3500"/>
            </a:avLst>
          </a:prstGeom>
          <a:solidFill>
            <a:srgbClr val="0E2455"/>
          </a:solidFill>
          <a:ln>
            <a:noFill/>
          </a:ln>
          <a:effectLst>
            <a:outerShdw blurRad="63500" dist="25400" dir="5400000" algn="t" rotWithShape="0">
              <a:srgbClr val="000000">
                <a:alpha val="22000"/>
              </a:srgbClr>
            </a:outerShdw>
          </a:effectLst>
        </p:spPr>
        <p:txBody>
          <a:bodyPr rtlCol="0" anchor="ctr"/>
          <a:lstStyle/>
          <a:p>
            <a:pPr algn="ctr"/>
          </a:p>
        </p:txBody>
      </p:sp>
      <p:sp>
        <p:nvSpPr>
          <p:cNvPr id="573" name="Dot 1"/>
          <p:cNvSpPr/>
          <p:nvPr/>
        </p:nvSpPr>
        <p:spPr>
          <a:xfrm>
            <a:off x="4420000" y="605000"/>
            <a:ext cx="70000" cy="70000"/>
          </a:xfrm>
          <a:prstGeom prst="ellipse">
            <a:avLst/>
          </a:prstGeom>
          <a:solidFill>
            <a:srgbClr val="C00000"/>
          </a:solidFill>
          <a:ln>
            <a:noFill/>
          </a:ln>
        </p:spPr>
        <p:txBody>
          <a:bodyPr rtlCol="0" anchor="ctr"/>
          <a:lstStyle/>
          <a:p>
            <a:pPr algn="ctr"/>
          </a:p>
        </p:txBody>
      </p:sp>
      <p:sp>
        <p:nvSpPr>
          <p:cNvPr id="574" name="Dot 2"/>
          <p:cNvSpPr/>
          <p:nvPr/>
        </p:nvSpPr>
        <p:spPr>
          <a:xfrm>
            <a:off x="4550000" y="605000"/>
            <a:ext cx="70000" cy="70000"/>
          </a:xfrm>
          <a:prstGeom prst="ellipse">
            <a:avLst/>
          </a:prstGeom>
          <a:solidFill>
            <a:srgbClr val="F2B705"/>
          </a:solidFill>
          <a:ln>
            <a:noFill/>
          </a:ln>
        </p:spPr>
        <p:txBody>
          <a:bodyPr rtlCol="0" anchor="ctr"/>
          <a:lstStyle/>
          <a:p>
            <a:pPr algn="ctr"/>
          </a:p>
        </p:txBody>
      </p:sp>
      <p:sp>
        <p:nvSpPr>
          <p:cNvPr id="575" name="Dot 3"/>
          <p:cNvSpPr/>
          <p:nvPr/>
        </p:nvSpPr>
        <p:spPr>
          <a:xfrm>
            <a:off x="4680000" y="605000"/>
            <a:ext cx="70000" cy="70000"/>
          </a:xfrm>
          <a:prstGeom prst="ellipse">
            <a:avLst/>
          </a:prstGeom>
          <a:solidFill>
            <a:srgbClr val="3DAE5C"/>
          </a:solidFill>
          <a:ln>
            <a:noFill/>
          </a:ln>
        </p:spPr>
        <p:txBody>
          <a:bodyPr rtlCol="0" anchor="ctr"/>
          <a:lstStyle/>
          <a:p>
            <a:pPr algn="ctr"/>
          </a:p>
        </p:txBody>
      </p:sp>
      <p:sp>
        <p:nvSpPr>
          <p:cNvPr id="576" name="Code label"/>
          <p:cNvSpPr txBox="1"/>
          <p:nvPr/>
        </p:nvSpPr>
        <p:spPr>
          <a:xfrm>
            <a:off x="7650000" y="555000"/>
            <a:ext cx="900000" cy="170000"/>
          </a:xfrm>
          <a:prstGeom prst="rect">
            <a:avLst/>
          </a:prstGeom>
          <a:noFill/>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800" b="1" i="0" u="none" strike="noStrike" cap="none" dirty="0">
                <a:solidFill>
                  <a:srgbClr val="8FA3C4"/>
                </a:solidFill>
                <a:latin typeface="Roboto"/>
                <a:ea typeface="Roboto"/>
                <a:cs typeface="Roboto"/>
                <a:sym typeface="Roboto"/>
              </a:rPr>
              <a:t>TS</a:t>
            </a:r>
            <a:endParaRPr lang="en" sz="800" b="0" i="0" u="none" strike="noStrike" cap="none" dirty="0">
              <a:solidFill>
                <a:srgbClr val="000000"/>
              </a:solidFill>
              <a:latin typeface="Roboto"/>
              <a:ea typeface="Roboto"/>
              <a:cs typeface="Roboto"/>
              <a:sym typeface="Roboto"/>
            </a:endParaRPr>
          </a:p>
        </p:txBody>
      </p:sp>
      <p:sp>
        <p:nvSpPr>
          <p:cNvPr id="577" name="Code"/>
          <p:cNvSpPr txBox="1"/>
          <p:nvPr/>
        </p:nvSpPr>
        <p:spPr>
          <a:xfrm>
            <a:off x="4360000" y="750000"/>
            <a:ext cx="4230000" cy="2746390"/>
          </a:xfrm>
          <a:prstGeom prst="rect">
            <a:avLst/>
          </a:prstGeom>
          <a:noFill/>
        </p:spPr>
        <p:txBody>
          <a:bodyPr spcFirstLastPara="1" wrap="square" lIns="86025" tIns="0" rIns="60000" bIns="0" anchor="t" anchorCtr="0">
            <a:noAutofit/>
          </a:bodyPr>
          <a:lstStyle/>
          <a:p>
            <a:pPr marL="0" marR="0" lvl="0" indent="0" algn="l" rtl="0">
              <a:lnSpc>
                <a:spcPct val="108000"/>
              </a:lnSpc>
              <a:spcBef>
                <a:spcPts val="0"/>
              </a:spcBef>
              <a:spcAft>
                <a:spcPts val="0"/>
              </a:spcAft>
              <a:buNone/>
            </a:pPr>
            <a:r>
              <a:rPr lang="en" sz="900" b="0" i="1" u="none" strike="noStrike" cap="none" dirty="0">
                <a:solidFill>
                  <a:srgbClr val="8FA3C4"/>
                </a:solidFill>
                <a:latin typeface="Courier New"/>
                <a:ea typeface="Courier New"/>
                <a:cs typeface="Courier New"/>
                <a:sym typeface="Courier New"/>
              </a:rPr>
              <a:t>// Without generics - loses type info</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8CC4FF"/>
                </a:solidFill>
                <a:latin typeface="Courier New"/>
                <a:ea typeface="Courier New"/>
                <a:cs typeface="Courier New"/>
                <a:sym typeface="Courier New"/>
              </a:rPr>
              <a:t>function</a:t>
            </a:r>
            <a:r>
              <a:rPr lang="en" sz="900" b="0" i="0" u="none" strike="noStrike" cap="none" dirty="0">
                <a:solidFill>
                  <a:srgbClr val="E6ECF7"/>
                </a:solidFill>
                <a:latin typeface="Courier New"/>
                <a:ea typeface="Courier New"/>
                <a:cs typeface="Courier New"/>
                <a:sym typeface="Courier New"/>
              </a:rPr>
              <a:t> firstBad(items: any[]): any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8CC4FF"/>
                </a:solidFill>
                <a:latin typeface="Courier New"/>
                <a:ea typeface="Courier New"/>
                <a:cs typeface="Courier New"/>
                <a:sym typeface="Courier New"/>
              </a:rPr>
              <a:t>return</a:t>
            </a:r>
            <a:r>
              <a:rPr lang="en" sz="900" b="0" i="0" u="none" strike="noStrike" cap="none" dirty="0">
                <a:solidFill>
                  <a:srgbClr val="E6ECF7"/>
                </a:solidFill>
                <a:latin typeface="Courier New"/>
                <a:ea typeface="Courier New"/>
                <a:cs typeface="Courier New"/>
                <a:sym typeface="Courier New"/>
              </a:rPr>
              <a:t> items[</a:t>
            </a:r>
            <a:r>
              <a:rPr lang="en" sz="900" b="0" i="0" u="none" strike="noStrike" cap="none" dirty="0">
                <a:solidFill>
                  <a:srgbClr val="F2B705"/>
                </a:solidFill>
                <a:latin typeface="Courier New"/>
                <a:ea typeface="Courier New"/>
                <a:cs typeface="Courier New"/>
                <a:sym typeface="Courier New"/>
              </a:rPr>
              <a:t>0</a:t>
            </a: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1" u="none" strike="noStrike" cap="none" dirty="0">
                <a:solidFill>
                  <a:srgbClr val="8FA3C4"/>
                </a:solidFill>
                <a:latin typeface="Courier New"/>
                <a:ea typeface="Courier New"/>
                <a:cs typeface="Courier New"/>
                <a:sym typeface="Courier New"/>
              </a:rPr>
              <a:t>// With generics - type flows through</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8CC4FF"/>
                </a:solidFill>
                <a:latin typeface="Courier New"/>
                <a:ea typeface="Courier New"/>
                <a:cs typeface="Courier New"/>
                <a:sym typeface="Courier New"/>
              </a:rPr>
              <a:t>function</a:t>
            </a:r>
            <a:r>
              <a:rPr lang="en" sz="900" b="0" i="0" u="none" strike="noStrike" cap="none" dirty="0">
                <a:solidFill>
                  <a:srgbClr val="E6ECF7"/>
                </a:solidFill>
                <a:latin typeface="Courier New"/>
                <a:ea typeface="Courier New"/>
                <a:cs typeface="Courier New"/>
                <a:sym typeface="Courier New"/>
              </a:rPr>
              <a:t> first&lt;T&gt;(items: T[]): T | </a:t>
            </a:r>
            <a:r>
              <a:rPr lang="en" sz="900" b="0" i="0" u="none" strike="noStrike" cap="none" dirty="0">
                <a:solidFill>
                  <a:srgbClr val="8CC4FF"/>
                </a:solidFill>
                <a:latin typeface="Courier New"/>
                <a:ea typeface="Courier New"/>
                <a:cs typeface="Courier New"/>
                <a:sym typeface="Courier New"/>
              </a:rPr>
              <a:t>undefined</a:t>
            </a: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8CC4FF"/>
                </a:solidFill>
                <a:latin typeface="Courier New"/>
                <a:ea typeface="Courier New"/>
                <a:cs typeface="Courier New"/>
                <a:sym typeface="Courier New"/>
              </a:rPr>
              <a:t>return</a:t>
            </a:r>
            <a:r>
              <a:rPr lang="en" sz="900" b="0" i="0" u="none" strike="noStrike" cap="none" dirty="0">
                <a:solidFill>
                  <a:srgbClr val="E6ECF7"/>
                </a:solidFill>
                <a:latin typeface="Courier New"/>
                <a:ea typeface="Courier New"/>
                <a:cs typeface="Courier New"/>
                <a:sym typeface="Courier New"/>
              </a:rPr>
              <a:t> items[</a:t>
            </a:r>
            <a:r>
              <a:rPr lang="en" sz="900" b="0" i="0" u="none" strike="noStrike" cap="none" dirty="0">
                <a:solidFill>
                  <a:srgbClr val="F2B705"/>
                </a:solidFill>
                <a:latin typeface="Courier New"/>
                <a:ea typeface="Courier New"/>
                <a:cs typeface="Courier New"/>
                <a:sym typeface="Courier New"/>
              </a:rPr>
              <a:t>0</a:t>
            </a: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8CC4FF"/>
                </a:solidFill>
                <a:latin typeface="Courier New"/>
                <a:ea typeface="Courier New"/>
                <a:cs typeface="Courier New"/>
                <a:sym typeface="Courier New"/>
              </a:rPr>
              <a:t>const</a:t>
            </a:r>
            <a:r>
              <a:rPr lang="en" sz="900" b="0" i="0" u="none" strike="noStrike" cap="none" dirty="0">
                <a:solidFill>
                  <a:srgbClr val="E6ECF7"/>
                </a:solidFill>
                <a:latin typeface="Courier New"/>
                <a:ea typeface="Courier New"/>
                <a:cs typeface="Courier New"/>
                <a:sym typeface="Courier New"/>
              </a:rPr>
              <a:t> num = first([</a:t>
            </a:r>
            <a:r>
              <a:rPr lang="en" sz="900" b="0" i="0" u="none" strike="noStrike" cap="none" dirty="0">
                <a:solidFill>
                  <a:srgbClr val="F2B705"/>
                </a:solidFill>
                <a:latin typeface="Courier New"/>
                <a:ea typeface="Courier New"/>
                <a:cs typeface="Courier New"/>
                <a:sym typeface="Courier New"/>
              </a:rPr>
              <a:t>1</a:t>
            </a: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F2B705"/>
                </a:solidFill>
                <a:latin typeface="Courier New"/>
                <a:ea typeface="Courier New"/>
                <a:cs typeface="Courier New"/>
                <a:sym typeface="Courier New"/>
              </a:rPr>
              <a:t>2</a:t>
            </a: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F2B705"/>
                </a:solidFill>
                <a:latin typeface="Courier New"/>
                <a:ea typeface="Courier New"/>
                <a:cs typeface="Courier New"/>
                <a:sym typeface="Courier New"/>
              </a:rPr>
              <a:t>3</a:t>
            </a:r>
            <a:r>
              <a:rPr lang="en" sz="900" b="0" i="0" u="none" strike="noStrike" cap="none" dirty="0">
                <a:solidFill>
                  <a:srgbClr val="E6ECF7"/>
                </a:solidFill>
                <a:latin typeface="Courier New"/>
                <a:ea typeface="Courier New"/>
                <a:cs typeface="Courier New"/>
                <a:sym typeface="Courier New"/>
              </a:rPr>
              <a:t>]);   </a:t>
            </a:r>
            <a:r>
              <a:rPr lang="en" sz="900" b="0" i="1" u="none" strike="noStrike" cap="none" dirty="0">
                <a:solidFill>
                  <a:srgbClr val="8FA3C4"/>
                </a:solidFill>
                <a:latin typeface="Courier New"/>
                <a:ea typeface="Courier New"/>
                <a:cs typeface="Courier New"/>
                <a:sym typeface="Courier New"/>
              </a:rPr>
              <a:t>// number | undefined</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8CC4FF"/>
                </a:solidFill>
                <a:latin typeface="Courier New"/>
                <a:ea typeface="Courier New"/>
                <a:cs typeface="Courier New"/>
                <a:sym typeface="Courier New"/>
              </a:rPr>
              <a:t>const</a:t>
            </a:r>
            <a:r>
              <a:rPr lang="en" sz="900" b="0" i="0" u="none" strike="noStrike" cap="none" dirty="0">
                <a:solidFill>
                  <a:srgbClr val="E6ECF7"/>
                </a:solidFill>
                <a:latin typeface="Courier New"/>
                <a:ea typeface="Courier New"/>
                <a:cs typeface="Courier New"/>
                <a:sym typeface="Courier New"/>
              </a:rPr>
              <a:t> name = first([</a:t>
            </a:r>
            <a:r>
              <a:rPr lang="en" sz="900" b="0" i="0" u="none" strike="noStrike" cap="none" dirty="0">
                <a:solidFill>
                  <a:srgbClr val="FFC878"/>
                </a:solidFill>
                <a:latin typeface="Courier New"/>
                <a:ea typeface="Courier New"/>
                <a:cs typeface="Courier New"/>
                <a:sym typeface="Courier New"/>
              </a:rPr>
              <a:t>"a"</a:t>
            </a:r>
            <a:r>
              <a:rPr lang="en" sz="900" b="0" i="0" u="none" strike="noStrike" cap="none" dirty="0">
                <a:solidFill>
                  <a:srgbClr val="E6ECF7"/>
                </a:solidFill>
                <a:latin typeface="Courier New"/>
                <a:ea typeface="Courier New"/>
                <a:cs typeface="Courier New"/>
                <a:sym typeface="Courier New"/>
              </a:rPr>
              <a:t>, </a:t>
            </a:r>
            <a:r>
              <a:rPr lang="en" sz="900" b="0" i="0" u="none" strike="noStrike" cap="none" dirty="0">
                <a:solidFill>
                  <a:srgbClr val="FFC878"/>
                </a:solidFill>
                <a:latin typeface="Courier New"/>
                <a:ea typeface="Courier New"/>
                <a:cs typeface="Courier New"/>
                <a:sym typeface="Courier New"/>
              </a:rPr>
              <a:t>"b"</a:t>
            </a:r>
            <a:r>
              <a:rPr lang="en" sz="900" b="0" i="0" u="none" strike="noStrike" cap="none" dirty="0">
                <a:solidFill>
                  <a:srgbClr val="E6ECF7"/>
                </a:solidFill>
                <a:latin typeface="Courier New"/>
                <a:ea typeface="Courier New"/>
                <a:cs typeface="Courier New"/>
                <a:sym typeface="Courier New"/>
              </a:rPr>
              <a:t>]); </a:t>
            </a:r>
            <a:r>
              <a:rPr lang="en" sz="900" b="0" i="1" u="none" strike="noStrike" cap="none" dirty="0">
                <a:solidFill>
                  <a:srgbClr val="8FA3C4"/>
                </a:solidFill>
                <a:latin typeface="Courier New"/>
                <a:ea typeface="Courier New"/>
                <a:cs typeface="Courier New"/>
                <a:sym typeface="Courier New"/>
              </a:rPr>
              <a:t>// string | undefined</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1" u="none" strike="noStrike" cap="none" dirty="0">
                <a:solidFill>
                  <a:srgbClr val="8FA3C4"/>
                </a:solidFill>
                <a:latin typeface="Courier New"/>
                <a:ea typeface="Courier New"/>
                <a:cs typeface="Courier New"/>
                <a:sym typeface="Courier New"/>
              </a:rPr>
              <a:t>// Constraint: T must have length</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8CC4FF"/>
                </a:solidFill>
                <a:latin typeface="Courier New"/>
                <a:ea typeface="Courier New"/>
                <a:cs typeface="Courier New"/>
                <a:sym typeface="Courier New"/>
              </a:rPr>
              <a:t>function</a:t>
            </a:r>
            <a:r>
              <a:rPr lang="en" sz="900" b="0" i="0" u="none" strike="noStrike" cap="none" dirty="0">
                <a:solidFill>
                  <a:srgbClr val="E6ECF7"/>
                </a:solidFill>
                <a:latin typeface="Courier New"/>
                <a:ea typeface="Courier New"/>
                <a:cs typeface="Courier New"/>
                <a:sym typeface="Courier New"/>
              </a:rPr>
              <a:t> logLength&lt;T </a:t>
            </a:r>
            <a:r>
              <a:rPr lang="en" sz="900" b="0" i="0" u="none" strike="noStrike" cap="none" dirty="0">
                <a:solidFill>
                  <a:srgbClr val="8CC4FF"/>
                </a:solidFill>
                <a:latin typeface="Courier New"/>
                <a:ea typeface="Courier New"/>
                <a:cs typeface="Courier New"/>
                <a:sym typeface="Courier New"/>
              </a:rPr>
              <a:t>extends</a:t>
            </a:r>
            <a:r>
              <a:rPr lang="en" sz="900" b="0" i="0" u="none" strike="noStrike" cap="none" dirty="0">
                <a:solidFill>
                  <a:srgbClr val="E6ECF7"/>
                </a:solidFill>
                <a:latin typeface="Courier New"/>
                <a:ea typeface="Courier New"/>
                <a:cs typeface="Courier New"/>
                <a:sym typeface="Courier New"/>
              </a:rPr>
              <a:t> { length: number }&gt;(item: 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console.log(item.length);</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logLength(</a:t>
            </a:r>
            <a:r>
              <a:rPr lang="en" sz="900" b="0" i="0" u="none" strike="noStrike" cap="none" dirty="0">
                <a:solidFill>
                  <a:srgbClr val="FFC878"/>
                </a:solidFill>
                <a:latin typeface="Courier New"/>
                <a:ea typeface="Courier New"/>
                <a:cs typeface="Courier New"/>
                <a:sym typeface="Courier New"/>
              </a:rPr>
              <a:t>"hello"</a:t>
            </a:r>
            <a:r>
              <a:rPr lang="en" sz="900" b="0" i="0" u="none" strike="noStrike" cap="none" dirty="0">
                <a:solidFill>
                  <a:srgbClr val="E6ECF7"/>
                </a:solidFill>
                <a:latin typeface="Courier New"/>
                <a:ea typeface="Courier New"/>
                <a:cs typeface="Courier New"/>
                <a:sym typeface="Courier New"/>
              </a:rPr>
              <a:t>); </a:t>
            </a:r>
            <a:r>
              <a:rPr lang="en" sz="900" b="0" i="1" u="none" strike="noStrike" cap="none" dirty="0">
                <a:solidFill>
                  <a:srgbClr val="8FA3C4"/>
                </a:solidFill>
                <a:latin typeface="Courier New"/>
                <a:ea typeface="Courier New"/>
                <a:cs typeface="Courier New"/>
                <a:sym typeface="Courier New"/>
              </a:rPr>
              <a:t>// OK</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logLength(</a:t>
            </a:r>
            <a:r>
              <a:rPr lang="en" sz="900" b="0" i="0" u="none" strike="noStrike" cap="none" dirty="0">
                <a:solidFill>
                  <a:srgbClr val="F2B705"/>
                </a:solidFill>
                <a:latin typeface="Courier New"/>
                <a:ea typeface="Courier New"/>
                <a:cs typeface="Courier New"/>
                <a:sym typeface="Courier New"/>
              </a:rPr>
              <a:t>42</a:t>
            </a:r>
            <a:r>
              <a:rPr lang="en" sz="900" b="0" i="0" u="none" strike="noStrike" cap="none" dirty="0">
                <a:solidFill>
                  <a:srgbClr val="E6ECF7"/>
                </a:solidFill>
                <a:latin typeface="Courier New"/>
                <a:ea typeface="Courier New"/>
                <a:cs typeface="Courier New"/>
                <a:sym typeface="Courier New"/>
              </a:rPr>
              <a:t>);      </a:t>
            </a:r>
            <a:r>
              <a:rPr lang="en" sz="900" b="0" i="1" u="none" strike="noStrike" cap="none" dirty="0">
                <a:solidFill>
                  <a:srgbClr val="8FA3C4"/>
                </a:solidFill>
                <a:latin typeface="Courier New"/>
                <a:ea typeface="Courier New"/>
                <a:cs typeface="Courier New"/>
                <a:sym typeface="Courier New"/>
              </a:rPr>
              <a:t>// Error: no length</a:t>
            </a:r>
            <a:endParaRPr lang="en" sz="900" b="0" i="0" u="none" strike="noStrike" cap="none" dirty="0">
              <a:solidFill>
                <a:srgbClr val="000000"/>
              </a:solidFill>
              <a:latin typeface="Roboto"/>
              <a:ea typeface="Roboto"/>
              <a:cs typeface="Roboto"/>
              <a:sym typeface="Roboto"/>
            </a:endParaRP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grpSpPr/>
      <p:pic>
        <p:nvPicPr>
          <p:cNvPr id="110" name="Google Shape;110;p15" title="Untitled-1-07.png"/>
          <p:cNvPicPr preferRelativeResize="0"/>
          <p:nvPr/>
        </p:nvPicPr>
        <p:blipFill rotWithShape="1">
          <a:blip r:embed="rId2">
            <a:alphaModFix/>
          </a:blip>
          <a:srcRect l="5100" r="4630" b="15895"/>
          <a:stretch/>
        </p:blipFill>
        <p:spPr>
          <a:xfrm>
            <a:off x="880549" y="4348257"/>
            <a:ext cx="2096958" cy="548700"/>
          </a:xfrm>
          <a:prstGeom prst="rect">
            <a:avLst/>
          </a:prstGeom>
          <a:noFill/>
          <a:ln>
            <a:noFill/>
          </a:ln>
        </p:spPr>
      </p:pic>
      <p:pic>
        <p:nvPicPr>
          <p:cNvPr id="111" name="Google Shape;111;p15" title="powerd by.png"/>
          <p:cNvPicPr preferRelativeResize="0"/>
          <p:nvPr/>
        </p:nvPicPr>
        <p:blipFill rotWithShape="1">
          <a:blip r:embed="rId5">
            <a:alphaModFix/>
          </a:blip>
          <a:srcRect l="6981" t="44048" r="6714" b="14302"/>
          <a:stretch/>
        </p:blipFill>
        <p:spPr>
          <a:xfrm>
            <a:off x="3537800" y="4500588"/>
            <a:ext cx="2130125" cy="355975"/>
          </a:xfrm>
          <a:prstGeom prst="rect">
            <a:avLst/>
          </a:prstGeom>
          <a:noFill/>
          <a:ln>
            <a:noFill/>
          </a:ln>
        </p:spPr>
      </p:pic>
      <p:sp>
        <p:nvSpPr>
          <p:cNvPr id="112" name="Google Shape;112;p15"/>
          <p:cNvSpPr txBox="1"/>
          <p:nvPr/>
        </p:nvSpPr>
        <p:spPr>
          <a:xfrm>
            <a:off x="5998012" y="4596047"/>
            <a:ext cx="2436900" cy="253800"/>
          </a:xfrm>
          <a:prstGeom prst="rect">
            <a:avLst/>
          </a:prstGeom>
          <a:noFill/>
          <a:ln>
            <a:noFill/>
          </a:ln>
        </p:spPr>
        <p:txBody>
          <a:bodyPr spcFirstLastPara="1" wrap="non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0053A1"/>
                </a:solidFill>
                <a:latin typeface="Roboto"/>
                <a:ea typeface="Roboto"/>
                <a:cs typeface="Roboto"/>
                <a:sym typeface="Roboto"/>
              </a:rPr>
              <a:t>www.</a:t>
            </a:r>
            <a:r>
              <a:rPr lang="en" sz="1200" b="1">
                <a:solidFill>
                  <a:srgbClr val="0053A1"/>
                </a:solidFill>
                <a:latin typeface="Roboto"/>
                <a:ea typeface="Roboto"/>
                <a:cs typeface="Roboto"/>
                <a:sym typeface="Roboto"/>
              </a:rPr>
              <a:t>careercraftacademy.com</a:t>
            </a:r>
            <a:endParaRPr sz="1200" b="1" i="0" u="none" strike="noStrike" cap="none">
              <a:solidFill>
                <a:srgbClr val="0053A1"/>
              </a:solidFill>
              <a:latin typeface="Roboto"/>
              <a:ea typeface="Roboto"/>
              <a:cs typeface="Roboto"/>
              <a:sym typeface="Roboto"/>
            </a:endParaRPr>
          </a:p>
        </p:txBody>
      </p:sp>
      <p:pic>
        <p:nvPicPr>
          <p:cNvPr id="114" name="Google Shape;114;p15"/>
          <p:cNvPicPr preferRelativeResize="0"/>
          <p:nvPr/>
        </p:nvPicPr>
        <p:blipFill>
          <a:blip r:embed="rId4">
            <a:alphaModFix/>
          </a:blip>
          <a:stretch>
            <a:fillRect/>
          </a:stretch>
        </p:blipFill>
        <p:spPr>
          <a:xfrm>
            <a:off x="8447868" y="4368945"/>
            <a:ext cx="334175" cy="480903"/>
          </a:xfrm>
          <a:prstGeom prst="rect">
            <a:avLst/>
          </a:prstGeom>
          <a:noFill/>
          <a:ln>
            <a:noFill/>
          </a:ln>
        </p:spPr>
      </p:pic>
      <p:sp>
        <p:nvSpPr>
          <p:cNvPr id="578" name="Kicker"/>
          <p:cNvSpPr txBox="1"/>
          <p:nvPr/>
        </p:nvSpPr>
        <p:spPr>
          <a:xfrm>
            <a:off x="675600" y="285000"/>
            <a:ext cx="3560000" cy="241200"/>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1003" b="0" i="0" u="none" strike="noStrike" cap="none" dirty="0">
                <a:solidFill>
                  <a:srgbClr val="7F7F7F"/>
                </a:solidFill>
                <a:latin typeface="Roboto"/>
                <a:ea typeface="Roboto"/>
                <a:cs typeface="Roboto"/>
                <a:sym typeface="Roboto"/>
              </a:rPr>
              <a:t>Advanced Types</a:t>
            </a:r>
            <a:endParaRPr lang="en" sz="1003" b="0" i="0" u="none" strike="noStrike" cap="none" dirty="0">
              <a:solidFill>
                <a:srgbClr val="000000"/>
              </a:solidFill>
              <a:latin typeface="Roboto"/>
              <a:ea typeface="Roboto"/>
              <a:cs typeface="Roboto"/>
              <a:sym typeface="Roboto"/>
            </a:endParaRPr>
          </a:p>
        </p:txBody>
      </p:sp>
      <p:sp>
        <p:nvSpPr>
          <p:cNvPr id="579" name="Title"/>
          <p:cNvSpPr txBox="1"/>
          <p:nvPr/>
        </p:nvSpPr>
        <p:spPr>
          <a:xfrm>
            <a:off x="675600" y="520000"/>
            <a:ext cx="3560000" cy="763948"/>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2200" b="1" i="0" u="none" strike="noStrike" cap="none" dirty="0">
                <a:solidFill>
                  <a:srgbClr val="0053A1"/>
                </a:solidFill>
                <a:latin typeface="Poppins SemiBold"/>
                <a:ea typeface="Poppins SemiBold"/>
                <a:cs typeface="Poppins SemiBold"/>
                <a:sym typeface="Poppins SemiBold"/>
              </a:rPr>
              <a:t>Utility Types</a:t>
            </a:r>
            <a:endParaRPr lang="en" sz="2200" b="0" i="0" u="none" strike="noStrike" cap="none" dirty="0">
              <a:solidFill>
                <a:srgbClr val="000000"/>
              </a:solidFill>
              <a:latin typeface="Roboto"/>
              <a:ea typeface="Roboto"/>
              <a:cs typeface="Roboto"/>
              <a:sym typeface="Roboto"/>
            </a:endParaRPr>
          </a:p>
          <a:p>
            <a:pPr marL="0" marR="0" lvl="0" indent="0" algn="l" rtl="0">
              <a:lnSpc>
                <a:spcPct val="100000"/>
              </a:lnSpc>
              <a:spcBef>
                <a:spcPts val="0"/>
              </a:spcBef>
              <a:spcAft>
                <a:spcPts val="0"/>
              </a:spcAft>
              <a:buNone/>
            </a:pPr>
            <a:r>
              <a:rPr lang="en" sz="2200" b="1" i="0" u="none" strike="noStrike" cap="none" dirty="0">
                <a:solidFill>
                  <a:srgbClr val="000000"/>
                </a:solidFill>
                <a:latin typeface="Poppins SemiBold"/>
                <a:ea typeface="Poppins SemiBold"/>
                <a:cs typeface="Poppins SemiBold"/>
                <a:sym typeface="Poppins SemiBold"/>
              </a:rPr>
              <a:t>and Narrowing</a:t>
            </a:r>
            <a:endParaRPr lang="en" sz="2200" b="0" i="0" u="none" strike="noStrike" cap="none" dirty="0">
              <a:solidFill>
                <a:srgbClr val="000000"/>
              </a:solidFill>
              <a:latin typeface="Roboto"/>
              <a:ea typeface="Roboto"/>
              <a:cs typeface="Roboto"/>
              <a:sym typeface="Roboto"/>
            </a:endParaRPr>
          </a:p>
        </p:txBody>
      </p:sp>
      <p:sp>
        <p:nvSpPr>
          <p:cNvPr id="580" name="Body"/>
          <p:cNvSpPr txBox="1"/>
          <p:nvPr/>
        </p:nvSpPr>
        <p:spPr>
          <a:xfrm>
            <a:off x="620000" y="1383000"/>
            <a:ext cx="3560000" cy="1678580"/>
          </a:xfrm>
          <a:prstGeom prst="rect">
            <a:avLst/>
          </a:prstGeom>
          <a:noFill/>
        </p:spPr>
        <p:txBody>
          <a:bodyPr spcFirstLastPara="1" wrap="square" lIns="86025" tIns="43000" rIns="86025" bIns="43000" anchor="t" anchorCtr="0">
            <a:noAutofit/>
          </a:bodyPr>
          <a:lstStyle/>
          <a:p>
            <a:pPr marL="171450" marR="0" lvl="0" indent="-171450" algn="l" rtl="0">
              <a:lnSpc>
                <a:spcPct val="125000"/>
              </a:lnSpc>
              <a:spcBef>
                <a:spcPts val="100"/>
              </a:spcBef>
              <a:spcAft>
                <a:spcPts val="0"/>
              </a:spcAft>
              <a:buClr>
                <a:srgbClr val="000000"/>
              </a:buClr>
              <a:buSzPts val="1100"/>
              <a:buFont typeface="Arial"/>
              <a:buChar char="•"/>
            </a:pPr>
            <a:r>
              <a:rPr lang="en" sz="1050" b="1" i="0" u="none" strike="noStrike" cap="none" dirty="0">
                <a:solidFill>
                  <a:srgbClr val="0053A1"/>
                </a:solidFill>
                <a:latin typeface="Courier New"/>
                <a:ea typeface="Courier New"/>
                <a:cs typeface="Courier New"/>
                <a:sym typeface="Courier New"/>
              </a:rPr>
              <a:t>Partial&lt;T&gt;</a:t>
            </a:r>
            <a:r>
              <a:rPr lang="en" sz="1100" b="0" i="0" u="none" strike="noStrike" cap="none" dirty="0">
                <a:solidFill>
                  <a:schemeClr val="tx1"/>
                </a:solidFill>
                <a:latin typeface="Roboto"/>
                <a:ea typeface="Roboto"/>
                <a:cs typeface="Roboto"/>
                <a:sym typeface="Roboto"/>
              </a:rPr>
              <a:t> - all optional</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050" b="1" i="0" u="none" strike="noStrike" cap="none" dirty="0">
                <a:solidFill>
                  <a:srgbClr val="0053A1"/>
                </a:solidFill>
                <a:latin typeface="Courier New"/>
                <a:ea typeface="Courier New"/>
                <a:cs typeface="Courier New"/>
                <a:sym typeface="Courier New"/>
              </a:rPr>
              <a:t>Required&lt;T&gt;</a:t>
            </a:r>
            <a:r>
              <a:rPr lang="en" sz="1100" b="0" i="0" u="none" strike="noStrike" cap="none" dirty="0">
                <a:solidFill>
                  <a:schemeClr val="tx1"/>
                </a:solidFill>
                <a:latin typeface="Roboto"/>
                <a:ea typeface="Roboto"/>
                <a:cs typeface="Roboto"/>
                <a:sym typeface="Roboto"/>
              </a:rPr>
              <a:t> - all required</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050" b="1" i="0" u="none" strike="noStrike" cap="none" dirty="0">
                <a:solidFill>
                  <a:srgbClr val="0053A1"/>
                </a:solidFill>
                <a:latin typeface="Courier New"/>
                <a:ea typeface="Courier New"/>
                <a:cs typeface="Courier New"/>
                <a:sym typeface="Courier New"/>
              </a:rPr>
              <a:t>Readonly&lt;T&gt;</a:t>
            </a:r>
            <a:r>
              <a:rPr lang="en" sz="1100" b="0" i="0" u="none" strike="noStrike" cap="none" dirty="0">
                <a:solidFill>
                  <a:schemeClr val="tx1"/>
                </a:solidFill>
                <a:latin typeface="Roboto"/>
                <a:ea typeface="Roboto"/>
                <a:cs typeface="Roboto"/>
                <a:sym typeface="Roboto"/>
              </a:rPr>
              <a:t> - all read-only</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050" b="1" i="0" u="none" strike="noStrike" cap="none" dirty="0">
                <a:solidFill>
                  <a:srgbClr val="0053A1"/>
                </a:solidFill>
                <a:latin typeface="Courier New"/>
                <a:ea typeface="Courier New"/>
                <a:cs typeface="Courier New"/>
                <a:sym typeface="Courier New"/>
              </a:rPr>
              <a:t>Pick&lt;T, K&gt;</a:t>
            </a:r>
            <a:r>
              <a:rPr lang="en" sz="1100" b="0" i="0" u="none" strike="noStrike" cap="none" dirty="0">
                <a:solidFill>
                  <a:schemeClr val="tx1"/>
                </a:solidFill>
                <a:latin typeface="Roboto"/>
                <a:ea typeface="Roboto"/>
                <a:cs typeface="Roboto"/>
                <a:sym typeface="Roboto"/>
              </a:rPr>
              <a:t> / </a:t>
            </a:r>
            <a:r>
              <a:rPr lang="en" sz="1050" b="1" i="0" u="none" strike="noStrike" cap="none" dirty="0">
                <a:solidFill>
                  <a:srgbClr val="0053A1"/>
                </a:solidFill>
                <a:latin typeface="Courier New"/>
                <a:ea typeface="Courier New"/>
                <a:cs typeface="Courier New"/>
                <a:sym typeface="Courier New"/>
              </a:rPr>
              <a:t>Omit&lt;T, K&gt;</a:t>
            </a:r>
            <a:r>
              <a:rPr lang="en" sz="1100" b="0" i="0" u="none" strike="noStrike" cap="none" dirty="0">
                <a:solidFill>
                  <a:schemeClr val="tx1"/>
                </a:solidFill>
                <a:latin typeface="Roboto"/>
                <a:ea typeface="Roboto"/>
                <a:cs typeface="Roboto"/>
                <a:sym typeface="Roboto"/>
              </a:rPr>
              <a:t> - choose properties</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050" b="1" i="0" u="none" strike="noStrike" cap="none" dirty="0">
                <a:solidFill>
                  <a:srgbClr val="0053A1"/>
                </a:solidFill>
                <a:latin typeface="Courier New"/>
                <a:ea typeface="Courier New"/>
                <a:cs typeface="Courier New"/>
                <a:sym typeface="Courier New"/>
              </a:rPr>
              <a:t>Record&lt;K, V&gt;</a:t>
            </a:r>
            <a:r>
              <a:rPr lang="en" sz="1100" b="0" i="0" u="none" strike="noStrike" cap="none" dirty="0">
                <a:solidFill>
                  <a:schemeClr val="tx1"/>
                </a:solidFill>
                <a:latin typeface="Roboto"/>
                <a:ea typeface="Roboto"/>
                <a:cs typeface="Roboto"/>
                <a:sym typeface="Roboto"/>
              </a:rPr>
              <a:t> - dictionary type</a:t>
            </a:r>
            <a:endParaRPr lang="en" sz="1100" b="0" i="0" u="none" strike="noStrike" cap="none" dirty="0">
              <a:solidFill>
                <a:srgbClr val="000000"/>
              </a:solidFill>
              <a:latin typeface="Roboto"/>
              <a:ea typeface="Roboto"/>
              <a:cs typeface="Roboto"/>
              <a:sym typeface="Roboto"/>
            </a:endParaRPr>
          </a:p>
          <a:p>
            <a:pPr marL="0" marR="0" lvl="0" indent="0" algn="l" rtl="0">
              <a:lnSpc>
                <a:spcPct val="135000"/>
              </a:lnSpc>
              <a:spcBef>
                <a:spcPts val="0"/>
              </a:spcBef>
              <a:spcAft>
                <a:spcPts val="300"/>
              </a:spcAft>
              <a:buNone/>
            </a:pPr>
            <a:r>
              <a:rPr lang="en" sz="1100" b="0" i="0" u="none" strike="noStrike" cap="none" dirty="0">
                <a:solidFill>
                  <a:schemeClr val="tx1"/>
                </a:solidFill>
                <a:latin typeface="Roboto"/>
                <a:ea typeface="Roboto"/>
                <a:cs typeface="Roboto"/>
                <a:sym typeface="Roboto"/>
              </a:rPr>
              <a:t>Narrowing tools: </a:t>
            </a:r>
            <a:r>
              <a:rPr lang="en" sz="1050" b="1" i="0" u="none" strike="noStrike" cap="none" dirty="0">
                <a:solidFill>
                  <a:srgbClr val="0053A1"/>
                </a:solidFill>
                <a:latin typeface="Courier New"/>
                <a:ea typeface="Courier New"/>
                <a:cs typeface="Courier New"/>
                <a:sym typeface="Courier New"/>
              </a:rPr>
              <a:t>typeof</a:t>
            </a:r>
            <a:r>
              <a:rPr lang="en" sz="1100" b="0" i="0" u="none" strike="noStrike" cap="none" dirty="0">
                <a:solidFill>
                  <a:schemeClr val="tx1"/>
                </a:solidFill>
                <a:latin typeface="Roboto"/>
                <a:ea typeface="Roboto"/>
                <a:cs typeface="Roboto"/>
                <a:sym typeface="Roboto"/>
              </a:rPr>
              <a:t>, </a:t>
            </a:r>
            <a:r>
              <a:rPr lang="en" sz="1050" b="1" i="0" u="none" strike="noStrike" cap="none" dirty="0">
                <a:solidFill>
                  <a:srgbClr val="0053A1"/>
                </a:solidFill>
                <a:latin typeface="Courier New"/>
                <a:ea typeface="Courier New"/>
                <a:cs typeface="Courier New"/>
                <a:sym typeface="Courier New"/>
              </a:rPr>
              <a:t>instanceof</a:t>
            </a:r>
            <a:r>
              <a:rPr lang="en" sz="1100" b="0" i="0" u="none" strike="noStrike" cap="none" dirty="0">
                <a:solidFill>
                  <a:schemeClr val="tx1"/>
                </a:solidFill>
                <a:latin typeface="Roboto"/>
                <a:ea typeface="Roboto"/>
                <a:cs typeface="Roboto"/>
                <a:sym typeface="Roboto"/>
              </a:rPr>
              <a:t>, </a:t>
            </a:r>
            <a:r>
              <a:rPr lang="en" sz="1050" b="1" i="0" u="none" strike="noStrike" cap="none" dirty="0">
                <a:solidFill>
                  <a:srgbClr val="0053A1"/>
                </a:solidFill>
                <a:latin typeface="Courier New"/>
                <a:ea typeface="Courier New"/>
                <a:cs typeface="Courier New"/>
                <a:sym typeface="Courier New"/>
              </a:rPr>
              <a:t>in</a:t>
            </a:r>
            <a:r>
              <a:rPr lang="en" sz="1100" b="0" i="0" u="none" strike="noStrike" cap="none" dirty="0">
                <a:solidFill>
                  <a:schemeClr val="tx1"/>
                </a:solidFill>
                <a:latin typeface="Roboto"/>
                <a:ea typeface="Roboto"/>
                <a:cs typeface="Roboto"/>
                <a:sym typeface="Roboto"/>
              </a:rPr>
              <a:t>.</a:t>
            </a:r>
            <a:endParaRPr lang="en" sz="1100" b="0" i="0" u="none" strike="noStrike" cap="none" dirty="0">
              <a:solidFill>
                <a:srgbClr val="000000"/>
              </a:solidFill>
              <a:latin typeface="Roboto"/>
              <a:ea typeface="Roboto"/>
              <a:cs typeface="Roboto"/>
              <a:sym typeface="Roboto"/>
            </a:endParaRPr>
          </a:p>
        </p:txBody>
      </p:sp>
      <p:sp>
        <p:nvSpPr>
          <p:cNvPr id="581" name="Code panel"/>
          <p:cNvSpPr/>
          <p:nvPr/>
        </p:nvSpPr>
        <p:spPr>
          <a:xfrm>
            <a:off x="4300000" y="500000"/>
            <a:ext cx="4350000" cy="2878257"/>
          </a:xfrm>
          <a:prstGeom prst="roundRect">
            <a:avLst>
              <a:gd name="adj" fmla="val 3500"/>
            </a:avLst>
          </a:prstGeom>
          <a:solidFill>
            <a:srgbClr val="0E2455"/>
          </a:solidFill>
          <a:ln>
            <a:noFill/>
          </a:ln>
          <a:effectLst>
            <a:outerShdw blurRad="63500" dist="25400" dir="5400000" algn="t" rotWithShape="0">
              <a:srgbClr val="000000">
                <a:alpha val="22000"/>
              </a:srgbClr>
            </a:outerShdw>
          </a:effectLst>
        </p:spPr>
        <p:txBody>
          <a:bodyPr rtlCol="0" anchor="ctr"/>
          <a:lstStyle/>
          <a:p>
            <a:pPr algn="ctr"/>
          </a:p>
        </p:txBody>
      </p:sp>
      <p:sp>
        <p:nvSpPr>
          <p:cNvPr id="582" name="Dot 1"/>
          <p:cNvSpPr/>
          <p:nvPr/>
        </p:nvSpPr>
        <p:spPr>
          <a:xfrm>
            <a:off x="4420000" y="605000"/>
            <a:ext cx="70000" cy="70000"/>
          </a:xfrm>
          <a:prstGeom prst="ellipse">
            <a:avLst/>
          </a:prstGeom>
          <a:solidFill>
            <a:srgbClr val="C00000"/>
          </a:solidFill>
          <a:ln>
            <a:noFill/>
          </a:ln>
        </p:spPr>
        <p:txBody>
          <a:bodyPr rtlCol="0" anchor="ctr"/>
          <a:lstStyle/>
          <a:p>
            <a:pPr algn="ctr"/>
          </a:p>
        </p:txBody>
      </p:sp>
      <p:sp>
        <p:nvSpPr>
          <p:cNvPr id="583" name="Dot 2"/>
          <p:cNvSpPr/>
          <p:nvPr/>
        </p:nvSpPr>
        <p:spPr>
          <a:xfrm>
            <a:off x="4550000" y="605000"/>
            <a:ext cx="70000" cy="70000"/>
          </a:xfrm>
          <a:prstGeom prst="ellipse">
            <a:avLst/>
          </a:prstGeom>
          <a:solidFill>
            <a:srgbClr val="F2B705"/>
          </a:solidFill>
          <a:ln>
            <a:noFill/>
          </a:ln>
        </p:spPr>
        <p:txBody>
          <a:bodyPr rtlCol="0" anchor="ctr"/>
          <a:lstStyle/>
          <a:p>
            <a:pPr algn="ctr"/>
          </a:p>
        </p:txBody>
      </p:sp>
      <p:sp>
        <p:nvSpPr>
          <p:cNvPr id="584" name="Dot 3"/>
          <p:cNvSpPr/>
          <p:nvPr/>
        </p:nvSpPr>
        <p:spPr>
          <a:xfrm>
            <a:off x="4680000" y="605000"/>
            <a:ext cx="70000" cy="70000"/>
          </a:xfrm>
          <a:prstGeom prst="ellipse">
            <a:avLst/>
          </a:prstGeom>
          <a:solidFill>
            <a:srgbClr val="3DAE5C"/>
          </a:solidFill>
          <a:ln>
            <a:noFill/>
          </a:ln>
        </p:spPr>
        <p:txBody>
          <a:bodyPr rtlCol="0" anchor="ctr"/>
          <a:lstStyle/>
          <a:p>
            <a:pPr algn="ctr"/>
          </a:p>
        </p:txBody>
      </p:sp>
      <p:sp>
        <p:nvSpPr>
          <p:cNvPr id="585" name="Code label"/>
          <p:cNvSpPr txBox="1"/>
          <p:nvPr/>
        </p:nvSpPr>
        <p:spPr>
          <a:xfrm>
            <a:off x="7650000" y="555000"/>
            <a:ext cx="900000" cy="170000"/>
          </a:xfrm>
          <a:prstGeom prst="rect">
            <a:avLst/>
          </a:prstGeom>
          <a:noFill/>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800" b="1" i="0" u="none" strike="noStrike" cap="none" dirty="0">
                <a:solidFill>
                  <a:srgbClr val="8FA3C4"/>
                </a:solidFill>
                <a:latin typeface="Roboto"/>
                <a:ea typeface="Roboto"/>
                <a:cs typeface="Roboto"/>
                <a:sym typeface="Roboto"/>
              </a:rPr>
              <a:t>TS</a:t>
            </a:r>
            <a:endParaRPr lang="en" sz="800" b="0" i="0" u="none" strike="noStrike" cap="none" dirty="0">
              <a:solidFill>
                <a:srgbClr val="000000"/>
              </a:solidFill>
              <a:latin typeface="Roboto"/>
              <a:ea typeface="Roboto"/>
              <a:cs typeface="Roboto"/>
              <a:sym typeface="Roboto"/>
            </a:endParaRPr>
          </a:p>
        </p:txBody>
      </p:sp>
      <p:sp>
        <p:nvSpPr>
          <p:cNvPr id="586" name="Code"/>
          <p:cNvSpPr txBox="1"/>
          <p:nvPr/>
        </p:nvSpPr>
        <p:spPr>
          <a:xfrm>
            <a:off x="4360000" y="750000"/>
            <a:ext cx="4230000" cy="2598257"/>
          </a:xfrm>
          <a:prstGeom prst="rect">
            <a:avLst/>
          </a:prstGeom>
          <a:noFill/>
        </p:spPr>
        <p:txBody>
          <a:bodyPr spcFirstLastPara="1" wrap="square" lIns="86025" tIns="0" rIns="60000" bIns="0" anchor="t" anchorCtr="0">
            <a:noAutofit/>
          </a:bodyPr>
          <a:lstStyle/>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interface User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id: number;</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name: string;</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email: string;</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8CC4FF"/>
                </a:solidFill>
                <a:latin typeface="Courier New"/>
                <a:ea typeface="Courier New"/>
                <a:cs typeface="Courier New"/>
                <a:sym typeface="Courier New"/>
              </a:rPr>
              <a:t>function</a:t>
            </a:r>
            <a:r>
              <a:rPr lang="en" sz="900" b="0" i="0" u="none" strike="noStrike" cap="none" dirty="0">
                <a:solidFill>
                  <a:srgbClr val="E6ECF7"/>
                </a:solidFill>
                <a:latin typeface="Courier New"/>
                <a:ea typeface="Courier New"/>
                <a:cs typeface="Courier New"/>
                <a:sym typeface="Courier New"/>
              </a:rPr>
              <a:t> updateUser(id: number, changes: Partial&lt;User&gt;)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updateUser(</a:t>
            </a:r>
            <a:r>
              <a:rPr lang="en" sz="900" b="0" i="0" u="none" strike="noStrike" cap="none" dirty="0">
                <a:solidFill>
                  <a:srgbClr val="F2B705"/>
                </a:solidFill>
                <a:latin typeface="Courier New"/>
                <a:ea typeface="Courier New"/>
                <a:cs typeface="Courier New"/>
                <a:sym typeface="Courier New"/>
              </a:rPr>
              <a:t>1</a:t>
            </a:r>
            <a:r>
              <a:rPr lang="en" sz="900" b="0" i="0" u="none" strike="noStrike" cap="none" dirty="0">
                <a:solidFill>
                  <a:srgbClr val="E6ECF7"/>
                </a:solidFill>
                <a:latin typeface="Courier New"/>
                <a:ea typeface="Courier New"/>
                <a:cs typeface="Courier New"/>
                <a:sym typeface="Courier New"/>
              </a:rPr>
              <a:t>, { name: </a:t>
            </a:r>
            <a:r>
              <a:rPr lang="en" sz="900" b="0" i="0" u="none" strike="noStrike" cap="none" dirty="0">
                <a:solidFill>
                  <a:srgbClr val="FFC878"/>
                </a:solidFill>
                <a:latin typeface="Courier New"/>
                <a:ea typeface="Courier New"/>
                <a:cs typeface="Courier New"/>
                <a:sym typeface="Courier New"/>
              </a:rPr>
              <a:t>"New Name"</a:t>
            </a:r>
            <a:r>
              <a:rPr lang="en" sz="900" b="0" i="0" u="none" strike="noStrike" cap="none" dirty="0">
                <a:solidFill>
                  <a:srgbClr val="E6ECF7"/>
                </a:solidFill>
                <a:latin typeface="Courier New"/>
                <a:ea typeface="Courier New"/>
                <a:cs typeface="Courier New"/>
                <a:sym typeface="Courier New"/>
              </a:rPr>
              <a:t> }); </a:t>
            </a:r>
            <a:r>
              <a:rPr lang="en" sz="900" b="0" i="1" u="none" strike="noStrike" cap="none" dirty="0">
                <a:solidFill>
                  <a:srgbClr val="8FA3C4"/>
                </a:solidFill>
                <a:latin typeface="Courier New"/>
                <a:ea typeface="Courier New"/>
                <a:cs typeface="Courier New"/>
                <a:sym typeface="Courier New"/>
              </a:rPr>
              <a:t>// OK</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8CC4FF"/>
                </a:solidFill>
                <a:latin typeface="Courier New"/>
                <a:ea typeface="Courier New"/>
                <a:cs typeface="Courier New"/>
                <a:sym typeface="Courier New"/>
              </a:rPr>
              <a:t>const</a:t>
            </a:r>
            <a:r>
              <a:rPr lang="en" sz="900" b="0" i="0" u="none" strike="noStrike" cap="none" dirty="0">
                <a:solidFill>
                  <a:srgbClr val="E6ECF7"/>
                </a:solidFill>
                <a:latin typeface="Courier New"/>
                <a:ea typeface="Courier New"/>
                <a:cs typeface="Courier New"/>
                <a:sym typeface="Courier New"/>
              </a:rPr>
              <a:t> frozen: Readonly&lt;User&gt;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 id: </a:t>
            </a:r>
            <a:r>
              <a:rPr lang="en" sz="900" b="0" i="0" u="none" strike="noStrike" cap="none" dirty="0">
                <a:solidFill>
                  <a:srgbClr val="F2B705"/>
                </a:solidFill>
                <a:latin typeface="Courier New"/>
                <a:ea typeface="Courier New"/>
                <a:cs typeface="Courier New"/>
                <a:sym typeface="Courier New"/>
              </a:rPr>
              <a:t>1</a:t>
            </a:r>
            <a:r>
              <a:rPr lang="en" sz="900" b="0" i="0" u="none" strike="noStrike" cap="none" dirty="0">
                <a:solidFill>
                  <a:srgbClr val="E6ECF7"/>
                </a:solidFill>
                <a:latin typeface="Courier New"/>
                <a:ea typeface="Courier New"/>
                <a:cs typeface="Courier New"/>
                <a:sym typeface="Courier New"/>
              </a:rPr>
              <a:t>, name: </a:t>
            </a:r>
            <a:r>
              <a:rPr lang="en" sz="900" b="0" i="0" u="none" strike="noStrike" cap="none" dirty="0">
                <a:solidFill>
                  <a:srgbClr val="FFC878"/>
                </a:solidFill>
                <a:latin typeface="Courier New"/>
                <a:ea typeface="Courier New"/>
                <a:cs typeface="Courier New"/>
                <a:sym typeface="Courier New"/>
              </a:rPr>
              <a:t>"A"</a:t>
            </a:r>
            <a:r>
              <a:rPr lang="en" sz="900" b="0" i="0" u="none" strike="noStrike" cap="none" dirty="0">
                <a:solidFill>
                  <a:srgbClr val="E6ECF7"/>
                </a:solidFill>
                <a:latin typeface="Courier New"/>
                <a:ea typeface="Courier New"/>
                <a:cs typeface="Courier New"/>
                <a:sym typeface="Courier New"/>
              </a:rPr>
              <a:t>, email: </a:t>
            </a:r>
            <a:r>
              <a:rPr lang="en" sz="900" b="0" i="0" u="none" strike="noStrike" cap="none" dirty="0">
                <a:solidFill>
                  <a:srgbClr val="FFC878"/>
                </a:solidFill>
                <a:latin typeface="Courier New"/>
                <a:ea typeface="Courier New"/>
                <a:cs typeface="Courier New"/>
                <a:sym typeface="Courier New"/>
              </a:rPr>
              <a:t>"a@x.com"</a:t>
            </a: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1" u="none" strike="noStrike" cap="none" dirty="0">
                <a:solidFill>
                  <a:srgbClr val="8FA3C4"/>
                </a:solidFill>
                <a:latin typeface="Courier New"/>
                <a:ea typeface="Courier New"/>
                <a:cs typeface="Courier New"/>
                <a:sym typeface="Courier New"/>
              </a:rPr>
              <a:t>// frozen.name = "B"; // Error</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type UserPreview = Pick&lt;User, </a:t>
            </a:r>
            <a:r>
              <a:rPr lang="en" sz="900" b="0" i="0" u="none" strike="noStrike" cap="none" dirty="0">
                <a:solidFill>
                  <a:srgbClr val="FFC878"/>
                </a:solidFill>
                <a:latin typeface="Courier New"/>
                <a:ea typeface="Courier New"/>
                <a:cs typeface="Courier New"/>
                <a:sym typeface="Courier New"/>
              </a:rPr>
              <a:t>"id"</a:t>
            </a:r>
            <a:r>
              <a:rPr lang="en" sz="900" b="0" i="0" u="none" strike="noStrike" cap="none" dirty="0">
                <a:solidFill>
                  <a:srgbClr val="E6ECF7"/>
                </a:solidFill>
                <a:latin typeface="Courier New"/>
                <a:ea typeface="Courier New"/>
                <a:cs typeface="Courier New"/>
                <a:sym typeface="Courier New"/>
              </a:rPr>
              <a:t> | </a:t>
            </a:r>
            <a:r>
              <a:rPr lang="en" sz="900" b="0" i="0" u="none" strike="noStrike" cap="none" dirty="0">
                <a:solidFill>
                  <a:srgbClr val="FFC878"/>
                </a:solidFill>
                <a:latin typeface="Courier New"/>
                <a:ea typeface="Courier New"/>
                <a:cs typeface="Courier New"/>
                <a:sym typeface="Courier New"/>
              </a:rPr>
              <a:t>"name"</a:t>
            </a:r>
            <a:r>
              <a:rPr lang="en" sz="900" b="0" i="0" u="none" strike="noStrike" cap="none" dirty="0">
                <a:solidFill>
                  <a:srgbClr val="E6ECF7"/>
                </a:solidFill>
                <a:latin typeface="Courier New"/>
                <a:ea typeface="Courier New"/>
                <a:cs typeface="Courier New"/>
                <a:sym typeface="Courier New"/>
              </a:rPr>
              <a:t>&gt;;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type NoEmail = Omit&lt;User, </a:t>
            </a:r>
            <a:r>
              <a:rPr lang="en" sz="900" b="0" i="0" u="none" strike="noStrike" cap="none" dirty="0">
                <a:solidFill>
                  <a:srgbClr val="FFC878"/>
                </a:solidFill>
                <a:latin typeface="Courier New"/>
                <a:ea typeface="Courier New"/>
                <a:cs typeface="Courier New"/>
                <a:sym typeface="Courier New"/>
              </a:rPr>
              <a:t>"email"</a:t>
            </a:r>
            <a:r>
              <a:rPr lang="en" sz="900" b="0" i="0" u="none" strike="noStrike" cap="none" dirty="0">
                <a:solidFill>
                  <a:srgbClr val="E6ECF7"/>
                </a:solidFill>
                <a:latin typeface="Courier New"/>
                <a:ea typeface="Courier New"/>
                <a:cs typeface="Courier New"/>
                <a:sym typeface="Courier New"/>
              </a:rPr>
              <a:t>&gt;;</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8CC4FF"/>
                </a:solidFill>
                <a:latin typeface="Courier New"/>
                <a:ea typeface="Courier New"/>
                <a:cs typeface="Courier New"/>
                <a:sym typeface="Courier New"/>
              </a:rPr>
              <a:t>const</a:t>
            </a:r>
            <a:r>
              <a:rPr lang="en" sz="900" b="0" i="0" u="none" strike="noStrike" cap="none" dirty="0">
                <a:solidFill>
                  <a:srgbClr val="E6ECF7"/>
                </a:solidFill>
                <a:latin typeface="Courier New"/>
                <a:ea typeface="Courier New"/>
                <a:cs typeface="Courier New"/>
                <a:sym typeface="Courier New"/>
              </a:rPr>
              <a:t> scores: Record&lt;string, number&gt; =</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0" u="none" strike="noStrike" cap="none" dirty="0">
                <a:solidFill>
                  <a:srgbClr val="E6ECF7"/>
                </a:solidFill>
                <a:latin typeface="Courier New"/>
                <a:ea typeface="Courier New"/>
                <a:cs typeface="Courier New"/>
                <a:sym typeface="Courier New"/>
              </a:rPr>
              <a:t>  { math: </a:t>
            </a:r>
            <a:r>
              <a:rPr lang="en" sz="900" b="0" i="0" u="none" strike="noStrike" cap="none" dirty="0">
                <a:solidFill>
                  <a:srgbClr val="F2B705"/>
                </a:solidFill>
                <a:latin typeface="Courier New"/>
                <a:ea typeface="Courier New"/>
                <a:cs typeface="Courier New"/>
                <a:sym typeface="Courier New"/>
              </a:rPr>
              <a:t>95</a:t>
            </a:r>
            <a:r>
              <a:rPr lang="en" sz="900" b="0" i="0" u="none" strike="noStrike" cap="none" dirty="0">
                <a:solidFill>
                  <a:srgbClr val="E6ECF7"/>
                </a:solidFill>
                <a:latin typeface="Courier New"/>
                <a:ea typeface="Courier New"/>
                <a:cs typeface="Courier New"/>
                <a:sym typeface="Courier New"/>
              </a:rPr>
              <a:t>, art: </a:t>
            </a:r>
            <a:r>
              <a:rPr lang="en" sz="900" b="0" i="0" u="none" strike="noStrike" cap="none" dirty="0">
                <a:solidFill>
                  <a:srgbClr val="F2B705"/>
                </a:solidFill>
                <a:latin typeface="Courier New"/>
                <a:ea typeface="Courier New"/>
                <a:cs typeface="Courier New"/>
                <a:sym typeface="Courier New"/>
              </a:rPr>
              <a:t>88</a:t>
            </a:r>
            <a:r>
              <a:rPr lang="en" sz="900" b="0" i="0" u="none" strike="noStrike" cap="none" dirty="0">
                <a:solidFill>
                  <a:srgbClr val="E6ECF7"/>
                </a:solidFill>
                <a:latin typeface="Courier New"/>
                <a:ea typeface="Courier New"/>
                <a:cs typeface="Courier New"/>
                <a:sym typeface="Courier New"/>
              </a:rPr>
              <a:t> };</a:t>
            </a:r>
            <a:endParaRPr lang="en" sz="900" b="0" i="0" u="none" strike="noStrike" cap="none" dirty="0">
              <a:solidFill>
                <a:srgbClr val="000000"/>
              </a:solidFill>
              <a:latin typeface="Roboto"/>
              <a:ea typeface="Roboto"/>
              <a:cs typeface="Roboto"/>
              <a:sym typeface="Roboto"/>
            </a:endParaRP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grpSpPr/>
      <p:pic>
        <p:nvPicPr>
          <p:cNvPr id="110" name="Google Shape;110;p15" title="Untitled-1-07.png"/>
          <p:cNvPicPr preferRelativeResize="0"/>
          <p:nvPr/>
        </p:nvPicPr>
        <p:blipFill rotWithShape="1">
          <a:blip r:embed="rId2">
            <a:alphaModFix/>
          </a:blip>
          <a:srcRect l="5100" r="4630" b="15895"/>
          <a:stretch/>
        </p:blipFill>
        <p:spPr>
          <a:xfrm>
            <a:off x="880549" y="4348257"/>
            <a:ext cx="2096958" cy="548700"/>
          </a:xfrm>
          <a:prstGeom prst="rect">
            <a:avLst/>
          </a:prstGeom>
          <a:noFill/>
          <a:ln>
            <a:noFill/>
          </a:ln>
        </p:spPr>
      </p:pic>
      <p:pic>
        <p:nvPicPr>
          <p:cNvPr id="111" name="Google Shape;111;p15" title="powerd by.png"/>
          <p:cNvPicPr preferRelativeResize="0"/>
          <p:nvPr/>
        </p:nvPicPr>
        <p:blipFill rotWithShape="1">
          <a:blip r:embed="rId5">
            <a:alphaModFix/>
          </a:blip>
          <a:srcRect l="6981" t="44048" r="6714" b="14302"/>
          <a:stretch/>
        </p:blipFill>
        <p:spPr>
          <a:xfrm>
            <a:off x="3537800" y="4500588"/>
            <a:ext cx="2130125" cy="355975"/>
          </a:xfrm>
          <a:prstGeom prst="rect">
            <a:avLst/>
          </a:prstGeom>
          <a:noFill/>
          <a:ln>
            <a:noFill/>
          </a:ln>
        </p:spPr>
      </p:pic>
      <p:sp>
        <p:nvSpPr>
          <p:cNvPr id="112" name="Google Shape;112;p15"/>
          <p:cNvSpPr txBox="1"/>
          <p:nvPr/>
        </p:nvSpPr>
        <p:spPr>
          <a:xfrm>
            <a:off x="5998012" y="4596047"/>
            <a:ext cx="2436900" cy="253800"/>
          </a:xfrm>
          <a:prstGeom prst="rect">
            <a:avLst/>
          </a:prstGeom>
          <a:noFill/>
          <a:ln>
            <a:noFill/>
          </a:ln>
        </p:spPr>
        <p:txBody>
          <a:bodyPr spcFirstLastPara="1" wrap="non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0053A1"/>
                </a:solidFill>
                <a:latin typeface="Roboto"/>
                <a:ea typeface="Roboto"/>
                <a:cs typeface="Roboto"/>
                <a:sym typeface="Roboto"/>
              </a:rPr>
              <a:t>www.</a:t>
            </a:r>
            <a:r>
              <a:rPr lang="en" sz="1200" b="1">
                <a:solidFill>
                  <a:srgbClr val="0053A1"/>
                </a:solidFill>
                <a:latin typeface="Roboto"/>
                <a:ea typeface="Roboto"/>
                <a:cs typeface="Roboto"/>
                <a:sym typeface="Roboto"/>
              </a:rPr>
              <a:t>careercraftacademy.com</a:t>
            </a:r>
            <a:endParaRPr sz="1200" b="1" i="0" u="none" strike="noStrike" cap="none">
              <a:solidFill>
                <a:srgbClr val="0053A1"/>
              </a:solidFill>
              <a:latin typeface="Roboto"/>
              <a:ea typeface="Roboto"/>
              <a:cs typeface="Roboto"/>
              <a:sym typeface="Roboto"/>
            </a:endParaRPr>
          </a:p>
        </p:txBody>
      </p:sp>
      <p:pic>
        <p:nvPicPr>
          <p:cNvPr id="114" name="Google Shape;114;p15"/>
          <p:cNvPicPr preferRelativeResize="0"/>
          <p:nvPr/>
        </p:nvPicPr>
        <p:blipFill>
          <a:blip r:embed="rId4">
            <a:alphaModFix/>
          </a:blip>
          <a:stretch>
            <a:fillRect/>
          </a:stretch>
        </p:blipFill>
        <p:spPr>
          <a:xfrm>
            <a:off x="8447868" y="4368945"/>
            <a:ext cx="334175" cy="480903"/>
          </a:xfrm>
          <a:prstGeom prst="rect">
            <a:avLst/>
          </a:prstGeom>
          <a:noFill/>
          <a:ln>
            <a:noFill/>
          </a:ln>
        </p:spPr>
      </p:pic>
      <p:sp>
        <p:nvSpPr>
          <p:cNvPr id="587" name="Kicker"/>
          <p:cNvSpPr txBox="1"/>
          <p:nvPr/>
        </p:nvSpPr>
        <p:spPr>
          <a:xfrm>
            <a:off x="675600" y="285000"/>
            <a:ext cx="3560000" cy="241200"/>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1003" b="0" i="0" u="none" strike="noStrike" cap="none" dirty="0">
                <a:solidFill>
                  <a:srgbClr val="7F7F7F"/>
                </a:solidFill>
                <a:latin typeface="Roboto"/>
                <a:ea typeface="Roboto"/>
                <a:cs typeface="Roboto"/>
                <a:sym typeface="Roboto"/>
              </a:rPr>
              <a:t>Build Tools</a:t>
            </a:r>
            <a:endParaRPr lang="en" sz="1003" b="0" i="0" u="none" strike="noStrike" cap="none" dirty="0">
              <a:solidFill>
                <a:srgbClr val="000000"/>
              </a:solidFill>
              <a:latin typeface="Roboto"/>
              <a:ea typeface="Roboto"/>
              <a:cs typeface="Roboto"/>
              <a:sym typeface="Roboto"/>
            </a:endParaRPr>
          </a:p>
        </p:txBody>
      </p:sp>
      <p:sp>
        <p:nvSpPr>
          <p:cNvPr id="588" name="Title"/>
          <p:cNvSpPr txBox="1"/>
          <p:nvPr/>
        </p:nvSpPr>
        <p:spPr>
          <a:xfrm>
            <a:off x="675600" y="520000"/>
            <a:ext cx="3560000" cy="763948"/>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2200" b="1" i="0" u="none" strike="noStrike" cap="none" dirty="0">
                <a:solidFill>
                  <a:srgbClr val="0053A1"/>
                </a:solidFill>
                <a:latin typeface="Poppins SemiBold"/>
                <a:ea typeface="Poppins SemiBold"/>
                <a:cs typeface="Poppins SemiBold"/>
                <a:sym typeface="Poppins SemiBold"/>
              </a:rPr>
              <a:t>Configuring</a:t>
            </a:r>
            <a:endParaRPr lang="en" sz="2200" b="0" i="0" u="none" strike="noStrike" cap="none" dirty="0">
              <a:solidFill>
                <a:srgbClr val="000000"/>
              </a:solidFill>
              <a:latin typeface="Roboto"/>
              <a:ea typeface="Roboto"/>
              <a:cs typeface="Roboto"/>
              <a:sym typeface="Roboto"/>
            </a:endParaRPr>
          </a:p>
          <a:p>
            <a:pPr marL="0" marR="0" lvl="0" indent="0" algn="l" rtl="0">
              <a:lnSpc>
                <a:spcPct val="100000"/>
              </a:lnSpc>
              <a:spcBef>
                <a:spcPts val="0"/>
              </a:spcBef>
              <a:spcAft>
                <a:spcPts val="0"/>
              </a:spcAft>
              <a:buNone/>
            </a:pPr>
            <a:r>
              <a:rPr lang="en" sz="2200" b="1" i="0" u="none" strike="noStrike" cap="none" dirty="0">
                <a:solidFill>
                  <a:srgbClr val="000000"/>
                </a:solidFill>
                <a:latin typeface="Poppins SemiBold"/>
                <a:ea typeface="Poppins SemiBold"/>
                <a:cs typeface="Poppins SemiBold"/>
                <a:sym typeface="Poppins SemiBold"/>
              </a:rPr>
              <a:t>tsconfig.json</a:t>
            </a:r>
            <a:endParaRPr lang="en" sz="2200" b="0" i="0" u="none" strike="noStrike" cap="none" dirty="0">
              <a:solidFill>
                <a:srgbClr val="000000"/>
              </a:solidFill>
              <a:latin typeface="Roboto"/>
              <a:ea typeface="Roboto"/>
              <a:cs typeface="Roboto"/>
              <a:sym typeface="Roboto"/>
            </a:endParaRPr>
          </a:p>
        </p:txBody>
      </p:sp>
      <p:sp>
        <p:nvSpPr>
          <p:cNvPr id="589" name="Body"/>
          <p:cNvSpPr txBox="1"/>
          <p:nvPr/>
        </p:nvSpPr>
        <p:spPr>
          <a:xfrm>
            <a:off x="620000" y="1383000"/>
            <a:ext cx="3560000" cy="1678580"/>
          </a:xfrm>
          <a:prstGeom prst="rect">
            <a:avLst/>
          </a:prstGeom>
          <a:noFill/>
        </p:spPr>
        <p:txBody>
          <a:bodyPr spcFirstLastPara="1" wrap="square" lIns="86025" tIns="43000" rIns="86025" bIns="43000" anchor="t" anchorCtr="0">
            <a:noAutofit/>
          </a:bodyPr>
          <a:lstStyle/>
          <a:p>
            <a:pPr marL="171450" marR="0" lvl="0" indent="-171450" algn="l" rtl="0">
              <a:lnSpc>
                <a:spcPct val="125000"/>
              </a:lnSpc>
              <a:spcBef>
                <a:spcPts val="100"/>
              </a:spcBef>
              <a:spcAft>
                <a:spcPts val="0"/>
              </a:spcAft>
              <a:buClr>
                <a:srgbClr val="000000"/>
              </a:buClr>
              <a:buSzPts val="1100"/>
              <a:buFont typeface="Arial"/>
              <a:buChar char="•"/>
            </a:pPr>
            <a:r>
              <a:rPr lang="en" sz="1050" b="1" i="0" u="none" strike="noStrike" cap="none" dirty="0">
                <a:solidFill>
                  <a:srgbClr val="0053A1"/>
                </a:solidFill>
                <a:latin typeface="Courier New"/>
                <a:ea typeface="Courier New"/>
                <a:cs typeface="Courier New"/>
                <a:sym typeface="Courier New"/>
              </a:rPr>
              <a:t>tsconfig.json</a:t>
            </a:r>
            <a:r>
              <a:rPr lang="en" sz="1100" b="0" i="0" u="none" strike="noStrike" cap="none" dirty="0">
                <a:solidFill>
                  <a:schemeClr val="tx1"/>
                </a:solidFill>
                <a:latin typeface="Roboto"/>
                <a:ea typeface="Roboto"/>
                <a:cs typeface="Roboto"/>
                <a:sym typeface="Roboto"/>
              </a:rPr>
              <a:t> is the compiler's instruction manual</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Generate it with </a:t>
            </a:r>
            <a:r>
              <a:rPr lang="en" sz="1050" b="1" i="0" u="none" strike="noStrike" cap="none" dirty="0">
                <a:solidFill>
                  <a:srgbClr val="0053A1"/>
                </a:solidFill>
                <a:latin typeface="Courier New"/>
                <a:ea typeface="Courier New"/>
                <a:cs typeface="Courier New"/>
                <a:sym typeface="Courier New"/>
              </a:rPr>
              <a:t>tsc --init</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Then run </a:t>
            </a:r>
            <a:r>
              <a:rPr lang="en" sz="1050" b="1" i="0" u="none" strike="noStrike" cap="none" dirty="0">
                <a:solidFill>
                  <a:srgbClr val="0053A1"/>
                </a:solidFill>
                <a:latin typeface="Courier New"/>
                <a:ea typeface="Courier New"/>
                <a:cs typeface="Courier New"/>
                <a:sym typeface="Courier New"/>
              </a:rPr>
              <a:t>tsc</a:t>
            </a:r>
            <a:r>
              <a:rPr lang="en" sz="1100" b="0" i="0" u="none" strike="noStrike" cap="none" dirty="0">
                <a:solidFill>
                  <a:schemeClr val="tx1"/>
                </a:solidFill>
                <a:latin typeface="Roboto"/>
                <a:ea typeface="Roboto"/>
                <a:cs typeface="Roboto"/>
                <a:sym typeface="Roboto"/>
              </a:rPr>
              <a:t> alone - no file arguments</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Watch mode: </a:t>
            </a:r>
            <a:r>
              <a:rPr lang="en" sz="1050" b="1" i="0" u="none" strike="noStrike" cap="none" dirty="0">
                <a:solidFill>
                  <a:srgbClr val="0053A1"/>
                </a:solidFill>
                <a:latin typeface="Courier New"/>
                <a:ea typeface="Courier New"/>
                <a:cs typeface="Courier New"/>
                <a:sym typeface="Courier New"/>
              </a:rPr>
              <a:t>tsc --watch</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050" b="1" i="0" u="none" strike="noStrike" cap="none" dirty="0">
                <a:solidFill>
                  <a:srgbClr val="0053A1"/>
                </a:solidFill>
                <a:latin typeface="Courier New"/>
                <a:ea typeface="Courier New"/>
                <a:cs typeface="Courier New"/>
                <a:sym typeface="Courier New"/>
              </a:rPr>
              <a:t>noImplicitAny</a:t>
            </a:r>
            <a:r>
              <a:rPr lang="en" sz="1100" b="0" i="0" u="none" strike="noStrike" cap="none" dirty="0">
                <a:solidFill>
                  <a:schemeClr val="tx1"/>
                </a:solidFill>
                <a:latin typeface="Roboto"/>
                <a:ea typeface="Roboto"/>
                <a:cs typeface="Roboto"/>
                <a:sym typeface="Roboto"/>
              </a:rPr>
              <a:t> forbids silent </a:t>
            </a:r>
            <a:r>
              <a:rPr lang="en" sz="1050" b="1" i="0" u="none" strike="noStrike" cap="none" dirty="0">
                <a:solidFill>
                  <a:srgbClr val="0053A1"/>
                </a:solidFill>
                <a:latin typeface="Courier New"/>
                <a:ea typeface="Courier New"/>
                <a:cs typeface="Courier New"/>
                <a:sym typeface="Courier New"/>
              </a:rPr>
              <a:t>any</a:t>
            </a:r>
            <a:endParaRPr lang="en" sz="1100" b="0" i="0" u="none" strike="noStrike" cap="none" dirty="0">
              <a:solidFill>
                <a:srgbClr val="000000"/>
              </a:solidFill>
              <a:latin typeface="Roboto"/>
              <a:ea typeface="Roboto"/>
              <a:cs typeface="Roboto"/>
              <a:sym typeface="Roboto"/>
            </a:endParaRPr>
          </a:p>
          <a:p>
            <a:pPr marL="0" marR="0" lvl="0" indent="0" algn="l" rtl="0">
              <a:lnSpc>
                <a:spcPct val="135000"/>
              </a:lnSpc>
              <a:spcBef>
                <a:spcPts val="0"/>
              </a:spcBef>
              <a:spcAft>
                <a:spcPts val="300"/>
              </a:spcAft>
              <a:buNone/>
            </a:pPr>
            <a:r>
              <a:rPr lang="en" sz="1100" b="0" i="0" u="none" strike="noStrike" cap="none" dirty="0">
                <a:solidFill>
                  <a:schemeClr val="tx1"/>
                </a:solidFill>
                <a:latin typeface="Roboto"/>
                <a:ea typeface="Roboto"/>
                <a:cs typeface="Roboto"/>
                <a:sym typeface="Roboto"/>
              </a:rPr>
              <a:t>Always set </a:t>
            </a:r>
            <a:r>
              <a:rPr lang="en" sz="1050" b="1" i="0" u="none" strike="noStrike" cap="none" dirty="0">
                <a:solidFill>
                  <a:srgbClr val="0053A1"/>
                </a:solidFill>
                <a:latin typeface="Courier New"/>
                <a:ea typeface="Courier New"/>
                <a:cs typeface="Courier New"/>
                <a:sym typeface="Courier New"/>
              </a:rPr>
              <a:t>strict: true</a:t>
            </a:r>
            <a:r>
              <a:rPr lang="en" sz="1100" b="0" i="0" u="none" strike="noStrike" cap="none" dirty="0">
                <a:solidFill>
                  <a:schemeClr val="tx1"/>
                </a:solidFill>
                <a:latin typeface="Roboto"/>
                <a:ea typeface="Roboto"/>
                <a:cs typeface="Roboto"/>
                <a:sym typeface="Roboto"/>
              </a:rPr>
              <a:t>.</a:t>
            </a:r>
            <a:endParaRPr lang="en" sz="1100" b="0" i="0" u="none" strike="noStrike" cap="none" dirty="0">
              <a:solidFill>
                <a:srgbClr val="000000"/>
              </a:solidFill>
              <a:latin typeface="Roboto"/>
              <a:ea typeface="Roboto"/>
              <a:cs typeface="Roboto"/>
              <a:sym typeface="Roboto"/>
            </a:endParaRPr>
          </a:p>
        </p:txBody>
      </p:sp>
      <p:sp>
        <p:nvSpPr>
          <p:cNvPr id="590" name="Code panel"/>
          <p:cNvSpPr/>
          <p:nvPr/>
        </p:nvSpPr>
        <p:spPr>
          <a:xfrm>
            <a:off x="4300000" y="500000"/>
            <a:ext cx="4350000" cy="2005920"/>
          </a:xfrm>
          <a:prstGeom prst="roundRect">
            <a:avLst>
              <a:gd name="adj" fmla="val 3500"/>
            </a:avLst>
          </a:prstGeom>
          <a:solidFill>
            <a:srgbClr val="0E2455"/>
          </a:solidFill>
          <a:ln>
            <a:noFill/>
          </a:ln>
          <a:effectLst>
            <a:outerShdw blurRad="63500" dist="25400" dir="5400000" algn="t" rotWithShape="0">
              <a:srgbClr val="000000">
                <a:alpha val="22000"/>
              </a:srgbClr>
            </a:outerShdw>
          </a:effectLst>
        </p:spPr>
        <p:txBody>
          <a:bodyPr rtlCol="0" anchor="ctr"/>
          <a:lstStyle/>
          <a:p>
            <a:pPr algn="ctr"/>
          </a:p>
        </p:txBody>
      </p:sp>
      <p:sp>
        <p:nvSpPr>
          <p:cNvPr id="591" name="Dot 1"/>
          <p:cNvSpPr/>
          <p:nvPr/>
        </p:nvSpPr>
        <p:spPr>
          <a:xfrm>
            <a:off x="4420000" y="605000"/>
            <a:ext cx="70000" cy="70000"/>
          </a:xfrm>
          <a:prstGeom prst="ellipse">
            <a:avLst/>
          </a:prstGeom>
          <a:solidFill>
            <a:srgbClr val="C00000"/>
          </a:solidFill>
          <a:ln>
            <a:noFill/>
          </a:ln>
        </p:spPr>
        <p:txBody>
          <a:bodyPr rtlCol="0" anchor="ctr"/>
          <a:lstStyle/>
          <a:p>
            <a:pPr algn="ctr"/>
          </a:p>
        </p:txBody>
      </p:sp>
      <p:sp>
        <p:nvSpPr>
          <p:cNvPr id="592" name="Dot 2"/>
          <p:cNvSpPr/>
          <p:nvPr/>
        </p:nvSpPr>
        <p:spPr>
          <a:xfrm>
            <a:off x="4550000" y="605000"/>
            <a:ext cx="70000" cy="70000"/>
          </a:xfrm>
          <a:prstGeom prst="ellipse">
            <a:avLst/>
          </a:prstGeom>
          <a:solidFill>
            <a:srgbClr val="F2B705"/>
          </a:solidFill>
          <a:ln>
            <a:noFill/>
          </a:ln>
        </p:spPr>
        <p:txBody>
          <a:bodyPr rtlCol="0" anchor="ctr"/>
          <a:lstStyle/>
          <a:p>
            <a:pPr algn="ctr"/>
          </a:p>
        </p:txBody>
      </p:sp>
      <p:sp>
        <p:nvSpPr>
          <p:cNvPr id="593" name="Dot 3"/>
          <p:cNvSpPr/>
          <p:nvPr/>
        </p:nvSpPr>
        <p:spPr>
          <a:xfrm>
            <a:off x="4680000" y="605000"/>
            <a:ext cx="70000" cy="70000"/>
          </a:xfrm>
          <a:prstGeom prst="ellipse">
            <a:avLst/>
          </a:prstGeom>
          <a:solidFill>
            <a:srgbClr val="3DAE5C"/>
          </a:solidFill>
          <a:ln>
            <a:noFill/>
          </a:ln>
        </p:spPr>
        <p:txBody>
          <a:bodyPr rtlCol="0" anchor="ctr"/>
          <a:lstStyle/>
          <a:p>
            <a:pPr algn="ctr"/>
          </a:p>
        </p:txBody>
      </p:sp>
      <p:sp>
        <p:nvSpPr>
          <p:cNvPr id="594" name="File name"/>
          <p:cNvSpPr txBox="1"/>
          <p:nvPr/>
        </p:nvSpPr>
        <p:spPr>
          <a:xfrm>
            <a:off x="4860000" y="560000"/>
            <a:ext cx="2200000" cy="170000"/>
          </a:xfrm>
          <a:prstGeom prst="rect">
            <a:avLst/>
          </a:prstGeom>
          <a:noFill/>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 sz="900" b="1" i="0" u="none" strike="noStrike" cap="none" dirty="0">
                <a:solidFill>
                  <a:srgbClr val="8FA3C4"/>
                </a:solidFill>
                <a:latin typeface="Courier New"/>
                <a:ea typeface="Courier New"/>
                <a:cs typeface="Courier New"/>
                <a:sym typeface="Courier New"/>
              </a:rPr>
              <a:t>tsconfig.json</a:t>
            </a:r>
            <a:endParaRPr lang="en" sz="900" b="0" i="0" u="none" strike="noStrike" cap="none" dirty="0">
              <a:solidFill>
                <a:srgbClr val="000000"/>
              </a:solidFill>
              <a:latin typeface="Roboto"/>
              <a:ea typeface="Roboto"/>
              <a:cs typeface="Roboto"/>
              <a:sym typeface="Roboto"/>
            </a:endParaRPr>
          </a:p>
        </p:txBody>
      </p:sp>
      <p:sp>
        <p:nvSpPr>
          <p:cNvPr id="595" name="Code label"/>
          <p:cNvSpPr txBox="1"/>
          <p:nvPr/>
        </p:nvSpPr>
        <p:spPr>
          <a:xfrm>
            <a:off x="7650000" y="555000"/>
            <a:ext cx="900000" cy="170000"/>
          </a:xfrm>
          <a:prstGeom prst="rect">
            <a:avLst/>
          </a:prstGeom>
          <a:noFill/>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800" b="1" i="0" u="none" strike="noStrike" cap="none" dirty="0">
                <a:solidFill>
                  <a:srgbClr val="8FA3C4"/>
                </a:solidFill>
                <a:latin typeface="Roboto"/>
                <a:ea typeface="Roboto"/>
                <a:cs typeface="Roboto"/>
                <a:sym typeface="Roboto"/>
              </a:rPr>
              <a:t>JSON</a:t>
            </a:r>
            <a:endParaRPr lang="en" sz="800" b="0" i="0" u="none" strike="noStrike" cap="none" dirty="0">
              <a:solidFill>
                <a:srgbClr val="000000"/>
              </a:solidFill>
              <a:latin typeface="Roboto"/>
              <a:ea typeface="Roboto"/>
              <a:cs typeface="Roboto"/>
              <a:sym typeface="Roboto"/>
            </a:endParaRPr>
          </a:p>
        </p:txBody>
      </p:sp>
      <p:sp>
        <p:nvSpPr>
          <p:cNvPr id="596" name="Code"/>
          <p:cNvSpPr txBox="1"/>
          <p:nvPr/>
        </p:nvSpPr>
        <p:spPr>
          <a:xfrm>
            <a:off x="4360000" y="750000"/>
            <a:ext cx="4230000" cy="1725920"/>
          </a:xfrm>
          <a:prstGeom prst="rect">
            <a:avLst/>
          </a:prstGeom>
          <a:noFill/>
        </p:spPr>
        <p:txBody>
          <a:bodyPr spcFirstLastPara="1" wrap="square" lIns="86025" tIns="0" rIns="60000" bIns="0" anchor="t" anchorCtr="0">
            <a:noAutofit/>
          </a:bodyPr>
          <a:lstStyle/>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  </a:t>
            </a:r>
            <a:r>
              <a:rPr lang="en" sz="1000" b="0" i="0" u="none" strike="noStrike" cap="none" dirty="0">
                <a:solidFill>
                  <a:srgbClr val="FFC878"/>
                </a:solidFill>
                <a:latin typeface="Courier New"/>
                <a:ea typeface="Courier New"/>
                <a:cs typeface="Courier New"/>
                <a:sym typeface="Courier New"/>
              </a:rPr>
              <a:t>"compilerOptions"</a:t>
            </a:r>
            <a:r>
              <a:rPr lang="en" sz="1000" b="0" i="0" u="none" strike="noStrike" cap="none" dirty="0">
                <a:solidFill>
                  <a:srgbClr val="E6ECF7"/>
                </a:solidFill>
                <a:latin typeface="Courier New"/>
                <a:ea typeface="Courier New"/>
                <a:cs typeface="Courier New"/>
                <a:sym typeface="Courier New"/>
              </a:rPr>
              <a:t>: {</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    </a:t>
            </a:r>
            <a:r>
              <a:rPr lang="en" sz="1000" b="0" i="0" u="none" strike="noStrike" cap="none" dirty="0">
                <a:solidFill>
                  <a:srgbClr val="FFC878"/>
                </a:solidFill>
                <a:latin typeface="Courier New"/>
                <a:ea typeface="Courier New"/>
                <a:cs typeface="Courier New"/>
                <a:sym typeface="Courier New"/>
              </a:rPr>
              <a:t>"target"</a:t>
            </a:r>
            <a:r>
              <a:rPr lang="en" sz="1000" b="0" i="0" u="none" strike="noStrike" cap="none" dirty="0">
                <a:solidFill>
                  <a:srgbClr val="E6ECF7"/>
                </a:solidFill>
                <a:latin typeface="Courier New"/>
                <a:ea typeface="Courier New"/>
                <a:cs typeface="Courier New"/>
                <a:sym typeface="Courier New"/>
              </a:rPr>
              <a:t>: </a:t>
            </a:r>
            <a:r>
              <a:rPr lang="en" sz="1000" b="0" i="0" u="none" strike="noStrike" cap="none" dirty="0">
                <a:solidFill>
                  <a:srgbClr val="FFC878"/>
                </a:solidFill>
                <a:latin typeface="Courier New"/>
                <a:ea typeface="Courier New"/>
                <a:cs typeface="Courier New"/>
                <a:sym typeface="Courier New"/>
              </a:rPr>
              <a:t>"ES2020"</a:t>
            </a:r>
            <a:r>
              <a:rPr lang="en" sz="1000" b="0" i="0" u="none" strike="noStrike" cap="none" dirty="0">
                <a:solidFill>
                  <a:srgbClr val="E6ECF7"/>
                </a:solidFill>
                <a:latin typeface="Courier New"/>
                <a:ea typeface="Courier New"/>
                <a:cs typeface="Courier New"/>
                <a:sym typeface="Courier New"/>
              </a:rPr>
              <a:t>,</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    </a:t>
            </a:r>
            <a:r>
              <a:rPr lang="en" sz="1000" b="0" i="0" u="none" strike="noStrike" cap="none" dirty="0">
                <a:solidFill>
                  <a:srgbClr val="FFC878"/>
                </a:solidFill>
                <a:latin typeface="Courier New"/>
                <a:ea typeface="Courier New"/>
                <a:cs typeface="Courier New"/>
                <a:sym typeface="Courier New"/>
              </a:rPr>
              <a:t>"module"</a:t>
            </a:r>
            <a:r>
              <a:rPr lang="en" sz="1000" b="0" i="0" u="none" strike="noStrike" cap="none" dirty="0">
                <a:solidFill>
                  <a:srgbClr val="E6ECF7"/>
                </a:solidFill>
                <a:latin typeface="Courier New"/>
                <a:ea typeface="Courier New"/>
                <a:cs typeface="Courier New"/>
                <a:sym typeface="Courier New"/>
              </a:rPr>
              <a:t>: </a:t>
            </a:r>
            <a:r>
              <a:rPr lang="en" sz="1000" b="0" i="0" u="none" strike="noStrike" cap="none" dirty="0">
                <a:solidFill>
                  <a:srgbClr val="FFC878"/>
                </a:solidFill>
                <a:latin typeface="Courier New"/>
                <a:ea typeface="Courier New"/>
                <a:cs typeface="Courier New"/>
                <a:sym typeface="Courier New"/>
              </a:rPr>
              <a:t>"commonjs"</a:t>
            </a:r>
            <a:r>
              <a:rPr lang="en" sz="1000" b="0" i="0" u="none" strike="noStrike" cap="none" dirty="0">
                <a:solidFill>
                  <a:srgbClr val="E6ECF7"/>
                </a:solidFill>
                <a:latin typeface="Courier New"/>
                <a:ea typeface="Courier New"/>
                <a:cs typeface="Courier New"/>
                <a:sym typeface="Courier New"/>
              </a:rPr>
              <a:t>,</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    </a:t>
            </a:r>
            <a:r>
              <a:rPr lang="en" sz="1000" b="0" i="0" u="none" strike="noStrike" cap="none" dirty="0">
                <a:solidFill>
                  <a:srgbClr val="FFC878"/>
                </a:solidFill>
                <a:latin typeface="Courier New"/>
                <a:ea typeface="Courier New"/>
                <a:cs typeface="Courier New"/>
                <a:sym typeface="Courier New"/>
              </a:rPr>
              <a:t>"rootDir"</a:t>
            </a:r>
            <a:r>
              <a:rPr lang="en" sz="1000" b="0" i="0" u="none" strike="noStrike" cap="none" dirty="0">
                <a:solidFill>
                  <a:srgbClr val="E6ECF7"/>
                </a:solidFill>
                <a:latin typeface="Courier New"/>
                <a:ea typeface="Courier New"/>
                <a:cs typeface="Courier New"/>
                <a:sym typeface="Courier New"/>
              </a:rPr>
              <a:t>: </a:t>
            </a:r>
            <a:r>
              <a:rPr lang="en" sz="1000" b="0" i="0" u="none" strike="noStrike" cap="none" dirty="0">
                <a:solidFill>
                  <a:srgbClr val="FFC878"/>
                </a:solidFill>
                <a:latin typeface="Courier New"/>
                <a:ea typeface="Courier New"/>
                <a:cs typeface="Courier New"/>
                <a:sym typeface="Courier New"/>
              </a:rPr>
              <a:t>"./src"</a:t>
            </a:r>
            <a:r>
              <a:rPr lang="en" sz="1000" b="0" i="0" u="none" strike="noStrike" cap="none" dirty="0">
                <a:solidFill>
                  <a:srgbClr val="E6ECF7"/>
                </a:solidFill>
                <a:latin typeface="Courier New"/>
                <a:ea typeface="Courier New"/>
                <a:cs typeface="Courier New"/>
                <a:sym typeface="Courier New"/>
              </a:rPr>
              <a:t>,</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    </a:t>
            </a:r>
            <a:r>
              <a:rPr lang="en" sz="1000" b="0" i="0" u="none" strike="noStrike" cap="none" dirty="0">
                <a:solidFill>
                  <a:srgbClr val="FFC878"/>
                </a:solidFill>
                <a:latin typeface="Courier New"/>
                <a:ea typeface="Courier New"/>
                <a:cs typeface="Courier New"/>
                <a:sym typeface="Courier New"/>
              </a:rPr>
              <a:t>"outDir"</a:t>
            </a:r>
            <a:r>
              <a:rPr lang="en" sz="1000" b="0" i="0" u="none" strike="noStrike" cap="none" dirty="0">
                <a:solidFill>
                  <a:srgbClr val="E6ECF7"/>
                </a:solidFill>
                <a:latin typeface="Courier New"/>
                <a:ea typeface="Courier New"/>
                <a:cs typeface="Courier New"/>
                <a:sym typeface="Courier New"/>
              </a:rPr>
              <a:t>: </a:t>
            </a:r>
            <a:r>
              <a:rPr lang="en" sz="1000" b="0" i="0" u="none" strike="noStrike" cap="none" dirty="0">
                <a:solidFill>
                  <a:srgbClr val="FFC878"/>
                </a:solidFill>
                <a:latin typeface="Courier New"/>
                <a:ea typeface="Courier New"/>
                <a:cs typeface="Courier New"/>
                <a:sym typeface="Courier New"/>
              </a:rPr>
              <a:t>"./dist"</a:t>
            </a:r>
            <a:r>
              <a:rPr lang="en" sz="1000" b="0" i="0" u="none" strike="noStrike" cap="none" dirty="0">
                <a:solidFill>
                  <a:srgbClr val="E6ECF7"/>
                </a:solidFill>
                <a:latin typeface="Courier New"/>
                <a:ea typeface="Courier New"/>
                <a:cs typeface="Courier New"/>
                <a:sym typeface="Courier New"/>
              </a:rPr>
              <a:t>,</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    </a:t>
            </a:r>
            <a:r>
              <a:rPr lang="en" sz="1000" b="0" i="0" u="none" strike="noStrike" cap="none" dirty="0">
                <a:solidFill>
                  <a:srgbClr val="FFC878"/>
                </a:solidFill>
                <a:latin typeface="Courier New"/>
                <a:ea typeface="Courier New"/>
                <a:cs typeface="Courier New"/>
                <a:sym typeface="Courier New"/>
              </a:rPr>
              <a:t>"strict"</a:t>
            </a:r>
            <a:r>
              <a:rPr lang="en" sz="1000" b="0" i="0" u="none" strike="noStrike" cap="none" dirty="0">
                <a:solidFill>
                  <a:srgbClr val="E6ECF7"/>
                </a:solidFill>
                <a:latin typeface="Courier New"/>
                <a:ea typeface="Courier New"/>
                <a:cs typeface="Courier New"/>
                <a:sym typeface="Courier New"/>
              </a:rPr>
              <a:t>: </a:t>
            </a:r>
            <a:r>
              <a:rPr lang="en" sz="1000" b="0" i="0" u="none" strike="noStrike" cap="none" dirty="0">
                <a:solidFill>
                  <a:srgbClr val="8CC4FF"/>
                </a:solidFill>
                <a:latin typeface="Courier New"/>
                <a:ea typeface="Courier New"/>
                <a:cs typeface="Courier New"/>
                <a:sym typeface="Courier New"/>
              </a:rPr>
              <a:t>true</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  },</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  </a:t>
            </a:r>
            <a:r>
              <a:rPr lang="en" sz="1000" b="0" i="0" u="none" strike="noStrike" cap="none" dirty="0">
                <a:solidFill>
                  <a:srgbClr val="FFC878"/>
                </a:solidFill>
                <a:latin typeface="Courier New"/>
                <a:ea typeface="Courier New"/>
                <a:cs typeface="Courier New"/>
                <a:sym typeface="Courier New"/>
              </a:rPr>
              <a:t>"include"</a:t>
            </a:r>
            <a:r>
              <a:rPr lang="en" sz="1000" b="0" i="0" u="none" strike="noStrike" cap="none" dirty="0">
                <a:solidFill>
                  <a:srgbClr val="E6ECF7"/>
                </a:solidFill>
                <a:latin typeface="Courier New"/>
                <a:ea typeface="Courier New"/>
                <a:cs typeface="Courier New"/>
                <a:sym typeface="Courier New"/>
              </a:rPr>
              <a:t>: [</a:t>
            </a:r>
            <a:r>
              <a:rPr lang="en" sz="1000" b="0" i="0" u="none" strike="noStrike" cap="none" dirty="0">
                <a:solidFill>
                  <a:srgbClr val="FFC878"/>
                </a:solidFill>
                <a:latin typeface="Courier New"/>
                <a:ea typeface="Courier New"/>
                <a:cs typeface="Courier New"/>
                <a:sym typeface="Courier New"/>
              </a:rPr>
              <a:t>"src/**/*"</a:t>
            </a:r>
            <a:r>
              <a:rPr lang="en" sz="1000" b="0" i="0" u="none" strike="noStrike" cap="none" dirty="0">
                <a:solidFill>
                  <a:srgbClr val="E6ECF7"/>
                </a:solidFill>
                <a:latin typeface="Courier New"/>
                <a:ea typeface="Courier New"/>
                <a:cs typeface="Courier New"/>
                <a:sym typeface="Courier New"/>
              </a:rPr>
              <a:t>]</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a:t>
            </a:r>
            <a:endParaRPr lang="en" sz="1000" b="0" i="0" u="none" strike="noStrike" cap="none" dirty="0">
              <a:solidFill>
                <a:srgbClr val="000000"/>
              </a:solidFill>
              <a:latin typeface="Roboto"/>
              <a:ea typeface="Roboto"/>
              <a:cs typeface="Roboto"/>
              <a:sym typeface="Roboto"/>
            </a:endParaRPr>
          </a:p>
        </p:txBody>
      </p:sp>
      <p:graphicFrame>
        <p:nvGraphicFramePr>
          <p:cNvPr id="597" name="Table"/>
          <p:cNvGraphicFramePr>
            <a:graphicFrameLocks noGrp="1"/>
          </p:cNvGraphicFramePr>
          <p:nvPr/>
        </p:nvGraphicFramePr>
        <p:xfrm>
          <a:off x="4300000" y="2625920"/>
          <a:ext cx="4350000" cy="147000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100000"/>
                <a:gridCol w="1950000"/>
                <a:gridCol w="1300000"/>
              </a:tblGrid>
              <a:tr h="245000">
                <a:tc>
                  <a:txBody>
                    <a:bodyPr/>
                    <a:lstStyle/>
                    <a:p>
                      <a:r>
                        <a:rPr lang="en-IN" sz="900" b="1" dirty="0">
                          <a:solidFill>
                            <a:schemeClr val="tx1"/>
                          </a:solidFill>
                          <a:latin typeface="Roboto" panose="02000000000000000000" pitchFamily="2" charset="0"/>
                          <a:ea typeface="Roboto" panose="02000000000000000000" pitchFamily="2" charset="0"/>
                          <a:cs typeface="Roboto" panose="02000000000000000000" pitchFamily="2" charset="0"/>
                        </a:rPr>
                        <a:t>Option</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IN" sz="900" b="1" dirty="0">
                          <a:solidFill>
                            <a:schemeClr val="tx1"/>
                          </a:solidFill>
                          <a:latin typeface="Roboto" panose="02000000000000000000" pitchFamily="2" charset="0"/>
                          <a:ea typeface="Roboto" panose="02000000000000000000" pitchFamily="2" charset="0"/>
                          <a:cs typeface="Roboto" panose="02000000000000000000" pitchFamily="2" charset="0"/>
                        </a:rPr>
                        <a:t>Meaning</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IN" sz="900" b="1" dirty="0">
                          <a:solidFill>
                            <a:schemeClr val="tx1"/>
                          </a:solidFill>
                          <a:latin typeface="Roboto" panose="02000000000000000000" pitchFamily="2" charset="0"/>
                          <a:ea typeface="Roboto" panose="02000000000000000000" pitchFamily="2" charset="0"/>
                          <a:cs typeface="Roboto" panose="02000000000000000000" pitchFamily="2" charset="0"/>
                        </a:rPr>
                        <a:t>Common value</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r>
              <a:tr h="245000">
                <a:tc>
                  <a:txBody>
                    <a:bodyPr/>
                    <a:lstStyle/>
                    <a:p>
                      <a:r>
                        <a:rPr lang="en-IN" sz="900" b="0" dirty="0">
                          <a:solidFill>
                            <a:schemeClr val="tx1"/>
                          </a:solidFill>
                          <a:latin typeface="Courier New"/>
                          <a:ea typeface="Courier New"/>
                          <a:cs typeface="Courier New"/>
                        </a:rPr>
                        <a:t>target</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900" b="0" dirty="0">
                          <a:solidFill>
                            <a:schemeClr val="tx1"/>
                          </a:solidFill>
                          <a:latin typeface="Roboto" panose="02000000000000000000" pitchFamily="2" charset="0"/>
                          <a:ea typeface="Roboto" panose="02000000000000000000" pitchFamily="2" charset="0"/>
                          <a:cs typeface="Roboto" panose="02000000000000000000" pitchFamily="2" charset="0"/>
                        </a:rPr>
                        <a:t>JS version output</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900" b="0" dirty="0">
                          <a:solidFill>
                            <a:schemeClr val="tx1"/>
                          </a:solidFill>
                          <a:latin typeface="Courier New"/>
                          <a:ea typeface="Courier New"/>
                          <a:cs typeface="Courier New"/>
                        </a:rPr>
                        <a:t>"ES2020"</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45000">
                <a:tc>
                  <a:txBody>
                    <a:bodyPr/>
                    <a:lstStyle/>
                    <a:p>
                      <a:r>
                        <a:rPr lang="en-IN" sz="900" b="0" dirty="0">
                          <a:solidFill>
                            <a:schemeClr val="tx1"/>
                          </a:solidFill>
                          <a:latin typeface="Courier New"/>
                          <a:ea typeface="Courier New"/>
                          <a:cs typeface="Courier New"/>
                        </a:rPr>
                        <a:t>module</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900" b="0" dirty="0">
                          <a:solidFill>
                            <a:schemeClr val="tx1"/>
                          </a:solidFill>
                          <a:latin typeface="Roboto" panose="02000000000000000000" pitchFamily="2" charset="0"/>
                          <a:ea typeface="Roboto" panose="02000000000000000000" pitchFamily="2" charset="0"/>
                          <a:cs typeface="Roboto" panose="02000000000000000000" pitchFamily="2" charset="0"/>
                        </a:rPr>
                        <a:t>Module system</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900" b="0" dirty="0">
                          <a:solidFill>
                            <a:schemeClr val="tx1"/>
                          </a:solidFill>
                          <a:latin typeface="Courier New"/>
                          <a:ea typeface="Courier New"/>
                          <a:cs typeface="Courier New"/>
                        </a:rPr>
                        <a:t>"commonjs"</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45000">
                <a:tc>
                  <a:txBody>
                    <a:bodyPr/>
                    <a:lstStyle/>
                    <a:p>
                      <a:r>
                        <a:rPr lang="en-IN" sz="900" b="0" dirty="0">
                          <a:solidFill>
                            <a:schemeClr val="tx1"/>
                          </a:solidFill>
                          <a:latin typeface="Courier New"/>
                          <a:ea typeface="Courier New"/>
                          <a:cs typeface="Courier New"/>
                        </a:rPr>
                        <a:t>outDir</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900" b="0" dirty="0">
                          <a:solidFill>
                            <a:schemeClr val="tx1"/>
                          </a:solidFill>
                          <a:latin typeface="Roboto" panose="02000000000000000000" pitchFamily="2" charset="0"/>
                          <a:ea typeface="Roboto" panose="02000000000000000000" pitchFamily="2" charset="0"/>
                          <a:cs typeface="Roboto" panose="02000000000000000000" pitchFamily="2" charset="0"/>
                        </a:rPr>
                        <a:t>Where compiled JS goes</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900" b="0" dirty="0">
                          <a:solidFill>
                            <a:schemeClr val="tx1"/>
                          </a:solidFill>
                          <a:latin typeface="Courier New"/>
                          <a:ea typeface="Courier New"/>
                          <a:cs typeface="Courier New"/>
                        </a:rPr>
                        <a:t>"./dist"</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45000">
                <a:tc>
                  <a:txBody>
                    <a:bodyPr/>
                    <a:lstStyle/>
                    <a:p>
                      <a:r>
                        <a:rPr lang="en-IN" sz="900" b="0" dirty="0">
                          <a:solidFill>
                            <a:schemeClr val="tx1"/>
                          </a:solidFill>
                          <a:latin typeface="Courier New"/>
                          <a:ea typeface="Courier New"/>
                          <a:cs typeface="Courier New"/>
                        </a:rPr>
                        <a:t>rootDir</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900" b="0" dirty="0">
                          <a:solidFill>
                            <a:schemeClr val="tx1"/>
                          </a:solidFill>
                          <a:latin typeface="Roboto" panose="02000000000000000000" pitchFamily="2" charset="0"/>
                          <a:ea typeface="Roboto" panose="02000000000000000000" pitchFamily="2" charset="0"/>
                          <a:cs typeface="Roboto" panose="02000000000000000000" pitchFamily="2" charset="0"/>
                        </a:rPr>
                        <a:t>Where source lives</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900" b="0" dirty="0">
                          <a:solidFill>
                            <a:schemeClr val="tx1"/>
                          </a:solidFill>
                          <a:latin typeface="Courier New"/>
                          <a:ea typeface="Courier New"/>
                          <a:cs typeface="Courier New"/>
                        </a:rPr>
                        <a:t>"./src"</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45000">
                <a:tc>
                  <a:txBody>
                    <a:bodyPr/>
                    <a:lstStyle/>
                    <a:p>
                      <a:r>
                        <a:rPr lang="en-IN" sz="900" b="0" dirty="0">
                          <a:solidFill>
                            <a:schemeClr val="tx1"/>
                          </a:solidFill>
                          <a:latin typeface="Courier New"/>
                          <a:ea typeface="Courier New"/>
                          <a:cs typeface="Courier New"/>
                        </a:rPr>
                        <a:t>strict</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900" b="0" dirty="0">
                          <a:solidFill>
                            <a:schemeClr val="tx1"/>
                          </a:solidFill>
                          <a:latin typeface="Roboto" panose="02000000000000000000" pitchFamily="2" charset="0"/>
                          <a:ea typeface="Roboto" panose="02000000000000000000" pitchFamily="2" charset="0"/>
                          <a:cs typeface="Roboto" panose="02000000000000000000" pitchFamily="2" charset="0"/>
                        </a:rPr>
                        <a:t>All strict checks ON</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900" b="0" dirty="0">
                          <a:solidFill>
                            <a:schemeClr val="tx1"/>
                          </a:solidFill>
                          <a:latin typeface="Courier New"/>
                          <a:ea typeface="Courier New"/>
                          <a:cs typeface="Courier New"/>
                        </a:rPr>
                        <a:t>true</a:t>
                      </a:r>
                    </a:p>
                  </a:txBody>
                  <a:tcPr marL="60000" marR="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grpSpPr/>
      <p:pic>
        <p:nvPicPr>
          <p:cNvPr id="110" name="Google Shape;110;p15" title="Untitled-1-07.png"/>
          <p:cNvPicPr preferRelativeResize="0"/>
          <p:nvPr/>
        </p:nvPicPr>
        <p:blipFill rotWithShape="1">
          <a:blip r:embed="rId2">
            <a:alphaModFix/>
          </a:blip>
          <a:srcRect l="5100" r="4630" b="15895"/>
          <a:stretch/>
        </p:blipFill>
        <p:spPr>
          <a:xfrm>
            <a:off x="880549" y="4348257"/>
            <a:ext cx="2096958" cy="548700"/>
          </a:xfrm>
          <a:prstGeom prst="rect">
            <a:avLst/>
          </a:prstGeom>
          <a:noFill/>
          <a:ln>
            <a:noFill/>
          </a:ln>
        </p:spPr>
      </p:pic>
      <p:pic>
        <p:nvPicPr>
          <p:cNvPr id="111" name="Google Shape;111;p15" title="powerd by.png"/>
          <p:cNvPicPr preferRelativeResize="0"/>
          <p:nvPr/>
        </p:nvPicPr>
        <p:blipFill rotWithShape="1">
          <a:blip r:embed="rId5">
            <a:alphaModFix/>
          </a:blip>
          <a:srcRect l="6981" t="44048" r="6714" b="14302"/>
          <a:stretch/>
        </p:blipFill>
        <p:spPr>
          <a:xfrm>
            <a:off x="3537800" y="4500588"/>
            <a:ext cx="2130125" cy="355975"/>
          </a:xfrm>
          <a:prstGeom prst="rect">
            <a:avLst/>
          </a:prstGeom>
          <a:noFill/>
          <a:ln>
            <a:noFill/>
          </a:ln>
        </p:spPr>
      </p:pic>
      <p:sp>
        <p:nvSpPr>
          <p:cNvPr id="112" name="Google Shape;112;p15"/>
          <p:cNvSpPr txBox="1"/>
          <p:nvPr/>
        </p:nvSpPr>
        <p:spPr>
          <a:xfrm>
            <a:off x="5998012" y="4596047"/>
            <a:ext cx="2436900" cy="253800"/>
          </a:xfrm>
          <a:prstGeom prst="rect">
            <a:avLst/>
          </a:prstGeom>
          <a:noFill/>
          <a:ln>
            <a:noFill/>
          </a:ln>
        </p:spPr>
        <p:txBody>
          <a:bodyPr spcFirstLastPara="1" wrap="non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0053A1"/>
                </a:solidFill>
                <a:latin typeface="Roboto"/>
                <a:ea typeface="Roboto"/>
                <a:cs typeface="Roboto"/>
                <a:sym typeface="Roboto"/>
              </a:rPr>
              <a:t>www.</a:t>
            </a:r>
            <a:r>
              <a:rPr lang="en" sz="1200" b="1">
                <a:solidFill>
                  <a:srgbClr val="0053A1"/>
                </a:solidFill>
                <a:latin typeface="Roboto"/>
                <a:ea typeface="Roboto"/>
                <a:cs typeface="Roboto"/>
                <a:sym typeface="Roboto"/>
              </a:rPr>
              <a:t>careercraftacademy.com</a:t>
            </a:r>
            <a:endParaRPr sz="1200" b="1" i="0" u="none" strike="noStrike" cap="none">
              <a:solidFill>
                <a:srgbClr val="0053A1"/>
              </a:solidFill>
              <a:latin typeface="Roboto"/>
              <a:ea typeface="Roboto"/>
              <a:cs typeface="Roboto"/>
              <a:sym typeface="Roboto"/>
            </a:endParaRPr>
          </a:p>
        </p:txBody>
      </p:sp>
      <p:pic>
        <p:nvPicPr>
          <p:cNvPr id="114" name="Google Shape;114;p15"/>
          <p:cNvPicPr preferRelativeResize="0"/>
          <p:nvPr/>
        </p:nvPicPr>
        <p:blipFill>
          <a:blip r:embed="rId4">
            <a:alphaModFix/>
          </a:blip>
          <a:stretch>
            <a:fillRect/>
          </a:stretch>
        </p:blipFill>
        <p:spPr>
          <a:xfrm>
            <a:off x="8447868" y="4368945"/>
            <a:ext cx="334175" cy="480903"/>
          </a:xfrm>
          <a:prstGeom prst="rect">
            <a:avLst/>
          </a:prstGeom>
          <a:noFill/>
          <a:ln>
            <a:noFill/>
          </a:ln>
        </p:spPr>
      </p:pic>
      <p:sp>
        <p:nvSpPr>
          <p:cNvPr id="598" name="Kicker"/>
          <p:cNvSpPr txBox="1"/>
          <p:nvPr/>
        </p:nvSpPr>
        <p:spPr>
          <a:xfrm>
            <a:off x="675600" y="285000"/>
            <a:ext cx="3560000" cy="241200"/>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1003" b="0" i="0" u="none" strike="noStrike" cap="none" dirty="0">
                <a:solidFill>
                  <a:srgbClr val="7F7F7F"/>
                </a:solidFill>
                <a:latin typeface="Roboto"/>
                <a:ea typeface="Roboto"/>
                <a:cs typeface="Roboto"/>
                <a:sym typeface="Roboto"/>
              </a:rPr>
              <a:t>Build Tools</a:t>
            </a:r>
            <a:endParaRPr lang="en" sz="1003" b="0" i="0" u="none" strike="noStrike" cap="none" dirty="0">
              <a:solidFill>
                <a:srgbClr val="000000"/>
              </a:solidFill>
              <a:latin typeface="Roboto"/>
              <a:ea typeface="Roboto"/>
              <a:cs typeface="Roboto"/>
              <a:sym typeface="Roboto"/>
            </a:endParaRPr>
          </a:p>
        </p:txBody>
      </p:sp>
      <p:sp>
        <p:nvSpPr>
          <p:cNvPr id="599" name="Title"/>
          <p:cNvSpPr txBox="1"/>
          <p:nvPr/>
        </p:nvSpPr>
        <p:spPr>
          <a:xfrm>
            <a:off x="675600" y="520000"/>
            <a:ext cx="3560000" cy="763948"/>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2200" b="1" i="0" u="none" strike="noStrike" cap="none" dirty="0">
                <a:solidFill>
                  <a:srgbClr val="0053A1"/>
                </a:solidFill>
                <a:latin typeface="Poppins SemiBold"/>
                <a:ea typeface="Poppins SemiBold"/>
                <a:cs typeface="Poppins SemiBold"/>
                <a:sym typeface="Poppins SemiBold"/>
              </a:rPr>
              <a:t>Build Tools</a:t>
            </a:r>
            <a:endParaRPr lang="en" sz="2200" b="0" i="0" u="none" strike="noStrike" cap="none" dirty="0">
              <a:solidFill>
                <a:srgbClr val="000000"/>
              </a:solidFill>
              <a:latin typeface="Roboto"/>
              <a:ea typeface="Roboto"/>
              <a:cs typeface="Roboto"/>
              <a:sym typeface="Roboto"/>
            </a:endParaRPr>
          </a:p>
          <a:p>
            <a:pPr marL="0" marR="0" lvl="0" indent="0" algn="l" rtl="0">
              <a:lnSpc>
                <a:spcPct val="100000"/>
              </a:lnSpc>
              <a:spcBef>
                <a:spcPts val="0"/>
              </a:spcBef>
              <a:spcAft>
                <a:spcPts val="0"/>
              </a:spcAft>
              <a:buNone/>
            </a:pPr>
            <a:r>
              <a:rPr lang="en" sz="2200" b="1" i="0" u="none" strike="noStrike" cap="none" dirty="0">
                <a:solidFill>
                  <a:srgbClr val="000000"/>
                </a:solidFill>
                <a:latin typeface="Poppins SemiBold"/>
                <a:ea typeface="Poppins SemiBold"/>
                <a:cs typeface="Poppins SemiBold"/>
                <a:sym typeface="Poppins SemiBold"/>
              </a:rPr>
              <a:t>and Ecosystem</a:t>
            </a:r>
            <a:endParaRPr lang="en" sz="2200" b="0" i="0" u="none" strike="noStrike" cap="none" dirty="0">
              <a:solidFill>
                <a:srgbClr val="000000"/>
              </a:solidFill>
              <a:latin typeface="Roboto"/>
              <a:ea typeface="Roboto"/>
              <a:cs typeface="Roboto"/>
              <a:sym typeface="Roboto"/>
            </a:endParaRPr>
          </a:p>
        </p:txBody>
      </p:sp>
      <p:sp>
        <p:nvSpPr>
          <p:cNvPr id="600" name="Body"/>
          <p:cNvSpPr txBox="1"/>
          <p:nvPr/>
        </p:nvSpPr>
        <p:spPr>
          <a:xfrm>
            <a:off x="620000" y="1383000"/>
            <a:ext cx="3560000" cy="2481220"/>
          </a:xfrm>
          <a:prstGeom prst="rect">
            <a:avLst/>
          </a:prstGeom>
          <a:noFill/>
        </p:spPr>
        <p:txBody>
          <a:bodyPr spcFirstLastPara="1" wrap="square" lIns="86025" tIns="43000" rIns="86025" bIns="43000" anchor="t" anchorCtr="0">
            <a:noAutofit/>
          </a:bodyPr>
          <a:lstStyle/>
          <a:p>
            <a:pPr marL="171450" marR="0" lvl="0" indent="-171450" algn="l" rtl="0">
              <a:lnSpc>
                <a:spcPct val="125000"/>
              </a:lnSpc>
              <a:spcBef>
                <a:spcPts val="100"/>
              </a:spcBef>
              <a:spcAft>
                <a:spcPts val="0"/>
              </a:spcAft>
              <a:buClr>
                <a:srgbClr val="000000"/>
              </a:buClr>
              <a:buSzPts val="1100"/>
              <a:buFont typeface="Arial"/>
              <a:buChar char="•"/>
            </a:pPr>
            <a:r>
              <a:rPr lang="en" sz="1050" b="1" i="0" u="none" strike="noStrike" cap="none" dirty="0">
                <a:solidFill>
                  <a:srgbClr val="0053A1"/>
                </a:solidFill>
                <a:latin typeface="Courier New"/>
                <a:ea typeface="Courier New"/>
                <a:cs typeface="Courier New"/>
                <a:sym typeface="Courier New"/>
              </a:rPr>
              <a:t>tsc</a:t>
            </a:r>
            <a:r>
              <a:rPr lang="en" sz="1100" b="0" i="0" u="none" strike="noStrike" cap="none" dirty="0">
                <a:solidFill>
                  <a:schemeClr val="tx1"/>
                </a:solidFill>
                <a:latin typeface="Roboto"/>
                <a:ea typeface="Roboto"/>
                <a:cs typeface="Roboto"/>
                <a:sym typeface="Roboto"/>
              </a:rPr>
              <a:t> - the standard compiler</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050" b="1" i="0" u="none" strike="noStrike" cap="none" dirty="0">
                <a:solidFill>
                  <a:srgbClr val="0053A1"/>
                </a:solidFill>
                <a:latin typeface="Courier New"/>
                <a:ea typeface="Courier New"/>
                <a:cs typeface="Courier New"/>
                <a:sym typeface="Courier New"/>
              </a:rPr>
              <a:t>ts-node</a:t>
            </a:r>
            <a:r>
              <a:rPr lang="en" sz="1100" b="0" i="0" u="none" strike="noStrike" cap="none" dirty="0">
                <a:solidFill>
                  <a:schemeClr val="tx1"/>
                </a:solidFill>
                <a:latin typeface="Roboto"/>
                <a:ea typeface="Roboto"/>
                <a:cs typeface="Roboto"/>
                <a:sym typeface="Roboto"/>
              </a:rPr>
              <a:t> - run TypeScript with no compile step</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1" i="0" u="none" strike="noStrike" cap="none" dirty="0">
                <a:solidFill>
                  <a:schemeClr val="tx1"/>
                </a:solidFill>
                <a:latin typeface="Roboto"/>
                <a:ea typeface="Roboto"/>
                <a:cs typeface="Roboto"/>
                <a:sym typeface="Roboto"/>
              </a:rPr>
              <a:t>Webpack + ts-loader</a:t>
            </a:r>
            <a:r>
              <a:rPr lang="en" sz="1100" b="0" i="0" u="none" strike="noStrike" cap="none" dirty="0">
                <a:solidFill>
                  <a:schemeClr val="tx1"/>
                </a:solidFill>
                <a:latin typeface="Roboto"/>
                <a:ea typeface="Roboto"/>
                <a:cs typeface="Roboto"/>
                <a:sym typeface="Roboto"/>
              </a:rPr>
              <a:t> - classic web bundling</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1" i="0" u="none" strike="noStrike" cap="none" dirty="0">
                <a:solidFill>
                  <a:schemeClr val="tx1"/>
                </a:solidFill>
                <a:latin typeface="Roboto"/>
                <a:ea typeface="Roboto"/>
                <a:cs typeface="Roboto"/>
                <a:sym typeface="Roboto"/>
              </a:rPr>
              <a:t>Babel</a:t>
            </a:r>
            <a:r>
              <a:rPr lang="en" sz="1100" b="0" i="0" u="none" strike="noStrike" cap="none" dirty="0">
                <a:solidFill>
                  <a:schemeClr val="tx1"/>
                </a:solidFill>
                <a:latin typeface="Roboto"/>
                <a:ea typeface="Roboto"/>
                <a:cs typeface="Roboto"/>
                <a:sym typeface="Roboto"/>
              </a:rPr>
              <a:t> - fast, strips types, no type-checking</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1" i="0" u="none" strike="noStrike" cap="none" dirty="0">
                <a:solidFill>
                  <a:schemeClr val="tx1"/>
                </a:solidFill>
                <a:latin typeface="Roboto"/>
                <a:ea typeface="Roboto"/>
                <a:cs typeface="Roboto"/>
                <a:sym typeface="Roboto"/>
              </a:rPr>
              <a:t>Vite</a:t>
            </a:r>
            <a:r>
              <a:rPr lang="en" sz="1100" b="0" i="0" u="none" strike="noStrike" cap="none" dirty="0">
                <a:solidFill>
                  <a:schemeClr val="tx1"/>
                </a:solidFill>
                <a:latin typeface="Roboto"/>
                <a:ea typeface="Roboto"/>
                <a:cs typeface="Roboto"/>
                <a:sym typeface="Roboto"/>
              </a:rPr>
              <a:t> - zero-config TypeScript, fastest DX</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React, Angular, Vue, Next.js support TS out of the box</a:t>
            </a:r>
            <a:endParaRPr lang="en" sz="1100" b="0" i="0" u="none" strike="noStrike" cap="none" dirty="0">
              <a:solidFill>
                <a:srgbClr val="000000"/>
              </a:solidFill>
              <a:latin typeface="Roboto"/>
              <a:ea typeface="Roboto"/>
              <a:cs typeface="Roboto"/>
              <a:sym typeface="Roboto"/>
            </a:endParaRPr>
          </a:p>
        </p:txBody>
      </p:sp>
      <p:sp>
        <p:nvSpPr>
          <p:cNvPr id="601" name="Code panel"/>
          <p:cNvSpPr/>
          <p:nvPr/>
        </p:nvSpPr>
        <p:spPr>
          <a:xfrm>
            <a:off x="4300000" y="500000"/>
            <a:ext cx="4350000" cy="689184"/>
          </a:xfrm>
          <a:prstGeom prst="roundRect">
            <a:avLst>
              <a:gd name="adj" fmla="val 3500"/>
            </a:avLst>
          </a:prstGeom>
          <a:solidFill>
            <a:srgbClr val="0E2455"/>
          </a:solidFill>
          <a:ln>
            <a:noFill/>
          </a:ln>
          <a:effectLst>
            <a:outerShdw blurRad="63500" dist="25400" dir="5400000" algn="t" rotWithShape="0">
              <a:srgbClr val="000000">
                <a:alpha val="22000"/>
              </a:srgbClr>
            </a:outerShdw>
          </a:effectLst>
        </p:spPr>
        <p:txBody>
          <a:bodyPr rtlCol="0" anchor="ctr"/>
          <a:lstStyle/>
          <a:p>
            <a:pPr algn="ctr"/>
          </a:p>
        </p:txBody>
      </p:sp>
      <p:sp>
        <p:nvSpPr>
          <p:cNvPr id="602" name="Dot 1"/>
          <p:cNvSpPr/>
          <p:nvPr/>
        </p:nvSpPr>
        <p:spPr>
          <a:xfrm>
            <a:off x="4420000" y="605000"/>
            <a:ext cx="70000" cy="70000"/>
          </a:xfrm>
          <a:prstGeom prst="ellipse">
            <a:avLst/>
          </a:prstGeom>
          <a:solidFill>
            <a:srgbClr val="C00000"/>
          </a:solidFill>
          <a:ln>
            <a:noFill/>
          </a:ln>
        </p:spPr>
        <p:txBody>
          <a:bodyPr rtlCol="0" anchor="ctr"/>
          <a:lstStyle/>
          <a:p>
            <a:pPr algn="ctr"/>
          </a:p>
        </p:txBody>
      </p:sp>
      <p:sp>
        <p:nvSpPr>
          <p:cNvPr id="603" name="Dot 2"/>
          <p:cNvSpPr/>
          <p:nvPr/>
        </p:nvSpPr>
        <p:spPr>
          <a:xfrm>
            <a:off x="4550000" y="605000"/>
            <a:ext cx="70000" cy="70000"/>
          </a:xfrm>
          <a:prstGeom prst="ellipse">
            <a:avLst/>
          </a:prstGeom>
          <a:solidFill>
            <a:srgbClr val="F2B705"/>
          </a:solidFill>
          <a:ln>
            <a:noFill/>
          </a:ln>
        </p:spPr>
        <p:txBody>
          <a:bodyPr rtlCol="0" anchor="ctr"/>
          <a:lstStyle/>
          <a:p>
            <a:pPr algn="ctr"/>
          </a:p>
        </p:txBody>
      </p:sp>
      <p:sp>
        <p:nvSpPr>
          <p:cNvPr id="604" name="Dot 3"/>
          <p:cNvSpPr/>
          <p:nvPr/>
        </p:nvSpPr>
        <p:spPr>
          <a:xfrm>
            <a:off x="4680000" y="605000"/>
            <a:ext cx="70000" cy="70000"/>
          </a:xfrm>
          <a:prstGeom prst="ellipse">
            <a:avLst/>
          </a:prstGeom>
          <a:solidFill>
            <a:srgbClr val="3DAE5C"/>
          </a:solidFill>
          <a:ln>
            <a:noFill/>
          </a:ln>
        </p:spPr>
        <p:txBody>
          <a:bodyPr rtlCol="0" anchor="ctr"/>
          <a:lstStyle/>
          <a:p>
            <a:pPr algn="ctr"/>
          </a:p>
        </p:txBody>
      </p:sp>
      <p:sp>
        <p:nvSpPr>
          <p:cNvPr id="605" name="File name"/>
          <p:cNvSpPr txBox="1"/>
          <p:nvPr/>
        </p:nvSpPr>
        <p:spPr>
          <a:xfrm>
            <a:off x="4860000" y="560000"/>
            <a:ext cx="2200000" cy="170000"/>
          </a:xfrm>
          <a:prstGeom prst="rect">
            <a:avLst/>
          </a:prstGeom>
          <a:noFill/>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 sz="900" b="1" i="0" u="none" strike="noStrike" cap="none" dirty="0">
                <a:solidFill>
                  <a:srgbClr val="8FA3C4"/>
                </a:solidFill>
                <a:latin typeface="Courier New"/>
                <a:ea typeface="Courier New"/>
                <a:cs typeface="Courier New"/>
                <a:sym typeface="Courier New"/>
              </a:rPr>
              <a:t>terminal</a:t>
            </a:r>
            <a:endParaRPr lang="en" sz="900" b="0" i="0" u="none" strike="noStrike" cap="none" dirty="0">
              <a:solidFill>
                <a:srgbClr val="000000"/>
              </a:solidFill>
              <a:latin typeface="Roboto"/>
              <a:ea typeface="Roboto"/>
              <a:cs typeface="Roboto"/>
              <a:sym typeface="Roboto"/>
            </a:endParaRPr>
          </a:p>
        </p:txBody>
      </p:sp>
      <p:sp>
        <p:nvSpPr>
          <p:cNvPr id="606" name="Code label"/>
          <p:cNvSpPr txBox="1"/>
          <p:nvPr/>
        </p:nvSpPr>
        <p:spPr>
          <a:xfrm>
            <a:off x="7650000" y="555000"/>
            <a:ext cx="900000" cy="170000"/>
          </a:xfrm>
          <a:prstGeom prst="rect">
            <a:avLst/>
          </a:prstGeom>
          <a:noFill/>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800" b="1" i="0" u="none" strike="noStrike" cap="none" dirty="0">
                <a:solidFill>
                  <a:srgbClr val="8FA3C4"/>
                </a:solidFill>
                <a:latin typeface="Roboto"/>
                <a:ea typeface="Roboto"/>
                <a:cs typeface="Roboto"/>
                <a:sym typeface="Roboto"/>
              </a:rPr>
              <a:t>BASH</a:t>
            </a:r>
            <a:endParaRPr lang="en" sz="800" b="0" i="0" u="none" strike="noStrike" cap="none" dirty="0">
              <a:solidFill>
                <a:srgbClr val="000000"/>
              </a:solidFill>
              <a:latin typeface="Roboto"/>
              <a:ea typeface="Roboto"/>
              <a:cs typeface="Roboto"/>
              <a:sym typeface="Roboto"/>
            </a:endParaRPr>
          </a:p>
        </p:txBody>
      </p:sp>
      <p:sp>
        <p:nvSpPr>
          <p:cNvPr id="607" name="Code"/>
          <p:cNvSpPr txBox="1"/>
          <p:nvPr/>
        </p:nvSpPr>
        <p:spPr>
          <a:xfrm>
            <a:off x="4360000" y="750000"/>
            <a:ext cx="4230000" cy="409184"/>
          </a:xfrm>
          <a:prstGeom prst="rect">
            <a:avLst/>
          </a:prstGeom>
          <a:noFill/>
        </p:spPr>
        <p:txBody>
          <a:bodyPr spcFirstLastPara="1" wrap="square" lIns="86025" tIns="0" rIns="60000" bIns="0" anchor="t" anchorCtr="0">
            <a:noAutofit/>
          </a:bodyPr>
          <a:lstStyle/>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npm install -D ts-node</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ts-node src/index.ts</a:t>
            </a:r>
            <a:endParaRPr lang="en" sz="1000" b="0" i="0" u="none" strike="noStrike" cap="none" dirty="0">
              <a:solidFill>
                <a:srgbClr val="000000"/>
              </a:solidFill>
              <a:latin typeface="Roboto"/>
              <a:ea typeface="Roboto"/>
              <a:cs typeface="Roboto"/>
              <a:sym typeface="Roboto"/>
            </a:endParaRPr>
          </a:p>
        </p:txBody>
      </p:sp>
      <p:sp>
        <p:nvSpPr>
          <p:cNvPr id="608" name="Code panel"/>
          <p:cNvSpPr/>
          <p:nvPr/>
        </p:nvSpPr>
        <p:spPr>
          <a:xfrm>
            <a:off x="4300000" y="1319184"/>
            <a:ext cx="4350000" cy="689184"/>
          </a:xfrm>
          <a:prstGeom prst="roundRect">
            <a:avLst>
              <a:gd name="adj" fmla="val 3500"/>
            </a:avLst>
          </a:prstGeom>
          <a:solidFill>
            <a:srgbClr val="0E2455"/>
          </a:solidFill>
          <a:ln>
            <a:noFill/>
          </a:ln>
          <a:effectLst>
            <a:outerShdw blurRad="63500" dist="25400" dir="5400000" algn="t" rotWithShape="0">
              <a:srgbClr val="000000">
                <a:alpha val="22000"/>
              </a:srgbClr>
            </a:outerShdw>
          </a:effectLst>
        </p:spPr>
        <p:txBody>
          <a:bodyPr rtlCol="0" anchor="ctr"/>
          <a:lstStyle/>
          <a:p>
            <a:pPr algn="ctr"/>
          </a:p>
        </p:txBody>
      </p:sp>
      <p:sp>
        <p:nvSpPr>
          <p:cNvPr id="609" name="Dot 1"/>
          <p:cNvSpPr/>
          <p:nvPr/>
        </p:nvSpPr>
        <p:spPr>
          <a:xfrm>
            <a:off x="4420000" y="1424184"/>
            <a:ext cx="70000" cy="70000"/>
          </a:xfrm>
          <a:prstGeom prst="ellipse">
            <a:avLst/>
          </a:prstGeom>
          <a:solidFill>
            <a:srgbClr val="C00000"/>
          </a:solidFill>
          <a:ln>
            <a:noFill/>
          </a:ln>
        </p:spPr>
        <p:txBody>
          <a:bodyPr rtlCol="0" anchor="ctr"/>
          <a:lstStyle/>
          <a:p>
            <a:pPr algn="ctr"/>
          </a:p>
        </p:txBody>
      </p:sp>
      <p:sp>
        <p:nvSpPr>
          <p:cNvPr id="610" name="Dot 2"/>
          <p:cNvSpPr/>
          <p:nvPr/>
        </p:nvSpPr>
        <p:spPr>
          <a:xfrm>
            <a:off x="4550000" y="1424184"/>
            <a:ext cx="70000" cy="70000"/>
          </a:xfrm>
          <a:prstGeom prst="ellipse">
            <a:avLst/>
          </a:prstGeom>
          <a:solidFill>
            <a:srgbClr val="F2B705"/>
          </a:solidFill>
          <a:ln>
            <a:noFill/>
          </a:ln>
        </p:spPr>
        <p:txBody>
          <a:bodyPr rtlCol="0" anchor="ctr"/>
          <a:lstStyle/>
          <a:p>
            <a:pPr algn="ctr"/>
          </a:p>
        </p:txBody>
      </p:sp>
      <p:sp>
        <p:nvSpPr>
          <p:cNvPr id="611" name="Dot 3"/>
          <p:cNvSpPr/>
          <p:nvPr/>
        </p:nvSpPr>
        <p:spPr>
          <a:xfrm>
            <a:off x="4680000" y="1424184"/>
            <a:ext cx="70000" cy="70000"/>
          </a:xfrm>
          <a:prstGeom prst="ellipse">
            <a:avLst/>
          </a:prstGeom>
          <a:solidFill>
            <a:srgbClr val="3DAE5C"/>
          </a:solidFill>
          <a:ln>
            <a:noFill/>
          </a:ln>
        </p:spPr>
        <p:txBody>
          <a:bodyPr rtlCol="0" anchor="ctr"/>
          <a:lstStyle/>
          <a:p>
            <a:pPr algn="ctr"/>
          </a:p>
        </p:txBody>
      </p:sp>
      <p:sp>
        <p:nvSpPr>
          <p:cNvPr id="612" name="File name"/>
          <p:cNvSpPr txBox="1"/>
          <p:nvPr/>
        </p:nvSpPr>
        <p:spPr>
          <a:xfrm>
            <a:off x="4860000" y="1379184"/>
            <a:ext cx="2200000" cy="170000"/>
          </a:xfrm>
          <a:prstGeom prst="rect">
            <a:avLst/>
          </a:prstGeom>
          <a:noFill/>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 sz="900" b="1" i="0" u="none" strike="noStrike" cap="none" dirty="0">
                <a:solidFill>
                  <a:srgbClr val="8FA3C4"/>
                </a:solidFill>
                <a:latin typeface="Courier New"/>
                <a:ea typeface="Courier New"/>
                <a:cs typeface="Courier New"/>
                <a:sym typeface="Courier New"/>
              </a:rPr>
              <a:t>start with Vite</a:t>
            </a:r>
            <a:endParaRPr lang="en" sz="900" b="0" i="0" u="none" strike="noStrike" cap="none" dirty="0">
              <a:solidFill>
                <a:srgbClr val="000000"/>
              </a:solidFill>
              <a:latin typeface="Roboto"/>
              <a:ea typeface="Roboto"/>
              <a:cs typeface="Roboto"/>
              <a:sym typeface="Roboto"/>
            </a:endParaRPr>
          </a:p>
        </p:txBody>
      </p:sp>
      <p:sp>
        <p:nvSpPr>
          <p:cNvPr id="613" name="Code label"/>
          <p:cNvSpPr txBox="1"/>
          <p:nvPr/>
        </p:nvSpPr>
        <p:spPr>
          <a:xfrm>
            <a:off x="7650000" y="1374184"/>
            <a:ext cx="900000" cy="170000"/>
          </a:xfrm>
          <a:prstGeom prst="rect">
            <a:avLst/>
          </a:prstGeom>
          <a:noFill/>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800" b="1" i="0" u="none" strike="noStrike" cap="none" dirty="0">
                <a:solidFill>
                  <a:srgbClr val="8FA3C4"/>
                </a:solidFill>
                <a:latin typeface="Roboto"/>
                <a:ea typeface="Roboto"/>
                <a:cs typeface="Roboto"/>
                <a:sym typeface="Roboto"/>
              </a:rPr>
              <a:t>BASH</a:t>
            </a:r>
            <a:endParaRPr lang="en" sz="800" b="0" i="0" u="none" strike="noStrike" cap="none" dirty="0">
              <a:solidFill>
                <a:srgbClr val="000000"/>
              </a:solidFill>
              <a:latin typeface="Roboto"/>
              <a:ea typeface="Roboto"/>
              <a:cs typeface="Roboto"/>
              <a:sym typeface="Roboto"/>
            </a:endParaRPr>
          </a:p>
        </p:txBody>
      </p:sp>
      <p:sp>
        <p:nvSpPr>
          <p:cNvPr id="614" name="Code"/>
          <p:cNvSpPr txBox="1"/>
          <p:nvPr/>
        </p:nvSpPr>
        <p:spPr>
          <a:xfrm>
            <a:off x="4360000" y="1569184"/>
            <a:ext cx="4230000" cy="409184"/>
          </a:xfrm>
          <a:prstGeom prst="rect">
            <a:avLst/>
          </a:prstGeom>
          <a:noFill/>
        </p:spPr>
        <p:txBody>
          <a:bodyPr spcFirstLastPara="1" wrap="square" lIns="86025" tIns="0" rIns="60000" bIns="0" anchor="t" anchorCtr="0">
            <a:noAutofit/>
          </a:bodyPr>
          <a:lstStyle/>
          <a:p>
            <a:pPr marL="0" marR="0" lvl="0" indent="0" algn="l" rtl="0">
              <a:lnSpc>
                <a:spcPct val="108000"/>
              </a:lnSpc>
              <a:spcBef>
                <a:spcPts val="0"/>
              </a:spcBef>
              <a:spcAft>
                <a:spcPts val="0"/>
              </a:spcAft>
              <a:buNone/>
            </a:pPr>
            <a:r>
              <a:rPr lang="en" sz="1000" b="0" i="0" u="none" strike="noStrike" cap="none" dirty="0">
                <a:solidFill>
                  <a:srgbClr val="E6ECF7"/>
                </a:solidFill>
                <a:latin typeface="Courier New"/>
                <a:ea typeface="Courier New"/>
                <a:cs typeface="Courier New"/>
                <a:sym typeface="Courier New"/>
              </a:rPr>
              <a:t>npm create vite@latest</a:t>
            </a:r>
            <a:endParaRPr lang="en" sz="10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1000" b="0" i="1" u="none" strike="noStrike" cap="none" dirty="0">
                <a:solidFill>
                  <a:srgbClr val="8FA3C4"/>
                </a:solidFill>
                <a:latin typeface="Courier New"/>
                <a:ea typeface="Courier New"/>
                <a:cs typeface="Courier New"/>
                <a:sym typeface="Courier New"/>
              </a:rPr>
              <a:t># choose TypeScript - done</a:t>
            </a:r>
            <a:endParaRPr lang="en" sz="1000" b="0" i="0" u="none" strike="noStrike" cap="none" dirty="0">
              <a:solidFill>
                <a:srgbClr val="000000"/>
              </a:solidFill>
              <a:latin typeface="Roboto"/>
              <a:ea typeface="Roboto"/>
              <a:cs typeface="Roboto"/>
              <a:sym typeface="Roboto"/>
            </a:endParaRPr>
          </a:p>
        </p:txBody>
      </p:sp>
      <p:sp>
        <p:nvSpPr>
          <p:cNvPr id="615" name="Code panel"/>
          <p:cNvSpPr/>
          <p:nvPr/>
        </p:nvSpPr>
        <p:spPr>
          <a:xfrm>
            <a:off x="4300000" y="2138368"/>
            <a:ext cx="4350000" cy="656265"/>
          </a:xfrm>
          <a:prstGeom prst="roundRect">
            <a:avLst>
              <a:gd name="adj" fmla="val 3500"/>
            </a:avLst>
          </a:prstGeom>
          <a:solidFill>
            <a:srgbClr val="0E2455"/>
          </a:solidFill>
          <a:ln>
            <a:noFill/>
          </a:ln>
          <a:effectLst>
            <a:outerShdw blurRad="63500" dist="25400" dir="5400000" algn="t" rotWithShape="0">
              <a:srgbClr val="000000">
                <a:alpha val="22000"/>
              </a:srgbClr>
            </a:outerShdw>
          </a:effectLst>
        </p:spPr>
        <p:txBody>
          <a:bodyPr rtlCol="0" anchor="ctr"/>
          <a:lstStyle/>
          <a:p>
            <a:pPr algn="ctr"/>
          </a:p>
        </p:txBody>
      </p:sp>
      <p:sp>
        <p:nvSpPr>
          <p:cNvPr id="616" name="Dot 1"/>
          <p:cNvSpPr/>
          <p:nvPr/>
        </p:nvSpPr>
        <p:spPr>
          <a:xfrm>
            <a:off x="4420000" y="2243368"/>
            <a:ext cx="70000" cy="70000"/>
          </a:xfrm>
          <a:prstGeom prst="ellipse">
            <a:avLst/>
          </a:prstGeom>
          <a:solidFill>
            <a:srgbClr val="C00000"/>
          </a:solidFill>
          <a:ln>
            <a:noFill/>
          </a:ln>
        </p:spPr>
        <p:txBody>
          <a:bodyPr rtlCol="0" anchor="ctr"/>
          <a:lstStyle/>
          <a:p>
            <a:pPr algn="ctr"/>
          </a:p>
        </p:txBody>
      </p:sp>
      <p:sp>
        <p:nvSpPr>
          <p:cNvPr id="617" name="Dot 2"/>
          <p:cNvSpPr/>
          <p:nvPr/>
        </p:nvSpPr>
        <p:spPr>
          <a:xfrm>
            <a:off x="4550000" y="2243368"/>
            <a:ext cx="70000" cy="70000"/>
          </a:xfrm>
          <a:prstGeom prst="ellipse">
            <a:avLst/>
          </a:prstGeom>
          <a:solidFill>
            <a:srgbClr val="F2B705"/>
          </a:solidFill>
          <a:ln>
            <a:noFill/>
          </a:ln>
        </p:spPr>
        <p:txBody>
          <a:bodyPr rtlCol="0" anchor="ctr"/>
          <a:lstStyle/>
          <a:p>
            <a:pPr algn="ctr"/>
          </a:p>
        </p:txBody>
      </p:sp>
      <p:sp>
        <p:nvSpPr>
          <p:cNvPr id="618" name="Dot 3"/>
          <p:cNvSpPr/>
          <p:nvPr/>
        </p:nvSpPr>
        <p:spPr>
          <a:xfrm>
            <a:off x="4680000" y="2243368"/>
            <a:ext cx="70000" cy="70000"/>
          </a:xfrm>
          <a:prstGeom prst="ellipse">
            <a:avLst/>
          </a:prstGeom>
          <a:solidFill>
            <a:srgbClr val="3DAE5C"/>
          </a:solidFill>
          <a:ln>
            <a:noFill/>
          </a:ln>
        </p:spPr>
        <p:txBody>
          <a:bodyPr rtlCol="0" anchor="ctr"/>
          <a:lstStyle/>
          <a:p>
            <a:pPr algn="ctr"/>
          </a:p>
        </p:txBody>
      </p:sp>
      <p:sp>
        <p:nvSpPr>
          <p:cNvPr id="619" name="File name"/>
          <p:cNvSpPr txBox="1"/>
          <p:nvPr/>
        </p:nvSpPr>
        <p:spPr>
          <a:xfrm>
            <a:off x="4860000" y="2198368"/>
            <a:ext cx="2200000" cy="170000"/>
          </a:xfrm>
          <a:prstGeom prst="rect">
            <a:avLst/>
          </a:prstGeom>
          <a:noFill/>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 sz="900" b="1" i="0" u="none" strike="noStrike" cap="none" dirty="0">
                <a:solidFill>
                  <a:srgbClr val="8FA3C4"/>
                </a:solidFill>
                <a:latin typeface="Courier New"/>
                <a:ea typeface="Courier New"/>
                <a:cs typeface="Courier New"/>
                <a:sym typeface="Courier New"/>
              </a:rPr>
              <a:t>modern workflow</a:t>
            </a:r>
            <a:endParaRPr lang="en" sz="900" b="0" i="0" u="none" strike="noStrike" cap="none" dirty="0">
              <a:solidFill>
                <a:srgbClr val="000000"/>
              </a:solidFill>
              <a:latin typeface="Roboto"/>
              <a:ea typeface="Roboto"/>
              <a:cs typeface="Roboto"/>
              <a:sym typeface="Roboto"/>
            </a:endParaRPr>
          </a:p>
        </p:txBody>
      </p:sp>
      <p:sp>
        <p:nvSpPr>
          <p:cNvPr id="620" name="Code label"/>
          <p:cNvSpPr txBox="1"/>
          <p:nvPr/>
        </p:nvSpPr>
        <p:spPr>
          <a:xfrm>
            <a:off x="7650000" y="2193368"/>
            <a:ext cx="900000" cy="170000"/>
          </a:xfrm>
          <a:prstGeom prst="rect">
            <a:avLst/>
          </a:prstGeom>
          <a:noFill/>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800" b="1" i="0" u="none" strike="noStrike" cap="none" dirty="0">
                <a:solidFill>
                  <a:srgbClr val="8FA3C4"/>
                </a:solidFill>
                <a:latin typeface="Roboto"/>
                <a:ea typeface="Roboto"/>
                <a:cs typeface="Roboto"/>
                <a:sym typeface="Roboto"/>
              </a:rPr>
              <a:t>FLOW</a:t>
            </a:r>
            <a:endParaRPr lang="en" sz="800" b="0" i="0" u="none" strike="noStrike" cap="none" dirty="0">
              <a:solidFill>
                <a:srgbClr val="000000"/>
              </a:solidFill>
              <a:latin typeface="Roboto"/>
              <a:ea typeface="Roboto"/>
              <a:cs typeface="Roboto"/>
              <a:sym typeface="Roboto"/>
            </a:endParaRPr>
          </a:p>
        </p:txBody>
      </p:sp>
      <p:sp>
        <p:nvSpPr>
          <p:cNvPr id="621" name="Code"/>
          <p:cNvSpPr txBox="1"/>
          <p:nvPr/>
        </p:nvSpPr>
        <p:spPr>
          <a:xfrm>
            <a:off x="4360000" y="2388368"/>
            <a:ext cx="4230000" cy="376265"/>
          </a:xfrm>
          <a:prstGeom prst="rect">
            <a:avLst/>
          </a:prstGeom>
          <a:noFill/>
        </p:spPr>
        <p:txBody>
          <a:bodyPr spcFirstLastPara="1" wrap="square" lIns="86025" tIns="0" rIns="60000" bIns="0" anchor="t" anchorCtr="0">
            <a:noAutofit/>
          </a:bodyPr>
          <a:lstStyle/>
          <a:p>
            <a:pPr marL="0" marR="0" lvl="0" indent="0" algn="l" rtl="0">
              <a:lnSpc>
                <a:spcPct val="108000"/>
              </a:lnSpc>
              <a:spcBef>
                <a:spcPts val="0"/>
              </a:spcBef>
              <a:spcAft>
                <a:spcPts val="0"/>
              </a:spcAft>
              <a:buNone/>
            </a:pPr>
            <a:r>
              <a:rPr lang="en" sz="900" b="0" i="1" u="none" strike="noStrike" cap="none" dirty="0">
                <a:solidFill>
                  <a:srgbClr val="8FA3C4"/>
                </a:solidFill>
                <a:latin typeface="Courier New"/>
                <a:ea typeface="Courier New"/>
                <a:cs typeface="Courier New"/>
                <a:sym typeface="Courier New"/>
              </a:rPr>
              <a:t>// .ts -&gt; Vite/Webpack transpiles -&gt; browser runs .js</a:t>
            </a:r>
            <a:endParaRPr lang="en" sz="900" b="0" i="0" u="none" strike="noStrike" cap="none" dirty="0">
              <a:solidFill>
                <a:srgbClr val="000000"/>
              </a:solidFill>
              <a:latin typeface="Roboto"/>
              <a:ea typeface="Roboto"/>
              <a:cs typeface="Roboto"/>
              <a:sym typeface="Roboto"/>
            </a:endParaRPr>
          </a:p>
          <a:p>
            <a:pPr marL="0" marR="0" lvl="0" indent="0" algn="l" rtl="0">
              <a:lnSpc>
                <a:spcPct val="108000"/>
              </a:lnSpc>
              <a:spcBef>
                <a:spcPts val="0"/>
              </a:spcBef>
              <a:spcAft>
                <a:spcPts val="0"/>
              </a:spcAft>
              <a:buNone/>
            </a:pPr>
            <a:r>
              <a:rPr lang="en" sz="900" b="0" i="1" u="none" strike="noStrike" cap="none" dirty="0">
                <a:solidFill>
                  <a:srgbClr val="8FA3C4"/>
                </a:solidFill>
                <a:latin typeface="Courier New"/>
                <a:ea typeface="Courier New"/>
                <a:cs typeface="Courier New"/>
                <a:sym typeface="Courier New"/>
              </a:rPr>
              <a:t>// tsc --noEmit  (type-check, run in CI)</a:t>
            </a:r>
            <a:endParaRPr lang="en" sz="900" b="0" i="0" u="none" strike="noStrike" cap="none" dirty="0">
              <a:solidFill>
                <a:srgbClr val="000000"/>
              </a:solidFill>
              <a:latin typeface="Roboto"/>
              <a:ea typeface="Roboto"/>
              <a:cs typeface="Roboto"/>
              <a:sym typeface="Roboto"/>
            </a:endParaRP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grpSpPr/>
      <p:grpSp>
        <p:nvGrpSpPr>
          <p:cNvPr id="119" name="Google Shape;119;p16"/>
          <p:cNvGrpSpPr/>
          <p:nvPr/>
        </p:nvGrpSpPr>
        <p:grpSpPr>
          <a:xfrm flipH="1">
            <a:off x="5429250" y="-2"/>
            <a:ext cx="3714750" cy="4564828"/>
            <a:chOff x="0" y="-55"/>
            <a:chExt cx="3962400" cy="4869150"/>
          </a:xfrm>
        </p:grpSpPr>
        <p:sp>
          <p:nvSpPr>
            <p:cNvPr id="120" name="Google Shape;120;p16"/>
            <p:cNvSpPr/>
            <p:nvPr/>
          </p:nvSpPr>
          <p:spPr>
            <a:xfrm rot="10800000" flipH="1">
              <a:off x="0" y="-50"/>
              <a:ext cx="3962400" cy="3962400"/>
            </a:xfrm>
            <a:prstGeom prst="rtTriangle">
              <a:avLst/>
            </a:prstGeom>
            <a:solidFill>
              <a:srgbClr val="0053A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Calibri"/>
                <a:ea typeface="Calibri"/>
                <a:cs typeface="Calibri"/>
                <a:sym typeface="Calibri"/>
              </a:endParaRPr>
            </a:p>
          </p:txBody>
        </p:sp>
        <p:sp>
          <p:nvSpPr>
            <p:cNvPr id="121" name="Google Shape;121;p16"/>
            <p:cNvSpPr/>
            <p:nvPr/>
          </p:nvSpPr>
          <p:spPr>
            <a:xfrm rot="10800000">
              <a:off x="33807" y="-55"/>
              <a:ext cx="3264300" cy="2341800"/>
            </a:xfrm>
            <a:prstGeom prst="parallelogram">
              <a:avLst>
                <a:gd name="adj" fmla="val 104167"/>
              </a:avLst>
            </a:prstGeom>
            <a:gradFill>
              <a:gsLst>
                <a:gs pos="0">
                  <a:srgbClr val="003E78"/>
                </a:gs>
                <a:gs pos="15000">
                  <a:srgbClr val="003E78"/>
                </a:gs>
                <a:gs pos="64000">
                  <a:srgbClr val="0053A1">
                    <a:alpha val="0"/>
                  </a:srgbClr>
                </a:gs>
                <a:gs pos="100000">
                  <a:srgbClr val="0053A1">
                    <a:alpha val="0"/>
                  </a:srgbClr>
                </a:gs>
              </a:gsLst>
              <a:lin ang="18000042"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Calibri"/>
                <a:ea typeface="Calibri"/>
                <a:cs typeface="Calibri"/>
                <a:sym typeface="Calibri"/>
              </a:endParaRPr>
            </a:p>
          </p:txBody>
        </p:sp>
        <p:sp>
          <p:nvSpPr>
            <p:cNvPr id="122" name="Google Shape;122;p16"/>
            <p:cNvSpPr/>
            <p:nvPr/>
          </p:nvSpPr>
          <p:spPr>
            <a:xfrm>
              <a:off x="0" y="2671369"/>
              <a:ext cx="2289304" cy="2197726"/>
            </a:xfrm>
            <a:custGeom>
              <a:avLst/>
              <a:gdLst/>
              <a:ahLst/>
              <a:cxnLst/>
              <a:rect l="l" t="t" r="r" b="b"/>
              <a:pathLst>
                <a:path w="2289304" h="2197726" extrusionOk="0">
                  <a:moveTo>
                    <a:pt x="1614108" y="0"/>
                  </a:moveTo>
                  <a:lnTo>
                    <a:pt x="2289304" y="0"/>
                  </a:lnTo>
                  <a:lnTo>
                    <a:pt x="0" y="2197726"/>
                  </a:lnTo>
                  <a:lnTo>
                    <a:pt x="0" y="1549539"/>
                  </a:lnTo>
                  <a:close/>
                </a:path>
              </a:pathLst>
            </a:custGeom>
            <a:gradFill>
              <a:gsLst>
                <a:gs pos="0">
                  <a:srgbClr val="980000"/>
                </a:gs>
                <a:gs pos="15000">
                  <a:srgbClr val="CC0000"/>
                </a:gs>
                <a:gs pos="64000">
                  <a:srgbClr val="0053A1">
                    <a:alpha val="0"/>
                  </a:srgbClr>
                </a:gs>
                <a:gs pos="100000">
                  <a:srgbClr val="0053A1">
                    <a:alpha val="0"/>
                  </a:srgbClr>
                </a:gs>
              </a:gsLst>
              <a:lin ang="18000042"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Calibri"/>
                <a:ea typeface="Calibri"/>
                <a:cs typeface="Calibri"/>
                <a:sym typeface="Calibri"/>
              </a:endParaRPr>
            </a:p>
          </p:txBody>
        </p:sp>
      </p:grpSp>
      <p:pic>
        <p:nvPicPr>
          <p:cNvPr id="129" name="Google Shape;129;p16" title="Untitled-1-07.png"/>
          <p:cNvPicPr preferRelativeResize="0"/>
          <p:nvPr/>
        </p:nvPicPr>
        <p:blipFill rotWithShape="1">
          <a:blip r:embed="rId2">
            <a:alphaModFix/>
          </a:blip>
          <a:srcRect l="5100" r="4630" b="15895"/>
          <a:stretch/>
        </p:blipFill>
        <p:spPr>
          <a:xfrm>
            <a:off x="880549" y="4348257"/>
            <a:ext cx="2096958" cy="548700"/>
          </a:xfrm>
          <a:prstGeom prst="rect">
            <a:avLst/>
          </a:prstGeom>
          <a:noFill/>
          <a:ln>
            <a:noFill/>
          </a:ln>
        </p:spPr>
      </p:pic>
      <p:pic>
        <p:nvPicPr>
          <p:cNvPr id="130" name="Google Shape;130;p16" title="powerd by.png"/>
          <p:cNvPicPr preferRelativeResize="0"/>
          <p:nvPr/>
        </p:nvPicPr>
        <p:blipFill rotWithShape="1">
          <a:blip r:embed="rId4">
            <a:alphaModFix/>
          </a:blip>
          <a:srcRect l="6981" t="44048" r="6714" b="14302"/>
          <a:stretch/>
        </p:blipFill>
        <p:spPr>
          <a:xfrm>
            <a:off x="3537800" y="4500588"/>
            <a:ext cx="2130125" cy="355975"/>
          </a:xfrm>
          <a:prstGeom prst="rect">
            <a:avLst/>
          </a:prstGeom>
          <a:noFill/>
          <a:ln>
            <a:noFill/>
          </a:ln>
        </p:spPr>
      </p:pic>
      <p:sp>
        <p:nvSpPr>
          <p:cNvPr id="131" name="Google Shape;131;p16"/>
          <p:cNvSpPr txBox="1"/>
          <p:nvPr/>
        </p:nvSpPr>
        <p:spPr>
          <a:xfrm>
            <a:off x="5998012" y="4596047"/>
            <a:ext cx="2436900" cy="253800"/>
          </a:xfrm>
          <a:prstGeom prst="rect">
            <a:avLst/>
          </a:prstGeom>
          <a:noFill/>
          <a:ln>
            <a:noFill/>
          </a:ln>
        </p:spPr>
        <p:txBody>
          <a:bodyPr spcFirstLastPara="1" wrap="non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0053A1"/>
                </a:solidFill>
                <a:latin typeface="Roboto"/>
                <a:ea typeface="Roboto"/>
                <a:cs typeface="Roboto"/>
                <a:sym typeface="Roboto"/>
              </a:rPr>
              <a:t>www.</a:t>
            </a:r>
            <a:r>
              <a:rPr lang="en" sz="1200" b="1">
                <a:solidFill>
                  <a:srgbClr val="0053A1"/>
                </a:solidFill>
                <a:latin typeface="Roboto"/>
                <a:ea typeface="Roboto"/>
                <a:cs typeface="Roboto"/>
                <a:sym typeface="Roboto"/>
              </a:rPr>
              <a:t>careercraftacademy.com</a:t>
            </a:r>
            <a:endParaRPr sz="1200" b="1" i="0" u="none" strike="noStrike" cap="none">
              <a:solidFill>
                <a:srgbClr val="0053A1"/>
              </a:solidFill>
              <a:latin typeface="Roboto"/>
              <a:ea typeface="Roboto"/>
              <a:cs typeface="Roboto"/>
              <a:sym typeface="Roboto"/>
            </a:endParaRPr>
          </a:p>
        </p:txBody>
      </p:sp>
      <p:sp>
        <p:nvSpPr>
          <p:cNvPr id="622" name="Kicker"/>
          <p:cNvSpPr txBox="1"/>
          <p:nvPr/>
        </p:nvSpPr>
        <p:spPr>
          <a:xfrm>
            <a:off x="675600" y="285000"/>
            <a:ext cx="4150000" cy="241200"/>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1003" b="0" i="0" u="none" strike="noStrike" cap="none" dirty="0">
                <a:solidFill>
                  <a:srgbClr val="7F7F7F"/>
                </a:solidFill>
                <a:latin typeface="Roboto"/>
                <a:ea typeface="Roboto"/>
                <a:cs typeface="Roboto"/>
                <a:sym typeface="Roboto"/>
              </a:rPr>
              <a:t>Summary</a:t>
            </a:r>
            <a:endParaRPr lang="en" sz="1003" b="0" i="0" u="none" strike="noStrike" cap="none" dirty="0">
              <a:solidFill>
                <a:srgbClr val="000000"/>
              </a:solidFill>
              <a:latin typeface="Roboto"/>
              <a:ea typeface="Roboto"/>
              <a:cs typeface="Roboto"/>
              <a:sym typeface="Roboto"/>
            </a:endParaRPr>
          </a:p>
        </p:txBody>
      </p:sp>
      <p:sp>
        <p:nvSpPr>
          <p:cNvPr id="623" name="Title"/>
          <p:cNvSpPr txBox="1"/>
          <p:nvPr/>
        </p:nvSpPr>
        <p:spPr>
          <a:xfrm>
            <a:off x="675600" y="520000"/>
            <a:ext cx="4150000" cy="425394"/>
          </a:xfrm>
          <a:prstGeom prst="rect">
            <a:avLst/>
          </a:prstGeom>
          <a:noFill/>
        </p:spPr>
        <p:txBody>
          <a:bodyPr spcFirstLastPara="1" wrap="square" lIns="86025" tIns="43000" rIns="86025" bIns="43000" anchor="t" anchorCtr="0">
            <a:noAutofit/>
          </a:bodyPr>
          <a:lstStyle/>
          <a:p>
            <a:pPr marL="0" marR="0" lvl="0" indent="0" algn="l" rtl="0">
              <a:lnSpc>
                <a:spcPct val="100000"/>
              </a:lnSpc>
              <a:spcBef>
                <a:spcPts val="0"/>
              </a:spcBef>
              <a:spcAft>
                <a:spcPts val="0"/>
              </a:spcAft>
              <a:buNone/>
            </a:pPr>
            <a:r>
              <a:rPr lang="en" sz="2200" b="1" i="0" u="none" strike="noStrike" cap="none" dirty="0">
                <a:solidFill>
                  <a:srgbClr val="0053A1"/>
                </a:solidFill>
                <a:latin typeface="Poppins SemiBold"/>
                <a:ea typeface="Poppins SemiBold"/>
                <a:cs typeface="Poppins SemiBold"/>
                <a:sym typeface="Poppins SemiBold"/>
              </a:rPr>
              <a:t>Summary</a:t>
            </a:r>
            <a:endParaRPr lang="en" sz="2200" b="0" i="0" u="none" strike="noStrike" cap="none" dirty="0">
              <a:solidFill>
                <a:srgbClr val="000000"/>
              </a:solidFill>
              <a:latin typeface="Roboto"/>
              <a:ea typeface="Roboto"/>
              <a:cs typeface="Roboto"/>
              <a:sym typeface="Roboto"/>
            </a:endParaRPr>
          </a:p>
        </p:txBody>
      </p:sp>
      <p:sp>
        <p:nvSpPr>
          <p:cNvPr id="624" name="Body"/>
          <p:cNvSpPr txBox="1"/>
          <p:nvPr/>
        </p:nvSpPr>
        <p:spPr>
          <a:xfrm>
            <a:off x="620000" y="1048000"/>
            <a:ext cx="4150000" cy="1971950"/>
          </a:xfrm>
          <a:prstGeom prst="rect">
            <a:avLst/>
          </a:prstGeom>
          <a:noFill/>
        </p:spPr>
        <p:txBody>
          <a:bodyPr spcFirstLastPara="1" wrap="square" lIns="86025" tIns="43000" rIns="86025" bIns="43000" anchor="t" anchorCtr="0">
            <a:noAutofit/>
          </a:bodyPr>
          <a:lstStyle/>
          <a:p>
            <a:pPr marL="0" marR="0" lvl="0" indent="0" algn="l" rtl="0">
              <a:lnSpc>
                <a:spcPct val="120000"/>
              </a:lnSpc>
              <a:spcBef>
                <a:spcPts val="700"/>
              </a:spcBef>
              <a:spcAft>
                <a:spcPts val="200"/>
              </a:spcAft>
              <a:buNone/>
            </a:pPr>
            <a:r>
              <a:rPr lang="en" sz="1129" b="1" i="0" u="none" strike="noStrike" cap="none" dirty="0">
                <a:solidFill>
                  <a:srgbClr val="000000"/>
                </a:solidFill>
                <a:latin typeface="Poppins SemiBold"/>
                <a:ea typeface="Poppins SemiBold"/>
                <a:cs typeface="Poppins SemiBold"/>
                <a:sym typeface="Poppins SemiBold"/>
              </a:rPr>
              <a:t>What we covered</a:t>
            </a:r>
            <a:endParaRPr lang="en" sz="1129"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TypeScript = JavaScript + static types</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Type system: primitives, inference, enums</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Functions: typed, optional, rest, overloads</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OOP: classes, modifiers, inheritance, abstract</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Interfaces and type aliases for contracts</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Advanced: unions, generics, utility types</a:t>
            </a:r>
            <a:endParaRPr lang="en" sz="1100" b="0" i="0" u="none" strike="noStrike" cap="none" dirty="0">
              <a:solidFill>
                <a:srgbClr val="000000"/>
              </a:solidFill>
              <a:latin typeface="Roboto"/>
              <a:ea typeface="Roboto"/>
              <a:cs typeface="Roboto"/>
              <a:sym typeface="Roboto"/>
            </a:endParaRPr>
          </a:p>
          <a:p>
            <a:pPr marL="171450" marR="0" lvl="0" indent="-171450" algn="l" rtl="0">
              <a:lnSpc>
                <a:spcPct val="125000"/>
              </a:lnSpc>
              <a:spcBef>
                <a:spcPts val="100"/>
              </a:spcBef>
              <a:spcAft>
                <a:spcPts val="0"/>
              </a:spcAft>
              <a:buClr>
                <a:srgbClr val="000000"/>
              </a:buClr>
              <a:buSzPts val="1100"/>
              <a:buFont typeface="Arial"/>
              <a:buChar char="•"/>
            </a:pPr>
            <a:r>
              <a:rPr lang="en" sz="1100" b="0" i="0" u="none" strike="noStrike" cap="none" dirty="0">
                <a:solidFill>
                  <a:schemeClr val="tx1"/>
                </a:solidFill>
                <a:latin typeface="Roboto"/>
                <a:ea typeface="Roboto"/>
                <a:cs typeface="Roboto"/>
                <a:sym typeface="Roboto"/>
              </a:rPr>
              <a:t>Config and tools: tsconfig, ts-node, Vite</a:t>
            </a:r>
            <a:endParaRPr lang="en" sz="1100" b="0" i="0" u="none" strike="noStrike" cap="none" dirty="0">
              <a:solidFill>
                <a:srgbClr val="000000"/>
              </a:solidFill>
              <a:latin typeface="Roboto"/>
              <a:ea typeface="Roboto"/>
              <a:cs typeface="Roboto"/>
              <a:sym typeface="Roboto"/>
            </a:endParaRPr>
          </a:p>
        </p:txBody>
      </p:sp>
      <p:sp>
        <p:nvSpPr>
          <p:cNvPr id="625" name="Visual panel"/>
          <p:cNvSpPr/>
          <p:nvPr/>
        </p:nvSpPr>
        <p:spPr>
          <a:xfrm>
            <a:off x="4940000" y="560000"/>
            <a:ext cx="3500000" cy="3590000"/>
          </a:xfrm>
          <a:prstGeom prst="roundRect">
            <a:avLst>
              <a:gd name="adj" fmla="val 3000"/>
            </a:avLst>
          </a:prstGeom>
          <a:solidFill>
            <a:srgbClr val="FFFFFF"/>
          </a:solidFill>
          <a:ln w="9525">
            <a:solidFill>
              <a:srgbClr val="D9D9D9"/>
            </a:solidFill>
          </a:ln>
          <a:effectLst>
            <a:outerShdw blurRad="63500" dist="25400" dir="5400000" algn="t" rotWithShape="0">
              <a:srgbClr val="000000">
                <a:alpha val="22000"/>
              </a:srgbClr>
            </a:outerShdw>
          </a:effectLst>
        </p:spPr>
        <p:txBody>
          <a:bodyPr rtlCol="0" anchor="ctr"/>
          <a:lstStyle/>
          <a:p>
            <a:pPr algn="ctr"/>
          </a:p>
        </p:txBody>
      </p:sp>
      <p:sp>
        <p:nvSpPr>
          <p:cNvPr id="626" name="Panel heading"/>
          <p:cNvSpPr txBox="1"/>
          <p:nvPr/>
        </p:nvSpPr>
        <p:spPr>
          <a:xfrm>
            <a:off x="5070000" y="690000"/>
            <a:ext cx="3240000" cy="270000"/>
          </a:xfrm>
          <a:prstGeom prst="rect">
            <a:avLst/>
          </a:prstGeom>
          <a:noFill/>
        </p:spPr>
        <p:txBody>
          <a:bodyPr spcFirstLastPara="1" wrap="square" lIns="0" tIns="30000" rIns="0" bIns="0" anchor="t" anchorCtr="0">
            <a:noAutofit/>
          </a:bodyPr>
          <a:lstStyle/>
          <a:p>
            <a:pPr marL="0" marR="0" lvl="0" indent="0" algn="l" rtl="0">
              <a:lnSpc>
                <a:spcPct val="100000"/>
              </a:lnSpc>
              <a:spcBef>
                <a:spcPts val="0"/>
              </a:spcBef>
              <a:spcAft>
                <a:spcPts val="0"/>
              </a:spcAft>
              <a:buNone/>
            </a:pPr>
            <a:r>
              <a:rPr lang="en" sz="1100" b="1" i="0" u="none" strike="noStrike" cap="none" dirty="0">
                <a:solidFill>
                  <a:srgbClr val="0053A1"/>
                </a:solidFill>
                <a:latin typeface="Poppins SemiBold"/>
                <a:ea typeface="Poppins SemiBold"/>
                <a:cs typeface="Poppins SemiBold"/>
                <a:sym typeface="Poppins SemiBold"/>
              </a:rPr>
              <a:t>Best Practices and Next Steps</a:t>
            </a:r>
            <a:endParaRPr lang="en" sz="1100" b="0" i="0" u="none" strike="noStrike" cap="none" dirty="0">
              <a:solidFill>
                <a:srgbClr val="000000"/>
              </a:solidFill>
              <a:latin typeface="Roboto"/>
              <a:ea typeface="Roboto"/>
              <a:cs typeface="Roboto"/>
              <a:sym typeface="Roboto"/>
            </a:endParaRPr>
          </a:p>
        </p:txBody>
      </p:sp>
      <p:sp>
        <p:nvSpPr>
          <p:cNvPr id="627" name="Intro"/>
          <p:cNvSpPr txBox="1"/>
          <p:nvPr/>
        </p:nvSpPr>
        <p:spPr>
          <a:xfrm>
            <a:off x="5070000" y="1000000"/>
            <a:ext cx="3240000" cy="330000"/>
          </a:xfrm>
          <a:prstGeom prst="rect">
            <a:avLst/>
          </a:prstGeom>
          <a:noFill/>
        </p:spPr>
        <p:txBody>
          <a:bodyPr spcFirstLastPara="1" wrap="square" lIns="0" tIns="30000" rIns="0" bIns="0" anchor="t" anchorCtr="0">
            <a:noAutofit/>
          </a:bodyPr>
          <a:lstStyle/>
          <a:p>
            <a:pPr marL="0" marR="0" lvl="0" indent="0" algn="l" rtl="0">
              <a:lnSpc>
                <a:spcPct val="100000"/>
              </a:lnSpc>
              <a:spcBef>
                <a:spcPts val="0"/>
              </a:spcBef>
              <a:spcAft>
                <a:spcPts val="0"/>
              </a:spcAft>
              <a:buNone/>
            </a:pPr>
            <a:r>
              <a:rPr lang="en" sz="900" b="0" i="0" u="none" strike="noStrike" cap="none" dirty="0">
                <a:solidFill>
                  <a:srgbClr val="000000"/>
                </a:solidFill>
                <a:latin typeface="Roboto"/>
                <a:ea typeface="Roboto"/>
                <a:cs typeface="Roboto"/>
                <a:sym typeface="Roboto"/>
              </a:rPr>
              <a:t>Remember these habits, then keep learning:</a:t>
            </a:r>
            <a:endParaRPr lang="en" sz="900" b="0" i="0" u="none" strike="noStrike" cap="none" dirty="0">
              <a:solidFill>
                <a:srgbClr val="000000"/>
              </a:solidFill>
              <a:latin typeface="Roboto"/>
              <a:ea typeface="Roboto"/>
              <a:cs typeface="Roboto"/>
              <a:sym typeface="Roboto"/>
            </a:endParaRPr>
          </a:p>
        </p:txBody>
      </p:sp>
      <p:sp>
        <p:nvSpPr>
          <p:cNvPr id="628" name="Row"/>
          <p:cNvSpPr/>
          <p:nvPr/>
        </p:nvSpPr>
        <p:spPr>
          <a:xfrm>
            <a:off x="5070000" y="1420000"/>
            <a:ext cx="3240000" cy="350000"/>
          </a:xfrm>
          <a:prstGeom prst="roundRect">
            <a:avLst>
              <a:gd name="adj" fmla="val 15000"/>
            </a:avLst>
          </a:prstGeom>
          <a:solidFill>
            <a:srgbClr val="F3F7FC"/>
          </a:solidFill>
          <a:ln>
            <a:noFill/>
          </a:ln>
        </p:spPr>
        <p:txBody>
          <a:bodyPr rtlCol="0" anchor="ctr"/>
          <a:lstStyle/>
          <a:p>
            <a:pPr algn="ctr"/>
          </a:p>
        </p:txBody>
      </p:sp>
      <p:sp>
        <p:nvSpPr>
          <p:cNvPr id="629" name="Icon bg"/>
          <p:cNvSpPr/>
          <p:nvPr/>
        </p:nvSpPr>
        <p:spPr>
          <a:xfrm>
            <a:off x="5140000" y="1425000"/>
            <a:ext cx="340000" cy="340000"/>
          </a:xfrm>
          <a:prstGeom prst="ellipse">
            <a:avLst/>
          </a:prstGeom>
          <a:solidFill>
            <a:srgbClr val="E6EFFA"/>
          </a:solidFill>
          <a:ln>
            <a:noFill/>
          </a:ln>
        </p:spPr>
        <p:txBody>
          <a:bodyPr rtlCol="0" anchor="ctr"/>
          <a:lstStyle/>
          <a:p>
            <a:pPr algn="ctr"/>
          </a:p>
        </p:txBody>
      </p:sp>
      <p:pic>
        <p:nvPicPr>
          <p:cNvPr id="647" name="Check icon" descr="check"/>
          <p:cNvPicPr>
            <a:picLocks noChangeAspect="1"/>
          </p:cNvPicPr>
          <p:nvPr/>
        </p:nvPicPr>
        <p:blipFill>
          <a:blip r:embed="rIdChkB"/>
          <a:stretch>
            <a:fillRect/>
          </a:stretch>
        </p:blipFill>
        <p:spPr>
          <a:xfrm>
            <a:off x="5214800" y="1499800"/>
            <a:ext cx="190400" cy="190400"/>
          </a:xfrm>
          <a:prstGeom prst="rect">
            <a:avLst/>
          </a:prstGeom>
        </p:spPr>
      </p:pic>
      <p:sp>
        <p:nvSpPr>
          <p:cNvPr id="630" name="Item"/>
          <p:cNvSpPr txBox="1"/>
          <p:nvPr/>
        </p:nvSpPr>
        <p:spPr>
          <a:xfrm>
            <a:off x="5540000" y="1420000"/>
            <a:ext cx="2740000" cy="350000"/>
          </a:xfrm>
          <a:prstGeom prst="rect">
            <a:avLst/>
          </a:prstGeom>
          <a:noFill/>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 sz="950" b="0" i="0" u="none" strike="noStrike" cap="none" dirty="0">
                <a:solidFill>
                  <a:srgbClr val="000000"/>
                </a:solidFill>
                <a:latin typeface="Roboto"/>
                <a:ea typeface="Roboto"/>
                <a:cs typeface="Roboto"/>
                <a:sym typeface="Roboto"/>
              </a:rPr>
              <a:t>Always enable strict: true - avoid any</a:t>
            </a:r>
            <a:endParaRPr lang="en" sz="950" b="0" i="0" u="none" strike="noStrike" cap="none" dirty="0">
              <a:solidFill>
                <a:srgbClr val="000000"/>
              </a:solidFill>
              <a:latin typeface="Roboto"/>
              <a:ea typeface="Roboto"/>
              <a:cs typeface="Roboto"/>
              <a:sym typeface="Roboto"/>
            </a:endParaRPr>
          </a:p>
        </p:txBody>
      </p:sp>
      <p:sp>
        <p:nvSpPr>
          <p:cNvPr id="631" name="Icon bg"/>
          <p:cNvSpPr/>
          <p:nvPr/>
        </p:nvSpPr>
        <p:spPr>
          <a:xfrm>
            <a:off x="5140000" y="1805000"/>
            <a:ext cx="340000" cy="340000"/>
          </a:xfrm>
          <a:prstGeom prst="ellipse">
            <a:avLst/>
          </a:prstGeom>
          <a:solidFill>
            <a:srgbClr val="E6EFFA"/>
          </a:solidFill>
          <a:ln>
            <a:noFill/>
          </a:ln>
        </p:spPr>
        <p:txBody>
          <a:bodyPr rtlCol="0" anchor="ctr"/>
          <a:lstStyle/>
          <a:p>
            <a:pPr algn="ctr"/>
          </a:p>
        </p:txBody>
      </p:sp>
      <p:pic>
        <p:nvPicPr>
          <p:cNvPr id="648" name="Check icon" descr="check"/>
          <p:cNvPicPr>
            <a:picLocks noChangeAspect="1"/>
          </p:cNvPicPr>
          <p:nvPr/>
        </p:nvPicPr>
        <p:blipFill>
          <a:blip r:embed="rIdChkR"/>
          <a:stretch>
            <a:fillRect/>
          </a:stretch>
        </p:blipFill>
        <p:spPr>
          <a:xfrm>
            <a:off x="5214800" y="1879800"/>
            <a:ext cx="190400" cy="190400"/>
          </a:xfrm>
          <a:prstGeom prst="rect">
            <a:avLst/>
          </a:prstGeom>
        </p:spPr>
      </p:pic>
      <p:sp>
        <p:nvSpPr>
          <p:cNvPr id="632" name="Item"/>
          <p:cNvSpPr txBox="1"/>
          <p:nvPr/>
        </p:nvSpPr>
        <p:spPr>
          <a:xfrm>
            <a:off x="5540000" y="1800000"/>
            <a:ext cx="2740000" cy="350000"/>
          </a:xfrm>
          <a:prstGeom prst="rect">
            <a:avLst/>
          </a:prstGeom>
          <a:noFill/>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 sz="950" b="0" i="0" u="none" strike="noStrike" cap="none" dirty="0">
                <a:solidFill>
                  <a:srgbClr val="000000"/>
                </a:solidFill>
                <a:latin typeface="Roboto"/>
                <a:ea typeface="Roboto"/>
                <a:cs typeface="Roboto"/>
                <a:sym typeface="Roboto"/>
              </a:rPr>
              <a:t>Prefer unknown over any</a:t>
            </a:r>
            <a:endParaRPr lang="en" sz="950" b="0" i="0" u="none" strike="noStrike" cap="none" dirty="0">
              <a:solidFill>
                <a:srgbClr val="000000"/>
              </a:solidFill>
              <a:latin typeface="Roboto"/>
              <a:ea typeface="Roboto"/>
              <a:cs typeface="Roboto"/>
              <a:sym typeface="Roboto"/>
            </a:endParaRPr>
          </a:p>
        </p:txBody>
      </p:sp>
      <p:sp>
        <p:nvSpPr>
          <p:cNvPr id="633" name="Row"/>
          <p:cNvSpPr/>
          <p:nvPr/>
        </p:nvSpPr>
        <p:spPr>
          <a:xfrm>
            <a:off x="5070000" y="2180000"/>
            <a:ext cx="3240000" cy="350000"/>
          </a:xfrm>
          <a:prstGeom prst="roundRect">
            <a:avLst>
              <a:gd name="adj" fmla="val 15000"/>
            </a:avLst>
          </a:prstGeom>
          <a:solidFill>
            <a:srgbClr val="F3F7FC"/>
          </a:solidFill>
          <a:ln>
            <a:noFill/>
          </a:ln>
        </p:spPr>
        <p:txBody>
          <a:bodyPr rtlCol="0" anchor="ctr"/>
          <a:lstStyle/>
          <a:p>
            <a:pPr algn="ctr"/>
          </a:p>
        </p:txBody>
      </p:sp>
      <p:sp>
        <p:nvSpPr>
          <p:cNvPr id="634" name="Icon bg"/>
          <p:cNvSpPr/>
          <p:nvPr/>
        </p:nvSpPr>
        <p:spPr>
          <a:xfrm>
            <a:off x="5140000" y="2185000"/>
            <a:ext cx="340000" cy="340000"/>
          </a:xfrm>
          <a:prstGeom prst="ellipse">
            <a:avLst/>
          </a:prstGeom>
          <a:solidFill>
            <a:srgbClr val="E6EFFA"/>
          </a:solidFill>
          <a:ln>
            <a:noFill/>
          </a:ln>
        </p:spPr>
        <p:txBody>
          <a:bodyPr rtlCol="0" anchor="ctr"/>
          <a:lstStyle/>
          <a:p>
            <a:pPr algn="ctr"/>
          </a:p>
        </p:txBody>
      </p:sp>
      <p:pic>
        <p:nvPicPr>
          <p:cNvPr id="649" name="Check icon" descr="check"/>
          <p:cNvPicPr>
            <a:picLocks noChangeAspect="1"/>
          </p:cNvPicPr>
          <p:nvPr/>
        </p:nvPicPr>
        <p:blipFill>
          <a:blip r:embed="rIdChkB"/>
          <a:stretch>
            <a:fillRect/>
          </a:stretch>
        </p:blipFill>
        <p:spPr>
          <a:xfrm>
            <a:off x="5214800" y="2259800"/>
            <a:ext cx="190400" cy="190400"/>
          </a:xfrm>
          <a:prstGeom prst="rect">
            <a:avLst/>
          </a:prstGeom>
        </p:spPr>
      </p:pic>
      <p:sp>
        <p:nvSpPr>
          <p:cNvPr id="635" name="Item"/>
          <p:cNvSpPr txBox="1"/>
          <p:nvPr/>
        </p:nvSpPr>
        <p:spPr>
          <a:xfrm>
            <a:off x="5540000" y="2180000"/>
            <a:ext cx="2740000" cy="350000"/>
          </a:xfrm>
          <a:prstGeom prst="rect">
            <a:avLst/>
          </a:prstGeom>
          <a:noFill/>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 sz="950" b="0" i="0" u="none" strike="noStrike" cap="none" dirty="0">
                <a:solidFill>
                  <a:srgbClr val="000000"/>
                </a:solidFill>
                <a:latin typeface="Roboto"/>
                <a:ea typeface="Roboto"/>
                <a:cs typeface="Roboto"/>
                <a:sym typeface="Roboto"/>
              </a:rPr>
              <a:t>Annotate signatures; infer locals</a:t>
            </a:r>
            <a:endParaRPr lang="en" sz="950" b="0" i="0" u="none" strike="noStrike" cap="none" dirty="0">
              <a:solidFill>
                <a:srgbClr val="000000"/>
              </a:solidFill>
              <a:latin typeface="Roboto"/>
              <a:ea typeface="Roboto"/>
              <a:cs typeface="Roboto"/>
              <a:sym typeface="Roboto"/>
            </a:endParaRPr>
          </a:p>
        </p:txBody>
      </p:sp>
      <p:sp>
        <p:nvSpPr>
          <p:cNvPr id="636" name="Icon bg"/>
          <p:cNvSpPr/>
          <p:nvPr/>
        </p:nvSpPr>
        <p:spPr>
          <a:xfrm>
            <a:off x="5140000" y="2565000"/>
            <a:ext cx="340000" cy="340000"/>
          </a:xfrm>
          <a:prstGeom prst="ellipse">
            <a:avLst/>
          </a:prstGeom>
          <a:solidFill>
            <a:srgbClr val="E6EFFA"/>
          </a:solidFill>
          <a:ln>
            <a:noFill/>
          </a:ln>
        </p:spPr>
        <p:txBody>
          <a:bodyPr rtlCol="0" anchor="ctr"/>
          <a:lstStyle/>
          <a:p>
            <a:pPr algn="ctr"/>
          </a:p>
        </p:txBody>
      </p:sp>
      <p:pic>
        <p:nvPicPr>
          <p:cNvPr id="650" name="Check icon" descr="check"/>
          <p:cNvPicPr>
            <a:picLocks noChangeAspect="1"/>
          </p:cNvPicPr>
          <p:nvPr/>
        </p:nvPicPr>
        <p:blipFill>
          <a:blip r:embed="rIdChkR"/>
          <a:stretch>
            <a:fillRect/>
          </a:stretch>
        </p:blipFill>
        <p:spPr>
          <a:xfrm>
            <a:off x="5214800" y="2639800"/>
            <a:ext cx="190400" cy="190400"/>
          </a:xfrm>
          <a:prstGeom prst="rect">
            <a:avLst/>
          </a:prstGeom>
        </p:spPr>
      </p:pic>
      <p:sp>
        <p:nvSpPr>
          <p:cNvPr id="637" name="Item"/>
          <p:cNvSpPr txBox="1"/>
          <p:nvPr/>
        </p:nvSpPr>
        <p:spPr>
          <a:xfrm>
            <a:off x="5540000" y="2560000"/>
            <a:ext cx="2740000" cy="350000"/>
          </a:xfrm>
          <a:prstGeom prst="rect">
            <a:avLst/>
          </a:prstGeom>
          <a:noFill/>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 sz="950" b="0" i="0" u="none" strike="noStrike" cap="none" dirty="0">
                <a:solidFill>
                  <a:srgbClr val="000000"/>
                </a:solidFill>
                <a:latin typeface="Roboto"/>
                <a:ea typeface="Roboto"/>
                <a:cs typeface="Roboto"/>
                <a:sym typeface="Roboto"/>
              </a:rPr>
              <a:t>interface for objects, type for unions</a:t>
            </a:r>
            <a:endParaRPr lang="en" sz="950" b="0" i="0" u="none" strike="noStrike" cap="none" dirty="0">
              <a:solidFill>
                <a:srgbClr val="000000"/>
              </a:solidFill>
              <a:latin typeface="Roboto"/>
              <a:ea typeface="Roboto"/>
              <a:cs typeface="Roboto"/>
              <a:sym typeface="Roboto"/>
            </a:endParaRPr>
          </a:p>
        </p:txBody>
      </p:sp>
      <p:sp>
        <p:nvSpPr>
          <p:cNvPr id="638" name="Row"/>
          <p:cNvSpPr/>
          <p:nvPr/>
        </p:nvSpPr>
        <p:spPr>
          <a:xfrm>
            <a:off x="5070000" y="2940000"/>
            <a:ext cx="3240000" cy="350000"/>
          </a:xfrm>
          <a:prstGeom prst="roundRect">
            <a:avLst>
              <a:gd name="adj" fmla="val 15000"/>
            </a:avLst>
          </a:prstGeom>
          <a:solidFill>
            <a:srgbClr val="F3F7FC"/>
          </a:solidFill>
          <a:ln>
            <a:noFill/>
          </a:ln>
        </p:spPr>
        <p:txBody>
          <a:bodyPr rtlCol="0" anchor="ctr"/>
          <a:lstStyle/>
          <a:p>
            <a:pPr algn="ctr"/>
          </a:p>
        </p:txBody>
      </p:sp>
      <p:sp>
        <p:nvSpPr>
          <p:cNvPr id="639" name="Icon bg"/>
          <p:cNvSpPr/>
          <p:nvPr/>
        </p:nvSpPr>
        <p:spPr>
          <a:xfrm>
            <a:off x="5140000" y="2945000"/>
            <a:ext cx="340000" cy="340000"/>
          </a:xfrm>
          <a:prstGeom prst="ellipse">
            <a:avLst/>
          </a:prstGeom>
          <a:solidFill>
            <a:srgbClr val="E6EFFA"/>
          </a:solidFill>
          <a:ln>
            <a:noFill/>
          </a:ln>
        </p:spPr>
        <p:txBody>
          <a:bodyPr rtlCol="0" anchor="ctr"/>
          <a:lstStyle/>
          <a:p>
            <a:pPr algn="ctr"/>
          </a:p>
        </p:txBody>
      </p:sp>
      <p:pic>
        <p:nvPicPr>
          <p:cNvPr id="651" name="Check icon" descr="check"/>
          <p:cNvPicPr>
            <a:picLocks noChangeAspect="1"/>
          </p:cNvPicPr>
          <p:nvPr/>
        </p:nvPicPr>
        <p:blipFill>
          <a:blip r:embed="rIdChkB"/>
          <a:stretch>
            <a:fillRect/>
          </a:stretch>
        </p:blipFill>
        <p:spPr>
          <a:xfrm>
            <a:off x="5214800" y="3019800"/>
            <a:ext cx="190400" cy="190400"/>
          </a:xfrm>
          <a:prstGeom prst="rect">
            <a:avLst/>
          </a:prstGeom>
        </p:spPr>
      </p:pic>
      <p:sp>
        <p:nvSpPr>
          <p:cNvPr id="640" name="Item"/>
          <p:cNvSpPr txBox="1"/>
          <p:nvPr/>
        </p:nvSpPr>
        <p:spPr>
          <a:xfrm>
            <a:off x="5540000" y="2940000"/>
            <a:ext cx="2740000" cy="350000"/>
          </a:xfrm>
          <a:prstGeom prst="rect">
            <a:avLst/>
          </a:prstGeom>
          <a:noFill/>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 sz="950" b="0" i="0" u="none" strike="noStrike" cap="none" dirty="0">
                <a:solidFill>
                  <a:srgbClr val="000000"/>
                </a:solidFill>
                <a:latin typeface="Roboto"/>
                <a:ea typeface="Roboto"/>
                <a:cs typeface="Roboto"/>
                <a:sym typeface="Roboto"/>
              </a:rPr>
              <a:t>Docs: typescriptlang.org/docs</a:t>
            </a:r>
            <a:endParaRPr lang="en" sz="950" b="0" i="0" u="none" strike="noStrike" cap="none" dirty="0">
              <a:solidFill>
                <a:srgbClr val="000000"/>
              </a:solidFill>
              <a:latin typeface="Roboto"/>
              <a:ea typeface="Roboto"/>
              <a:cs typeface="Roboto"/>
              <a:sym typeface="Roboto"/>
            </a:endParaRPr>
          </a:p>
        </p:txBody>
      </p:sp>
      <p:sp>
        <p:nvSpPr>
          <p:cNvPr id="641" name="Icon bg"/>
          <p:cNvSpPr/>
          <p:nvPr/>
        </p:nvSpPr>
        <p:spPr>
          <a:xfrm>
            <a:off x="5140000" y="3325000"/>
            <a:ext cx="340000" cy="340000"/>
          </a:xfrm>
          <a:prstGeom prst="ellipse">
            <a:avLst/>
          </a:prstGeom>
          <a:solidFill>
            <a:srgbClr val="E6EFFA"/>
          </a:solidFill>
          <a:ln>
            <a:noFill/>
          </a:ln>
        </p:spPr>
        <p:txBody>
          <a:bodyPr rtlCol="0" anchor="ctr"/>
          <a:lstStyle/>
          <a:p>
            <a:pPr algn="ctr"/>
          </a:p>
        </p:txBody>
      </p:sp>
      <p:pic>
        <p:nvPicPr>
          <p:cNvPr id="652" name="Check icon" descr="check"/>
          <p:cNvPicPr>
            <a:picLocks noChangeAspect="1"/>
          </p:cNvPicPr>
          <p:nvPr/>
        </p:nvPicPr>
        <p:blipFill>
          <a:blip r:embed="rIdChkR"/>
          <a:stretch>
            <a:fillRect/>
          </a:stretch>
        </p:blipFill>
        <p:spPr>
          <a:xfrm>
            <a:off x="5214800" y="3399800"/>
            <a:ext cx="190400" cy="190400"/>
          </a:xfrm>
          <a:prstGeom prst="rect">
            <a:avLst/>
          </a:prstGeom>
        </p:spPr>
      </p:pic>
      <p:sp>
        <p:nvSpPr>
          <p:cNvPr id="642" name="Item"/>
          <p:cNvSpPr txBox="1"/>
          <p:nvPr/>
        </p:nvSpPr>
        <p:spPr>
          <a:xfrm>
            <a:off x="5540000" y="3320000"/>
            <a:ext cx="2740000" cy="350000"/>
          </a:xfrm>
          <a:prstGeom prst="rect">
            <a:avLst/>
          </a:prstGeom>
          <a:noFill/>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 sz="950" b="0" i="0" u="none" strike="noStrike" cap="none" dirty="0">
                <a:solidFill>
                  <a:srgbClr val="000000"/>
                </a:solidFill>
                <a:latin typeface="Roboto"/>
                <a:ea typeface="Roboto"/>
                <a:cs typeface="Roboto"/>
                <a:sym typeface="Roboto"/>
              </a:rPr>
              <a:t>Practice: typescriptlang.org/play</a:t>
            </a:r>
            <a:endParaRPr lang="en" sz="950" b="0" i="0" u="none" strike="noStrike" cap="none" dirty="0">
              <a:solidFill>
                <a:srgbClr val="000000"/>
              </a:solidFill>
              <a:latin typeface="Roboto"/>
              <a:ea typeface="Roboto"/>
              <a:cs typeface="Roboto"/>
              <a:sym typeface="Roboto"/>
            </a:endParaRPr>
          </a:p>
        </p:txBody>
      </p:sp>
      <p:sp>
        <p:nvSpPr>
          <p:cNvPr id="643" name="Row"/>
          <p:cNvSpPr/>
          <p:nvPr/>
        </p:nvSpPr>
        <p:spPr>
          <a:xfrm>
            <a:off x="5070000" y="3700000"/>
            <a:ext cx="3240000" cy="350000"/>
          </a:xfrm>
          <a:prstGeom prst="roundRect">
            <a:avLst>
              <a:gd name="adj" fmla="val 15000"/>
            </a:avLst>
          </a:prstGeom>
          <a:solidFill>
            <a:srgbClr val="F3F7FC"/>
          </a:solidFill>
          <a:ln>
            <a:noFill/>
          </a:ln>
        </p:spPr>
        <p:txBody>
          <a:bodyPr rtlCol="0" anchor="ctr"/>
          <a:lstStyle/>
          <a:p>
            <a:pPr algn="ctr"/>
          </a:p>
        </p:txBody>
      </p:sp>
      <p:sp>
        <p:nvSpPr>
          <p:cNvPr id="644" name="Icon bg"/>
          <p:cNvSpPr/>
          <p:nvPr/>
        </p:nvSpPr>
        <p:spPr>
          <a:xfrm>
            <a:off x="5140000" y="3705000"/>
            <a:ext cx="340000" cy="340000"/>
          </a:xfrm>
          <a:prstGeom prst="ellipse">
            <a:avLst/>
          </a:prstGeom>
          <a:solidFill>
            <a:srgbClr val="E6EFFA"/>
          </a:solidFill>
          <a:ln>
            <a:noFill/>
          </a:ln>
        </p:spPr>
        <p:txBody>
          <a:bodyPr rtlCol="0" anchor="ctr"/>
          <a:lstStyle/>
          <a:p>
            <a:pPr algn="ctr"/>
          </a:p>
        </p:txBody>
      </p:sp>
      <p:pic>
        <p:nvPicPr>
          <p:cNvPr id="653" name="Check icon" descr="check"/>
          <p:cNvPicPr>
            <a:picLocks noChangeAspect="1"/>
          </p:cNvPicPr>
          <p:nvPr/>
        </p:nvPicPr>
        <p:blipFill>
          <a:blip r:embed="rIdChkB"/>
          <a:stretch>
            <a:fillRect/>
          </a:stretch>
        </p:blipFill>
        <p:spPr>
          <a:xfrm>
            <a:off x="5214800" y="3779800"/>
            <a:ext cx="190400" cy="190400"/>
          </a:xfrm>
          <a:prstGeom prst="rect">
            <a:avLst/>
          </a:prstGeom>
        </p:spPr>
      </p:pic>
      <p:sp>
        <p:nvSpPr>
          <p:cNvPr id="645" name="Item"/>
          <p:cNvSpPr txBox="1"/>
          <p:nvPr/>
        </p:nvSpPr>
        <p:spPr>
          <a:xfrm>
            <a:off x="5540000" y="3700000"/>
            <a:ext cx="2740000" cy="350000"/>
          </a:xfrm>
          <a:prstGeom prst="rect">
            <a:avLst/>
          </a:prstGeom>
          <a:noFill/>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 sz="950" b="0" i="0" u="none" strike="noStrike" cap="none" dirty="0">
                <a:solidFill>
                  <a:srgbClr val="000000"/>
                </a:solidFill>
                <a:latin typeface="Roboto"/>
                <a:ea typeface="Roboto"/>
                <a:cs typeface="Roboto"/>
                <a:sym typeface="Roboto"/>
              </a:rPr>
              <a:t>Build: convert a JS project to TS</a:t>
            </a:r>
            <a:endParaRPr lang="en" sz="950" b="0" i="0" u="none" strike="noStrike" cap="none" dirty="0">
              <a:solidFill>
                <a:srgbClr val="000000"/>
              </a:solidFill>
              <a:latin typeface="Roboto"/>
              <a:ea typeface="Roboto"/>
              <a:cs typeface="Roboto"/>
              <a:sym typeface="Roboto"/>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8"/>
          <p:cNvSpPr/>
          <p:nvPr/>
        </p:nvSpPr>
        <p:spPr>
          <a:xfrm>
            <a:off x="-3525" y="1895025"/>
            <a:ext cx="9144000" cy="1395600"/>
          </a:xfrm>
          <a:prstGeom prst="rect">
            <a:avLst/>
          </a:prstGeom>
          <a:solidFill>
            <a:srgbClr val="0B5394"/>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pic>
        <p:nvPicPr>
          <p:cNvPr id="167" name="Google Shape;167;p18" title="Untitled-3-01.png"/>
          <p:cNvPicPr preferRelativeResize="0"/>
          <p:nvPr/>
        </p:nvPicPr>
        <p:blipFill rotWithShape="1">
          <a:blip r:embed="rId3">
            <a:alphaModFix/>
          </a:blip>
          <a:srcRect l="2123"/>
          <a:stretch/>
        </p:blipFill>
        <p:spPr>
          <a:xfrm>
            <a:off x="2954238" y="275375"/>
            <a:ext cx="2820275" cy="813224"/>
          </a:xfrm>
          <a:prstGeom prst="rect">
            <a:avLst/>
          </a:prstGeom>
          <a:noFill/>
          <a:ln>
            <a:noFill/>
          </a:ln>
        </p:spPr>
      </p:pic>
      <p:pic>
        <p:nvPicPr>
          <p:cNvPr id="168" name="Google Shape;168;p18" title="future-visions-business-technology-concept.jpg"/>
          <p:cNvPicPr preferRelativeResize="0">
            <a:picLocks noGrp="1"/>
          </p:cNvPicPr>
          <p:nvPr>
            <p:ph type="pic" idx="2"/>
          </p:nvPr>
        </p:nvPicPr>
        <p:blipFill rotWithShape="1">
          <a:blip r:embed="rId4">
            <a:alphaModFix/>
          </a:blip>
          <a:srcRect t="5317" b="5317"/>
          <a:stretch/>
        </p:blipFill>
        <p:spPr>
          <a:xfrm>
            <a:off x="2098625" y="1238350"/>
            <a:ext cx="4531500" cy="2768400"/>
          </a:xfrm>
          <a:prstGeom prst="roundRect">
            <a:avLst>
              <a:gd name="adj" fmla="val 8493"/>
            </a:avLst>
          </a:prstGeom>
          <a:solidFill>
            <a:srgbClr val="7F7F7F"/>
          </a:solidFill>
          <a:ln>
            <a:noFill/>
          </a:ln>
        </p:spPr>
      </p:pic>
      <p:sp>
        <p:nvSpPr>
          <p:cNvPr id="169" name="Google Shape;169;p18"/>
          <p:cNvSpPr/>
          <p:nvPr/>
        </p:nvSpPr>
        <p:spPr>
          <a:xfrm>
            <a:off x="6649170" y="1895025"/>
            <a:ext cx="2497237" cy="1399072"/>
          </a:xfrm>
          <a:custGeom>
            <a:avLst/>
            <a:gdLst/>
            <a:ahLst/>
            <a:cxnLst/>
            <a:rect l="l" t="t" r="r" b="b"/>
            <a:pathLst>
              <a:path w="4459352" h="3633953" extrusionOk="0">
                <a:moveTo>
                  <a:pt x="4395541" y="3495709"/>
                </a:moveTo>
                <a:lnTo>
                  <a:pt x="4373957" y="3521869"/>
                </a:lnTo>
                <a:lnTo>
                  <a:pt x="4342589" y="3547750"/>
                </a:lnTo>
                <a:lnTo>
                  <a:pt x="4302494" y="3546124"/>
                </a:lnTo>
                <a:cubicBezTo>
                  <a:pt x="4276369" y="3548995"/>
                  <a:pt x="4252210" y="3555850"/>
                  <a:pt x="4229834" y="3566602"/>
                </a:cubicBezTo>
                <a:lnTo>
                  <a:pt x="4173156" y="3606724"/>
                </a:lnTo>
                <a:lnTo>
                  <a:pt x="4167795" y="3607264"/>
                </a:lnTo>
                <a:lnTo>
                  <a:pt x="4104815" y="3607264"/>
                </a:lnTo>
                <a:lnTo>
                  <a:pt x="4108284" y="3602053"/>
                </a:lnTo>
                <a:cubicBezTo>
                  <a:pt x="4141467" y="3562062"/>
                  <a:pt x="4183660" y="3530163"/>
                  <a:pt x="4239555" y="3510722"/>
                </a:cubicBezTo>
                <a:cubicBezTo>
                  <a:pt x="4285018" y="3494854"/>
                  <a:pt x="4332466" y="3496413"/>
                  <a:pt x="4379449" y="3496706"/>
                </a:cubicBezTo>
                <a:close/>
                <a:moveTo>
                  <a:pt x="1093783" y="3448548"/>
                </a:moveTo>
                <a:lnTo>
                  <a:pt x="1078538" y="3476636"/>
                </a:lnTo>
                <a:lnTo>
                  <a:pt x="1066943" y="3490690"/>
                </a:lnTo>
                <a:lnTo>
                  <a:pt x="1007696" y="3498768"/>
                </a:lnTo>
                <a:cubicBezTo>
                  <a:pt x="963140" y="3501943"/>
                  <a:pt x="918474" y="3501748"/>
                  <a:pt x="873997" y="3496687"/>
                </a:cubicBezTo>
                <a:cubicBezTo>
                  <a:pt x="762206" y="3483872"/>
                  <a:pt x="681938" y="3519837"/>
                  <a:pt x="620637" y="3591362"/>
                </a:cubicBezTo>
                <a:lnTo>
                  <a:pt x="592149" y="3633953"/>
                </a:lnTo>
                <a:lnTo>
                  <a:pt x="546325" y="3633953"/>
                </a:lnTo>
                <a:lnTo>
                  <a:pt x="576838" y="3583303"/>
                </a:lnTo>
                <a:cubicBezTo>
                  <a:pt x="638051" y="3495494"/>
                  <a:pt x="721389" y="3452593"/>
                  <a:pt x="828353" y="3457848"/>
                </a:cubicBezTo>
                <a:cubicBezTo>
                  <a:pt x="913790" y="3461951"/>
                  <a:pt x="998894" y="3461848"/>
                  <a:pt x="1083198" y="3450486"/>
                </a:cubicBezTo>
                <a:close/>
                <a:moveTo>
                  <a:pt x="4457812" y="3330986"/>
                </a:moveTo>
                <a:lnTo>
                  <a:pt x="4453847" y="3370314"/>
                </a:lnTo>
                <a:lnTo>
                  <a:pt x="4440113" y="3371635"/>
                </a:lnTo>
                <a:cubicBezTo>
                  <a:pt x="4392626" y="3373116"/>
                  <a:pt x="4345035" y="3372353"/>
                  <a:pt x="4297405" y="3371836"/>
                </a:cubicBezTo>
                <a:cubicBezTo>
                  <a:pt x="4248223" y="3371425"/>
                  <a:pt x="4199015" y="3370102"/>
                  <a:pt x="4150087" y="3374010"/>
                </a:cubicBezTo>
                <a:cubicBezTo>
                  <a:pt x="4010911" y="3385094"/>
                  <a:pt x="3912961" y="3447340"/>
                  <a:pt x="3860158" y="3555283"/>
                </a:cubicBezTo>
                <a:lnTo>
                  <a:pt x="3839798" y="3607264"/>
                </a:lnTo>
                <a:lnTo>
                  <a:pt x="3799401" y="3607264"/>
                </a:lnTo>
                <a:lnTo>
                  <a:pt x="3802752" y="3593310"/>
                </a:lnTo>
                <a:cubicBezTo>
                  <a:pt x="3851470" y="3446595"/>
                  <a:pt x="3953651" y="3363648"/>
                  <a:pt x="4105197" y="3340022"/>
                </a:cubicBezTo>
                <a:cubicBezTo>
                  <a:pt x="4184581" y="3327704"/>
                  <a:pt x="4264590" y="3332183"/>
                  <a:pt x="4344377" y="3333257"/>
                </a:cubicBezTo>
                <a:close/>
                <a:moveTo>
                  <a:pt x="1139476" y="3098377"/>
                </a:moveTo>
                <a:lnTo>
                  <a:pt x="1139476" y="3138273"/>
                </a:lnTo>
                <a:lnTo>
                  <a:pt x="1114052" y="3144135"/>
                </a:lnTo>
                <a:cubicBezTo>
                  <a:pt x="1042678" y="3155359"/>
                  <a:pt x="971103" y="3151783"/>
                  <a:pt x="899557" y="3147171"/>
                </a:cubicBezTo>
                <a:cubicBezTo>
                  <a:pt x="846386" y="3143713"/>
                  <a:pt x="793423" y="3141101"/>
                  <a:pt x="740090" y="3144471"/>
                </a:cubicBezTo>
                <a:cubicBezTo>
                  <a:pt x="610627" y="3152811"/>
                  <a:pt x="525858" y="3223110"/>
                  <a:pt x="491761" y="3343431"/>
                </a:cubicBezTo>
                <a:cubicBezTo>
                  <a:pt x="475002" y="3402562"/>
                  <a:pt x="453318" y="3458007"/>
                  <a:pt x="427307" y="3510264"/>
                </a:cubicBezTo>
                <a:lnTo>
                  <a:pt x="351591" y="3633953"/>
                </a:lnTo>
                <a:lnTo>
                  <a:pt x="304596" y="3633953"/>
                </a:lnTo>
                <a:lnTo>
                  <a:pt x="306678" y="3631416"/>
                </a:lnTo>
                <a:cubicBezTo>
                  <a:pt x="353740" y="3567163"/>
                  <a:pt x="393245" y="3497554"/>
                  <a:pt x="422867" y="3420930"/>
                </a:cubicBezTo>
                <a:cubicBezTo>
                  <a:pt x="436548" y="3385547"/>
                  <a:pt x="445856" y="3348589"/>
                  <a:pt x="459478" y="3313329"/>
                </a:cubicBezTo>
                <a:cubicBezTo>
                  <a:pt x="509440" y="3183697"/>
                  <a:pt x="602846" y="3112893"/>
                  <a:pt x="742867" y="3105090"/>
                </a:cubicBezTo>
                <a:cubicBezTo>
                  <a:pt x="819873" y="3100826"/>
                  <a:pt x="896265" y="3108582"/>
                  <a:pt x="972948" y="3111820"/>
                </a:cubicBezTo>
                <a:cubicBezTo>
                  <a:pt x="1021494" y="3113925"/>
                  <a:pt x="1070075" y="3113767"/>
                  <a:pt x="1117427" y="3104367"/>
                </a:cubicBezTo>
                <a:close/>
                <a:moveTo>
                  <a:pt x="4459352" y="2833848"/>
                </a:moveTo>
                <a:lnTo>
                  <a:pt x="4459352" y="2880420"/>
                </a:lnTo>
                <a:lnTo>
                  <a:pt x="4452128" y="2884611"/>
                </a:lnTo>
                <a:cubicBezTo>
                  <a:pt x="4420367" y="2898744"/>
                  <a:pt x="4386378" y="2909906"/>
                  <a:pt x="4350177" y="2918168"/>
                </a:cubicBezTo>
                <a:cubicBezTo>
                  <a:pt x="4279073" y="2934319"/>
                  <a:pt x="4206639" y="2940701"/>
                  <a:pt x="4134441" y="2948843"/>
                </a:cubicBezTo>
                <a:cubicBezTo>
                  <a:pt x="4088593" y="2953877"/>
                  <a:pt x="4042951" y="2959758"/>
                  <a:pt x="3997791" y="2969462"/>
                </a:cubicBezTo>
                <a:cubicBezTo>
                  <a:pt x="3819520" y="3008026"/>
                  <a:pt x="3721588" y="3110648"/>
                  <a:pt x="3692565" y="3290342"/>
                </a:cubicBezTo>
                <a:cubicBezTo>
                  <a:pt x="3675779" y="3394668"/>
                  <a:pt x="3670109" y="3499936"/>
                  <a:pt x="3670051" y="3605404"/>
                </a:cubicBezTo>
                <a:lnTo>
                  <a:pt x="3669966" y="3607264"/>
                </a:lnTo>
                <a:lnTo>
                  <a:pt x="3602029" y="3607264"/>
                </a:lnTo>
                <a:lnTo>
                  <a:pt x="3606586" y="3596261"/>
                </a:lnTo>
                <a:cubicBezTo>
                  <a:pt x="3621952" y="3550168"/>
                  <a:pt x="3631499" y="3500031"/>
                  <a:pt x="3635030" y="3445730"/>
                </a:cubicBezTo>
                <a:cubicBezTo>
                  <a:pt x="3640194" y="3366188"/>
                  <a:pt x="3647250" y="3286770"/>
                  <a:pt x="3670397" y="3209549"/>
                </a:cubicBezTo>
                <a:cubicBezTo>
                  <a:pt x="3710835" y="3075207"/>
                  <a:pt x="3798221" y="2988561"/>
                  <a:pt x="3931185" y="2946728"/>
                </a:cubicBezTo>
                <a:cubicBezTo>
                  <a:pt x="4004999" y="2923427"/>
                  <a:pt x="4081410" y="2915586"/>
                  <a:pt x="4157736" y="2906955"/>
                </a:cubicBezTo>
                <a:cubicBezTo>
                  <a:pt x="4207523" y="2901193"/>
                  <a:pt x="4257292" y="2894823"/>
                  <a:pt x="4306833" y="2886997"/>
                </a:cubicBezTo>
                <a:cubicBezTo>
                  <a:pt x="4347598" y="2880547"/>
                  <a:pt x="4385418" y="2870145"/>
                  <a:pt x="4420361" y="2855870"/>
                </a:cubicBezTo>
                <a:close/>
                <a:moveTo>
                  <a:pt x="1139476" y="2538294"/>
                </a:moveTo>
                <a:lnTo>
                  <a:pt x="1139476" y="2582280"/>
                </a:lnTo>
                <a:lnTo>
                  <a:pt x="1135743" y="2584073"/>
                </a:lnTo>
                <a:cubicBezTo>
                  <a:pt x="1109843" y="2592976"/>
                  <a:pt x="1082195" y="2599215"/>
                  <a:pt x="1052816" y="2602870"/>
                </a:cubicBezTo>
                <a:cubicBezTo>
                  <a:pt x="961098" y="2614279"/>
                  <a:pt x="868798" y="2610412"/>
                  <a:pt x="776794" y="2614337"/>
                </a:cubicBezTo>
                <a:cubicBezTo>
                  <a:pt x="712050" y="2617074"/>
                  <a:pt x="648175" y="2624418"/>
                  <a:pt x="585564" y="2641348"/>
                </a:cubicBezTo>
                <a:cubicBezTo>
                  <a:pt x="424320" y="2684946"/>
                  <a:pt x="334198" y="2794035"/>
                  <a:pt x="322503" y="2960291"/>
                </a:cubicBezTo>
                <a:cubicBezTo>
                  <a:pt x="318313" y="3019576"/>
                  <a:pt x="320164" y="3079108"/>
                  <a:pt x="311639" y="3138038"/>
                </a:cubicBezTo>
                <a:cubicBezTo>
                  <a:pt x="287031" y="3308521"/>
                  <a:pt x="223146" y="3461420"/>
                  <a:pt x="105496" y="3589126"/>
                </a:cubicBezTo>
                <a:lnTo>
                  <a:pt x="59427" y="3633953"/>
                </a:lnTo>
                <a:lnTo>
                  <a:pt x="0" y="3633953"/>
                </a:lnTo>
                <a:lnTo>
                  <a:pt x="59511" y="3579834"/>
                </a:lnTo>
                <a:cubicBezTo>
                  <a:pt x="201405" y="3433749"/>
                  <a:pt x="273901" y="3248719"/>
                  <a:pt x="279643" y="3026284"/>
                </a:cubicBezTo>
                <a:cubicBezTo>
                  <a:pt x="281178" y="2967870"/>
                  <a:pt x="282959" y="2909570"/>
                  <a:pt x="300515" y="2853172"/>
                </a:cubicBezTo>
                <a:cubicBezTo>
                  <a:pt x="345416" y="2709191"/>
                  <a:pt x="451315" y="2634417"/>
                  <a:pt x="590987" y="2598841"/>
                </a:cubicBezTo>
                <a:cubicBezTo>
                  <a:pt x="695287" y="2572248"/>
                  <a:pt x="802151" y="2574154"/>
                  <a:pt x="908580" y="2571807"/>
                </a:cubicBezTo>
                <a:cubicBezTo>
                  <a:pt x="949498" y="2570942"/>
                  <a:pt x="990445" y="2569041"/>
                  <a:pt x="1031231" y="2565866"/>
                </a:cubicBezTo>
                <a:cubicBezTo>
                  <a:pt x="1062884" y="2563376"/>
                  <a:pt x="1092276" y="2557504"/>
                  <a:pt x="1119419" y="2548328"/>
                </a:cubicBezTo>
                <a:close/>
                <a:moveTo>
                  <a:pt x="4459352" y="2485083"/>
                </a:moveTo>
                <a:lnTo>
                  <a:pt x="4459352" y="2539842"/>
                </a:lnTo>
                <a:lnTo>
                  <a:pt x="4425791" y="2568105"/>
                </a:lnTo>
                <a:cubicBezTo>
                  <a:pt x="4362873" y="2613940"/>
                  <a:pt x="4288453" y="2648273"/>
                  <a:pt x="4203932" y="2672337"/>
                </a:cubicBezTo>
                <a:cubicBezTo>
                  <a:pt x="4094405" y="2703412"/>
                  <a:pt x="3980688" y="2714691"/>
                  <a:pt x="3870045" y="2741048"/>
                </a:cubicBezTo>
                <a:cubicBezTo>
                  <a:pt x="3716389" y="2777653"/>
                  <a:pt x="3607425" y="2863912"/>
                  <a:pt x="3552566" y="3015139"/>
                </a:cubicBezTo>
                <a:cubicBezTo>
                  <a:pt x="3533386" y="3068234"/>
                  <a:pt x="3516166" y="3121637"/>
                  <a:pt x="3500552" y="3175783"/>
                </a:cubicBezTo>
                <a:cubicBezTo>
                  <a:pt x="3462206" y="3308844"/>
                  <a:pt x="3421268" y="3440703"/>
                  <a:pt x="3344680" y="3558157"/>
                </a:cubicBezTo>
                <a:lnTo>
                  <a:pt x="3306067" y="3607264"/>
                </a:lnTo>
                <a:lnTo>
                  <a:pt x="3256082" y="3607264"/>
                </a:lnTo>
                <a:lnTo>
                  <a:pt x="3256216" y="3607145"/>
                </a:lnTo>
                <a:cubicBezTo>
                  <a:pt x="3316499" y="3539371"/>
                  <a:pt x="3361889" y="3457780"/>
                  <a:pt x="3396294" y="3365963"/>
                </a:cubicBezTo>
                <a:cubicBezTo>
                  <a:pt x="3434364" y="3264290"/>
                  <a:pt x="3460436" y="3158712"/>
                  <a:pt x="3495120" y="3055920"/>
                </a:cubicBezTo>
                <a:cubicBezTo>
                  <a:pt x="3514076" y="2999419"/>
                  <a:pt x="3536920" y="2944568"/>
                  <a:pt x="3568727" y="2894016"/>
                </a:cubicBezTo>
                <a:cubicBezTo>
                  <a:pt x="3634496" y="2789559"/>
                  <a:pt x="3734890" y="2736398"/>
                  <a:pt x="3850293" y="2706242"/>
                </a:cubicBezTo>
                <a:cubicBezTo>
                  <a:pt x="3961407" y="2677252"/>
                  <a:pt x="4076093" y="2665823"/>
                  <a:pt x="4187064" y="2636166"/>
                </a:cubicBezTo>
                <a:cubicBezTo>
                  <a:pt x="4259504" y="2616807"/>
                  <a:pt x="4325641" y="2588452"/>
                  <a:pt x="4383799" y="2548769"/>
                </a:cubicBezTo>
                <a:close/>
                <a:moveTo>
                  <a:pt x="4188344" y="2480092"/>
                </a:moveTo>
                <a:cubicBezTo>
                  <a:pt x="4188049" y="2480406"/>
                  <a:pt x="4187506" y="2480605"/>
                  <a:pt x="4187145" y="2480737"/>
                </a:cubicBezTo>
                <a:cubicBezTo>
                  <a:pt x="4187839" y="2481509"/>
                  <a:pt x="4188408" y="2482223"/>
                  <a:pt x="4189159" y="2482870"/>
                </a:cubicBezTo>
                <a:cubicBezTo>
                  <a:pt x="4188884" y="2481843"/>
                  <a:pt x="4188552" y="2480938"/>
                  <a:pt x="4188344" y="2480092"/>
                </a:cubicBezTo>
                <a:close/>
                <a:moveTo>
                  <a:pt x="4459352" y="2199617"/>
                </a:moveTo>
                <a:lnTo>
                  <a:pt x="4459352" y="2301753"/>
                </a:lnTo>
                <a:lnTo>
                  <a:pt x="4455307" y="2310449"/>
                </a:lnTo>
                <a:cubicBezTo>
                  <a:pt x="4436434" y="2340071"/>
                  <a:pt x="4413203" y="2366831"/>
                  <a:pt x="4384253" y="2389819"/>
                </a:cubicBezTo>
                <a:cubicBezTo>
                  <a:pt x="4355732" y="2419982"/>
                  <a:pt x="4319559" y="2438799"/>
                  <a:pt x="4282456" y="2455086"/>
                </a:cubicBezTo>
                <a:cubicBezTo>
                  <a:pt x="4238798" y="2474188"/>
                  <a:pt x="4195421" y="2494623"/>
                  <a:pt x="4148322" y="2504631"/>
                </a:cubicBezTo>
                <a:cubicBezTo>
                  <a:pt x="4082514" y="2528786"/>
                  <a:pt x="4014190" y="2544123"/>
                  <a:pt x="3946129" y="2560182"/>
                </a:cubicBezTo>
                <a:cubicBezTo>
                  <a:pt x="3885281" y="2581081"/>
                  <a:pt x="3822416" y="2595644"/>
                  <a:pt x="3762648" y="2620045"/>
                </a:cubicBezTo>
                <a:cubicBezTo>
                  <a:pt x="3558188" y="2703508"/>
                  <a:pt x="3430835" y="2848932"/>
                  <a:pt x="3397977" y="3071270"/>
                </a:cubicBezTo>
                <a:cubicBezTo>
                  <a:pt x="3384095" y="3164783"/>
                  <a:pt x="3337757" y="3244772"/>
                  <a:pt x="3289547" y="3323294"/>
                </a:cubicBezTo>
                <a:cubicBezTo>
                  <a:pt x="3227425" y="3424413"/>
                  <a:pt x="3155577" y="3516639"/>
                  <a:pt x="3065467" y="3591335"/>
                </a:cubicBezTo>
                <a:lnTo>
                  <a:pt x="3043035" y="3607264"/>
                </a:lnTo>
                <a:lnTo>
                  <a:pt x="2974262" y="3607264"/>
                </a:lnTo>
                <a:lnTo>
                  <a:pt x="2994394" y="3594960"/>
                </a:lnTo>
                <a:cubicBezTo>
                  <a:pt x="3112544" y="3511496"/>
                  <a:pt x="3201120" y="3392219"/>
                  <a:pt x="3279379" y="3260663"/>
                </a:cubicBezTo>
                <a:cubicBezTo>
                  <a:pt x="3323169" y="3187147"/>
                  <a:pt x="3351699" y="3108668"/>
                  <a:pt x="3365754" y="3022887"/>
                </a:cubicBezTo>
                <a:cubicBezTo>
                  <a:pt x="3389572" y="2876798"/>
                  <a:pt x="3469153" y="2761629"/>
                  <a:pt x="3585463" y="2672469"/>
                </a:cubicBezTo>
                <a:cubicBezTo>
                  <a:pt x="3688437" y="2593640"/>
                  <a:pt x="3809196" y="2555160"/>
                  <a:pt x="3933396" y="2525775"/>
                </a:cubicBezTo>
                <a:cubicBezTo>
                  <a:pt x="3978142" y="2512427"/>
                  <a:pt x="4022830" y="2499203"/>
                  <a:pt x="4067577" y="2485855"/>
                </a:cubicBezTo>
                <a:cubicBezTo>
                  <a:pt x="4070904" y="2478993"/>
                  <a:pt x="4081371" y="2482638"/>
                  <a:pt x="4086360" y="2478345"/>
                </a:cubicBezTo>
                <a:cubicBezTo>
                  <a:pt x="4074735" y="2480766"/>
                  <a:pt x="4064454" y="2473154"/>
                  <a:pt x="4053279" y="2472332"/>
                </a:cubicBezTo>
                <a:lnTo>
                  <a:pt x="4053403" y="2472390"/>
                </a:lnTo>
                <a:cubicBezTo>
                  <a:pt x="4033811" y="2471273"/>
                  <a:pt x="4014605" y="2466733"/>
                  <a:pt x="3995021" y="2465920"/>
                </a:cubicBezTo>
                <a:cubicBezTo>
                  <a:pt x="3880509" y="2450719"/>
                  <a:pt x="3765127" y="2439017"/>
                  <a:pt x="3658526" y="2496507"/>
                </a:cubicBezTo>
                <a:cubicBezTo>
                  <a:pt x="3529143" y="2566260"/>
                  <a:pt x="3426085" y="2666658"/>
                  <a:pt x="3344633" y="2788465"/>
                </a:cubicBezTo>
                <a:cubicBezTo>
                  <a:pt x="3270583" y="2899141"/>
                  <a:pt x="3229853" y="3021793"/>
                  <a:pt x="3211778" y="3154183"/>
                </a:cubicBezTo>
                <a:cubicBezTo>
                  <a:pt x="3190363" y="3311289"/>
                  <a:pt x="3087953" y="3412887"/>
                  <a:pt x="2958046" y="3489600"/>
                </a:cubicBezTo>
                <a:cubicBezTo>
                  <a:pt x="2826465" y="3567339"/>
                  <a:pt x="2680206" y="3582459"/>
                  <a:pt x="2531124" y="3580665"/>
                </a:cubicBezTo>
                <a:cubicBezTo>
                  <a:pt x="2462494" y="3579803"/>
                  <a:pt x="2393988" y="3579000"/>
                  <a:pt x="2325980" y="3590732"/>
                </a:cubicBezTo>
                <a:lnTo>
                  <a:pt x="2265528" y="3607264"/>
                </a:lnTo>
                <a:lnTo>
                  <a:pt x="2159150" y="3607264"/>
                </a:lnTo>
                <a:lnTo>
                  <a:pt x="2211251" y="3582034"/>
                </a:lnTo>
                <a:cubicBezTo>
                  <a:pt x="2273594" y="3558188"/>
                  <a:pt x="2340020" y="3545011"/>
                  <a:pt x="2410552" y="3542251"/>
                </a:cubicBezTo>
                <a:cubicBezTo>
                  <a:pt x="2513827" y="3538293"/>
                  <a:pt x="2617476" y="3546814"/>
                  <a:pt x="2720177" y="3529834"/>
                </a:cubicBezTo>
                <a:cubicBezTo>
                  <a:pt x="2882722" y="3503198"/>
                  <a:pt x="3018842" y="3432512"/>
                  <a:pt x="3114610" y="3294374"/>
                </a:cubicBezTo>
                <a:cubicBezTo>
                  <a:pt x="3148421" y="3245652"/>
                  <a:pt x="3167869" y="3191329"/>
                  <a:pt x="3175415" y="3132246"/>
                </a:cubicBezTo>
                <a:cubicBezTo>
                  <a:pt x="3211365" y="2852666"/>
                  <a:pt x="3361759" y="2646780"/>
                  <a:pt x="3589000" y="2490129"/>
                </a:cubicBezTo>
                <a:cubicBezTo>
                  <a:pt x="3680445" y="2427123"/>
                  <a:pt x="3782471" y="2409981"/>
                  <a:pt x="3890234" y="2415454"/>
                </a:cubicBezTo>
                <a:cubicBezTo>
                  <a:pt x="3919829" y="2417001"/>
                  <a:pt x="3949405" y="2419890"/>
                  <a:pt x="3978876" y="2423330"/>
                </a:cubicBezTo>
                <a:cubicBezTo>
                  <a:pt x="4049609" y="2431317"/>
                  <a:pt x="4120200" y="2438639"/>
                  <a:pt x="4191556" y="2434909"/>
                </a:cubicBezTo>
                <a:cubicBezTo>
                  <a:pt x="4242228" y="2428207"/>
                  <a:pt x="4288787" y="2410296"/>
                  <a:pt x="4331638" y="2382565"/>
                </a:cubicBezTo>
                <a:cubicBezTo>
                  <a:pt x="4385032" y="2342759"/>
                  <a:pt x="4421126" y="2294455"/>
                  <a:pt x="4445607" y="2240362"/>
                </a:cubicBezTo>
                <a:close/>
                <a:moveTo>
                  <a:pt x="4459352" y="1491993"/>
                </a:moveTo>
                <a:lnTo>
                  <a:pt x="4459352" y="1584830"/>
                </a:lnTo>
                <a:lnTo>
                  <a:pt x="4455129" y="1595140"/>
                </a:lnTo>
                <a:cubicBezTo>
                  <a:pt x="4447807" y="1622325"/>
                  <a:pt x="4443600" y="1651225"/>
                  <a:pt x="4442539" y="1681796"/>
                </a:cubicBezTo>
                <a:cubicBezTo>
                  <a:pt x="4440339" y="1748456"/>
                  <a:pt x="4437085" y="1814477"/>
                  <a:pt x="4415371" y="1878556"/>
                </a:cubicBezTo>
                <a:cubicBezTo>
                  <a:pt x="4371047" y="2009298"/>
                  <a:pt x="4290500" y="2104511"/>
                  <a:pt x="4157062" y="2150928"/>
                </a:cubicBezTo>
                <a:cubicBezTo>
                  <a:pt x="4038041" y="2192464"/>
                  <a:pt x="3914965" y="2220718"/>
                  <a:pt x="3795659" y="2260922"/>
                </a:cubicBezTo>
                <a:cubicBezTo>
                  <a:pt x="3651082" y="2309684"/>
                  <a:pt x="3514439" y="2373074"/>
                  <a:pt x="3394961" y="2470373"/>
                </a:cubicBezTo>
                <a:cubicBezTo>
                  <a:pt x="3258652" y="2581337"/>
                  <a:pt x="3165904" y="2722674"/>
                  <a:pt x="3103339" y="2885036"/>
                </a:cubicBezTo>
                <a:cubicBezTo>
                  <a:pt x="3066770" y="2979904"/>
                  <a:pt x="3028265" y="3073123"/>
                  <a:pt x="2962298" y="3152727"/>
                </a:cubicBezTo>
                <a:cubicBezTo>
                  <a:pt x="2861880" y="3274006"/>
                  <a:pt x="2733720" y="3329768"/>
                  <a:pt x="2577054" y="3322963"/>
                </a:cubicBezTo>
                <a:cubicBezTo>
                  <a:pt x="2485545" y="3319013"/>
                  <a:pt x="2396958" y="3296756"/>
                  <a:pt x="2307192" y="3281908"/>
                </a:cubicBezTo>
                <a:cubicBezTo>
                  <a:pt x="2273938" y="3276267"/>
                  <a:pt x="2240352" y="3271671"/>
                  <a:pt x="2206722" y="3269757"/>
                </a:cubicBezTo>
                <a:cubicBezTo>
                  <a:pt x="2038038" y="3260388"/>
                  <a:pt x="1919809" y="3338457"/>
                  <a:pt x="1859684" y="3496848"/>
                </a:cubicBezTo>
                <a:cubicBezTo>
                  <a:pt x="1849804" y="3522886"/>
                  <a:pt x="1842347" y="3549446"/>
                  <a:pt x="1836523" y="3576369"/>
                </a:cubicBezTo>
                <a:lnTo>
                  <a:pt x="1831470" y="3607264"/>
                </a:lnTo>
                <a:lnTo>
                  <a:pt x="1791643" y="3607264"/>
                </a:lnTo>
                <a:lnTo>
                  <a:pt x="1810490" y="3513726"/>
                </a:lnTo>
                <a:cubicBezTo>
                  <a:pt x="1823939" y="3473171"/>
                  <a:pt x="1842387" y="3434217"/>
                  <a:pt x="1865890" y="3397228"/>
                </a:cubicBezTo>
                <a:cubicBezTo>
                  <a:pt x="1945130" y="3272748"/>
                  <a:pt x="2060939" y="3221620"/>
                  <a:pt x="2205648" y="3229944"/>
                </a:cubicBezTo>
                <a:cubicBezTo>
                  <a:pt x="2303176" y="3235479"/>
                  <a:pt x="2397531" y="3261158"/>
                  <a:pt x="2493613" y="3275328"/>
                </a:cubicBezTo>
                <a:cubicBezTo>
                  <a:pt x="2571152" y="3286767"/>
                  <a:pt x="2648692" y="3290102"/>
                  <a:pt x="2725043" y="3268126"/>
                </a:cubicBezTo>
                <a:cubicBezTo>
                  <a:pt x="2848147" y="3232683"/>
                  <a:pt x="2928673" y="3146915"/>
                  <a:pt x="2990840" y="3040189"/>
                </a:cubicBezTo>
                <a:cubicBezTo>
                  <a:pt x="3017783" y="2993989"/>
                  <a:pt x="3038356" y="2944689"/>
                  <a:pt x="3056163" y="2894559"/>
                </a:cubicBezTo>
                <a:cubicBezTo>
                  <a:pt x="3175888" y="2556225"/>
                  <a:pt x="3418142" y="2347698"/>
                  <a:pt x="3751161" y="2233867"/>
                </a:cubicBezTo>
                <a:cubicBezTo>
                  <a:pt x="3858811" y="2197121"/>
                  <a:pt x="3968764" y="2168043"/>
                  <a:pt x="4077910" y="2136492"/>
                </a:cubicBezTo>
                <a:cubicBezTo>
                  <a:pt x="4184100" y="2105822"/>
                  <a:pt x="4278161" y="2058882"/>
                  <a:pt x="4335557" y="1957602"/>
                </a:cubicBezTo>
                <a:cubicBezTo>
                  <a:pt x="4378427" y="1881860"/>
                  <a:pt x="4400987" y="1801366"/>
                  <a:pt x="4400377" y="1714197"/>
                </a:cubicBezTo>
                <a:cubicBezTo>
                  <a:pt x="4399823" y="1651215"/>
                  <a:pt x="4408447" y="1589480"/>
                  <a:pt x="4435470" y="1531762"/>
                </a:cubicBezTo>
                <a:close/>
                <a:moveTo>
                  <a:pt x="4459352" y="670573"/>
                </a:moveTo>
                <a:lnTo>
                  <a:pt x="4459352" y="710470"/>
                </a:lnTo>
                <a:lnTo>
                  <a:pt x="4380527" y="728216"/>
                </a:lnTo>
                <a:cubicBezTo>
                  <a:pt x="4322424" y="750724"/>
                  <a:pt x="4271759" y="791118"/>
                  <a:pt x="4230399" y="853226"/>
                </a:cubicBezTo>
                <a:cubicBezTo>
                  <a:pt x="4189943" y="914031"/>
                  <a:pt x="4170451" y="983037"/>
                  <a:pt x="4160417" y="1054623"/>
                </a:cubicBezTo>
                <a:cubicBezTo>
                  <a:pt x="4146557" y="1152951"/>
                  <a:pt x="4131527" y="1250885"/>
                  <a:pt x="4093193" y="1343734"/>
                </a:cubicBezTo>
                <a:cubicBezTo>
                  <a:pt x="4054639" y="1437380"/>
                  <a:pt x="4002979" y="1522708"/>
                  <a:pt x="3935988" y="1598689"/>
                </a:cubicBezTo>
                <a:cubicBezTo>
                  <a:pt x="3811075" y="1740140"/>
                  <a:pt x="3654761" y="1805826"/>
                  <a:pt x="3466144" y="1794134"/>
                </a:cubicBezTo>
                <a:cubicBezTo>
                  <a:pt x="3400770" y="1790127"/>
                  <a:pt x="3335381" y="1783564"/>
                  <a:pt x="3270003" y="1783458"/>
                </a:cubicBezTo>
                <a:cubicBezTo>
                  <a:pt x="3113234" y="1783358"/>
                  <a:pt x="3024678" y="1855355"/>
                  <a:pt x="2988145" y="2008162"/>
                </a:cubicBezTo>
                <a:cubicBezTo>
                  <a:pt x="2973254" y="2070146"/>
                  <a:pt x="2968518" y="2133532"/>
                  <a:pt x="2962251" y="2196658"/>
                </a:cubicBezTo>
                <a:cubicBezTo>
                  <a:pt x="2952154" y="2298527"/>
                  <a:pt x="2932785" y="2398055"/>
                  <a:pt x="2868887" y="2481618"/>
                </a:cubicBezTo>
                <a:cubicBezTo>
                  <a:pt x="2769991" y="2610954"/>
                  <a:pt x="2636076" y="2659702"/>
                  <a:pt x="2476709" y="2644143"/>
                </a:cubicBezTo>
                <a:cubicBezTo>
                  <a:pt x="2322355" y="2629104"/>
                  <a:pt x="2171392" y="2641745"/>
                  <a:pt x="2027458" y="2701760"/>
                </a:cubicBezTo>
                <a:cubicBezTo>
                  <a:pt x="1883285" y="2761965"/>
                  <a:pt x="1807026" y="2890377"/>
                  <a:pt x="1806447" y="3051425"/>
                </a:cubicBezTo>
                <a:cubicBezTo>
                  <a:pt x="1810064" y="3048148"/>
                  <a:pt x="1813719" y="3046089"/>
                  <a:pt x="1815939" y="3042915"/>
                </a:cubicBezTo>
                <a:cubicBezTo>
                  <a:pt x="1890504" y="2939228"/>
                  <a:pt x="1995809" y="2899446"/>
                  <a:pt x="2119027" y="2896169"/>
                </a:cubicBezTo>
                <a:cubicBezTo>
                  <a:pt x="2220512" y="2893483"/>
                  <a:pt x="2321265" y="2906966"/>
                  <a:pt x="2422660" y="2907389"/>
                </a:cubicBezTo>
                <a:cubicBezTo>
                  <a:pt x="2503827" y="2907752"/>
                  <a:pt x="2584457" y="2902464"/>
                  <a:pt x="2662419" y="2877334"/>
                </a:cubicBezTo>
                <a:cubicBezTo>
                  <a:pt x="2789621" y="2836284"/>
                  <a:pt x="2868929" y="2742447"/>
                  <a:pt x="2933479" y="2631873"/>
                </a:cubicBezTo>
                <a:cubicBezTo>
                  <a:pt x="2977404" y="2556770"/>
                  <a:pt x="3013392" y="2477092"/>
                  <a:pt x="3063143" y="2405286"/>
                </a:cubicBezTo>
                <a:cubicBezTo>
                  <a:pt x="3150671" y="2278789"/>
                  <a:pt x="3277289" y="2216309"/>
                  <a:pt x="3423243" y="2184992"/>
                </a:cubicBezTo>
                <a:cubicBezTo>
                  <a:pt x="3529364" y="2162244"/>
                  <a:pt x="3637500" y="2149732"/>
                  <a:pt x="3742969" y="2123531"/>
                </a:cubicBezTo>
                <a:cubicBezTo>
                  <a:pt x="3813722" y="2105867"/>
                  <a:pt x="3882951" y="2084046"/>
                  <a:pt x="3948121" y="2050891"/>
                </a:cubicBezTo>
                <a:cubicBezTo>
                  <a:pt x="4105823" y="1970540"/>
                  <a:pt x="4196793" y="1843087"/>
                  <a:pt x="4221056" y="1667192"/>
                </a:cubicBezTo>
                <a:cubicBezTo>
                  <a:pt x="4235771" y="1560857"/>
                  <a:pt x="4237145" y="1452549"/>
                  <a:pt x="4261713" y="1347624"/>
                </a:cubicBezTo>
                <a:cubicBezTo>
                  <a:pt x="4286297" y="1242745"/>
                  <a:pt x="4331738" y="1152253"/>
                  <a:pt x="4409206" y="1085933"/>
                </a:cubicBezTo>
                <a:lnTo>
                  <a:pt x="4459352" y="1053148"/>
                </a:lnTo>
                <a:lnTo>
                  <a:pt x="4459352" y="1098248"/>
                </a:lnTo>
                <a:lnTo>
                  <a:pt x="4434527" y="1116095"/>
                </a:lnTo>
                <a:cubicBezTo>
                  <a:pt x="4386176" y="1158193"/>
                  <a:pt x="4347818" y="1215123"/>
                  <a:pt x="4322876" y="1284553"/>
                </a:cubicBezTo>
                <a:cubicBezTo>
                  <a:pt x="4294031" y="1364686"/>
                  <a:pt x="4285496" y="1447622"/>
                  <a:pt x="4277959" y="1531318"/>
                </a:cubicBezTo>
                <a:cubicBezTo>
                  <a:pt x="4270788" y="1610984"/>
                  <a:pt x="4262390" y="1690381"/>
                  <a:pt x="4240158" y="1767573"/>
                </a:cubicBezTo>
                <a:cubicBezTo>
                  <a:pt x="4190629" y="1940025"/>
                  <a:pt x="4070353" y="2045207"/>
                  <a:pt x="3910604" y="2112156"/>
                </a:cubicBezTo>
                <a:cubicBezTo>
                  <a:pt x="3777031" y="2168263"/>
                  <a:pt x="3634222" y="2186631"/>
                  <a:pt x="3493267" y="2212010"/>
                </a:cubicBezTo>
                <a:cubicBezTo>
                  <a:pt x="3417459" y="2225683"/>
                  <a:pt x="3342937" y="2243703"/>
                  <a:pt x="3272765" y="2276642"/>
                </a:cubicBezTo>
                <a:cubicBezTo>
                  <a:pt x="3163480" y="2327937"/>
                  <a:pt x="3094848" y="2418163"/>
                  <a:pt x="3039324" y="2520910"/>
                </a:cubicBezTo>
                <a:cubicBezTo>
                  <a:pt x="2999844" y="2593869"/>
                  <a:pt x="2962216" y="2667688"/>
                  <a:pt x="2913620" y="2735376"/>
                </a:cubicBezTo>
                <a:cubicBezTo>
                  <a:pt x="2823688" y="2860909"/>
                  <a:pt x="2699684" y="2925199"/>
                  <a:pt x="2548089" y="2941150"/>
                </a:cubicBezTo>
                <a:cubicBezTo>
                  <a:pt x="2442713" y="2952238"/>
                  <a:pt x="2337569" y="2944676"/>
                  <a:pt x="2232347" y="2938579"/>
                </a:cubicBezTo>
                <a:cubicBezTo>
                  <a:pt x="2199328" y="2936647"/>
                  <a:pt x="2166211" y="2935571"/>
                  <a:pt x="2133265" y="2936074"/>
                </a:cubicBezTo>
                <a:cubicBezTo>
                  <a:pt x="1946543" y="2938763"/>
                  <a:pt x="1834386" y="3022193"/>
                  <a:pt x="1783164" y="3203164"/>
                </a:cubicBezTo>
                <a:cubicBezTo>
                  <a:pt x="1750728" y="3317950"/>
                  <a:pt x="1698601" y="3420170"/>
                  <a:pt x="1617950" y="3507832"/>
                </a:cubicBezTo>
                <a:lnTo>
                  <a:pt x="1525477" y="3589635"/>
                </a:lnTo>
                <a:lnTo>
                  <a:pt x="1508459" y="3584352"/>
                </a:lnTo>
                <a:lnTo>
                  <a:pt x="1480389" y="3569116"/>
                </a:lnTo>
                <a:lnTo>
                  <a:pt x="1578031" y="3491564"/>
                </a:lnTo>
                <a:cubicBezTo>
                  <a:pt x="1674435" y="3396301"/>
                  <a:pt x="1732165" y="3276043"/>
                  <a:pt x="1753078" y="3132661"/>
                </a:cubicBezTo>
                <a:cubicBezTo>
                  <a:pt x="1758899" y="3093189"/>
                  <a:pt x="1762027" y="3053370"/>
                  <a:pt x="1766744" y="3013686"/>
                </a:cubicBezTo>
                <a:cubicBezTo>
                  <a:pt x="1790341" y="2813622"/>
                  <a:pt x="1894745" y="2691188"/>
                  <a:pt x="2089450" y="2637872"/>
                </a:cubicBezTo>
                <a:cubicBezTo>
                  <a:pt x="2216053" y="2603298"/>
                  <a:pt x="2344960" y="2590648"/>
                  <a:pt x="2475843" y="2605176"/>
                </a:cubicBezTo>
                <a:cubicBezTo>
                  <a:pt x="2616139" y="2620758"/>
                  <a:pt x="2735008" y="2580202"/>
                  <a:pt x="2826691" y="2470336"/>
                </a:cubicBezTo>
                <a:cubicBezTo>
                  <a:pt x="2886085" y="2399094"/>
                  <a:pt x="2908120" y="2313255"/>
                  <a:pt x="2918336" y="2223445"/>
                </a:cubicBezTo>
                <a:cubicBezTo>
                  <a:pt x="2927439" y="2143173"/>
                  <a:pt x="2931282" y="2062269"/>
                  <a:pt x="2952555" y="1983581"/>
                </a:cubicBezTo>
                <a:cubicBezTo>
                  <a:pt x="2994388" y="1828726"/>
                  <a:pt x="3093691" y="1749398"/>
                  <a:pt x="3253947" y="1743912"/>
                </a:cubicBezTo>
                <a:cubicBezTo>
                  <a:pt x="3303244" y="1742124"/>
                  <a:pt x="3352442" y="1745092"/>
                  <a:pt x="3401006" y="1751371"/>
                </a:cubicBezTo>
                <a:cubicBezTo>
                  <a:pt x="3691294" y="1788827"/>
                  <a:pt x="3885448" y="1654372"/>
                  <a:pt x="4018940" y="1409148"/>
                </a:cubicBezTo>
                <a:cubicBezTo>
                  <a:pt x="4078294" y="1300070"/>
                  <a:pt x="4103248" y="1181670"/>
                  <a:pt x="4118905" y="1060014"/>
                </a:cubicBezTo>
                <a:cubicBezTo>
                  <a:pt x="4130385" y="969745"/>
                  <a:pt x="4154275" y="882812"/>
                  <a:pt x="4211230" y="809388"/>
                </a:cubicBezTo>
                <a:cubicBezTo>
                  <a:pt x="4272597" y="730319"/>
                  <a:pt x="4349772" y="685661"/>
                  <a:pt x="4440036" y="671437"/>
                </a:cubicBezTo>
                <a:close/>
                <a:moveTo>
                  <a:pt x="4459352" y="526157"/>
                </a:moveTo>
                <a:lnTo>
                  <a:pt x="4459352" y="566143"/>
                </a:lnTo>
                <a:lnTo>
                  <a:pt x="4444335" y="568113"/>
                </a:lnTo>
                <a:cubicBezTo>
                  <a:pt x="4384718" y="577280"/>
                  <a:pt x="4325186" y="587234"/>
                  <a:pt x="4267101" y="604760"/>
                </a:cubicBezTo>
                <a:cubicBezTo>
                  <a:pt x="4079926" y="661261"/>
                  <a:pt x="3988891" y="778481"/>
                  <a:pt x="3980784" y="974909"/>
                </a:cubicBezTo>
                <a:cubicBezTo>
                  <a:pt x="3978208" y="1037192"/>
                  <a:pt x="3981005" y="1099864"/>
                  <a:pt x="3967932" y="1161488"/>
                </a:cubicBezTo>
                <a:cubicBezTo>
                  <a:pt x="3919364" y="1390208"/>
                  <a:pt x="3769090" y="1527120"/>
                  <a:pt x="3531789" y="1553811"/>
                </a:cubicBezTo>
                <a:cubicBezTo>
                  <a:pt x="3436209" y="1564484"/>
                  <a:pt x="3339859" y="1567746"/>
                  <a:pt x="3243942" y="1575260"/>
                </a:cubicBezTo>
                <a:cubicBezTo>
                  <a:pt x="3193920" y="1579262"/>
                  <a:pt x="3144387" y="1587392"/>
                  <a:pt x="3095373" y="1598615"/>
                </a:cubicBezTo>
                <a:cubicBezTo>
                  <a:pt x="2951053" y="1631589"/>
                  <a:pt x="2865942" y="1724990"/>
                  <a:pt x="2823227" y="1862629"/>
                </a:cubicBezTo>
                <a:cubicBezTo>
                  <a:pt x="2788016" y="1976282"/>
                  <a:pt x="2772373" y="2094342"/>
                  <a:pt x="2742135" y="2209245"/>
                </a:cubicBezTo>
                <a:cubicBezTo>
                  <a:pt x="2715001" y="2311931"/>
                  <a:pt x="2666366" y="2396560"/>
                  <a:pt x="2565829" y="2442902"/>
                </a:cubicBezTo>
                <a:cubicBezTo>
                  <a:pt x="2538358" y="2461396"/>
                  <a:pt x="2507835" y="2471575"/>
                  <a:pt x="2475245" y="2475844"/>
                </a:cubicBezTo>
                <a:cubicBezTo>
                  <a:pt x="2394793" y="2499222"/>
                  <a:pt x="2312988" y="2499915"/>
                  <a:pt x="2230682" y="2490021"/>
                </a:cubicBezTo>
                <a:cubicBezTo>
                  <a:pt x="2182413" y="2491532"/>
                  <a:pt x="2134868" y="2482726"/>
                  <a:pt x="2086889" y="2479720"/>
                </a:cubicBezTo>
                <a:cubicBezTo>
                  <a:pt x="2046964" y="2477144"/>
                  <a:pt x="2007201" y="2475840"/>
                  <a:pt x="1967204" y="2478932"/>
                </a:cubicBezTo>
                <a:cubicBezTo>
                  <a:pt x="1803753" y="2491646"/>
                  <a:pt x="1698875" y="2580096"/>
                  <a:pt x="1656430" y="2738869"/>
                </a:cubicBezTo>
                <a:cubicBezTo>
                  <a:pt x="1634572" y="2820438"/>
                  <a:pt x="1624706" y="2903656"/>
                  <a:pt x="1615268" y="2986923"/>
                </a:cubicBezTo>
                <a:cubicBezTo>
                  <a:pt x="1594541" y="3171471"/>
                  <a:pt x="1519662" y="3298004"/>
                  <a:pt x="1400605" y="3379566"/>
                </a:cubicBezTo>
                <a:lnTo>
                  <a:pt x="1347315" y="3409908"/>
                </a:lnTo>
                <a:lnTo>
                  <a:pt x="1336313" y="3374466"/>
                </a:lnTo>
                <a:lnTo>
                  <a:pt x="1336060" y="3371956"/>
                </a:lnTo>
                <a:lnTo>
                  <a:pt x="1344201" y="3368168"/>
                </a:lnTo>
                <a:cubicBezTo>
                  <a:pt x="1398007" y="3337237"/>
                  <a:pt x="1445905" y="3296499"/>
                  <a:pt x="1485739" y="3242387"/>
                </a:cubicBezTo>
                <a:cubicBezTo>
                  <a:pt x="1538486" y="3170917"/>
                  <a:pt x="1558900" y="3087930"/>
                  <a:pt x="1571309" y="3002135"/>
                </a:cubicBezTo>
                <a:cubicBezTo>
                  <a:pt x="1584992" y="2908079"/>
                  <a:pt x="1593170" y="2813275"/>
                  <a:pt x="1619529" y="2721336"/>
                </a:cubicBezTo>
                <a:cubicBezTo>
                  <a:pt x="1668446" y="2550852"/>
                  <a:pt x="1785299" y="2453388"/>
                  <a:pt x="1962020" y="2440217"/>
                </a:cubicBezTo>
                <a:cubicBezTo>
                  <a:pt x="2062930" y="2432613"/>
                  <a:pt x="2162930" y="2447398"/>
                  <a:pt x="2263144" y="2457180"/>
                </a:cubicBezTo>
                <a:cubicBezTo>
                  <a:pt x="2267852" y="2457709"/>
                  <a:pt x="2272826" y="2457010"/>
                  <a:pt x="2277696" y="2456864"/>
                </a:cubicBezTo>
                <a:cubicBezTo>
                  <a:pt x="2336903" y="2456365"/>
                  <a:pt x="2396045" y="2453733"/>
                  <a:pt x="2454672" y="2444110"/>
                </a:cubicBezTo>
                <a:cubicBezTo>
                  <a:pt x="2500409" y="2429270"/>
                  <a:pt x="2546032" y="2414678"/>
                  <a:pt x="2586002" y="2386364"/>
                </a:cubicBezTo>
                <a:cubicBezTo>
                  <a:pt x="2654015" y="2338318"/>
                  <a:pt x="2685493" y="2268708"/>
                  <a:pt x="2703446" y="2191033"/>
                </a:cubicBezTo>
                <a:cubicBezTo>
                  <a:pt x="2726401" y="2091215"/>
                  <a:pt x="2746597" y="1990870"/>
                  <a:pt x="2771642" y="1891719"/>
                </a:cubicBezTo>
                <a:cubicBezTo>
                  <a:pt x="2799298" y="1782072"/>
                  <a:pt x="2846656" y="1683348"/>
                  <a:pt x="2945352" y="1618295"/>
                </a:cubicBezTo>
                <a:cubicBezTo>
                  <a:pt x="3013761" y="1573284"/>
                  <a:pt x="3091126" y="1554631"/>
                  <a:pt x="3170708" y="1542856"/>
                </a:cubicBezTo>
                <a:cubicBezTo>
                  <a:pt x="3278315" y="1526947"/>
                  <a:pt x="3387348" y="1528056"/>
                  <a:pt x="3495318" y="1518169"/>
                </a:cubicBezTo>
                <a:cubicBezTo>
                  <a:pt x="3576493" y="1510732"/>
                  <a:pt x="3656364" y="1496390"/>
                  <a:pt x="3726694" y="1452418"/>
                </a:cubicBezTo>
                <a:cubicBezTo>
                  <a:pt x="3868187" y="1363964"/>
                  <a:pt x="3929160" y="1229674"/>
                  <a:pt x="3937218" y="1068035"/>
                </a:cubicBezTo>
                <a:cubicBezTo>
                  <a:pt x="3940852" y="994387"/>
                  <a:pt x="3938818" y="920668"/>
                  <a:pt x="3958649" y="848662"/>
                </a:cubicBezTo>
                <a:cubicBezTo>
                  <a:pt x="3999856" y="699370"/>
                  <a:pt x="4100490" y="611658"/>
                  <a:pt x="4245670" y="568725"/>
                </a:cubicBezTo>
                <a:cubicBezTo>
                  <a:pt x="4300444" y="552516"/>
                  <a:pt x="4356101" y="541369"/>
                  <a:pt x="4412153" y="532487"/>
                </a:cubicBezTo>
                <a:close/>
                <a:moveTo>
                  <a:pt x="4337637" y="187231"/>
                </a:moveTo>
                <a:lnTo>
                  <a:pt x="4459352" y="190782"/>
                </a:lnTo>
                <a:lnTo>
                  <a:pt x="4459352" y="231557"/>
                </a:lnTo>
                <a:lnTo>
                  <a:pt x="4333061" y="226975"/>
                </a:lnTo>
                <a:cubicBezTo>
                  <a:pt x="4125284" y="226520"/>
                  <a:pt x="3994044" y="329777"/>
                  <a:pt x="3922408" y="520807"/>
                </a:cubicBezTo>
                <a:cubicBezTo>
                  <a:pt x="3873442" y="651204"/>
                  <a:pt x="3832180" y="784408"/>
                  <a:pt x="3777237" y="912485"/>
                </a:cubicBezTo>
                <a:cubicBezTo>
                  <a:pt x="3749797" y="976613"/>
                  <a:pt x="3719697" y="1039359"/>
                  <a:pt x="3679188" y="1096386"/>
                </a:cubicBezTo>
                <a:cubicBezTo>
                  <a:pt x="3604011" y="1202039"/>
                  <a:pt x="3498595" y="1256327"/>
                  <a:pt x="3372902" y="1276618"/>
                </a:cubicBezTo>
                <a:cubicBezTo>
                  <a:pt x="3285833" y="1290628"/>
                  <a:pt x="3197567" y="1293282"/>
                  <a:pt x="3110131" y="1303222"/>
                </a:cubicBezTo>
                <a:cubicBezTo>
                  <a:pt x="3044858" y="1310667"/>
                  <a:pt x="2980134" y="1320168"/>
                  <a:pt x="2918266" y="1343596"/>
                </a:cubicBezTo>
                <a:cubicBezTo>
                  <a:pt x="2843990" y="1371784"/>
                  <a:pt x="2789756" y="1422157"/>
                  <a:pt x="2752733" y="1491752"/>
                </a:cubicBezTo>
                <a:cubicBezTo>
                  <a:pt x="2697942" y="1594539"/>
                  <a:pt x="2665891" y="1705902"/>
                  <a:pt x="2629344" y="1815634"/>
                </a:cubicBezTo>
                <a:cubicBezTo>
                  <a:pt x="2601854" y="1898347"/>
                  <a:pt x="2572938" y="1980250"/>
                  <a:pt x="2532872" y="2058039"/>
                </a:cubicBezTo>
                <a:cubicBezTo>
                  <a:pt x="2450841" y="2217393"/>
                  <a:pt x="2319005" y="2300867"/>
                  <a:pt x="2142405" y="2317997"/>
                </a:cubicBezTo>
                <a:cubicBezTo>
                  <a:pt x="2065738" y="2325419"/>
                  <a:pt x="1988872" y="2324195"/>
                  <a:pt x="1912283" y="2322051"/>
                </a:cubicBezTo>
                <a:cubicBezTo>
                  <a:pt x="1717942" y="2316561"/>
                  <a:pt x="1583823" y="2409181"/>
                  <a:pt x="1491656" y="2573896"/>
                </a:cubicBezTo>
                <a:cubicBezTo>
                  <a:pt x="1444535" y="2658175"/>
                  <a:pt x="1415088" y="2746734"/>
                  <a:pt x="1406185" y="2843754"/>
                </a:cubicBezTo>
                <a:cubicBezTo>
                  <a:pt x="1402430" y="2884521"/>
                  <a:pt x="1392686" y="2922037"/>
                  <a:pt x="1377585" y="2955789"/>
                </a:cubicBezTo>
                <a:lnTo>
                  <a:pt x="1330389" y="3025291"/>
                </a:lnTo>
                <a:lnTo>
                  <a:pt x="1330389" y="2958101"/>
                </a:lnTo>
                <a:lnTo>
                  <a:pt x="1350712" y="2922137"/>
                </a:lnTo>
                <a:cubicBezTo>
                  <a:pt x="1360723" y="2894933"/>
                  <a:pt x="1366912" y="2864813"/>
                  <a:pt x="1369022" y="2831650"/>
                </a:cubicBezTo>
                <a:cubicBezTo>
                  <a:pt x="1378916" y="2676415"/>
                  <a:pt x="1445332" y="2546898"/>
                  <a:pt x="1545333" y="2432028"/>
                </a:cubicBezTo>
                <a:cubicBezTo>
                  <a:pt x="1625544" y="2339811"/>
                  <a:pt x="1728336" y="2293461"/>
                  <a:pt x="1849724" y="2286035"/>
                </a:cubicBezTo>
                <a:cubicBezTo>
                  <a:pt x="1910114" y="2282330"/>
                  <a:pt x="1970439" y="2284600"/>
                  <a:pt x="2030854" y="2283758"/>
                </a:cubicBezTo>
                <a:cubicBezTo>
                  <a:pt x="2065569" y="2283323"/>
                  <a:pt x="2100429" y="2281605"/>
                  <a:pt x="2135138" y="2278916"/>
                </a:cubicBezTo>
                <a:cubicBezTo>
                  <a:pt x="2310565" y="2265296"/>
                  <a:pt x="2432754" y="2175106"/>
                  <a:pt x="2508343" y="2018321"/>
                </a:cubicBezTo>
                <a:cubicBezTo>
                  <a:pt x="2551581" y="1928494"/>
                  <a:pt x="2579666" y="1833152"/>
                  <a:pt x="2611260" y="1738983"/>
                </a:cubicBezTo>
                <a:cubicBezTo>
                  <a:pt x="2634414" y="1670170"/>
                  <a:pt x="2658616" y="1601692"/>
                  <a:pt x="2685582" y="1534044"/>
                </a:cubicBezTo>
                <a:cubicBezTo>
                  <a:pt x="2745470" y="1383945"/>
                  <a:pt x="2856067" y="1301293"/>
                  <a:pt x="3013721" y="1276144"/>
                </a:cubicBezTo>
                <a:cubicBezTo>
                  <a:pt x="3103827" y="1261736"/>
                  <a:pt x="3194947" y="1256804"/>
                  <a:pt x="3285512" y="1247563"/>
                </a:cubicBezTo>
                <a:cubicBezTo>
                  <a:pt x="3317035" y="1244299"/>
                  <a:pt x="3348513" y="1239515"/>
                  <a:pt x="3379801" y="1234492"/>
                </a:cubicBezTo>
                <a:cubicBezTo>
                  <a:pt x="3518164" y="1212114"/>
                  <a:pt x="3616741" y="1135003"/>
                  <a:pt x="3683709" y="1013694"/>
                </a:cubicBezTo>
                <a:cubicBezTo>
                  <a:pt x="3748360" y="896415"/>
                  <a:pt x="3788467" y="769272"/>
                  <a:pt x="3833687" y="644051"/>
                </a:cubicBezTo>
                <a:cubicBezTo>
                  <a:pt x="3868382" y="547718"/>
                  <a:pt x="3900058" y="450132"/>
                  <a:pt x="3958774" y="364469"/>
                </a:cubicBezTo>
                <a:cubicBezTo>
                  <a:pt x="4013110" y="285032"/>
                  <a:pt x="4086918" y="233222"/>
                  <a:pt x="4179574" y="208442"/>
                </a:cubicBezTo>
                <a:cubicBezTo>
                  <a:pt x="4231853" y="194379"/>
                  <a:pt x="4284627" y="188650"/>
                  <a:pt x="4337637" y="187231"/>
                </a:cubicBezTo>
                <a:close/>
                <a:moveTo>
                  <a:pt x="4459352" y="0"/>
                </a:moveTo>
                <a:lnTo>
                  <a:pt x="4459352" y="41723"/>
                </a:lnTo>
                <a:lnTo>
                  <a:pt x="4403847" y="54312"/>
                </a:lnTo>
                <a:cubicBezTo>
                  <a:pt x="4302029" y="72301"/>
                  <a:pt x="4199693" y="87196"/>
                  <a:pt x="4097960" y="105974"/>
                </a:cubicBezTo>
                <a:cubicBezTo>
                  <a:pt x="3978781" y="128079"/>
                  <a:pt x="3872508" y="174168"/>
                  <a:pt x="3800709" y="278683"/>
                </a:cubicBezTo>
                <a:cubicBezTo>
                  <a:pt x="3757627" y="341272"/>
                  <a:pt x="3733851" y="411747"/>
                  <a:pt x="3715636" y="484798"/>
                </a:cubicBezTo>
                <a:cubicBezTo>
                  <a:pt x="3690991" y="583085"/>
                  <a:pt x="3679402" y="683963"/>
                  <a:pt x="3653350" y="782047"/>
                </a:cubicBezTo>
                <a:cubicBezTo>
                  <a:pt x="3605800" y="961567"/>
                  <a:pt x="3484775" y="1064150"/>
                  <a:pt x="3313687" y="1116696"/>
                </a:cubicBezTo>
                <a:cubicBezTo>
                  <a:pt x="3202245" y="1150937"/>
                  <a:pt x="3086184" y="1157228"/>
                  <a:pt x="2971296" y="1170065"/>
                </a:cubicBezTo>
                <a:cubicBezTo>
                  <a:pt x="2927453" y="1174978"/>
                  <a:pt x="2884104" y="1182069"/>
                  <a:pt x="2840791" y="1190377"/>
                </a:cubicBezTo>
                <a:cubicBezTo>
                  <a:pt x="2700130" y="1217394"/>
                  <a:pt x="2608812" y="1300867"/>
                  <a:pt x="2560281" y="1433564"/>
                </a:cubicBezTo>
                <a:cubicBezTo>
                  <a:pt x="2535739" y="1500834"/>
                  <a:pt x="2512680" y="1568791"/>
                  <a:pt x="2488632" y="1636291"/>
                </a:cubicBezTo>
                <a:cubicBezTo>
                  <a:pt x="2470101" y="1688636"/>
                  <a:pt x="2447670" y="1739027"/>
                  <a:pt x="2417704" y="1785928"/>
                </a:cubicBezTo>
                <a:cubicBezTo>
                  <a:pt x="2352537" y="1888112"/>
                  <a:pt x="2258669" y="1939493"/>
                  <a:pt x="2138664" y="1944259"/>
                </a:cubicBezTo>
                <a:cubicBezTo>
                  <a:pt x="2081033" y="1946539"/>
                  <a:pt x="2024838" y="1935678"/>
                  <a:pt x="1968143" y="1926538"/>
                </a:cubicBezTo>
                <a:cubicBezTo>
                  <a:pt x="1794639" y="1898730"/>
                  <a:pt x="1634721" y="1923583"/>
                  <a:pt x="1510449" y="2062030"/>
                </a:cubicBezTo>
                <a:cubicBezTo>
                  <a:pt x="1467003" y="2110494"/>
                  <a:pt x="1442326" y="2171249"/>
                  <a:pt x="1416196" y="2230282"/>
                </a:cubicBezTo>
                <a:cubicBezTo>
                  <a:pt x="1401276" y="2263966"/>
                  <a:pt x="1386974" y="2297936"/>
                  <a:pt x="1371668" y="2331442"/>
                </a:cubicBezTo>
                <a:lnTo>
                  <a:pt x="1330389" y="2411767"/>
                </a:lnTo>
                <a:lnTo>
                  <a:pt x="1330389" y="2319304"/>
                </a:lnTo>
                <a:lnTo>
                  <a:pt x="1404269" y="2157831"/>
                </a:lnTo>
                <a:cubicBezTo>
                  <a:pt x="1435507" y="2090360"/>
                  <a:pt x="1473560" y="2026643"/>
                  <a:pt x="1534103" y="1981443"/>
                </a:cubicBezTo>
                <a:cubicBezTo>
                  <a:pt x="1671753" y="1878603"/>
                  <a:pt x="1826702" y="1856702"/>
                  <a:pt x="1991868" y="1890852"/>
                </a:cubicBezTo>
                <a:cubicBezTo>
                  <a:pt x="2035151" y="1899787"/>
                  <a:pt x="2078344" y="1905678"/>
                  <a:pt x="2122750" y="1905378"/>
                </a:cubicBezTo>
                <a:cubicBezTo>
                  <a:pt x="2255544" y="1904432"/>
                  <a:pt x="2347315" y="1840075"/>
                  <a:pt x="2406904" y="1724655"/>
                </a:cubicBezTo>
                <a:cubicBezTo>
                  <a:pt x="2445656" y="1649706"/>
                  <a:pt x="2467883" y="1568311"/>
                  <a:pt x="2495665" y="1489183"/>
                </a:cubicBezTo>
                <a:cubicBezTo>
                  <a:pt x="2517107" y="1428281"/>
                  <a:pt x="2540585" y="1368172"/>
                  <a:pt x="2576173" y="1313669"/>
                </a:cubicBezTo>
                <a:cubicBezTo>
                  <a:pt x="2641347" y="1213738"/>
                  <a:pt x="2739857" y="1168858"/>
                  <a:pt x="2852302" y="1147687"/>
                </a:cubicBezTo>
                <a:cubicBezTo>
                  <a:pt x="2946995" y="1129853"/>
                  <a:pt x="3043556" y="1125488"/>
                  <a:pt x="3138814" y="1112265"/>
                </a:cubicBezTo>
                <a:cubicBezTo>
                  <a:pt x="3199609" y="1103797"/>
                  <a:pt x="3259968" y="1093026"/>
                  <a:pt x="3318731" y="1073712"/>
                </a:cubicBezTo>
                <a:cubicBezTo>
                  <a:pt x="3484639" y="1019069"/>
                  <a:pt x="3587288" y="909178"/>
                  <a:pt x="3623520" y="736273"/>
                </a:cubicBezTo>
                <a:cubicBezTo>
                  <a:pt x="3645098" y="633267"/>
                  <a:pt x="3660421" y="528864"/>
                  <a:pt x="3689046" y="427170"/>
                </a:cubicBezTo>
                <a:cubicBezTo>
                  <a:pt x="3742829" y="236130"/>
                  <a:pt x="3862429" y="116528"/>
                  <a:pt x="4058309" y="73960"/>
                </a:cubicBezTo>
                <a:cubicBezTo>
                  <a:pt x="4159645" y="52149"/>
                  <a:pt x="4262586" y="41133"/>
                  <a:pt x="4364186" y="21995"/>
                </a:cubicBezTo>
                <a:cubicBezTo>
                  <a:pt x="4380786" y="18876"/>
                  <a:pt x="4397626" y="16131"/>
                  <a:pt x="4414216" y="12669"/>
                </a:cubicBez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FFFFFF"/>
              </a:solidFill>
              <a:latin typeface="Calibri"/>
              <a:ea typeface="Calibri"/>
              <a:cs typeface="Calibri"/>
              <a:sym typeface="Calibri"/>
            </a:endParaRPr>
          </a:p>
        </p:txBody>
      </p:sp>
      <p:sp>
        <p:nvSpPr>
          <p:cNvPr id="170" name="Google Shape;170;p18"/>
          <p:cNvSpPr/>
          <p:nvPr/>
        </p:nvSpPr>
        <p:spPr>
          <a:xfrm flipH="1">
            <a:off x="-5172" y="1875125"/>
            <a:ext cx="2084747" cy="1399072"/>
          </a:xfrm>
          <a:custGeom>
            <a:avLst/>
            <a:gdLst/>
            <a:ahLst/>
            <a:cxnLst/>
            <a:rect l="l" t="t" r="r" b="b"/>
            <a:pathLst>
              <a:path w="4459352" h="3633953" extrusionOk="0">
                <a:moveTo>
                  <a:pt x="4395541" y="3495709"/>
                </a:moveTo>
                <a:lnTo>
                  <a:pt x="4373957" y="3521869"/>
                </a:lnTo>
                <a:lnTo>
                  <a:pt x="4342589" y="3547750"/>
                </a:lnTo>
                <a:lnTo>
                  <a:pt x="4302494" y="3546124"/>
                </a:lnTo>
                <a:cubicBezTo>
                  <a:pt x="4276369" y="3548995"/>
                  <a:pt x="4252210" y="3555850"/>
                  <a:pt x="4229834" y="3566602"/>
                </a:cubicBezTo>
                <a:lnTo>
                  <a:pt x="4173156" y="3606724"/>
                </a:lnTo>
                <a:lnTo>
                  <a:pt x="4167795" y="3607264"/>
                </a:lnTo>
                <a:lnTo>
                  <a:pt x="4104815" y="3607264"/>
                </a:lnTo>
                <a:lnTo>
                  <a:pt x="4108284" y="3602053"/>
                </a:lnTo>
                <a:cubicBezTo>
                  <a:pt x="4141467" y="3562062"/>
                  <a:pt x="4183660" y="3530163"/>
                  <a:pt x="4239555" y="3510722"/>
                </a:cubicBezTo>
                <a:cubicBezTo>
                  <a:pt x="4285018" y="3494854"/>
                  <a:pt x="4332466" y="3496413"/>
                  <a:pt x="4379449" y="3496706"/>
                </a:cubicBezTo>
                <a:close/>
                <a:moveTo>
                  <a:pt x="1093783" y="3448548"/>
                </a:moveTo>
                <a:lnTo>
                  <a:pt x="1078538" y="3476636"/>
                </a:lnTo>
                <a:lnTo>
                  <a:pt x="1066943" y="3490690"/>
                </a:lnTo>
                <a:lnTo>
                  <a:pt x="1007696" y="3498768"/>
                </a:lnTo>
                <a:cubicBezTo>
                  <a:pt x="963140" y="3501943"/>
                  <a:pt x="918474" y="3501748"/>
                  <a:pt x="873997" y="3496687"/>
                </a:cubicBezTo>
                <a:cubicBezTo>
                  <a:pt x="762206" y="3483872"/>
                  <a:pt x="681938" y="3519837"/>
                  <a:pt x="620637" y="3591362"/>
                </a:cubicBezTo>
                <a:lnTo>
                  <a:pt x="592149" y="3633953"/>
                </a:lnTo>
                <a:lnTo>
                  <a:pt x="546325" y="3633953"/>
                </a:lnTo>
                <a:lnTo>
                  <a:pt x="576838" y="3583303"/>
                </a:lnTo>
                <a:cubicBezTo>
                  <a:pt x="638051" y="3495494"/>
                  <a:pt x="721389" y="3452593"/>
                  <a:pt x="828353" y="3457848"/>
                </a:cubicBezTo>
                <a:cubicBezTo>
                  <a:pt x="913790" y="3461951"/>
                  <a:pt x="998894" y="3461848"/>
                  <a:pt x="1083198" y="3450486"/>
                </a:cubicBezTo>
                <a:close/>
                <a:moveTo>
                  <a:pt x="4457812" y="3330986"/>
                </a:moveTo>
                <a:lnTo>
                  <a:pt x="4453847" y="3370314"/>
                </a:lnTo>
                <a:lnTo>
                  <a:pt x="4440113" y="3371635"/>
                </a:lnTo>
                <a:cubicBezTo>
                  <a:pt x="4392626" y="3373116"/>
                  <a:pt x="4345035" y="3372353"/>
                  <a:pt x="4297405" y="3371836"/>
                </a:cubicBezTo>
                <a:cubicBezTo>
                  <a:pt x="4248223" y="3371425"/>
                  <a:pt x="4199015" y="3370102"/>
                  <a:pt x="4150087" y="3374010"/>
                </a:cubicBezTo>
                <a:cubicBezTo>
                  <a:pt x="4010911" y="3385094"/>
                  <a:pt x="3912961" y="3447340"/>
                  <a:pt x="3860158" y="3555283"/>
                </a:cubicBezTo>
                <a:lnTo>
                  <a:pt x="3839798" y="3607264"/>
                </a:lnTo>
                <a:lnTo>
                  <a:pt x="3799401" y="3607264"/>
                </a:lnTo>
                <a:lnTo>
                  <a:pt x="3802752" y="3593310"/>
                </a:lnTo>
                <a:cubicBezTo>
                  <a:pt x="3851470" y="3446595"/>
                  <a:pt x="3953651" y="3363648"/>
                  <a:pt x="4105197" y="3340022"/>
                </a:cubicBezTo>
                <a:cubicBezTo>
                  <a:pt x="4184581" y="3327704"/>
                  <a:pt x="4264590" y="3332183"/>
                  <a:pt x="4344377" y="3333257"/>
                </a:cubicBezTo>
                <a:close/>
                <a:moveTo>
                  <a:pt x="1139476" y="3098377"/>
                </a:moveTo>
                <a:lnTo>
                  <a:pt x="1139476" y="3138273"/>
                </a:lnTo>
                <a:lnTo>
                  <a:pt x="1114052" y="3144135"/>
                </a:lnTo>
                <a:cubicBezTo>
                  <a:pt x="1042678" y="3155359"/>
                  <a:pt x="971103" y="3151783"/>
                  <a:pt x="899557" y="3147171"/>
                </a:cubicBezTo>
                <a:cubicBezTo>
                  <a:pt x="846386" y="3143713"/>
                  <a:pt x="793423" y="3141101"/>
                  <a:pt x="740090" y="3144471"/>
                </a:cubicBezTo>
                <a:cubicBezTo>
                  <a:pt x="610627" y="3152811"/>
                  <a:pt x="525858" y="3223110"/>
                  <a:pt x="491761" y="3343431"/>
                </a:cubicBezTo>
                <a:cubicBezTo>
                  <a:pt x="475002" y="3402562"/>
                  <a:pt x="453318" y="3458007"/>
                  <a:pt x="427307" y="3510264"/>
                </a:cubicBezTo>
                <a:lnTo>
                  <a:pt x="351591" y="3633953"/>
                </a:lnTo>
                <a:lnTo>
                  <a:pt x="304596" y="3633953"/>
                </a:lnTo>
                <a:lnTo>
                  <a:pt x="306678" y="3631416"/>
                </a:lnTo>
                <a:cubicBezTo>
                  <a:pt x="353740" y="3567163"/>
                  <a:pt x="393245" y="3497554"/>
                  <a:pt x="422867" y="3420930"/>
                </a:cubicBezTo>
                <a:cubicBezTo>
                  <a:pt x="436548" y="3385547"/>
                  <a:pt x="445856" y="3348589"/>
                  <a:pt x="459478" y="3313329"/>
                </a:cubicBezTo>
                <a:cubicBezTo>
                  <a:pt x="509440" y="3183697"/>
                  <a:pt x="602846" y="3112893"/>
                  <a:pt x="742867" y="3105090"/>
                </a:cubicBezTo>
                <a:cubicBezTo>
                  <a:pt x="819873" y="3100826"/>
                  <a:pt x="896265" y="3108582"/>
                  <a:pt x="972948" y="3111820"/>
                </a:cubicBezTo>
                <a:cubicBezTo>
                  <a:pt x="1021494" y="3113925"/>
                  <a:pt x="1070075" y="3113767"/>
                  <a:pt x="1117427" y="3104367"/>
                </a:cubicBezTo>
                <a:close/>
                <a:moveTo>
                  <a:pt x="4459352" y="2833848"/>
                </a:moveTo>
                <a:lnTo>
                  <a:pt x="4459352" y="2880420"/>
                </a:lnTo>
                <a:lnTo>
                  <a:pt x="4452128" y="2884611"/>
                </a:lnTo>
                <a:cubicBezTo>
                  <a:pt x="4420367" y="2898744"/>
                  <a:pt x="4386378" y="2909906"/>
                  <a:pt x="4350177" y="2918168"/>
                </a:cubicBezTo>
                <a:cubicBezTo>
                  <a:pt x="4279073" y="2934319"/>
                  <a:pt x="4206639" y="2940701"/>
                  <a:pt x="4134441" y="2948843"/>
                </a:cubicBezTo>
                <a:cubicBezTo>
                  <a:pt x="4088593" y="2953877"/>
                  <a:pt x="4042951" y="2959758"/>
                  <a:pt x="3997791" y="2969462"/>
                </a:cubicBezTo>
                <a:cubicBezTo>
                  <a:pt x="3819520" y="3008026"/>
                  <a:pt x="3721588" y="3110648"/>
                  <a:pt x="3692565" y="3290342"/>
                </a:cubicBezTo>
                <a:cubicBezTo>
                  <a:pt x="3675779" y="3394668"/>
                  <a:pt x="3670109" y="3499936"/>
                  <a:pt x="3670051" y="3605404"/>
                </a:cubicBezTo>
                <a:lnTo>
                  <a:pt x="3669966" y="3607264"/>
                </a:lnTo>
                <a:lnTo>
                  <a:pt x="3602029" y="3607264"/>
                </a:lnTo>
                <a:lnTo>
                  <a:pt x="3606586" y="3596261"/>
                </a:lnTo>
                <a:cubicBezTo>
                  <a:pt x="3621952" y="3550168"/>
                  <a:pt x="3631499" y="3500031"/>
                  <a:pt x="3635030" y="3445730"/>
                </a:cubicBezTo>
                <a:cubicBezTo>
                  <a:pt x="3640194" y="3366188"/>
                  <a:pt x="3647250" y="3286770"/>
                  <a:pt x="3670397" y="3209549"/>
                </a:cubicBezTo>
                <a:cubicBezTo>
                  <a:pt x="3710835" y="3075207"/>
                  <a:pt x="3798221" y="2988561"/>
                  <a:pt x="3931185" y="2946728"/>
                </a:cubicBezTo>
                <a:cubicBezTo>
                  <a:pt x="4004999" y="2923427"/>
                  <a:pt x="4081410" y="2915586"/>
                  <a:pt x="4157736" y="2906955"/>
                </a:cubicBezTo>
                <a:cubicBezTo>
                  <a:pt x="4207523" y="2901193"/>
                  <a:pt x="4257292" y="2894823"/>
                  <a:pt x="4306833" y="2886997"/>
                </a:cubicBezTo>
                <a:cubicBezTo>
                  <a:pt x="4347598" y="2880547"/>
                  <a:pt x="4385418" y="2870145"/>
                  <a:pt x="4420361" y="2855870"/>
                </a:cubicBezTo>
                <a:close/>
                <a:moveTo>
                  <a:pt x="1139476" y="2538294"/>
                </a:moveTo>
                <a:lnTo>
                  <a:pt x="1139476" y="2582280"/>
                </a:lnTo>
                <a:lnTo>
                  <a:pt x="1135743" y="2584073"/>
                </a:lnTo>
                <a:cubicBezTo>
                  <a:pt x="1109843" y="2592976"/>
                  <a:pt x="1082195" y="2599215"/>
                  <a:pt x="1052816" y="2602870"/>
                </a:cubicBezTo>
                <a:cubicBezTo>
                  <a:pt x="961098" y="2614279"/>
                  <a:pt x="868798" y="2610412"/>
                  <a:pt x="776794" y="2614337"/>
                </a:cubicBezTo>
                <a:cubicBezTo>
                  <a:pt x="712050" y="2617074"/>
                  <a:pt x="648175" y="2624418"/>
                  <a:pt x="585564" y="2641348"/>
                </a:cubicBezTo>
                <a:cubicBezTo>
                  <a:pt x="424320" y="2684946"/>
                  <a:pt x="334198" y="2794035"/>
                  <a:pt x="322503" y="2960291"/>
                </a:cubicBezTo>
                <a:cubicBezTo>
                  <a:pt x="318313" y="3019576"/>
                  <a:pt x="320164" y="3079108"/>
                  <a:pt x="311639" y="3138038"/>
                </a:cubicBezTo>
                <a:cubicBezTo>
                  <a:pt x="287031" y="3308521"/>
                  <a:pt x="223146" y="3461420"/>
                  <a:pt x="105496" y="3589126"/>
                </a:cubicBezTo>
                <a:lnTo>
                  <a:pt x="59427" y="3633953"/>
                </a:lnTo>
                <a:lnTo>
                  <a:pt x="0" y="3633953"/>
                </a:lnTo>
                <a:lnTo>
                  <a:pt x="59511" y="3579834"/>
                </a:lnTo>
                <a:cubicBezTo>
                  <a:pt x="201405" y="3433749"/>
                  <a:pt x="273901" y="3248719"/>
                  <a:pt x="279643" y="3026284"/>
                </a:cubicBezTo>
                <a:cubicBezTo>
                  <a:pt x="281178" y="2967870"/>
                  <a:pt x="282959" y="2909570"/>
                  <a:pt x="300515" y="2853172"/>
                </a:cubicBezTo>
                <a:cubicBezTo>
                  <a:pt x="345416" y="2709191"/>
                  <a:pt x="451315" y="2634417"/>
                  <a:pt x="590987" y="2598841"/>
                </a:cubicBezTo>
                <a:cubicBezTo>
                  <a:pt x="695287" y="2572248"/>
                  <a:pt x="802151" y="2574154"/>
                  <a:pt x="908580" y="2571807"/>
                </a:cubicBezTo>
                <a:cubicBezTo>
                  <a:pt x="949498" y="2570942"/>
                  <a:pt x="990445" y="2569041"/>
                  <a:pt x="1031231" y="2565866"/>
                </a:cubicBezTo>
                <a:cubicBezTo>
                  <a:pt x="1062884" y="2563376"/>
                  <a:pt x="1092276" y="2557504"/>
                  <a:pt x="1119419" y="2548328"/>
                </a:cubicBezTo>
                <a:close/>
                <a:moveTo>
                  <a:pt x="4459352" y="2485083"/>
                </a:moveTo>
                <a:lnTo>
                  <a:pt x="4459352" y="2539842"/>
                </a:lnTo>
                <a:lnTo>
                  <a:pt x="4425791" y="2568105"/>
                </a:lnTo>
                <a:cubicBezTo>
                  <a:pt x="4362873" y="2613940"/>
                  <a:pt x="4288453" y="2648273"/>
                  <a:pt x="4203932" y="2672337"/>
                </a:cubicBezTo>
                <a:cubicBezTo>
                  <a:pt x="4094405" y="2703412"/>
                  <a:pt x="3980688" y="2714691"/>
                  <a:pt x="3870045" y="2741048"/>
                </a:cubicBezTo>
                <a:cubicBezTo>
                  <a:pt x="3716389" y="2777653"/>
                  <a:pt x="3607425" y="2863912"/>
                  <a:pt x="3552566" y="3015139"/>
                </a:cubicBezTo>
                <a:cubicBezTo>
                  <a:pt x="3533386" y="3068234"/>
                  <a:pt x="3516166" y="3121637"/>
                  <a:pt x="3500552" y="3175783"/>
                </a:cubicBezTo>
                <a:cubicBezTo>
                  <a:pt x="3462206" y="3308844"/>
                  <a:pt x="3421268" y="3440703"/>
                  <a:pt x="3344680" y="3558157"/>
                </a:cubicBezTo>
                <a:lnTo>
                  <a:pt x="3306067" y="3607264"/>
                </a:lnTo>
                <a:lnTo>
                  <a:pt x="3256082" y="3607264"/>
                </a:lnTo>
                <a:lnTo>
                  <a:pt x="3256216" y="3607145"/>
                </a:lnTo>
                <a:cubicBezTo>
                  <a:pt x="3316499" y="3539371"/>
                  <a:pt x="3361889" y="3457780"/>
                  <a:pt x="3396294" y="3365963"/>
                </a:cubicBezTo>
                <a:cubicBezTo>
                  <a:pt x="3434364" y="3264290"/>
                  <a:pt x="3460436" y="3158712"/>
                  <a:pt x="3495120" y="3055920"/>
                </a:cubicBezTo>
                <a:cubicBezTo>
                  <a:pt x="3514076" y="2999419"/>
                  <a:pt x="3536920" y="2944568"/>
                  <a:pt x="3568727" y="2894016"/>
                </a:cubicBezTo>
                <a:cubicBezTo>
                  <a:pt x="3634496" y="2789559"/>
                  <a:pt x="3734890" y="2736398"/>
                  <a:pt x="3850293" y="2706242"/>
                </a:cubicBezTo>
                <a:cubicBezTo>
                  <a:pt x="3961407" y="2677252"/>
                  <a:pt x="4076093" y="2665823"/>
                  <a:pt x="4187064" y="2636166"/>
                </a:cubicBezTo>
                <a:cubicBezTo>
                  <a:pt x="4259504" y="2616807"/>
                  <a:pt x="4325641" y="2588452"/>
                  <a:pt x="4383799" y="2548769"/>
                </a:cubicBezTo>
                <a:close/>
                <a:moveTo>
                  <a:pt x="4188344" y="2480092"/>
                </a:moveTo>
                <a:cubicBezTo>
                  <a:pt x="4188049" y="2480406"/>
                  <a:pt x="4187506" y="2480605"/>
                  <a:pt x="4187145" y="2480737"/>
                </a:cubicBezTo>
                <a:cubicBezTo>
                  <a:pt x="4187839" y="2481509"/>
                  <a:pt x="4188408" y="2482223"/>
                  <a:pt x="4189159" y="2482870"/>
                </a:cubicBezTo>
                <a:cubicBezTo>
                  <a:pt x="4188884" y="2481843"/>
                  <a:pt x="4188552" y="2480938"/>
                  <a:pt x="4188344" y="2480092"/>
                </a:cubicBezTo>
                <a:close/>
                <a:moveTo>
                  <a:pt x="4459352" y="2199617"/>
                </a:moveTo>
                <a:lnTo>
                  <a:pt x="4459352" y="2301753"/>
                </a:lnTo>
                <a:lnTo>
                  <a:pt x="4455307" y="2310449"/>
                </a:lnTo>
                <a:cubicBezTo>
                  <a:pt x="4436434" y="2340071"/>
                  <a:pt x="4413203" y="2366831"/>
                  <a:pt x="4384253" y="2389819"/>
                </a:cubicBezTo>
                <a:cubicBezTo>
                  <a:pt x="4355732" y="2419982"/>
                  <a:pt x="4319559" y="2438799"/>
                  <a:pt x="4282456" y="2455086"/>
                </a:cubicBezTo>
                <a:cubicBezTo>
                  <a:pt x="4238798" y="2474188"/>
                  <a:pt x="4195421" y="2494623"/>
                  <a:pt x="4148322" y="2504631"/>
                </a:cubicBezTo>
                <a:cubicBezTo>
                  <a:pt x="4082514" y="2528786"/>
                  <a:pt x="4014190" y="2544123"/>
                  <a:pt x="3946129" y="2560182"/>
                </a:cubicBezTo>
                <a:cubicBezTo>
                  <a:pt x="3885281" y="2581081"/>
                  <a:pt x="3822416" y="2595644"/>
                  <a:pt x="3762648" y="2620045"/>
                </a:cubicBezTo>
                <a:cubicBezTo>
                  <a:pt x="3558188" y="2703508"/>
                  <a:pt x="3430835" y="2848932"/>
                  <a:pt x="3397977" y="3071270"/>
                </a:cubicBezTo>
                <a:cubicBezTo>
                  <a:pt x="3384095" y="3164783"/>
                  <a:pt x="3337757" y="3244772"/>
                  <a:pt x="3289547" y="3323294"/>
                </a:cubicBezTo>
                <a:cubicBezTo>
                  <a:pt x="3227425" y="3424413"/>
                  <a:pt x="3155577" y="3516639"/>
                  <a:pt x="3065467" y="3591335"/>
                </a:cubicBezTo>
                <a:lnTo>
                  <a:pt x="3043035" y="3607264"/>
                </a:lnTo>
                <a:lnTo>
                  <a:pt x="2974262" y="3607264"/>
                </a:lnTo>
                <a:lnTo>
                  <a:pt x="2994394" y="3594960"/>
                </a:lnTo>
                <a:cubicBezTo>
                  <a:pt x="3112544" y="3511496"/>
                  <a:pt x="3201120" y="3392219"/>
                  <a:pt x="3279379" y="3260663"/>
                </a:cubicBezTo>
                <a:cubicBezTo>
                  <a:pt x="3323169" y="3187147"/>
                  <a:pt x="3351699" y="3108668"/>
                  <a:pt x="3365754" y="3022887"/>
                </a:cubicBezTo>
                <a:cubicBezTo>
                  <a:pt x="3389572" y="2876798"/>
                  <a:pt x="3469153" y="2761629"/>
                  <a:pt x="3585463" y="2672469"/>
                </a:cubicBezTo>
                <a:cubicBezTo>
                  <a:pt x="3688437" y="2593640"/>
                  <a:pt x="3809196" y="2555160"/>
                  <a:pt x="3933396" y="2525775"/>
                </a:cubicBezTo>
                <a:cubicBezTo>
                  <a:pt x="3978142" y="2512427"/>
                  <a:pt x="4022830" y="2499203"/>
                  <a:pt x="4067577" y="2485855"/>
                </a:cubicBezTo>
                <a:cubicBezTo>
                  <a:pt x="4070904" y="2478993"/>
                  <a:pt x="4081371" y="2482638"/>
                  <a:pt x="4086360" y="2478345"/>
                </a:cubicBezTo>
                <a:cubicBezTo>
                  <a:pt x="4074735" y="2480766"/>
                  <a:pt x="4064454" y="2473154"/>
                  <a:pt x="4053279" y="2472332"/>
                </a:cubicBezTo>
                <a:lnTo>
                  <a:pt x="4053403" y="2472390"/>
                </a:lnTo>
                <a:cubicBezTo>
                  <a:pt x="4033811" y="2471273"/>
                  <a:pt x="4014605" y="2466733"/>
                  <a:pt x="3995021" y="2465920"/>
                </a:cubicBezTo>
                <a:cubicBezTo>
                  <a:pt x="3880509" y="2450719"/>
                  <a:pt x="3765127" y="2439017"/>
                  <a:pt x="3658526" y="2496507"/>
                </a:cubicBezTo>
                <a:cubicBezTo>
                  <a:pt x="3529143" y="2566260"/>
                  <a:pt x="3426085" y="2666658"/>
                  <a:pt x="3344633" y="2788465"/>
                </a:cubicBezTo>
                <a:cubicBezTo>
                  <a:pt x="3270583" y="2899141"/>
                  <a:pt x="3229853" y="3021793"/>
                  <a:pt x="3211778" y="3154183"/>
                </a:cubicBezTo>
                <a:cubicBezTo>
                  <a:pt x="3190363" y="3311289"/>
                  <a:pt x="3087953" y="3412887"/>
                  <a:pt x="2958046" y="3489600"/>
                </a:cubicBezTo>
                <a:cubicBezTo>
                  <a:pt x="2826465" y="3567339"/>
                  <a:pt x="2680206" y="3582459"/>
                  <a:pt x="2531124" y="3580665"/>
                </a:cubicBezTo>
                <a:cubicBezTo>
                  <a:pt x="2462494" y="3579803"/>
                  <a:pt x="2393988" y="3579000"/>
                  <a:pt x="2325980" y="3590732"/>
                </a:cubicBezTo>
                <a:lnTo>
                  <a:pt x="2265528" y="3607264"/>
                </a:lnTo>
                <a:lnTo>
                  <a:pt x="2159150" y="3607264"/>
                </a:lnTo>
                <a:lnTo>
                  <a:pt x="2211251" y="3582034"/>
                </a:lnTo>
                <a:cubicBezTo>
                  <a:pt x="2273594" y="3558188"/>
                  <a:pt x="2340020" y="3545011"/>
                  <a:pt x="2410552" y="3542251"/>
                </a:cubicBezTo>
                <a:cubicBezTo>
                  <a:pt x="2513827" y="3538293"/>
                  <a:pt x="2617476" y="3546814"/>
                  <a:pt x="2720177" y="3529834"/>
                </a:cubicBezTo>
                <a:cubicBezTo>
                  <a:pt x="2882722" y="3503198"/>
                  <a:pt x="3018842" y="3432512"/>
                  <a:pt x="3114610" y="3294374"/>
                </a:cubicBezTo>
                <a:cubicBezTo>
                  <a:pt x="3148421" y="3245652"/>
                  <a:pt x="3167869" y="3191329"/>
                  <a:pt x="3175415" y="3132246"/>
                </a:cubicBezTo>
                <a:cubicBezTo>
                  <a:pt x="3211365" y="2852666"/>
                  <a:pt x="3361759" y="2646780"/>
                  <a:pt x="3589000" y="2490129"/>
                </a:cubicBezTo>
                <a:cubicBezTo>
                  <a:pt x="3680445" y="2427123"/>
                  <a:pt x="3782471" y="2409981"/>
                  <a:pt x="3890234" y="2415454"/>
                </a:cubicBezTo>
                <a:cubicBezTo>
                  <a:pt x="3919829" y="2417001"/>
                  <a:pt x="3949405" y="2419890"/>
                  <a:pt x="3978876" y="2423330"/>
                </a:cubicBezTo>
                <a:cubicBezTo>
                  <a:pt x="4049609" y="2431317"/>
                  <a:pt x="4120200" y="2438639"/>
                  <a:pt x="4191556" y="2434909"/>
                </a:cubicBezTo>
                <a:cubicBezTo>
                  <a:pt x="4242228" y="2428207"/>
                  <a:pt x="4288787" y="2410296"/>
                  <a:pt x="4331638" y="2382565"/>
                </a:cubicBezTo>
                <a:cubicBezTo>
                  <a:pt x="4385032" y="2342759"/>
                  <a:pt x="4421126" y="2294455"/>
                  <a:pt x="4445607" y="2240362"/>
                </a:cubicBezTo>
                <a:close/>
                <a:moveTo>
                  <a:pt x="4459352" y="1491993"/>
                </a:moveTo>
                <a:lnTo>
                  <a:pt x="4459352" y="1584830"/>
                </a:lnTo>
                <a:lnTo>
                  <a:pt x="4455129" y="1595140"/>
                </a:lnTo>
                <a:cubicBezTo>
                  <a:pt x="4447807" y="1622325"/>
                  <a:pt x="4443600" y="1651225"/>
                  <a:pt x="4442539" y="1681796"/>
                </a:cubicBezTo>
                <a:cubicBezTo>
                  <a:pt x="4440339" y="1748456"/>
                  <a:pt x="4437085" y="1814477"/>
                  <a:pt x="4415371" y="1878556"/>
                </a:cubicBezTo>
                <a:cubicBezTo>
                  <a:pt x="4371047" y="2009298"/>
                  <a:pt x="4290500" y="2104511"/>
                  <a:pt x="4157062" y="2150928"/>
                </a:cubicBezTo>
                <a:cubicBezTo>
                  <a:pt x="4038041" y="2192464"/>
                  <a:pt x="3914965" y="2220718"/>
                  <a:pt x="3795659" y="2260922"/>
                </a:cubicBezTo>
                <a:cubicBezTo>
                  <a:pt x="3651082" y="2309684"/>
                  <a:pt x="3514439" y="2373074"/>
                  <a:pt x="3394961" y="2470373"/>
                </a:cubicBezTo>
                <a:cubicBezTo>
                  <a:pt x="3258652" y="2581337"/>
                  <a:pt x="3165904" y="2722674"/>
                  <a:pt x="3103339" y="2885036"/>
                </a:cubicBezTo>
                <a:cubicBezTo>
                  <a:pt x="3066770" y="2979904"/>
                  <a:pt x="3028265" y="3073123"/>
                  <a:pt x="2962298" y="3152727"/>
                </a:cubicBezTo>
                <a:cubicBezTo>
                  <a:pt x="2861880" y="3274006"/>
                  <a:pt x="2733720" y="3329768"/>
                  <a:pt x="2577054" y="3322963"/>
                </a:cubicBezTo>
                <a:cubicBezTo>
                  <a:pt x="2485545" y="3319013"/>
                  <a:pt x="2396958" y="3296756"/>
                  <a:pt x="2307192" y="3281908"/>
                </a:cubicBezTo>
                <a:cubicBezTo>
                  <a:pt x="2273938" y="3276267"/>
                  <a:pt x="2240352" y="3271671"/>
                  <a:pt x="2206722" y="3269757"/>
                </a:cubicBezTo>
                <a:cubicBezTo>
                  <a:pt x="2038038" y="3260388"/>
                  <a:pt x="1919809" y="3338457"/>
                  <a:pt x="1859684" y="3496848"/>
                </a:cubicBezTo>
                <a:cubicBezTo>
                  <a:pt x="1849804" y="3522886"/>
                  <a:pt x="1842347" y="3549446"/>
                  <a:pt x="1836523" y="3576369"/>
                </a:cubicBezTo>
                <a:lnTo>
                  <a:pt x="1831470" y="3607264"/>
                </a:lnTo>
                <a:lnTo>
                  <a:pt x="1791643" y="3607264"/>
                </a:lnTo>
                <a:lnTo>
                  <a:pt x="1810490" y="3513726"/>
                </a:lnTo>
                <a:cubicBezTo>
                  <a:pt x="1823939" y="3473171"/>
                  <a:pt x="1842387" y="3434217"/>
                  <a:pt x="1865890" y="3397228"/>
                </a:cubicBezTo>
                <a:cubicBezTo>
                  <a:pt x="1945130" y="3272748"/>
                  <a:pt x="2060939" y="3221620"/>
                  <a:pt x="2205648" y="3229944"/>
                </a:cubicBezTo>
                <a:cubicBezTo>
                  <a:pt x="2303176" y="3235479"/>
                  <a:pt x="2397531" y="3261158"/>
                  <a:pt x="2493613" y="3275328"/>
                </a:cubicBezTo>
                <a:cubicBezTo>
                  <a:pt x="2571152" y="3286767"/>
                  <a:pt x="2648692" y="3290102"/>
                  <a:pt x="2725043" y="3268126"/>
                </a:cubicBezTo>
                <a:cubicBezTo>
                  <a:pt x="2848147" y="3232683"/>
                  <a:pt x="2928673" y="3146915"/>
                  <a:pt x="2990840" y="3040189"/>
                </a:cubicBezTo>
                <a:cubicBezTo>
                  <a:pt x="3017783" y="2993989"/>
                  <a:pt x="3038356" y="2944689"/>
                  <a:pt x="3056163" y="2894559"/>
                </a:cubicBezTo>
                <a:cubicBezTo>
                  <a:pt x="3175888" y="2556225"/>
                  <a:pt x="3418142" y="2347698"/>
                  <a:pt x="3751161" y="2233867"/>
                </a:cubicBezTo>
                <a:cubicBezTo>
                  <a:pt x="3858811" y="2197121"/>
                  <a:pt x="3968764" y="2168043"/>
                  <a:pt x="4077910" y="2136492"/>
                </a:cubicBezTo>
                <a:cubicBezTo>
                  <a:pt x="4184100" y="2105822"/>
                  <a:pt x="4278161" y="2058882"/>
                  <a:pt x="4335557" y="1957602"/>
                </a:cubicBezTo>
                <a:cubicBezTo>
                  <a:pt x="4378427" y="1881860"/>
                  <a:pt x="4400987" y="1801366"/>
                  <a:pt x="4400377" y="1714197"/>
                </a:cubicBezTo>
                <a:cubicBezTo>
                  <a:pt x="4399823" y="1651215"/>
                  <a:pt x="4408447" y="1589480"/>
                  <a:pt x="4435470" y="1531762"/>
                </a:cubicBezTo>
                <a:close/>
                <a:moveTo>
                  <a:pt x="4459352" y="670573"/>
                </a:moveTo>
                <a:lnTo>
                  <a:pt x="4459352" y="710470"/>
                </a:lnTo>
                <a:lnTo>
                  <a:pt x="4380527" y="728216"/>
                </a:lnTo>
                <a:cubicBezTo>
                  <a:pt x="4322424" y="750724"/>
                  <a:pt x="4271759" y="791118"/>
                  <a:pt x="4230399" y="853226"/>
                </a:cubicBezTo>
                <a:cubicBezTo>
                  <a:pt x="4189943" y="914031"/>
                  <a:pt x="4170451" y="983037"/>
                  <a:pt x="4160417" y="1054623"/>
                </a:cubicBezTo>
                <a:cubicBezTo>
                  <a:pt x="4146557" y="1152951"/>
                  <a:pt x="4131527" y="1250885"/>
                  <a:pt x="4093193" y="1343734"/>
                </a:cubicBezTo>
                <a:cubicBezTo>
                  <a:pt x="4054639" y="1437380"/>
                  <a:pt x="4002979" y="1522708"/>
                  <a:pt x="3935988" y="1598689"/>
                </a:cubicBezTo>
                <a:cubicBezTo>
                  <a:pt x="3811075" y="1740140"/>
                  <a:pt x="3654761" y="1805826"/>
                  <a:pt x="3466144" y="1794134"/>
                </a:cubicBezTo>
                <a:cubicBezTo>
                  <a:pt x="3400770" y="1790127"/>
                  <a:pt x="3335381" y="1783564"/>
                  <a:pt x="3270003" y="1783458"/>
                </a:cubicBezTo>
                <a:cubicBezTo>
                  <a:pt x="3113234" y="1783358"/>
                  <a:pt x="3024678" y="1855355"/>
                  <a:pt x="2988145" y="2008162"/>
                </a:cubicBezTo>
                <a:cubicBezTo>
                  <a:pt x="2973254" y="2070146"/>
                  <a:pt x="2968518" y="2133532"/>
                  <a:pt x="2962251" y="2196658"/>
                </a:cubicBezTo>
                <a:cubicBezTo>
                  <a:pt x="2952154" y="2298527"/>
                  <a:pt x="2932785" y="2398055"/>
                  <a:pt x="2868887" y="2481618"/>
                </a:cubicBezTo>
                <a:cubicBezTo>
                  <a:pt x="2769991" y="2610954"/>
                  <a:pt x="2636076" y="2659702"/>
                  <a:pt x="2476709" y="2644143"/>
                </a:cubicBezTo>
                <a:cubicBezTo>
                  <a:pt x="2322355" y="2629104"/>
                  <a:pt x="2171392" y="2641745"/>
                  <a:pt x="2027458" y="2701760"/>
                </a:cubicBezTo>
                <a:cubicBezTo>
                  <a:pt x="1883285" y="2761965"/>
                  <a:pt x="1807026" y="2890377"/>
                  <a:pt x="1806447" y="3051425"/>
                </a:cubicBezTo>
                <a:cubicBezTo>
                  <a:pt x="1810064" y="3048148"/>
                  <a:pt x="1813719" y="3046089"/>
                  <a:pt x="1815939" y="3042915"/>
                </a:cubicBezTo>
                <a:cubicBezTo>
                  <a:pt x="1890504" y="2939228"/>
                  <a:pt x="1995809" y="2899446"/>
                  <a:pt x="2119027" y="2896169"/>
                </a:cubicBezTo>
                <a:cubicBezTo>
                  <a:pt x="2220512" y="2893483"/>
                  <a:pt x="2321265" y="2906966"/>
                  <a:pt x="2422660" y="2907389"/>
                </a:cubicBezTo>
                <a:cubicBezTo>
                  <a:pt x="2503827" y="2907752"/>
                  <a:pt x="2584457" y="2902464"/>
                  <a:pt x="2662419" y="2877334"/>
                </a:cubicBezTo>
                <a:cubicBezTo>
                  <a:pt x="2789621" y="2836284"/>
                  <a:pt x="2868929" y="2742447"/>
                  <a:pt x="2933479" y="2631873"/>
                </a:cubicBezTo>
                <a:cubicBezTo>
                  <a:pt x="2977404" y="2556770"/>
                  <a:pt x="3013392" y="2477092"/>
                  <a:pt x="3063143" y="2405286"/>
                </a:cubicBezTo>
                <a:cubicBezTo>
                  <a:pt x="3150671" y="2278789"/>
                  <a:pt x="3277289" y="2216309"/>
                  <a:pt x="3423243" y="2184992"/>
                </a:cubicBezTo>
                <a:cubicBezTo>
                  <a:pt x="3529364" y="2162244"/>
                  <a:pt x="3637500" y="2149732"/>
                  <a:pt x="3742969" y="2123531"/>
                </a:cubicBezTo>
                <a:cubicBezTo>
                  <a:pt x="3813722" y="2105867"/>
                  <a:pt x="3882951" y="2084046"/>
                  <a:pt x="3948121" y="2050891"/>
                </a:cubicBezTo>
                <a:cubicBezTo>
                  <a:pt x="4105823" y="1970540"/>
                  <a:pt x="4196793" y="1843087"/>
                  <a:pt x="4221056" y="1667192"/>
                </a:cubicBezTo>
                <a:cubicBezTo>
                  <a:pt x="4235771" y="1560857"/>
                  <a:pt x="4237145" y="1452549"/>
                  <a:pt x="4261713" y="1347624"/>
                </a:cubicBezTo>
                <a:cubicBezTo>
                  <a:pt x="4286297" y="1242745"/>
                  <a:pt x="4331738" y="1152253"/>
                  <a:pt x="4409206" y="1085933"/>
                </a:cubicBezTo>
                <a:lnTo>
                  <a:pt x="4459352" y="1053148"/>
                </a:lnTo>
                <a:lnTo>
                  <a:pt x="4459352" y="1098248"/>
                </a:lnTo>
                <a:lnTo>
                  <a:pt x="4434527" y="1116095"/>
                </a:lnTo>
                <a:cubicBezTo>
                  <a:pt x="4386176" y="1158193"/>
                  <a:pt x="4347818" y="1215123"/>
                  <a:pt x="4322876" y="1284553"/>
                </a:cubicBezTo>
                <a:cubicBezTo>
                  <a:pt x="4294031" y="1364686"/>
                  <a:pt x="4285496" y="1447622"/>
                  <a:pt x="4277959" y="1531318"/>
                </a:cubicBezTo>
                <a:cubicBezTo>
                  <a:pt x="4270788" y="1610984"/>
                  <a:pt x="4262390" y="1690381"/>
                  <a:pt x="4240158" y="1767573"/>
                </a:cubicBezTo>
                <a:cubicBezTo>
                  <a:pt x="4190629" y="1940025"/>
                  <a:pt x="4070353" y="2045207"/>
                  <a:pt x="3910604" y="2112156"/>
                </a:cubicBezTo>
                <a:cubicBezTo>
                  <a:pt x="3777031" y="2168263"/>
                  <a:pt x="3634222" y="2186631"/>
                  <a:pt x="3493267" y="2212010"/>
                </a:cubicBezTo>
                <a:cubicBezTo>
                  <a:pt x="3417459" y="2225683"/>
                  <a:pt x="3342937" y="2243703"/>
                  <a:pt x="3272765" y="2276642"/>
                </a:cubicBezTo>
                <a:cubicBezTo>
                  <a:pt x="3163480" y="2327937"/>
                  <a:pt x="3094848" y="2418163"/>
                  <a:pt x="3039324" y="2520910"/>
                </a:cubicBezTo>
                <a:cubicBezTo>
                  <a:pt x="2999844" y="2593869"/>
                  <a:pt x="2962216" y="2667688"/>
                  <a:pt x="2913620" y="2735376"/>
                </a:cubicBezTo>
                <a:cubicBezTo>
                  <a:pt x="2823688" y="2860909"/>
                  <a:pt x="2699684" y="2925199"/>
                  <a:pt x="2548089" y="2941150"/>
                </a:cubicBezTo>
                <a:cubicBezTo>
                  <a:pt x="2442713" y="2952238"/>
                  <a:pt x="2337569" y="2944676"/>
                  <a:pt x="2232347" y="2938579"/>
                </a:cubicBezTo>
                <a:cubicBezTo>
                  <a:pt x="2199328" y="2936647"/>
                  <a:pt x="2166211" y="2935571"/>
                  <a:pt x="2133265" y="2936074"/>
                </a:cubicBezTo>
                <a:cubicBezTo>
                  <a:pt x="1946543" y="2938763"/>
                  <a:pt x="1834386" y="3022193"/>
                  <a:pt x="1783164" y="3203164"/>
                </a:cubicBezTo>
                <a:cubicBezTo>
                  <a:pt x="1750728" y="3317950"/>
                  <a:pt x="1698601" y="3420170"/>
                  <a:pt x="1617950" y="3507832"/>
                </a:cubicBezTo>
                <a:lnTo>
                  <a:pt x="1525477" y="3589635"/>
                </a:lnTo>
                <a:lnTo>
                  <a:pt x="1508459" y="3584352"/>
                </a:lnTo>
                <a:lnTo>
                  <a:pt x="1480389" y="3569116"/>
                </a:lnTo>
                <a:lnTo>
                  <a:pt x="1578031" y="3491564"/>
                </a:lnTo>
                <a:cubicBezTo>
                  <a:pt x="1674435" y="3396301"/>
                  <a:pt x="1732165" y="3276043"/>
                  <a:pt x="1753078" y="3132661"/>
                </a:cubicBezTo>
                <a:cubicBezTo>
                  <a:pt x="1758899" y="3093189"/>
                  <a:pt x="1762027" y="3053370"/>
                  <a:pt x="1766744" y="3013686"/>
                </a:cubicBezTo>
                <a:cubicBezTo>
                  <a:pt x="1790341" y="2813622"/>
                  <a:pt x="1894745" y="2691188"/>
                  <a:pt x="2089450" y="2637872"/>
                </a:cubicBezTo>
                <a:cubicBezTo>
                  <a:pt x="2216053" y="2603298"/>
                  <a:pt x="2344960" y="2590648"/>
                  <a:pt x="2475843" y="2605176"/>
                </a:cubicBezTo>
                <a:cubicBezTo>
                  <a:pt x="2616139" y="2620758"/>
                  <a:pt x="2735008" y="2580202"/>
                  <a:pt x="2826691" y="2470336"/>
                </a:cubicBezTo>
                <a:cubicBezTo>
                  <a:pt x="2886085" y="2399094"/>
                  <a:pt x="2908120" y="2313255"/>
                  <a:pt x="2918336" y="2223445"/>
                </a:cubicBezTo>
                <a:cubicBezTo>
                  <a:pt x="2927439" y="2143173"/>
                  <a:pt x="2931282" y="2062269"/>
                  <a:pt x="2952555" y="1983581"/>
                </a:cubicBezTo>
                <a:cubicBezTo>
                  <a:pt x="2994388" y="1828726"/>
                  <a:pt x="3093691" y="1749398"/>
                  <a:pt x="3253947" y="1743912"/>
                </a:cubicBezTo>
                <a:cubicBezTo>
                  <a:pt x="3303244" y="1742124"/>
                  <a:pt x="3352442" y="1745092"/>
                  <a:pt x="3401006" y="1751371"/>
                </a:cubicBezTo>
                <a:cubicBezTo>
                  <a:pt x="3691294" y="1788827"/>
                  <a:pt x="3885448" y="1654372"/>
                  <a:pt x="4018940" y="1409148"/>
                </a:cubicBezTo>
                <a:cubicBezTo>
                  <a:pt x="4078294" y="1300070"/>
                  <a:pt x="4103248" y="1181670"/>
                  <a:pt x="4118905" y="1060014"/>
                </a:cubicBezTo>
                <a:cubicBezTo>
                  <a:pt x="4130385" y="969745"/>
                  <a:pt x="4154275" y="882812"/>
                  <a:pt x="4211230" y="809388"/>
                </a:cubicBezTo>
                <a:cubicBezTo>
                  <a:pt x="4272597" y="730319"/>
                  <a:pt x="4349772" y="685661"/>
                  <a:pt x="4440036" y="671437"/>
                </a:cubicBezTo>
                <a:close/>
                <a:moveTo>
                  <a:pt x="4459352" y="526157"/>
                </a:moveTo>
                <a:lnTo>
                  <a:pt x="4459352" y="566143"/>
                </a:lnTo>
                <a:lnTo>
                  <a:pt x="4444335" y="568113"/>
                </a:lnTo>
                <a:cubicBezTo>
                  <a:pt x="4384718" y="577280"/>
                  <a:pt x="4325186" y="587234"/>
                  <a:pt x="4267101" y="604760"/>
                </a:cubicBezTo>
                <a:cubicBezTo>
                  <a:pt x="4079926" y="661261"/>
                  <a:pt x="3988891" y="778481"/>
                  <a:pt x="3980784" y="974909"/>
                </a:cubicBezTo>
                <a:cubicBezTo>
                  <a:pt x="3978208" y="1037192"/>
                  <a:pt x="3981005" y="1099864"/>
                  <a:pt x="3967932" y="1161488"/>
                </a:cubicBezTo>
                <a:cubicBezTo>
                  <a:pt x="3919364" y="1390208"/>
                  <a:pt x="3769090" y="1527120"/>
                  <a:pt x="3531789" y="1553811"/>
                </a:cubicBezTo>
                <a:cubicBezTo>
                  <a:pt x="3436209" y="1564484"/>
                  <a:pt x="3339859" y="1567746"/>
                  <a:pt x="3243942" y="1575260"/>
                </a:cubicBezTo>
                <a:cubicBezTo>
                  <a:pt x="3193920" y="1579262"/>
                  <a:pt x="3144387" y="1587392"/>
                  <a:pt x="3095373" y="1598615"/>
                </a:cubicBezTo>
                <a:cubicBezTo>
                  <a:pt x="2951053" y="1631589"/>
                  <a:pt x="2865942" y="1724990"/>
                  <a:pt x="2823227" y="1862629"/>
                </a:cubicBezTo>
                <a:cubicBezTo>
                  <a:pt x="2788016" y="1976282"/>
                  <a:pt x="2772373" y="2094342"/>
                  <a:pt x="2742135" y="2209245"/>
                </a:cubicBezTo>
                <a:cubicBezTo>
                  <a:pt x="2715001" y="2311931"/>
                  <a:pt x="2666366" y="2396560"/>
                  <a:pt x="2565829" y="2442902"/>
                </a:cubicBezTo>
                <a:cubicBezTo>
                  <a:pt x="2538358" y="2461396"/>
                  <a:pt x="2507835" y="2471575"/>
                  <a:pt x="2475245" y="2475844"/>
                </a:cubicBezTo>
                <a:cubicBezTo>
                  <a:pt x="2394793" y="2499222"/>
                  <a:pt x="2312988" y="2499915"/>
                  <a:pt x="2230682" y="2490021"/>
                </a:cubicBezTo>
                <a:cubicBezTo>
                  <a:pt x="2182413" y="2491532"/>
                  <a:pt x="2134868" y="2482726"/>
                  <a:pt x="2086889" y="2479720"/>
                </a:cubicBezTo>
                <a:cubicBezTo>
                  <a:pt x="2046964" y="2477144"/>
                  <a:pt x="2007201" y="2475840"/>
                  <a:pt x="1967204" y="2478932"/>
                </a:cubicBezTo>
                <a:cubicBezTo>
                  <a:pt x="1803753" y="2491646"/>
                  <a:pt x="1698875" y="2580096"/>
                  <a:pt x="1656430" y="2738869"/>
                </a:cubicBezTo>
                <a:cubicBezTo>
                  <a:pt x="1634572" y="2820438"/>
                  <a:pt x="1624706" y="2903656"/>
                  <a:pt x="1615268" y="2986923"/>
                </a:cubicBezTo>
                <a:cubicBezTo>
                  <a:pt x="1594541" y="3171471"/>
                  <a:pt x="1519662" y="3298004"/>
                  <a:pt x="1400605" y="3379566"/>
                </a:cubicBezTo>
                <a:lnTo>
                  <a:pt x="1347315" y="3409908"/>
                </a:lnTo>
                <a:lnTo>
                  <a:pt x="1336313" y="3374466"/>
                </a:lnTo>
                <a:lnTo>
                  <a:pt x="1336060" y="3371956"/>
                </a:lnTo>
                <a:lnTo>
                  <a:pt x="1344201" y="3368168"/>
                </a:lnTo>
                <a:cubicBezTo>
                  <a:pt x="1398007" y="3337237"/>
                  <a:pt x="1445905" y="3296499"/>
                  <a:pt x="1485739" y="3242387"/>
                </a:cubicBezTo>
                <a:cubicBezTo>
                  <a:pt x="1538486" y="3170917"/>
                  <a:pt x="1558900" y="3087930"/>
                  <a:pt x="1571309" y="3002135"/>
                </a:cubicBezTo>
                <a:cubicBezTo>
                  <a:pt x="1584992" y="2908079"/>
                  <a:pt x="1593170" y="2813275"/>
                  <a:pt x="1619529" y="2721336"/>
                </a:cubicBezTo>
                <a:cubicBezTo>
                  <a:pt x="1668446" y="2550852"/>
                  <a:pt x="1785299" y="2453388"/>
                  <a:pt x="1962020" y="2440217"/>
                </a:cubicBezTo>
                <a:cubicBezTo>
                  <a:pt x="2062930" y="2432613"/>
                  <a:pt x="2162930" y="2447398"/>
                  <a:pt x="2263144" y="2457180"/>
                </a:cubicBezTo>
                <a:cubicBezTo>
                  <a:pt x="2267852" y="2457709"/>
                  <a:pt x="2272826" y="2457010"/>
                  <a:pt x="2277696" y="2456864"/>
                </a:cubicBezTo>
                <a:cubicBezTo>
                  <a:pt x="2336903" y="2456365"/>
                  <a:pt x="2396045" y="2453733"/>
                  <a:pt x="2454672" y="2444110"/>
                </a:cubicBezTo>
                <a:cubicBezTo>
                  <a:pt x="2500409" y="2429270"/>
                  <a:pt x="2546032" y="2414678"/>
                  <a:pt x="2586002" y="2386364"/>
                </a:cubicBezTo>
                <a:cubicBezTo>
                  <a:pt x="2654015" y="2338318"/>
                  <a:pt x="2685493" y="2268708"/>
                  <a:pt x="2703446" y="2191033"/>
                </a:cubicBezTo>
                <a:cubicBezTo>
                  <a:pt x="2726401" y="2091215"/>
                  <a:pt x="2746597" y="1990870"/>
                  <a:pt x="2771642" y="1891719"/>
                </a:cubicBezTo>
                <a:cubicBezTo>
                  <a:pt x="2799298" y="1782072"/>
                  <a:pt x="2846656" y="1683348"/>
                  <a:pt x="2945352" y="1618295"/>
                </a:cubicBezTo>
                <a:cubicBezTo>
                  <a:pt x="3013761" y="1573284"/>
                  <a:pt x="3091126" y="1554631"/>
                  <a:pt x="3170708" y="1542856"/>
                </a:cubicBezTo>
                <a:cubicBezTo>
                  <a:pt x="3278315" y="1526947"/>
                  <a:pt x="3387348" y="1528056"/>
                  <a:pt x="3495318" y="1518169"/>
                </a:cubicBezTo>
                <a:cubicBezTo>
                  <a:pt x="3576493" y="1510732"/>
                  <a:pt x="3656364" y="1496390"/>
                  <a:pt x="3726694" y="1452418"/>
                </a:cubicBezTo>
                <a:cubicBezTo>
                  <a:pt x="3868187" y="1363964"/>
                  <a:pt x="3929160" y="1229674"/>
                  <a:pt x="3937218" y="1068035"/>
                </a:cubicBezTo>
                <a:cubicBezTo>
                  <a:pt x="3940852" y="994387"/>
                  <a:pt x="3938818" y="920668"/>
                  <a:pt x="3958649" y="848662"/>
                </a:cubicBezTo>
                <a:cubicBezTo>
                  <a:pt x="3999856" y="699370"/>
                  <a:pt x="4100490" y="611658"/>
                  <a:pt x="4245670" y="568725"/>
                </a:cubicBezTo>
                <a:cubicBezTo>
                  <a:pt x="4300444" y="552516"/>
                  <a:pt x="4356101" y="541369"/>
                  <a:pt x="4412153" y="532487"/>
                </a:cubicBezTo>
                <a:close/>
                <a:moveTo>
                  <a:pt x="4337637" y="187231"/>
                </a:moveTo>
                <a:lnTo>
                  <a:pt x="4459352" y="190782"/>
                </a:lnTo>
                <a:lnTo>
                  <a:pt x="4459352" y="231557"/>
                </a:lnTo>
                <a:lnTo>
                  <a:pt x="4333061" y="226975"/>
                </a:lnTo>
                <a:cubicBezTo>
                  <a:pt x="4125284" y="226520"/>
                  <a:pt x="3994044" y="329777"/>
                  <a:pt x="3922408" y="520807"/>
                </a:cubicBezTo>
                <a:cubicBezTo>
                  <a:pt x="3873442" y="651204"/>
                  <a:pt x="3832180" y="784408"/>
                  <a:pt x="3777237" y="912485"/>
                </a:cubicBezTo>
                <a:cubicBezTo>
                  <a:pt x="3749797" y="976613"/>
                  <a:pt x="3719697" y="1039359"/>
                  <a:pt x="3679188" y="1096386"/>
                </a:cubicBezTo>
                <a:cubicBezTo>
                  <a:pt x="3604011" y="1202039"/>
                  <a:pt x="3498595" y="1256327"/>
                  <a:pt x="3372902" y="1276618"/>
                </a:cubicBezTo>
                <a:cubicBezTo>
                  <a:pt x="3285833" y="1290628"/>
                  <a:pt x="3197567" y="1293282"/>
                  <a:pt x="3110131" y="1303222"/>
                </a:cubicBezTo>
                <a:cubicBezTo>
                  <a:pt x="3044858" y="1310667"/>
                  <a:pt x="2980134" y="1320168"/>
                  <a:pt x="2918266" y="1343596"/>
                </a:cubicBezTo>
                <a:cubicBezTo>
                  <a:pt x="2843990" y="1371784"/>
                  <a:pt x="2789756" y="1422157"/>
                  <a:pt x="2752733" y="1491752"/>
                </a:cubicBezTo>
                <a:cubicBezTo>
                  <a:pt x="2697942" y="1594539"/>
                  <a:pt x="2665891" y="1705902"/>
                  <a:pt x="2629344" y="1815634"/>
                </a:cubicBezTo>
                <a:cubicBezTo>
                  <a:pt x="2601854" y="1898347"/>
                  <a:pt x="2572938" y="1980250"/>
                  <a:pt x="2532872" y="2058039"/>
                </a:cubicBezTo>
                <a:cubicBezTo>
                  <a:pt x="2450841" y="2217393"/>
                  <a:pt x="2319005" y="2300867"/>
                  <a:pt x="2142405" y="2317997"/>
                </a:cubicBezTo>
                <a:cubicBezTo>
                  <a:pt x="2065738" y="2325419"/>
                  <a:pt x="1988872" y="2324195"/>
                  <a:pt x="1912283" y="2322051"/>
                </a:cubicBezTo>
                <a:cubicBezTo>
                  <a:pt x="1717942" y="2316561"/>
                  <a:pt x="1583823" y="2409181"/>
                  <a:pt x="1491656" y="2573896"/>
                </a:cubicBezTo>
                <a:cubicBezTo>
                  <a:pt x="1444535" y="2658175"/>
                  <a:pt x="1415088" y="2746734"/>
                  <a:pt x="1406185" y="2843754"/>
                </a:cubicBezTo>
                <a:cubicBezTo>
                  <a:pt x="1402430" y="2884521"/>
                  <a:pt x="1392686" y="2922037"/>
                  <a:pt x="1377585" y="2955789"/>
                </a:cubicBezTo>
                <a:lnTo>
                  <a:pt x="1330389" y="3025291"/>
                </a:lnTo>
                <a:lnTo>
                  <a:pt x="1330389" y="2958101"/>
                </a:lnTo>
                <a:lnTo>
                  <a:pt x="1350712" y="2922137"/>
                </a:lnTo>
                <a:cubicBezTo>
                  <a:pt x="1360723" y="2894933"/>
                  <a:pt x="1366912" y="2864813"/>
                  <a:pt x="1369022" y="2831650"/>
                </a:cubicBezTo>
                <a:cubicBezTo>
                  <a:pt x="1378916" y="2676415"/>
                  <a:pt x="1445332" y="2546898"/>
                  <a:pt x="1545333" y="2432028"/>
                </a:cubicBezTo>
                <a:cubicBezTo>
                  <a:pt x="1625544" y="2339811"/>
                  <a:pt x="1728336" y="2293461"/>
                  <a:pt x="1849724" y="2286035"/>
                </a:cubicBezTo>
                <a:cubicBezTo>
                  <a:pt x="1910114" y="2282330"/>
                  <a:pt x="1970439" y="2284600"/>
                  <a:pt x="2030854" y="2283758"/>
                </a:cubicBezTo>
                <a:cubicBezTo>
                  <a:pt x="2065569" y="2283323"/>
                  <a:pt x="2100429" y="2281605"/>
                  <a:pt x="2135138" y="2278916"/>
                </a:cubicBezTo>
                <a:cubicBezTo>
                  <a:pt x="2310565" y="2265296"/>
                  <a:pt x="2432754" y="2175106"/>
                  <a:pt x="2508343" y="2018321"/>
                </a:cubicBezTo>
                <a:cubicBezTo>
                  <a:pt x="2551581" y="1928494"/>
                  <a:pt x="2579666" y="1833152"/>
                  <a:pt x="2611260" y="1738983"/>
                </a:cubicBezTo>
                <a:cubicBezTo>
                  <a:pt x="2634414" y="1670170"/>
                  <a:pt x="2658616" y="1601692"/>
                  <a:pt x="2685582" y="1534044"/>
                </a:cubicBezTo>
                <a:cubicBezTo>
                  <a:pt x="2745470" y="1383945"/>
                  <a:pt x="2856067" y="1301293"/>
                  <a:pt x="3013721" y="1276144"/>
                </a:cubicBezTo>
                <a:cubicBezTo>
                  <a:pt x="3103827" y="1261736"/>
                  <a:pt x="3194947" y="1256804"/>
                  <a:pt x="3285512" y="1247563"/>
                </a:cubicBezTo>
                <a:cubicBezTo>
                  <a:pt x="3317035" y="1244299"/>
                  <a:pt x="3348513" y="1239515"/>
                  <a:pt x="3379801" y="1234492"/>
                </a:cubicBezTo>
                <a:cubicBezTo>
                  <a:pt x="3518164" y="1212114"/>
                  <a:pt x="3616741" y="1135003"/>
                  <a:pt x="3683709" y="1013694"/>
                </a:cubicBezTo>
                <a:cubicBezTo>
                  <a:pt x="3748360" y="896415"/>
                  <a:pt x="3788467" y="769272"/>
                  <a:pt x="3833687" y="644051"/>
                </a:cubicBezTo>
                <a:cubicBezTo>
                  <a:pt x="3868382" y="547718"/>
                  <a:pt x="3900058" y="450132"/>
                  <a:pt x="3958774" y="364469"/>
                </a:cubicBezTo>
                <a:cubicBezTo>
                  <a:pt x="4013110" y="285032"/>
                  <a:pt x="4086918" y="233222"/>
                  <a:pt x="4179574" y="208442"/>
                </a:cubicBezTo>
                <a:cubicBezTo>
                  <a:pt x="4231853" y="194379"/>
                  <a:pt x="4284627" y="188650"/>
                  <a:pt x="4337637" y="187231"/>
                </a:cubicBezTo>
                <a:close/>
                <a:moveTo>
                  <a:pt x="4459352" y="0"/>
                </a:moveTo>
                <a:lnTo>
                  <a:pt x="4459352" y="41723"/>
                </a:lnTo>
                <a:lnTo>
                  <a:pt x="4403847" y="54312"/>
                </a:lnTo>
                <a:cubicBezTo>
                  <a:pt x="4302029" y="72301"/>
                  <a:pt x="4199693" y="87196"/>
                  <a:pt x="4097960" y="105974"/>
                </a:cubicBezTo>
                <a:cubicBezTo>
                  <a:pt x="3978781" y="128079"/>
                  <a:pt x="3872508" y="174168"/>
                  <a:pt x="3800709" y="278683"/>
                </a:cubicBezTo>
                <a:cubicBezTo>
                  <a:pt x="3757627" y="341272"/>
                  <a:pt x="3733851" y="411747"/>
                  <a:pt x="3715636" y="484798"/>
                </a:cubicBezTo>
                <a:cubicBezTo>
                  <a:pt x="3690991" y="583085"/>
                  <a:pt x="3679402" y="683963"/>
                  <a:pt x="3653350" y="782047"/>
                </a:cubicBezTo>
                <a:cubicBezTo>
                  <a:pt x="3605800" y="961567"/>
                  <a:pt x="3484775" y="1064150"/>
                  <a:pt x="3313687" y="1116696"/>
                </a:cubicBezTo>
                <a:cubicBezTo>
                  <a:pt x="3202245" y="1150937"/>
                  <a:pt x="3086184" y="1157228"/>
                  <a:pt x="2971296" y="1170065"/>
                </a:cubicBezTo>
                <a:cubicBezTo>
                  <a:pt x="2927453" y="1174978"/>
                  <a:pt x="2884104" y="1182069"/>
                  <a:pt x="2840791" y="1190377"/>
                </a:cubicBezTo>
                <a:cubicBezTo>
                  <a:pt x="2700130" y="1217394"/>
                  <a:pt x="2608812" y="1300867"/>
                  <a:pt x="2560281" y="1433564"/>
                </a:cubicBezTo>
                <a:cubicBezTo>
                  <a:pt x="2535739" y="1500834"/>
                  <a:pt x="2512680" y="1568791"/>
                  <a:pt x="2488632" y="1636291"/>
                </a:cubicBezTo>
                <a:cubicBezTo>
                  <a:pt x="2470101" y="1688636"/>
                  <a:pt x="2447670" y="1739027"/>
                  <a:pt x="2417704" y="1785928"/>
                </a:cubicBezTo>
                <a:cubicBezTo>
                  <a:pt x="2352537" y="1888112"/>
                  <a:pt x="2258669" y="1939493"/>
                  <a:pt x="2138664" y="1944259"/>
                </a:cubicBezTo>
                <a:cubicBezTo>
                  <a:pt x="2081033" y="1946539"/>
                  <a:pt x="2024838" y="1935678"/>
                  <a:pt x="1968143" y="1926538"/>
                </a:cubicBezTo>
                <a:cubicBezTo>
                  <a:pt x="1794639" y="1898730"/>
                  <a:pt x="1634721" y="1923583"/>
                  <a:pt x="1510449" y="2062030"/>
                </a:cubicBezTo>
                <a:cubicBezTo>
                  <a:pt x="1467003" y="2110494"/>
                  <a:pt x="1442326" y="2171249"/>
                  <a:pt x="1416196" y="2230282"/>
                </a:cubicBezTo>
                <a:cubicBezTo>
                  <a:pt x="1401276" y="2263966"/>
                  <a:pt x="1386974" y="2297936"/>
                  <a:pt x="1371668" y="2331442"/>
                </a:cubicBezTo>
                <a:lnTo>
                  <a:pt x="1330389" y="2411767"/>
                </a:lnTo>
                <a:lnTo>
                  <a:pt x="1330389" y="2319304"/>
                </a:lnTo>
                <a:lnTo>
                  <a:pt x="1404269" y="2157831"/>
                </a:lnTo>
                <a:cubicBezTo>
                  <a:pt x="1435507" y="2090360"/>
                  <a:pt x="1473560" y="2026643"/>
                  <a:pt x="1534103" y="1981443"/>
                </a:cubicBezTo>
                <a:cubicBezTo>
                  <a:pt x="1671753" y="1878603"/>
                  <a:pt x="1826702" y="1856702"/>
                  <a:pt x="1991868" y="1890852"/>
                </a:cubicBezTo>
                <a:cubicBezTo>
                  <a:pt x="2035151" y="1899787"/>
                  <a:pt x="2078344" y="1905678"/>
                  <a:pt x="2122750" y="1905378"/>
                </a:cubicBezTo>
                <a:cubicBezTo>
                  <a:pt x="2255544" y="1904432"/>
                  <a:pt x="2347315" y="1840075"/>
                  <a:pt x="2406904" y="1724655"/>
                </a:cubicBezTo>
                <a:cubicBezTo>
                  <a:pt x="2445656" y="1649706"/>
                  <a:pt x="2467883" y="1568311"/>
                  <a:pt x="2495665" y="1489183"/>
                </a:cubicBezTo>
                <a:cubicBezTo>
                  <a:pt x="2517107" y="1428281"/>
                  <a:pt x="2540585" y="1368172"/>
                  <a:pt x="2576173" y="1313669"/>
                </a:cubicBezTo>
                <a:cubicBezTo>
                  <a:pt x="2641347" y="1213738"/>
                  <a:pt x="2739857" y="1168858"/>
                  <a:pt x="2852302" y="1147687"/>
                </a:cubicBezTo>
                <a:cubicBezTo>
                  <a:pt x="2946995" y="1129853"/>
                  <a:pt x="3043556" y="1125488"/>
                  <a:pt x="3138814" y="1112265"/>
                </a:cubicBezTo>
                <a:cubicBezTo>
                  <a:pt x="3199609" y="1103797"/>
                  <a:pt x="3259968" y="1093026"/>
                  <a:pt x="3318731" y="1073712"/>
                </a:cubicBezTo>
                <a:cubicBezTo>
                  <a:pt x="3484639" y="1019069"/>
                  <a:pt x="3587288" y="909178"/>
                  <a:pt x="3623520" y="736273"/>
                </a:cubicBezTo>
                <a:cubicBezTo>
                  <a:pt x="3645098" y="633267"/>
                  <a:pt x="3660421" y="528864"/>
                  <a:pt x="3689046" y="427170"/>
                </a:cubicBezTo>
                <a:cubicBezTo>
                  <a:pt x="3742829" y="236130"/>
                  <a:pt x="3862429" y="116528"/>
                  <a:pt x="4058309" y="73960"/>
                </a:cubicBezTo>
                <a:cubicBezTo>
                  <a:pt x="4159645" y="52149"/>
                  <a:pt x="4262586" y="41133"/>
                  <a:pt x="4364186" y="21995"/>
                </a:cubicBezTo>
                <a:cubicBezTo>
                  <a:pt x="4380786" y="18876"/>
                  <a:pt x="4397626" y="16131"/>
                  <a:pt x="4414216" y="12669"/>
                </a:cubicBez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FFFFFF"/>
              </a:solidFill>
              <a:latin typeface="Calibri"/>
              <a:ea typeface="Calibri"/>
              <a:cs typeface="Calibri"/>
              <a:sym typeface="Calibri"/>
            </a:endParaRPr>
          </a:p>
        </p:txBody>
      </p:sp>
      <p:sp>
        <p:nvSpPr>
          <p:cNvPr id="171" name="Google Shape;171;p18"/>
          <p:cNvSpPr txBox="1"/>
          <p:nvPr/>
        </p:nvSpPr>
        <p:spPr>
          <a:xfrm>
            <a:off x="764050" y="4290875"/>
            <a:ext cx="77949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0053A1"/>
                </a:solidFill>
                <a:latin typeface="Roboto"/>
                <a:ea typeface="Roboto"/>
                <a:cs typeface="Roboto"/>
                <a:sym typeface="Roboto"/>
              </a:rPr>
              <a:t>www.careercraftacademy.com             info@careercraftacademy.com             +91-9442639366 , +91-9600344633</a:t>
            </a:r>
            <a:endParaRPr sz="1200">
              <a:solidFill>
                <a:srgbClr val="0053A1"/>
              </a:solidFill>
            </a:endParaRPr>
          </a:p>
        </p:txBody>
      </p:sp>
      <p:pic>
        <p:nvPicPr>
          <p:cNvPr id="172" name="Google Shape;172;p18" title="email.png"/>
          <p:cNvPicPr preferRelativeResize="0"/>
          <p:nvPr/>
        </p:nvPicPr>
        <p:blipFill>
          <a:blip r:embed="rId5">
            <a:alphaModFix/>
          </a:blip>
          <a:stretch>
            <a:fillRect/>
          </a:stretch>
        </p:blipFill>
        <p:spPr>
          <a:xfrm>
            <a:off x="3136075" y="4385887"/>
            <a:ext cx="179300" cy="179300"/>
          </a:xfrm>
          <a:prstGeom prst="rect">
            <a:avLst/>
          </a:prstGeom>
          <a:noFill/>
          <a:ln>
            <a:noFill/>
          </a:ln>
        </p:spPr>
      </p:pic>
      <p:pic>
        <p:nvPicPr>
          <p:cNvPr id="173" name="Google Shape;173;p18" title="phone-call.png"/>
          <p:cNvPicPr preferRelativeResize="0"/>
          <p:nvPr/>
        </p:nvPicPr>
        <p:blipFill>
          <a:blip r:embed="rId6">
            <a:alphaModFix/>
          </a:blip>
          <a:stretch>
            <a:fillRect/>
          </a:stretch>
        </p:blipFill>
        <p:spPr>
          <a:xfrm>
            <a:off x="5718725" y="4404200"/>
            <a:ext cx="133875" cy="133875"/>
          </a:xfrm>
          <a:prstGeom prst="rect">
            <a:avLst/>
          </a:prstGeom>
          <a:noFill/>
          <a:ln>
            <a:noFill/>
          </a:ln>
        </p:spPr>
      </p:pic>
      <p:pic>
        <p:nvPicPr>
          <p:cNvPr id="174" name="Google Shape;174;p18" title="world-wide-web.png"/>
          <p:cNvPicPr preferRelativeResize="0"/>
          <p:nvPr/>
        </p:nvPicPr>
        <p:blipFill>
          <a:blip r:embed="rId7">
            <a:alphaModFix/>
          </a:blip>
          <a:stretch>
            <a:fillRect/>
          </a:stretch>
        </p:blipFill>
        <p:spPr>
          <a:xfrm rot="10800000" flipH="1">
            <a:off x="666150" y="4414075"/>
            <a:ext cx="133875" cy="13387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394</TotalTime>
  <Words>1042</Words>
  <Application>Microsoft Office PowerPoint</Application>
  <PresentationFormat>On-screen Show (16:9)</PresentationFormat>
  <Paragraphs>100</Paragraphs>
  <Slides>14</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Roboto</vt:lpstr>
      <vt:lpstr>Arial</vt:lpstr>
      <vt:lpstr>Calibri</vt:lpstr>
      <vt:lpstr>Poppins SemiBold</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THILAK</dc:creator>
  <cp:lastModifiedBy>Rajesh Vengadesan</cp:lastModifiedBy>
  <cp:revision>10</cp:revision>
  <dcterms:modified xsi:type="dcterms:W3CDTF">2026-07-02T12:59:53Z</dcterms:modified>
</cp:coreProperties>
</file>