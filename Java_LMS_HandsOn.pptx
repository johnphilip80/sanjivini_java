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303" r:id="rId6"/>
    <p:sldId id="305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272" r:id="rId26"/>
    <p:sldId id="273" r:id="rId27"/>
    <p:sldId id="274" r:id="rId28"/>
    <p:sldId id="285" r:id="rId29"/>
    <p:sldId id="286" r:id="rId30"/>
    <p:sldId id="287" r:id="rId31"/>
    <p:sldId id="275" r:id="rId32"/>
    <p:sldId id="288" r:id="rId33"/>
    <p:sldId id="289" r:id="rId34"/>
    <p:sldId id="290" r:id="rId35"/>
    <p:sldId id="291" r:id="rId36"/>
    <p:sldId id="292" r:id="rId37"/>
    <p:sldId id="293" r:id="rId38"/>
    <p:sldId id="295" r:id="rId39"/>
    <p:sldId id="294" r:id="rId40"/>
    <p:sldId id="296" r:id="rId41"/>
    <p:sldId id="297" r:id="rId42"/>
    <p:sldId id="298" r:id="rId43"/>
    <p:sldId id="280" r:id="rId44"/>
    <p:sldId id="299" r:id="rId45"/>
    <p:sldId id="281" r:id="rId46"/>
    <p:sldId id="300" r:id="rId47"/>
    <p:sldId id="301" r:id="rId48"/>
    <p:sldId id="302" r:id="rId49"/>
    <p:sldId id="314" r:id="rId50"/>
    <p:sldId id="315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6416" autoAdjust="0"/>
  </p:normalViewPr>
  <p:slideViewPr>
    <p:cSldViewPr showGuides="1">
      <p:cViewPr>
        <p:scale>
          <a:sx n="75" d="100"/>
          <a:sy n="75" d="100"/>
        </p:scale>
        <p:origin x="-1236" y="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55DC0-6C6A-4FBF-AFD8-4EABC90ECA3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EB8D8-98AC-42AE-8E50-E4CD76B148E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hyperlink" Target="https://code.visualstudio.com/docs/languages/java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4.bin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w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6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wmf"/><Relationship Id="rId1" Type="http://schemas.openxmlformats.org/officeDocument/2006/relationships/oleObject" Target="../embeddings/oleObject7.bin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wmf"/><Relationship Id="rId1" Type="http://schemas.openxmlformats.org/officeDocument/2006/relationships/oleObject" Target="../embeddings/oleObject8.bin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wmf"/><Relationship Id="rId1" Type="http://schemas.openxmlformats.org/officeDocument/2006/relationships/oleObject" Target="../embeddings/oleObject9.bin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wmf"/><Relationship Id="rId1" Type="http://schemas.openxmlformats.org/officeDocument/2006/relationships/oleObject" Target="../embeddings/oleObject10.bin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5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wmf"/><Relationship Id="rId1" Type="http://schemas.openxmlformats.org/officeDocument/2006/relationships/oleObject" Target="../embeddings/oleObject12.bin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wmf"/><Relationship Id="rId1" Type="http://schemas.openxmlformats.org/officeDocument/2006/relationships/oleObject" Target="../embeddings/oleObject13.bin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wmf"/><Relationship Id="rId1" Type="http://schemas.openxmlformats.org/officeDocument/2006/relationships/oleObject" Target="../embeddings/oleObject14.bin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0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39.wmf"/><Relationship Id="rId1" Type="http://schemas.openxmlformats.org/officeDocument/2006/relationships/oleObject" Target="../embeddings/oleObject15.bin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2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41.wmf"/><Relationship Id="rId1" Type="http://schemas.openxmlformats.org/officeDocument/2006/relationships/oleObject" Target="../embeddings/oleObject17.bin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4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43.wmf"/><Relationship Id="rId1" Type="http://schemas.openxmlformats.org/officeDocument/2006/relationships/oleObject" Target="../embeddings/oleObject19.bin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6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45.wmf"/><Relationship Id="rId1" Type="http://schemas.openxmlformats.org/officeDocument/2006/relationships/oleObject" Target="../embeddings/oleObject21.bin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8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23.bin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wmf"/><Relationship Id="rId1" Type="http://schemas.openxmlformats.org/officeDocument/2006/relationships/oleObject" Target="../embeddings/oleObject25.bin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wmf"/><Relationship Id="rId1" Type="http://schemas.openxmlformats.org/officeDocument/2006/relationships/oleObject" Target="../embeddings/oleObject26.bin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wmf"/><Relationship Id="rId1" Type="http://schemas.openxmlformats.org/officeDocument/2006/relationships/oleObject" Target="../embeddings/oleObject27.bin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3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52.wmf"/><Relationship Id="rId1" Type="http://schemas.openxmlformats.org/officeDocument/2006/relationships/oleObject" Target="../embeddings/oleObject28.bin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5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54.wmf"/><Relationship Id="rId1" Type="http://schemas.openxmlformats.org/officeDocument/2006/relationships/oleObject" Target="../embeddings/oleObject30.bin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2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61.wmf"/><Relationship Id="rId1" Type="http://schemas.openxmlformats.org/officeDocument/2006/relationships/oleObject" Target="../embeddings/oleObject32.bin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3.wmf"/><Relationship Id="rId1" Type="http://schemas.openxmlformats.org/officeDocument/2006/relationships/oleObject" Target="../embeddings/oleObject34.bin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4.wmf"/><Relationship Id="rId1" Type="http://schemas.openxmlformats.org/officeDocument/2006/relationships/oleObject" Target="../embeddings/oleObject35.bin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5.wmf"/><Relationship Id="rId1" Type="http://schemas.openxmlformats.org/officeDocument/2006/relationships/oleObject" Target="../embeddings/oleObject36.bin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6.wmf"/><Relationship Id="rId1" Type="http://schemas.openxmlformats.org/officeDocument/2006/relationships/oleObject" Target="../embeddings/oleObject3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Java – Hands 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Career Craft Academy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US" dirty="0" smtClean="0"/>
              <a:t>Install VS Code with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214423"/>
            <a:ext cx="8229600" cy="1214446"/>
          </a:xfrm>
        </p:spPr>
        <p:txBody>
          <a:bodyPr/>
          <a:lstStyle/>
          <a:p>
            <a:r>
              <a:rPr lang="en-US" dirty="0" smtClean="0">
                <a:hlinkClick r:id="rId1"/>
              </a:rPr>
              <a:t>https://code.visualstudio.com/docs/languages/java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81112" y="2428868"/>
            <a:ext cx="699135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Java Fundamentals And Project Setup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JDK, JRE, JVM, Compilation and Execution</a:t>
            </a:r>
            <a:endParaRPr lang="en-US" dirty="0" smtClean="0"/>
          </a:p>
          <a:p>
            <a:r>
              <a:rPr lang="en-US" dirty="0" smtClean="0"/>
              <a:t>main method, variables, data types and operators.</a:t>
            </a:r>
            <a:endParaRPr lang="en-US" dirty="0" smtClean="0"/>
          </a:p>
          <a:p>
            <a:r>
              <a:rPr lang="en-US" dirty="0" smtClean="0"/>
              <a:t>if, switch, loops and console output</a:t>
            </a:r>
            <a:endParaRPr lang="en-US" dirty="0" smtClean="0"/>
          </a:p>
          <a:p>
            <a:r>
              <a:rPr lang="en-US" dirty="0" smtClean="0"/>
              <a:t>Create the project and display the library menu.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Java Fundamentals</a:t>
            </a:r>
            <a:endParaRPr lang="en-I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1628775"/>
            <a:ext cx="8737600" cy="19767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Java Fundamentals</a:t>
            </a:r>
            <a:endParaRPr lang="en-I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05" y="1844675"/>
            <a:ext cx="7254240" cy="43967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Create Workspace Folder in Desktop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85786" y="1500174"/>
            <a:ext cx="6072230" cy="4562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 Program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Workspace Folder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Java Project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Java Package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Java Class{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Data Type variable1;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Data Type variable2;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Data Type </a:t>
            </a:r>
            <a:r>
              <a:rPr lang="en-US" dirty="0" err="1" smtClean="0"/>
              <a:t>variableN</a:t>
            </a:r>
            <a:r>
              <a:rPr lang="en-US" dirty="0" smtClean="0"/>
              <a:t>;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Method1(){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	statement1;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	statement2;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	</a:t>
            </a:r>
            <a:r>
              <a:rPr lang="en-US" dirty="0" err="1" smtClean="0"/>
              <a:t>statementN</a:t>
            </a:r>
            <a:r>
              <a:rPr lang="en-US" dirty="0" smtClean="0"/>
              <a:t>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}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Method2(){}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</a:t>
            </a:r>
            <a:r>
              <a:rPr lang="en-US" dirty="0" err="1" smtClean="0"/>
              <a:t>MethodN</a:t>
            </a:r>
            <a:r>
              <a:rPr lang="en-US" dirty="0" smtClean="0"/>
              <a:t>(){}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Open Command Prompt from Workspace folder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71472" y="1714488"/>
            <a:ext cx="7786742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1"/>
          <p:cNvSpPr txBox="1"/>
          <p:nvPr/>
        </p:nvSpPr>
        <p:spPr>
          <a:xfrm>
            <a:off x="500034" y="314325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Open VS Code from Command Prompt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4214818"/>
            <a:ext cx="6572296" cy="1933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New Java Project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45559" y="2214554"/>
            <a:ext cx="8998441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4786322"/>
            <a:ext cx="60864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/>
          <p:cNvSpPr txBox="1"/>
          <p:nvPr/>
        </p:nvSpPr>
        <p:spPr>
          <a:xfrm>
            <a:off x="928662" y="1571612"/>
            <a:ext cx="6500858" cy="428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Ctrl + Shift + P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928662" y="4070376"/>
            <a:ext cx="6572296" cy="430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No</a:t>
            </a:r>
            <a:r>
              <a:rPr kumimoji="0" lang="en-US" sz="4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Build Tools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 Project Location Folder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147783" y="1428736"/>
            <a:ext cx="6353175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Name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71471" y="1857364"/>
            <a:ext cx="7962759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4000504"/>
            <a:ext cx="6010275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Java Package (base)</a:t>
            </a: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643174" y="1571612"/>
            <a:ext cx="2667000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5429264"/>
            <a:ext cx="392430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Java Class</a:t>
            </a:r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28662" y="1357298"/>
            <a:ext cx="6542530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5572140"/>
            <a:ext cx="372427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Class with main method</a:t>
            </a:r>
            <a:endParaRPr lang="en-US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00034" y="1428736"/>
            <a:ext cx="8337024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Run and check the output in terminal / console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0958" y="1571612"/>
            <a:ext cx="8830198" cy="459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main method</a:t>
            </a:r>
            <a:endParaRPr lang="en-I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1700530"/>
            <a:ext cx="8052435" cy="2311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Variable and Data type</a:t>
            </a:r>
            <a:endParaRPr lang="en-I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1700530"/>
            <a:ext cx="8366760" cy="3318510"/>
          </a:xfrm>
          <a:prstGeom prst="rect">
            <a:avLst/>
          </a:prstGeom>
        </p:spPr>
      </p:pic>
      <p:graphicFrame>
        <p:nvGraphicFramePr>
          <p:cNvPr id="6" name="Object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31820" y="530098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" showAsIcon="1" r:id="rId2" imgW="971550" imgH="800100" progId="Package">
                  <p:embed/>
                </p:oleObj>
              </mc:Choice>
              <mc:Fallback>
                <p:oleObj name="" showAsIcon="1" r:id="rId2" imgW="971550" imgH="800100" progId="Package">
                  <p:embed/>
                  <p:pic>
                    <p:nvPicPr>
                      <p:cNvPr id="0" name="Picture 2150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31820" y="530098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Scan different data types</a:t>
            </a:r>
            <a:endParaRPr lang="en-I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1844675"/>
            <a:ext cx="8445500" cy="29032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" y="4804728"/>
            <a:ext cx="8229600" cy="1143000"/>
          </a:xfrm>
        </p:spPr>
        <p:txBody>
          <a:bodyPr>
            <a:noAutofit/>
          </a:bodyPr>
          <a:p>
            <a:r>
              <a:rPr lang="en-US" altLang="en-US" sz="2400"/>
              <a:t>Student task: Modify the program to calculate the square and cube of a number.</a:t>
            </a:r>
            <a:endParaRPr lang="en-US" alt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84630"/>
            <a:ext cx="9144000" cy="1791335"/>
          </a:xfrm>
          <a:prstGeom prst="rect">
            <a:avLst/>
          </a:prstGeom>
        </p:spPr>
      </p:pic>
      <p:graphicFrame>
        <p:nvGraphicFramePr>
          <p:cNvPr id="5" name="Object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07765" y="400494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9" name="" showAsIcon="1" r:id="rId2" imgW="971550" imgH="800100" progId="Package">
                  <p:embed/>
                </p:oleObj>
              </mc:Choice>
              <mc:Fallback>
                <p:oleObj name="" showAsIcon="1" r:id="rId2" imgW="971550" imgH="800100" progId="Package">
                  <p:embed/>
                  <p:pic>
                    <p:nvPicPr>
                      <p:cNvPr id="0" name="Picture 2252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07765" y="400494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>
            <a:spLocks noGrp="1"/>
          </p:cNvSpPr>
          <p:nvPr/>
        </p:nvSpPr>
        <p:spPr>
          <a:xfrm>
            <a:off x="584200" y="401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/>
              <a:t>Operators</a:t>
            </a:r>
            <a:endParaRPr lang="en-I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Conditional Statements</a:t>
            </a:r>
            <a:endParaRPr lang="en-I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1628775"/>
            <a:ext cx="8442325" cy="2419350"/>
          </a:xfrm>
          <a:prstGeom prst="rect">
            <a:avLst/>
          </a:prstGeom>
        </p:spPr>
      </p:pic>
      <p:graphicFrame>
        <p:nvGraphicFramePr>
          <p:cNvPr id="5" name="Object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79520" y="436499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" showAsIcon="1" r:id="rId2" imgW="971550" imgH="800100" progId="Package">
                  <p:embed/>
                </p:oleObj>
              </mc:Choice>
              <mc:Fallback>
                <p:oleObj name="" showAsIcon="1" r:id="rId2" imgW="971550" imgH="800100" progId="Package">
                  <p:embed/>
                  <p:pic>
                    <p:nvPicPr>
                      <p:cNvPr id="0" name="Picture 2355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79520" y="436499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switch and break</a:t>
            </a:r>
            <a:endParaRPr lang="en-IN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 the switch statement provides a way to execute different code blocks based on the value of an expression. </a:t>
            </a:r>
            <a:endParaRPr lang="en-US" altLang="en-US"/>
          </a:p>
          <a:p>
            <a:r>
              <a:rPr lang="en-US" altLang="en-US"/>
              <a:t>The break keyword is used inside a switch block to immediately terminate execution and exit the structure</a:t>
            </a:r>
            <a:endParaRPr lang="en-US" altLang="en-US"/>
          </a:p>
          <a:p>
            <a:r>
              <a:rPr lang="en-US" altLang="en-US"/>
              <a:t>Student task: Create a switch program that accepts a number from 1 to 7 and displays the corresponding weekday.</a:t>
            </a:r>
            <a:endParaRPr lang="en-US" altLang="en-US"/>
          </a:p>
        </p:txBody>
      </p:sp>
      <p:graphicFrame>
        <p:nvGraphicFramePr>
          <p:cNvPr id="4" name="Object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63845" y="558863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7" name="" showAsIcon="1" r:id="rId1" imgW="971550" imgH="800100" progId="Package">
                  <p:embed/>
                </p:oleObj>
              </mc:Choice>
              <mc:Fallback>
                <p:oleObj name="" showAsIcon="1" r:id="rId1" imgW="971550" imgH="800100" progId="Package">
                  <p:embed/>
                  <p:pic>
                    <p:nvPicPr>
                      <p:cNvPr id="0" name="Picture 245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63845" y="558863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Looping Statements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loops repeat a block of code while a condition permits it.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2852420"/>
            <a:ext cx="8015605" cy="2758440"/>
          </a:xfrm>
          <a:prstGeom prst="rect">
            <a:avLst/>
          </a:prstGeom>
        </p:spPr>
      </p:pic>
      <p:graphicFrame>
        <p:nvGraphicFramePr>
          <p:cNvPr id="6" name="Object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36010" y="544004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" showAsIcon="1" r:id="rId2" imgW="971550" imgH="800100" progId="Package">
                  <p:embed/>
                </p:oleObj>
              </mc:Choice>
              <mc:Fallback>
                <p:oleObj name="" showAsIcon="1" r:id="rId2" imgW="971550" imgH="800100" progId="Package">
                  <p:embed/>
                  <p:pic>
                    <p:nvPicPr>
                      <p:cNvPr id="0" name="Picture 2560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36010" y="544004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Student Tasks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en-US" altLang="en-US"/>
              <a:t>Print numbers from 1 to 50 using a for loop.</a:t>
            </a:r>
            <a:endParaRPr lang="en-US" altLang="en-US"/>
          </a:p>
          <a:p>
            <a:r>
              <a:rPr lang="en-US" altLang="en-US"/>
              <a:t>Find the factorial of a number using a while loop.</a:t>
            </a:r>
            <a:endParaRPr lang="en-US" altLang="en-US"/>
          </a:p>
          <a:p>
            <a:r>
              <a:rPr lang="en-US" altLang="en-US"/>
              <a:t>Keep asking the user to enter a number until they enter 0.</a:t>
            </a:r>
            <a:endParaRPr lang="en-US" altLang="en-US"/>
          </a:p>
          <a:p>
            <a:r>
              <a:rPr lang="en-US" altLang="en-US"/>
              <a:t>Print all even numbers between 1 and 100.</a:t>
            </a:r>
            <a:endParaRPr lang="en-US" altLang="en-US"/>
          </a:p>
          <a:p>
            <a:r>
              <a:rPr lang="en-US" altLang="en-US"/>
              <a:t>Develop a Java console application that accepts a student's name and marks in three subjects. Calculate the total and average, determine the grade, and display the result.</a:t>
            </a:r>
            <a:endParaRPr lang="en-US" altLang="en-US"/>
          </a:p>
          <a:p>
            <a:r>
              <a:rPr lang="en-US" altLang="en-US"/>
              <a:t>Modify the program to accept five subjects and display PASS only if the student scores at least </a:t>
            </a:r>
            <a:r>
              <a:rPr lang="en-IN" altLang="en-US"/>
              <a:t>50</a:t>
            </a:r>
            <a:r>
              <a:rPr lang="en-US" altLang="en-US"/>
              <a:t> in every subject. Otherwise, display FAIL.</a:t>
            </a:r>
            <a:endParaRPr lang="en-US" altLang="en-US"/>
          </a:p>
        </p:txBody>
      </p:sp>
      <p:graphicFrame>
        <p:nvGraphicFramePr>
          <p:cNvPr id="4" name="Object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491865" y="522922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" name="" showAsIcon="1" r:id="rId1" imgW="971550" imgH="800100" progId="Package">
                  <p:embed/>
                </p:oleObj>
              </mc:Choice>
              <mc:Fallback>
                <p:oleObj name="" showAsIcon="1" r:id="rId1" imgW="971550" imgH="800100" progId="Package">
                  <p:embed/>
                  <p:pic>
                    <p:nvPicPr>
                      <p:cNvPr id="0" name="Picture 266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91865" y="522922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US" dirty="0" smtClean="0"/>
              <a:t>model package</a:t>
            </a:r>
            <a:endParaRPr lang="en-US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42910" y="1142984"/>
            <a:ext cx="7072362" cy="3555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5214950"/>
            <a:ext cx="455295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class Book</a:t>
            </a:r>
            <a:endParaRPr lang="en-US" dirty="0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42911" y="1428736"/>
            <a:ext cx="6858048" cy="254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4357694"/>
            <a:ext cx="466725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Book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package </a:t>
            </a:r>
            <a:r>
              <a:rPr lang="en-US" dirty="0" err="1"/>
              <a:t>edu.su.john.lms.model</a:t>
            </a:r>
            <a:r>
              <a:rPr lang="en-US" dirty="0"/>
              <a:t>;</a:t>
            </a:r>
            <a:endParaRPr lang="en-US" dirty="0"/>
          </a:p>
          <a:p>
            <a:pPr>
              <a:buNone/>
            </a:pPr>
            <a:br>
              <a:rPr lang="en-US" dirty="0"/>
            </a:br>
            <a:r>
              <a:rPr lang="en-US" dirty="0"/>
              <a:t>public class Book {</a:t>
            </a:r>
            <a:endParaRPr lang="en-US" dirty="0"/>
          </a:p>
          <a:p>
            <a:pPr>
              <a:buNone/>
            </a:pPr>
            <a:r>
              <a:rPr lang="en-US" dirty="0"/>
              <a:t>    </a:t>
            </a:r>
            <a:r>
              <a:rPr lang="en-US" dirty="0" smtClean="0"/>
              <a:t>public </a:t>
            </a:r>
            <a:r>
              <a:rPr lang="en-US" dirty="0" err="1"/>
              <a:t>int</a:t>
            </a:r>
            <a:r>
              <a:rPr lang="en-US" dirty="0"/>
              <a:t> id;</a:t>
            </a:r>
            <a:endParaRPr lang="en-US" dirty="0"/>
          </a:p>
          <a:p>
            <a:pPr>
              <a:buNone/>
            </a:pPr>
            <a:r>
              <a:rPr lang="en-US" dirty="0"/>
              <a:t>    </a:t>
            </a:r>
            <a:r>
              <a:rPr lang="en-US" dirty="0" smtClean="0"/>
              <a:t>public </a:t>
            </a:r>
            <a:r>
              <a:rPr lang="en-US" dirty="0"/>
              <a:t>String title; </a:t>
            </a:r>
            <a:endParaRPr lang="en-US" dirty="0"/>
          </a:p>
          <a:p>
            <a:pPr>
              <a:buNone/>
            </a:pPr>
            <a:r>
              <a:rPr lang="en-US" dirty="0"/>
              <a:t>    </a:t>
            </a:r>
            <a:r>
              <a:rPr lang="en-US" dirty="0" smtClean="0"/>
              <a:t>public </a:t>
            </a:r>
            <a:r>
              <a:rPr lang="en-US" dirty="0"/>
              <a:t>String author; </a:t>
            </a:r>
            <a:endParaRPr lang="en-US" dirty="0"/>
          </a:p>
          <a:p>
            <a:pPr>
              <a:buNone/>
            </a:pPr>
            <a:r>
              <a:rPr lang="en-US" dirty="0"/>
              <a:t>    </a:t>
            </a:r>
            <a:r>
              <a:rPr lang="en-US" dirty="0" smtClean="0"/>
              <a:t>public </a:t>
            </a:r>
            <a:r>
              <a:rPr lang="en-US" dirty="0"/>
              <a:t>String category</a:t>
            </a:r>
            <a:r>
              <a:rPr lang="en-US" dirty="0" smtClean="0"/>
              <a:t>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public Double price;</a:t>
            </a:r>
            <a:endParaRPr lang="en-US" dirty="0"/>
          </a:p>
          <a:p>
            <a:pPr>
              <a:buNone/>
            </a:pPr>
            <a:r>
              <a:rPr lang="en-US" dirty="0"/>
              <a:t>    </a:t>
            </a:r>
            <a:r>
              <a:rPr lang="en-US" dirty="0" smtClean="0"/>
              <a:t>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totalCopies</a:t>
            </a:r>
            <a:r>
              <a:rPr lang="en-US" dirty="0"/>
              <a:t>;</a:t>
            </a:r>
            <a:endParaRPr lang="en-US" dirty="0"/>
          </a:p>
          <a:p>
            <a:pPr>
              <a:buNone/>
            </a:pPr>
            <a:r>
              <a:rPr lang="en-US" dirty="0"/>
              <a:t>    </a:t>
            </a:r>
            <a:r>
              <a:rPr lang="en-US" dirty="0" smtClean="0"/>
              <a:t>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availableCopies</a:t>
            </a:r>
            <a:r>
              <a:rPr lang="en-US" dirty="0"/>
              <a:t>;</a:t>
            </a:r>
            <a:endParaRPr lang="en-US" dirty="0"/>
          </a:p>
          <a:p>
            <a:pPr>
              <a:buNone/>
            </a:pPr>
            <a:r>
              <a:rPr lang="en-US" dirty="0"/>
              <a:t>   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}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5727700" y="2984500"/>
          <a:ext cx="7016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Packager Shell Object" showAsIcon="1" r:id="rId1" imgW="609600" imgH="504825" progId="Package">
                  <p:embed/>
                </p:oleObj>
              </mc:Choice>
              <mc:Fallback>
                <p:oleObj name="Packager Shell Object" showAsIcon="1" r:id="rId1" imgW="609600" imgH="504825" progId="Package">
                  <p:embed/>
                  <p:pic>
                    <p:nvPicPr>
                      <p:cNvPr id="0" name="Picture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27700" y="2984500"/>
                        <a:ext cx="70167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Demo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3 book objects.</a:t>
            </a:r>
            <a:endParaRPr lang="en-US" dirty="0" smtClean="0"/>
          </a:p>
          <a:p>
            <a:r>
              <a:rPr lang="en-US" dirty="0" smtClean="0"/>
              <a:t>Set values for 3 books.</a:t>
            </a:r>
            <a:endParaRPr lang="en-US" dirty="0" smtClean="0"/>
          </a:p>
          <a:p>
            <a:r>
              <a:rPr lang="en-US" dirty="0" smtClean="0"/>
              <a:t>Print heading</a:t>
            </a:r>
            <a:endParaRPr lang="en-US" dirty="0" smtClean="0"/>
          </a:p>
          <a:p>
            <a:r>
              <a:rPr lang="en-US" dirty="0" smtClean="0"/>
              <a:t>Get 3 book values and print as rows.</a:t>
            </a:r>
            <a:endParaRPr lang="en-US" dirty="0"/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6429388" y="1216007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429388" y="1216007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Demo - Formatted 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</a:t>
            </a:r>
            <a:r>
              <a:rPr lang="en-US" dirty="0" err="1" smtClean="0"/>
              <a:t>System.out.printf</a:t>
            </a:r>
            <a:r>
              <a:rPr lang="en-US" dirty="0" smtClean="0"/>
              <a:t> to format the output.</a:t>
            </a:r>
            <a:endParaRPr lang="en-US" dirty="0"/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2786050" y="2786058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86050" y="2786058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 Book - Access </a:t>
            </a:r>
            <a:r>
              <a:rPr lang="en-US" dirty="0" err="1" smtClean="0"/>
              <a:t>Specifiers</a:t>
            </a:r>
            <a:r>
              <a:rPr lang="en-US" dirty="0" smtClean="0"/>
              <a:t> – Public and Private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Change all public properties to private properties in class Book.</a:t>
            </a:r>
            <a:endParaRPr lang="en-US" dirty="0" smtClean="0"/>
          </a:p>
          <a:p>
            <a:r>
              <a:rPr lang="en-US" dirty="0" smtClean="0"/>
              <a:t>Generate Getters and Setters.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6072198" y="2071678"/>
          <a:ext cx="7016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Packager Shell Object" showAsIcon="1" r:id="rId1" imgW="609600" imgH="504825" progId="Package">
                  <p:embed/>
                </p:oleObj>
              </mc:Choice>
              <mc:Fallback>
                <p:oleObj name="Packager Shell Object" showAsIcon="1" r:id="rId1" imgW="609600" imgH="504825" progId="Package">
                  <p:embed/>
                  <p:pic>
                    <p:nvPicPr>
                      <p:cNvPr id="0" name="Picture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72198" y="2071678"/>
                        <a:ext cx="70167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sz="2700" dirty="0" smtClean="0"/>
              <a:t>Right Click </a:t>
            </a:r>
            <a:r>
              <a:rPr lang="en-US" sz="2700" dirty="0" smtClean="0"/>
              <a:t>–&gt; </a:t>
            </a:r>
            <a:r>
              <a:rPr lang="en-US" sz="2700" dirty="0" smtClean="0"/>
              <a:t>Source </a:t>
            </a:r>
            <a:r>
              <a:rPr lang="en-US" sz="2700" dirty="0" smtClean="0"/>
              <a:t>Action -&gt; Generate Getters &amp; Setters -&gt; Select All</a:t>
            </a:r>
            <a:endParaRPr lang="en-US" dirty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85918" y="1142984"/>
            <a:ext cx="4357718" cy="3336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4786322"/>
            <a:ext cx="4743450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6896100" y="2730500"/>
          <a:ext cx="7016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Packager Shell Object" showAsIcon="1" r:id="rId3" imgW="609600" imgH="504825" progId="Package">
                  <p:embed/>
                </p:oleObj>
              </mc:Choice>
              <mc:Fallback>
                <p:oleObj name="Packager Shell Object" showAsIcon="1" r:id="rId3" imgW="609600" imgH="504825" progId="Package">
                  <p:embed/>
                  <p:pic>
                    <p:nvPicPr>
                      <p:cNvPr id="0" name="Picture 512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96100" y="2730500"/>
                        <a:ext cx="70167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Demo - main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Modify program by using setters and getters.</a:t>
            </a:r>
            <a:endParaRPr lang="en-US" dirty="0" smtClean="0"/>
          </a:p>
          <a:p>
            <a:r>
              <a:rPr lang="en-US" dirty="0" smtClean="0"/>
              <a:t>Run the program.</a:t>
            </a:r>
            <a:endParaRPr lang="en-US" dirty="0"/>
          </a:p>
        </p:txBody>
      </p:sp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3071802" y="3214686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71802" y="3214686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Book – </a:t>
            </a:r>
            <a:r>
              <a:rPr lang="en-US" dirty="0" err="1" smtClean="0"/>
              <a:t>toString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Right click -&gt; Source Action -&gt; Generate </a:t>
            </a:r>
            <a:r>
              <a:rPr lang="en-US" dirty="0" err="1" smtClean="0"/>
              <a:t>toString</a:t>
            </a:r>
            <a:r>
              <a:rPr lang="en-US" dirty="0" smtClean="0"/>
              <a:t>() -&gt; Ok</a:t>
            </a:r>
            <a:endParaRPr lang="en-US" dirty="0" smtClean="0"/>
          </a:p>
          <a:p>
            <a:r>
              <a:rPr lang="en-US" dirty="0" smtClean="0"/>
              <a:t>Modify the </a:t>
            </a:r>
            <a:r>
              <a:rPr lang="en-US" dirty="0" err="1" smtClean="0"/>
              <a:t>overrided</a:t>
            </a:r>
            <a:r>
              <a:rPr lang="en-US" dirty="0" smtClean="0"/>
              <a:t> </a:t>
            </a:r>
            <a:r>
              <a:rPr lang="en-US" dirty="0" err="1" smtClean="0"/>
              <a:t>toString</a:t>
            </a:r>
            <a:r>
              <a:rPr lang="en-US" dirty="0" smtClean="0"/>
              <a:t> method()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3714744" y="3714752"/>
          <a:ext cx="7016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Packager Shell Object" showAsIcon="1" r:id="rId1" imgW="609600" imgH="504825" progId="Package">
                  <p:embed/>
                </p:oleObj>
              </mc:Choice>
              <mc:Fallback>
                <p:oleObj name="Packager Shell Object" showAsIcon="1" r:id="rId1" imgW="609600" imgH="504825" progId="Package">
                  <p:embed/>
                  <p:pic>
                    <p:nvPicPr>
                      <p:cNvPr id="0" name="Picture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14744" y="3714752"/>
                        <a:ext cx="70167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Demo – print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Modify the main function.</a:t>
            </a:r>
            <a:endParaRPr lang="en-US" dirty="0" smtClean="0"/>
          </a:p>
          <a:p>
            <a:r>
              <a:rPr lang="en-US" dirty="0" smtClean="0"/>
              <a:t>Run the program. </a:t>
            </a:r>
            <a:endParaRPr lang="en-US" dirty="0"/>
          </a:p>
        </p:txBody>
      </p:sp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5429256" y="1643050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29256" y="1643050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 Book – static method to print Heading.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a static method ‘</a:t>
            </a:r>
            <a:r>
              <a:rPr lang="en-US" dirty="0" err="1" smtClean="0"/>
              <a:t>printHeading</a:t>
            </a:r>
            <a:r>
              <a:rPr lang="en-US" dirty="0" smtClean="0"/>
              <a:t>’ in class Book.</a:t>
            </a:r>
            <a:endParaRPr lang="en-US" dirty="0" smtClean="0"/>
          </a:p>
          <a:p>
            <a:r>
              <a:rPr lang="en-US" dirty="0" smtClean="0"/>
              <a:t>Call the static method in main method.</a:t>
            </a:r>
            <a:endParaRPr lang="en-US" dirty="0"/>
          </a:p>
        </p:txBody>
      </p:sp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1571604" y="3786190"/>
          <a:ext cx="7016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Packager Shell Object" showAsIcon="1" r:id="rId1" imgW="609600" imgH="504825" progId="Package">
                  <p:embed/>
                </p:oleObj>
              </mc:Choice>
              <mc:Fallback>
                <p:oleObj name="Packager Shell Object" showAsIcon="1" r:id="rId1" imgW="609600" imgH="504825" progId="Package">
                  <p:embed/>
                  <p:pic>
                    <p:nvPicPr>
                      <p:cNvPr id="0" name="Picture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71604" y="3786190"/>
                        <a:ext cx="70167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3500430" y="3786190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Packager Shell Object" showAsIcon="1" r:id="rId3" imgW="666750" imgH="504825" progId="Package">
                  <p:embed/>
                </p:oleObj>
              </mc:Choice>
              <mc:Fallback>
                <p:oleObj name="Packager Shell Object" showAsIcon="1" r:id="rId3" imgW="666750" imgH="504825" progId="Package">
                  <p:embed/>
                  <p:pic>
                    <p:nvPicPr>
                      <p:cNvPr id="0" name="Picture 92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0430" y="3786190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 Book – instance method to scan data for object.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a new instance method </a:t>
            </a:r>
            <a:r>
              <a:rPr lang="en-US" dirty="0" err="1" smtClean="0"/>
              <a:t>scanBook</a:t>
            </a:r>
            <a:r>
              <a:rPr lang="en-US" dirty="0" smtClean="0"/>
              <a:t> in class Book.</a:t>
            </a:r>
            <a:endParaRPr lang="en-US" dirty="0" smtClean="0"/>
          </a:p>
          <a:p>
            <a:r>
              <a:rPr lang="en-US" dirty="0" smtClean="0"/>
              <a:t>Call the </a:t>
            </a:r>
            <a:r>
              <a:rPr lang="en-US" dirty="0" err="1" smtClean="0"/>
              <a:t>scanBook</a:t>
            </a:r>
            <a:r>
              <a:rPr lang="en-US" dirty="0" smtClean="0"/>
              <a:t> method in main method.</a:t>
            </a:r>
            <a:endParaRPr lang="en-US" dirty="0" smtClean="0"/>
          </a:p>
          <a:p>
            <a:r>
              <a:rPr lang="en-US" dirty="0" smtClean="0"/>
              <a:t>Run the program.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3000364" y="4286256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00364" y="4286256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1357290" y="4357694"/>
          <a:ext cx="7016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Packager Shell Object" showAsIcon="1" r:id="rId3" imgW="609600" imgH="504825" progId="Package">
                  <p:embed/>
                </p:oleObj>
              </mc:Choice>
              <mc:Fallback>
                <p:oleObj name="Packager Shell Object" showAsIcon="1" r:id="rId3" imgW="609600" imgH="504825" progId="Package">
                  <p:embed/>
                  <p:pic>
                    <p:nvPicPr>
                      <p:cNvPr id="0" name="Picture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57290" y="4357694"/>
                        <a:ext cx="70167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Right Click -&gt; Source Action -&gt; Generate Constructors. Don’t select Scanner.</a:t>
            </a:r>
            <a:endParaRPr lang="en-US" dirty="0" smtClean="0"/>
          </a:p>
          <a:p>
            <a:r>
              <a:rPr lang="en-US" dirty="0" smtClean="0"/>
              <a:t>Generate Default and Parameterized constructors in class Book.</a:t>
            </a:r>
            <a:endParaRPr lang="en-US" dirty="0" smtClean="0"/>
          </a:p>
          <a:p>
            <a:r>
              <a:rPr lang="en-US" dirty="0" smtClean="0"/>
              <a:t>Modify main method to use book constructors to create objects. </a:t>
            </a:r>
            <a:endParaRPr lang="en-US" dirty="0" smtClean="0"/>
          </a:p>
          <a:p>
            <a:r>
              <a:rPr lang="en-US" dirty="0" smtClean="0"/>
              <a:t>Run the program.</a:t>
            </a:r>
            <a:endParaRPr lang="en-US" dirty="0"/>
          </a:p>
        </p:txBody>
      </p:sp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1857356" y="5572140"/>
          <a:ext cx="7016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Packager Shell Object" showAsIcon="1" r:id="rId1" imgW="609600" imgH="504825" progId="Package">
                  <p:embed/>
                </p:oleObj>
              </mc:Choice>
              <mc:Fallback>
                <p:oleObj name="Packager Shell Object" showAsIcon="1" r:id="rId1" imgW="609600" imgH="504825" progId="Package">
                  <p:embed/>
                  <p:pic>
                    <p:nvPicPr>
                      <p:cNvPr id="0" name="Picture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57356" y="5572140"/>
                        <a:ext cx="70167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3571868" y="5500702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Packager Shell Object" showAsIcon="1" r:id="rId3" imgW="666750" imgH="504825" progId="Package">
                  <p:embed/>
                </p:oleObj>
              </mc:Choice>
              <mc:Fallback>
                <p:oleObj name="Packager Shell Object" showAsIcon="1" r:id="rId3" imgW="666750" imgH="504825" progId="Package">
                  <p:embed/>
                  <p:pic>
                    <p:nvPicPr>
                      <p:cNvPr id="0" name="Picture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71868" y="5500702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 Generation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and initialize static member in class Book.</a:t>
            </a:r>
            <a:endParaRPr lang="en-US" dirty="0" smtClean="0"/>
          </a:p>
          <a:p>
            <a:r>
              <a:rPr lang="en-US" dirty="0" smtClean="0"/>
              <a:t>Create parameterized constructor without id and scanner fields.</a:t>
            </a:r>
            <a:endParaRPr lang="en-US" dirty="0" smtClean="0"/>
          </a:p>
          <a:p>
            <a:r>
              <a:rPr lang="en-US" dirty="0" smtClean="0"/>
              <a:t>Both constructors include this.id </a:t>
            </a:r>
            <a:r>
              <a:rPr lang="en-US" dirty="0" smtClean="0"/>
              <a:t>= </a:t>
            </a:r>
            <a:r>
              <a:rPr lang="en-US" dirty="0" err="1" smtClean="0"/>
              <a:t>nextId</a:t>
            </a:r>
            <a:r>
              <a:rPr lang="en-US" dirty="0" smtClean="0"/>
              <a:t>++;</a:t>
            </a:r>
            <a:endParaRPr lang="en-US" dirty="0" smtClean="0"/>
          </a:p>
          <a:p>
            <a:r>
              <a:rPr lang="en-US" dirty="0" smtClean="0"/>
              <a:t>Also include in </a:t>
            </a:r>
            <a:r>
              <a:rPr lang="en-US" dirty="0" err="1" smtClean="0"/>
              <a:t>scanBook</a:t>
            </a:r>
            <a:r>
              <a:rPr lang="en-US" dirty="0" smtClean="0"/>
              <a:t> method.</a:t>
            </a:r>
            <a:endParaRPr lang="en-US" dirty="0" smtClean="0"/>
          </a:p>
          <a:p>
            <a:r>
              <a:rPr lang="en-US" dirty="0" smtClean="0"/>
              <a:t>In the main method, create objects without id.</a:t>
            </a:r>
            <a:endParaRPr lang="en-US" dirty="0" smtClean="0"/>
          </a:p>
          <a:p>
            <a:r>
              <a:rPr lang="en-US" dirty="0" smtClean="0"/>
              <a:t>Run the program.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4143372" y="5643578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43372" y="5643578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5786446" y="5572140"/>
          <a:ext cx="7016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Packager Shell Object" showAsIcon="1" r:id="rId3" imgW="609600" imgH="504825" progId="Package">
                  <p:embed/>
                </p:oleObj>
              </mc:Choice>
              <mc:Fallback>
                <p:oleObj name="Packager Shell Object" showAsIcon="1" r:id="rId3" imgW="609600" imgH="504825" progId="Package">
                  <p:embed/>
                  <p:pic>
                    <p:nvPicPr>
                      <p:cNvPr id="0" name="Picture 122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86446" y="5572140"/>
                        <a:ext cx="70167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of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14551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Create Book array of size 5 in main method.</a:t>
            </a:r>
            <a:endParaRPr lang="en-US" dirty="0" smtClean="0"/>
          </a:p>
          <a:p>
            <a:r>
              <a:rPr lang="en-US" dirty="0" smtClean="0"/>
              <a:t>Create 5 book objects and assign to each element of the array.</a:t>
            </a:r>
            <a:endParaRPr lang="en-US" dirty="0" smtClean="0"/>
          </a:p>
          <a:p>
            <a:r>
              <a:rPr lang="en-US" dirty="0" smtClean="0"/>
              <a:t>Modify any book object value.</a:t>
            </a:r>
            <a:endParaRPr lang="en-US" dirty="0" smtClean="0"/>
          </a:p>
          <a:p>
            <a:r>
              <a:rPr lang="en-US" dirty="0" smtClean="0"/>
              <a:t>Print heading and print the array of objects.</a:t>
            </a:r>
            <a:endParaRPr lang="en-US" dirty="0" smtClean="0"/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6215074" y="2500306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133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15074" y="2500306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285720" y="38576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 Loop – print array of objects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3643306" y="5000636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Packager Shell Object" showAsIcon="1" r:id="rId3" imgW="666750" imgH="504825" progId="Package">
                  <p:embed/>
                </p:oleObj>
              </mc:Choice>
              <mc:Fallback>
                <p:oleObj name="Packager Shell Object" showAsIcon="1" r:id="rId3" imgW="666750" imgH="504825" progId="Package">
                  <p:embed/>
                  <p:pic>
                    <p:nvPicPr>
                      <p:cNvPr id="0" name="Picture 133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43306" y="5000636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Arraylist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</a:t>
            </a:r>
            <a:r>
              <a:rPr lang="en-US" dirty="0" err="1" smtClean="0"/>
              <a:t>Arraylist</a:t>
            </a:r>
            <a:r>
              <a:rPr lang="en-US" dirty="0" smtClean="0"/>
              <a:t> Container books.</a:t>
            </a:r>
            <a:endParaRPr lang="en-US" dirty="0" smtClean="0"/>
          </a:p>
          <a:p>
            <a:r>
              <a:rPr lang="en-US" dirty="0" smtClean="0"/>
              <a:t>Create book objects and add to books.</a:t>
            </a:r>
            <a:endParaRPr lang="en-US" dirty="0" smtClean="0"/>
          </a:p>
          <a:p>
            <a:r>
              <a:rPr lang="en-US" dirty="0" smtClean="0"/>
              <a:t>Update any book object in books container.</a:t>
            </a:r>
            <a:endParaRPr lang="en-US" dirty="0" smtClean="0"/>
          </a:p>
          <a:p>
            <a:r>
              <a:rPr lang="en-US" dirty="0" smtClean="0"/>
              <a:t>Delete any book object in books container.</a:t>
            </a:r>
            <a:endParaRPr lang="en-US" dirty="0" smtClean="0"/>
          </a:p>
          <a:p>
            <a:r>
              <a:rPr lang="en-US" dirty="0" smtClean="0"/>
              <a:t>Read all book objects from books container. </a:t>
            </a:r>
            <a:endParaRPr lang="en-US" dirty="0"/>
          </a:p>
        </p:txBody>
      </p:sp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5245100" y="5080000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45100" y="5080000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HashMap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</a:t>
            </a:r>
            <a:r>
              <a:rPr lang="en-US" dirty="0" err="1" smtClean="0"/>
              <a:t>Hashmap</a:t>
            </a:r>
            <a:r>
              <a:rPr lang="en-US" dirty="0" smtClean="0"/>
              <a:t> Container </a:t>
            </a:r>
            <a:r>
              <a:rPr lang="en-US" dirty="0" smtClean="0"/>
              <a:t>books.</a:t>
            </a:r>
            <a:endParaRPr lang="en-US" dirty="0" smtClean="0"/>
          </a:p>
          <a:p>
            <a:r>
              <a:rPr lang="en-US" dirty="0" smtClean="0"/>
              <a:t>Create book objects and add to books.</a:t>
            </a:r>
            <a:endParaRPr lang="en-US" dirty="0" smtClean="0"/>
          </a:p>
          <a:p>
            <a:r>
              <a:rPr lang="en-US" dirty="0" smtClean="0"/>
              <a:t>Update any book object in books container.</a:t>
            </a:r>
            <a:endParaRPr lang="en-US" dirty="0" smtClean="0"/>
          </a:p>
          <a:p>
            <a:r>
              <a:rPr lang="en-US" dirty="0" smtClean="0"/>
              <a:t>Delete any book object in books container.</a:t>
            </a:r>
            <a:endParaRPr lang="en-US" dirty="0" smtClean="0"/>
          </a:p>
          <a:p>
            <a:r>
              <a:rPr lang="en-US" dirty="0" smtClean="0"/>
              <a:t>Read all book objects from books container. 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3929058" y="4714884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29058" y="4714884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HashSet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</a:t>
            </a:r>
            <a:r>
              <a:rPr lang="en-US" dirty="0" err="1" smtClean="0"/>
              <a:t>HashSet</a:t>
            </a:r>
            <a:r>
              <a:rPr lang="en-US" dirty="0" smtClean="0"/>
              <a:t> </a:t>
            </a:r>
            <a:r>
              <a:rPr lang="en-US" dirty="0" smtClean="0"/>
              <a:t>Container books.</a:t>
            </a:r>
            <a:endParaRPr lang="en-US" dirty="0" smtClean="0"/>
          </a:p>
          <a:p>
            <a:r>
              <a:rPr lang="en-US" dirty="0" smtClean="0"/>
              <a:t>Create book objects and add to books.</a:t>
            </a:r>
            <a:endParaRPr lang="en-US" dirty="0" smtClean="0"/>
          </a:p>
          <a:p>
            <a:r>
              <a:rPr lang="en-US" dirty="0" smtClean="0"/>
              <a:t>Update any book object in books container.</a:t>
            </a:r>
            <a:endParaRPr lang="en-US" dirty="0" smtClean="0"/>
          </a:p>
          <a:p>
            <a:r>
              <a:rPr lang="en-US" dirty="0" smtClean="0"/>
              <a:t>Delete any book object in books container.</a:t>
            </a:r>
            <a:endParaRPr lang="en-US" dirty="0" smtClean="0"/>
          </a:p>
          <a:p>
            <a:r>
              <a:rPr lang="en-US" dirty="0" smtClean="0"/>
              <a:t>Read all book objects from books container. </a:t>
            </a:r>
            <a:endParaRPr lang="en-US" dirty="0" smtClean="0"/>
          </a:p>
        </p:txBody>
      </p:sp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4000496" y="4714884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Packager Shell Object" showAsIcon="1" r:id="rId1" imgW="666750" imgH="504825" progId="Package">
                  <p:embed/>
                </p:oleObj>
              </mc:Choice>
              <mc:Fallback>
                <p:oleObj name="Packager Shell Object" showAsIcon="1" r:id="rId1" imgW="666750" imgH="504825" progId="Package">
                  <p:embed/>
                  <p:pic>
                    <p:nvPicPr>
                      <p:cNvPr id="0" name="Picture 163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00496" y="4714884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US" dirty="0" smtClean="0"/>
              <a:t>class </a:t>
            </a:r>
            <a:r>
              <a:rPr lang="en-US" dirty="0" smtClean="0"/>
              <a:t>Student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28596" y="1214422"/>
            <a:ext cx="8229600" cy="4525963"/>
          </a:xfrm>
        </p:spPr>
        <p:txBody>
          <a:bodyPr/>
          <a:lstStyle/>
          <a:p>
            <a:r>
              <a:rPr lang="en-US" dirty="0" smtClean="0"/>
              <a:t>Create class Student.</a:t>
            </a:r>
            <a:endParaRPr lang="en-US" dirty="0" smtClean="0"/>
          </a:p>
          <a:p>
            <a:r>
              <a:rPr lang="en-US" dirty="0" smtClean="0"/>
              <a:t>Generate </a:t>
            </a:r>
            <a:r>
              <a:rPr lang="en-US" dirty="0" err="1" smtClean="0"/>
              <a:t>toString</a:t>
            </a:r>
            <a:r>
              <a:rPr lang="en-US" dirty="0" smtClean="0"/>
              <a:t>(), Getters &amp; Setters, Constructors.</a:t>
            </a:r>
            <a:endParaRPr lang="en-US" dirty="0" smtClean="0"/>
          </a:p>
          <a:p>
            <a:r>
              <a:rPr lang="en-US" dirty="0" smtClean="0"/>
              <a:t>Create </a:t>
            </a:r>
            <a:r>
              <a:rPr lang="en-US" dirty="0" err="1" smtClean="0"/>
              <a:t>printHeading</a:t>
            </a:r>
            <a:r>
              <a:rPr lang="en-US" dirty="0" smtClean="0"/>
              <a:t> function and </a:t>
            </a:r>
            <a:r>
              <a:rPr lang="en-US" dirty="0" err="1" smtClean="0"/>
              <a:t>scanStudent</a:t>
            </a:r>
            <a:r>
              <a:rPr lang="en-US" dirty="0" smtClean="0"/>
              <a:t> static function.</a:t>
            </a:r>
            <a:endParaRPr lang="en-US" dirty="0" smtClean="0"/>
          </a:p>
          <a:p>
            <a:r>
              <a:rPr lang="en-US" dirty="0" smtClean="0"/>
              <a:t>Implement Auto Increment feature.</a:t>
            </a:r>
            <a:endParaRPr lang="en-US" dirty="0" smtClean="0"/>
          </a:p>
          <a:p>
            <a:r>
              <a:rPr lang="en-US" dirty="0" smtClean="0"/>
              <a:t>In the main method, create Student Objects, update, delete and read all.</a:t>
            </a:r>
            <a:endParaRPr lang="en-US" dirty="0" smtClean="0"/>
          </a:p>
        </p:txBody>
      </p:sp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2285984" y="5929330"/>
          <a:ext cx="8858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Packager Shell Object" showAsIcon="1" r:id="rId1" imgW="771525" imgH="504825" progId="Package">
                  <p:embed/>
                </p:oleObj>
              </mc:Choice>
              <mc:Fallback>
                <p:oleObj name="Packager Shell Object" showAsIcon="1" r:id="rId1" imgW="771525" imgH="504825" progId="Package">
                  <p:embed/>
                  <p:pic>
                    <p:nvPicPr>
                      <p:cNvPr id="0" name="Picture 1740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5984" y="5929330"/>
                        <a:ext cx="88582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4572000" y="6000768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Packager Shell Object" showAsIcon="1" r:id="rId3" imgW="666750" imgH="504825" progId="Package">
                  <p:embed/>
                </p:oleObj>
              </mc:Choice>
              <mc:Fallback>
                <p:oleObj name="Packager Shell Object" showAsIcon="1" r:id="rId3" imgW="666750" imgH="504825" progId="Package">
                  <p:embed/>
                  <p:pic>
                    <p:nvPicPr>
                      <p:cNvPr id="0" name="Picture 1740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0" y="6000768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Library Menu - class </a:t>
            </a:r>
            <a:r>
              <a:rPr lang="en-US" dirty="0" err="1" smtClean="0"/>
              <a:t>LibraryService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new package service.</a:t>
            </a:r>
            <a:endParaRPr lang="en-US" dirty="0" smtClean="0"/>
          </a:p>
          <a:p>
            <a:r>
              <a:rPr lang="en-US" dirty="0" smtClean="0"/>
              <a:t>Create a new class </a:t>
            </a:r>
            <a:r>
              <a:rPr lang="en-US" dirty="0" err="1" smtClean="0"/>
              <a:t>LibraryService</a:t>
            </a:r>
            <a:r>
              <a:rPr lang="en-US" dirty="0" smtClean="0"/>
              <a:t> under the package service.</a:t>
            </a:r>
            <a:endParaRPr lang="en-US" dirty="0" smtClean="0"/>
          </a:p>
          <a:p>
            <a:r>
              <a:rPr lang="en-US" dirty="0" smtClean="0"/>
              <a:t>In the main method, call the Library services in repeated menu.</a:t>
            </a:r>
            <a:endParaRPr lang="en-US" dirty="0" smtClean="0"/>
          </a:p>
          <a:p>
            <a:r>
              <a:rPr lang="en-US" dirty="0" smtClean="0"/>
              <a:t>Run the program.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1571604" y="5000636"/>
          <a:ext cx="13176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Packager Shell Object" showAsIcon="1" r:id="rId1" imgW="1152525" imgH="504825" progId="Package">
                  <p:embed/>
                </p:oleObj>
              </mc:Choice>
              <mc:Fallback>
                <p:oleObj name="Packager Shell Object" showAsIcon="1" r:id="rId1" imgW="1152525" imgH="504825" progId="Package">
                  <p:embed/>
                  <p:pic>
                    <p:nvPicPr>
                      <p:cNvPr id="0" name="Picture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71604" y="5000636"/>
                        <a:ext cx="131762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3929058" y="5000636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Packager Shell Object" showAsIcon="1" r:id="rId3" imgW="666750" imgH="504825" progId="Package">
                  <p:embed/>
                </p:oleObj>
              </mc:Choice>
              <mc:Fallback>
                <p:oleObj name="Packager Shell Object" showAsIcon="1" r:id="rId3" imgW="666750" imgH="504825" progId="Package">
                  <p:embed/>
                  <p:pic>
                    <p:nvPicPr>
                      <p:cNvPr id="0" name="Picture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29058" y="5000636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4132290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class </a:t>
            </a:r>
            <a:r>
              <a:rPr lang="en-US" dirty="0" err="1" smtClean="0"/>
              <a:t>LibraryService</a:t>
            </a:r>
            <a:endParaRPr lang="en-US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85720" y="1285860"/>
            <a:ext cx="3929090" cy="1848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57686" y="1357298"/>
            <a:ext cx="452437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86380" y="2047880"/>
            <a:ext cx="196215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4933972"/>
            <a:ext cx="392909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itle 1"/>
          <p:cNvSpPr txBox="1"/>
          <p:nvPr/>
        </p:nvSpPr>
        <p:spPr>
          <a:xfrm>
            <a:off x="609600" y="427038"/>
            <a:ext cx="8229600" cy="654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package service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29124" y="5357826"/>
            <a:ext cx="4562475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List, Add and Search Books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Implement the display, add and search books functionalities in class </a:t>
            </a:r>
            <a:r>
              <a:rPr lang="en-US" dirty="0" err="1" smtClean="0"/>
              <a:t>LibraryService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Run the program and test those methods.</a:t>
            </a:r>
            <a:endParaRPr lang="en-US" dirty="0"/>
          </a:p>
        </p:txBody>
      </p:sp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1857356" y="4357377"/>
          <a:ext cx="13176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Packager Shell Object" showAsIcon="1" r:id="rId1" imgW="1152525" imgH="504825" progId="Package">
                  <p:embed/>
                </p:oleObj>
              </mc:Choice>
              <mc:Fallback>
                <p:oleObj name="Packager Shell Object" showAsIcon="1" r:id="rId1" imgW="1152525" imgH="504825" progId="Package">
                  <p:embed/>
                  <p:pic>
                    <p:nvPicPr>
                      <p:cNvPr id="0" name="Picture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57356" y="4357377"/>
                        <a:ext cx="131762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4786314" y="4357694"/>
          <a:ext cx="7667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Packager Shell Object" showAsIcon="1" r:id="rId3" imgW="666750" imgH="504825" progId="Package">
                  <p:embed/>
                </p:oleObj>
              </mc:Choice>
              <mc:Fallback>
                <p:oleObj name="Packager Shell Object" showAsIcon="1" r:id="rId3" imgW="666750" imgH="504825" progId="Package">
                  <p:embed/>
                  <p:pic>
                    <p:nvPicPr>
                      <p:cNvPr id="0" name="Picture 1945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86314" y="4357694"/>
                        <a:ext cx="766763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List, Add and Search Students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Implement the display, add and search </a:t>
            </a:r>
            <a:r>
              <a:rPr lang="en-US" dirty="0" smtClean="0"/>
              <a:t>students functionalities </a:t>
            </a:r>
            <a:r>
              <a:rPr lang="en-US" dirty="0" smtClean="0"/>
              <a:t>in class </a:t>
            </a:r>
            <a:r>
              <a:rPr lang="en-US" dirty="0" err="1" smtClean="0"/>
              <a:t>LibraryService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Run the program and test those methods.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25602" name="Object 2"/>
          <p:cNvGraphicFramePr>
            <a:graphicFrameLocks noChangeAspect="1"/>
          </p:cNvGraphicFramePr>
          <p:nvPr/>
        </p:nvGraphicFramePr>
        <p:xfrm>
          <a:off x="3643306" y="3500438"/>
          <a:ext cx="13176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Packager Shell Object" showAsIcon="1" r:id="rId1" imgW="1152525" imgH="504825" progId="Package">
                  <p:embed/>
                </p:oleObj>
              </mc:Choice>
              <mc:Fallback>
                <p:oleObj name="Packager Shell Object" showAsIcon="1" r:id="rId1" imgW="1152525" imgH="504825" progId="Package">
                  <p:embed/>
                  <p:pic>
                    <p:nvPicPr>
                      <p:cNvPr id="0" name="Picture 204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43306" y="3500438"/>
                        <a:ext cx="131762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class Loan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Create class </a:t>
            </a:r>
            <a:r>
              <a:rPr lang="en-IN" altLang="en-US" dirty="0" smtClean="0">
                <a:sym typeface="+mn-ea"/>
              </a:rPr>
              <a:t>Loan</a:t>
            </a:r>
            <a:r>
              <a:rPr lang="en-US" dirty="0" smtClean="0">
                <a:sym typeface="+mn-ea"/>
              </a:rPr>
              <a:t>.</a:t>
            </a:r>
            <a:endParaRPr lang="en-US" dirty="0" smtClean="0"/>
          </a:p>
          <a:p>
            <a:r>
              <a:rPr lang="en-US" dirty="0" smtClean="0">
                <a:sym typeface="+mn-ea"/>
              </a:rPr>
              <a:t>Generate </a:t>
            </a:r>
            <a:r>
              <a:rPr lang="en-US" dirty="0" err="1" smtClean="0">
                <a:sym typeface="+mn-ea"/>
              </a:rPr>
              <a:t>toString</a:t>
            </a:r>
            <a:r>
              <a:rPr lang="en-US" dirty="0" smtClean="0">
                <a:sym typeface="+mn-ea"/>
              </a:rPr>
              <a:t>(), Getters &amp; Setters, Constructors.</a:t>
            </a:r>
            <a:endParaRPr lang="en-US" dirty="0" smtClean="0"/>
          </a:p>
          <a:p>
            <a:r>
              <a:rPr lang="en-US" dirty="0" smtClean="0">
                <a:sym typeface="+mn-ea"/>
              </a:rPr>
              <a:t>Create </a:t>
            </a:r>
            <a:r>
              <a:rPr lang="en-US" dirty="0" err="1" smtClean="0">
                <a:sym typeface="+mn-ea"/>
              </a:rPr>
              <a:t>printHeading</a:t>
            </a:r>
            <a:r>
              <a:rPr lang="en-US" dirty="0" smtClean="0">
                <a:sym typeface="+mn-ea"/>
              </a:rPr>
              <a:t> function.</a:t>
            </a:r>
            <a:endParaRPr lang="en-US" dirty="0" smtClean="0"/>
          </a:p>
          <a:p>
            <a:r>
              <a:rPr lang="en-US" dirty="0" smtClean="0">
                <a:sym typeface="+mn-ea"/>
              </a:rPr>
              <a:t>Implement Auto Increment feature.</a:t>
            </a:r>
            <a:endParaRPr lang="en-US" dirty="0" smtClean="0"/>
          </a:p>
          <a:p>
            <a:r>
              <a:rPr lang="en-IN" altLang="en-US"/>
              <a:t>Include isReturned method.</a:t>
            </a:r>
            <a:endParaRPr lang="en-IN" altLang="en-US"/>
          </a:p>
        </p:txBody>
      </p:sp>
      <p:graphicFrame>
        <p:nvGraphicFramePr>
          <p:cNvPr id="4" name="Object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04210" y="544512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" imgW="971550" imgH="800100" progId="Package">
                  <p:embed/>
                </p:oleObj>
              </mc:Choice>
              <mc:Fallback>
                <p:oleObj name="" showAsIcon="1" r:id="rId1" imgW="971550" imgH="800100" progId="Package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04210" y="544512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class LibraryService - issueBook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Write methods findBookById, findStudentById, findLoanById and issueBook.</a:t>
            </a:r>
            <a:endParaRPr lang="en-IN" altLang="en-US"/>
          </a:p>
          <a:p>
            <a:endParaRPr lang="en-IN" altLang="en-US"/>
          </a:p>
        </p:txBody>
      </p:sp>
      <p:graphicFrame>
        <p:nvGraphicFramePr>
          <p:cNvPr id="5" name="Object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86225" y="302895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" imgW="971550" imgH="800100" progId="Package">
                  <p:embed/>
                </p:oleObj>
              </mc:Choice>
              <mc:Fallback>
                <p:oleObj name="" showAsIcon="1" r:id="rId1" imgW="971550" imgH="800100" progId="Package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86225" y="302895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lang="en-IN" altLang="en-US" sz="3600"/>
              <a:t>class LibraryService - returnBook</a:t>
            </a:r>
            <a:endParaRPr lang="en-IN" alt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Write the methods displayActiveLoans, displayOverdueLoans and returnBook</a:t>
            </a:r>
            <a:endParaRPr lang="en-IN" altLang="en-US"/>
          </a:p>
        </p:txBody>
      </p:sp>
      <p:graphicFrame>
        <p:nvGraphicFramePr>
          <p:cNvPr id="6" name="Object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86225" y="302895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showAsIcon="1" r:id="rId1" imgW="971550" imgH="800100" progId="Package">
                  <p:embed/>
                </p:oleObj>
              </mc:Choice>
              <mc:Fallback>
                <p:oleObj name="" showAsIcon="1" r:id="rId1" imgW="971550" imgH="800100" progId="Package">
                  <p:embed/>
                  <p:pic>
                    <p:nvPicPr>
                      <p:cNvPr id="0" name="Picture 204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86225" y="302895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5762</Words>
  <Application>WPS Presentation</Application>
  <PresentationFormat>On-screen Show (4:3)</PresentationFormat>
  <Paragraphs>260</Paragraphs>
  <Slides>49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37</vt:i4>
      </vt:variant>
      <vt:variant>
        <vt:lpstr>幻灯片标题</vt:lpstr>
      </vt:variant>
      <vt:variant>
        <vt:i4>49</vt:i4>
      </vt:variant>
    </vt:vector>
  </HeadingPairs>
  <TitlesOfParts>
    <vt:vector size="93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Java – Hands On</vt:lpstr>
      <vt:lpstr>Install VS Code with Java</vt:lpstr>
      <vt:lpstr>Java Fundamentals And Project Setup</vt:lpstr>
      <vt:lpstr>Java Fundamentals</vt:lpstr>
      <vt:lpstr>Java Fundamentals</vt:lpstr>
      <vt:lpstr>Create Workspace Folder in Desktop</vt:lpstr>
      <vt:lpstr>Java Program Structure</vt:lpstr>
      <vt:lpstr>Open Command Prompt from Workspace folder</vt:lpstr>
      <vt:lpstr>Create New Java Project</vt:lpstr>
      <vt:lpstr>Select Project Location Folder</vt:lpstr>
      <vt:lpstr>Project Name</vt:lpstr>
      <vt:lpstr>Create Java Package (base)</vt:lpstr>
      <vt:lpstr>Create Java Class</vt:lpstr>
      <vt:lpstr>Java Class with main method</vt:lpstr>
      <vt:lpstr>Run and check the output in terminal / console</vt:lpstr>
      <vt:lpstr>main method</vt:lpstr>
      <vt:lpstr>Variable and Data type</vt:lpstr>
      <vt:lpstr>Scan different data types</vt:lpstr>
      <vt:lpstr>Student task: Modify the program to calculate the square and cube of a number.</vt:lpstr>
      <vt:lpstr>Conditional Statements</vt:lpstr>
      <vt:lpstr>switch and break</vt:lpstr>
      <vt:lpstr>Looping Statements</vt:lpstr>
      <vt:lpstr>Student Tasks</vt:lpstr>
      <vt:lpstr>model package</vt:lpstr>
      <vt:lpstr>create class Book</vt:lpstr>
      <vt:lpstr>class Book</vt:lpstr>
      <vt:lpstr>class Demo</vt:lpstr>
      <vt:lpstr>class Demo - Formatted output</vt:lpstr>
      <vt:lpstr>class Book - Access Specifiers – Public and Private</vt:lpstr>
      <vt:lpstr>Right Click –&gt; Source Action -&gt; Generate Getters &amp; Setters -&gt; Select All</vt:lpstr>
      <vt:lpstr>class Demo - main method</vt:lpstr>
      <vt:lpstr>class Book – toString()</vt:lpstr>
      <vt:lpstr>class Demo – print objects</vt:lpstr>
      <vt:lpstr>class Book – static method to print Heading.</vt:lpstr>
      <vt:lpstr>class Book – instance method to scan data for object.</vt:lpstr>
      <vt:lpstr>Constructors</vt:lpstr>
      <vt:lpstr>Auto Generation</vt:lpstr>
      <vt:lpstr>Array of Objects</vt:lpstr>
      <vt:lpstr>Arraylist</vt:lpstr>
      <vt:lpstr>HashMap</vt:lpstr>
      <vt:lpstr>HashSet</vt:lpstr>
      <vt:lpstr>class Student</vt:lpstr>
      <vt:lpstr>Library Menu - class LibraryService</vt:lpstr>
      <vt:lpstr>class LibraryService</vt:lpstr>
      <vt:lpstr>List, Add and Search Books</vt:lpstr>
      <vt:lpstr>List, Add and Search Students</vt:lpstr>
      <vt:lpstr>class Loan</vt:lpstr>
      <vt:lpstr>class LibraryService - issueBook</vt:lpstr>
      <vt:lpstr>class LibraryService - returnBook</vt:lpstr>
    </vt:vector>
  </TitlesOfParts>
  <Company>Grizli777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– Hands On</dc:title>
  <dc:creator>Admin</dc:creator>
  <cp:lastModifiedBy>John Philip</cp:lastModifiedBy>
  <cp:revision>113</cp:revision>
  <dcterms:created xsi:type="dcterms:W3CDTF">2026-10-13T07:34:00Z</dcterms:created>
  <dcterms:modified xsi:type="dcterms:W3CDTF">2026-10-24T03:17:43Z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5D51D96354084C8EA12B2341A96532F5_12</vt:lpwstr>
  </property>
</Properties>
</file>