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77" r:id="rId3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270" r:id="rId54"/>
  </p:sldIdLst>
  <p:sldSz cx="9144000" cy="5143500"/>
  <p:notesSz cx="6858000" cy="9144000"/>
  <p:embeddedFontLst>
    <p:embeddedFont>
      <p:font typeface="Roboto" panose="02000000000000000000"/>
      <p:regular r:id="rId58"/>
      <p:bold r:id="rId59"/>
      <p:italic r:id="rId60"/>
      <p:boldItalic r:id="rId61"/>
    </p:embeddedFont>
    <p:embeddedFont>
      <p:font typeface="Poppins SemiBold" panose="00000400000000000000" charset="0"/>
      <p:regular r:id="rId62"/>
      <p:bold r:id="rId63"/>
      <p:italic r:id="rId64"/>
      <p:boldItalic r:id="rId65"/>
    </p:embeddedFont>
    <p:embeddedFont>
      <p:font typeface="Calibri" panose="020F0502020204030204" pitchFamily="34" charset="-122"/>
      <p:regular r:id="rId66"/>
      <p:bold r:id="rId67"/>
      <p:italic r:id="rId68"/>
      <p:boldItalic r:id="rId69"/>
    </p:embeddedFont>
    <p:embeddedFont>
      <p:font typeface="Poppins SemiBold" panose="00000400000000000000"/>
      <p:regular r:id="rId70"/>
      <p:bold r:id="rId71"/>
      <p:italic r:id="rId72"/>
      <p:boldItalic r:id="rId73"/>
    </p:embeddedFont>
    <p:embeddedFont>
      <p:font typeface="Roboto" panose="02000000000000000000" charset="0"/>
      <p:regular r:id="rId74"/>
      <p:bold r:id="rId75"/>
      <p:italic r:id="rId76"/>
      <p:boldItalic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9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9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7" Type="http://schemas.openxmlformats.org/officeDocument/2006/relationships/font" Target="fonts/font20.fntdata"/><Relationship Id="rId76" Type="http://schemas.openxmlformats.org/officeDocument/2006/relationships/font" Target="fonts/font19.fntdata"/><Relationship Id="rId75" Type="http://schemas.openxmlformats.org/officeDocument/2006/relationships/font" Target="fonts/font18.fntdata"/><Relationship Id="rId74" Type="http://schemas.openxmlformats.org/officeDocument/2006/relationships/font" Target="fonts/font17.fntdata"/><Relationship Id="rId73" Type="http://schemas.openxmlformats.org/officeDocument/2006/relationships/font" Target="fonts/font16.fntdata"/><Relationship Id="rId72" Type="http://schemas.openxmlformats.org/officeDocument/2006/relationships/font" Target="fonts/font15.fntdata"/><Relationship Id="rId71" Type="http://schemas.openxmlformats.org/officeDocument/2006/relationships/font" Target="fonts/font14.fntdata"/><Relationship Id="rId70" Type="http://schemas.openxmlformats.org/officeDocument/2006/relationships/font" Target="fonts/font13.fntdata"/><Relationship Id="rId7" Type="http://schemas.openxmlformats.org/officeDocument/2006/relationships/slide" Target="slides/slide4.xml"/><Relationship Id="rId69" Type="http://schemas.openxmlformats.org/officeDocument/2006/relationships/font" Target="fonts/font12.fntdata"/><Relationship Id="rId68" Type="http://schemas.openxmlformats.org/officeDocument/2006/relationships/font" Target="fonts/font11.fntdata"/><Relationship Id="rId67" Type="http://schemas.openxmlformats.org/officeDocument/2006/relationships/font" Target="fonts/font10.fntdata"/><Relationship Id="rId66" Type="http://schemas.openxmlformats.org/officeDocument/2006/relationships/font" Target="fonts/font9.fntdata"/><Relationship Id="rId65" Type="http://schemas.openxmlformats.org/officeDocument/2006/relationships/font" Target="fonts/font8.fntdata"/><Relationship Id="rId64" Type="http://schemas.openxmlformats.org/officeDocument/2006/relationships/font" Target="fonts/font7.fntdata"/><Relationship Id="rId63" Type="http://schemas.openxmlformats.org/officeDocument/2006/relationships/font" Target="fonts/font6.fntdata"/><Relationship Id="rId62" Type="http://schemas.openxmlformats.org/officeDocument/2006/relationships/font" Target="fonts/font5.fntdata"/><Relationship Id="rId61" Type="http://schemas.openxmlformats.org/officeDocument/2006/relationships/font" Target="fonts/font4.fntdata"/><Relationship Id="rId60" Type="http://schemas.openxmlformats.org/officeDocument/2006/relationships/font" Target="fonts/font3.fntdata"/><Relationship Id="rId6" Type="http://schemas.openxmlformats.org/officeDocument/2006/relationships/slide" Target="slides/slide3.xml"/><Relationship Id="rId59" Type="http://schemas.openxmlformats.org/officeDocument/2006/relationships/font" Target="fonts/font2.fntdata"/><Relationship Id="rId58" Type="http://schemas.openxmlformats.org/officeDocument/2006/relationships/font" Target="fonts/font1.fntdata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Welcome. We cover the core of Java, then three modern features: lambda expressions, modules and the java.time API.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five objectives clockwise from the top.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eight topic groups in this session.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this as a 10-minute group activity before starting the content slides.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1 covers the core language.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Java source is compiled to bytecode. The JVM runs the bytecode, so the same program works on every operating system.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JDK contains the JRE, and the JRE contains the JVM. Developers install the JDK.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 as HelloWorld.java. Compile with javac, run with java.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var works for local variables only and needs an initial value (Java 10+).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Primitive types store values directly. String and arrays are reference types.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Operators combine values into expressions.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Try changing marks to see each branch.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one branch of the ladder runs. Put the most specific condition first.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Without break, execution continues into the next case. This is called fall-through.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arrow form is shorter and safer than the classic case-colon form.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parts are: start value, condition to keep going, and the update after each pass.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while when you do not know in advance how many passes you need.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the condition is false from the start, but the body still runs once. A while loop would print nothing.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Array size is fixed once created. Use ArrayList for a growing list.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Methods avoid repeating code.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constructor has the same name as the class and no return type.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Getters read values; setters change them with validation.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Dog inherits eat() from Animal without rewriting it.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variable type is Animal but the object is a Dog, so Dog's version runs.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depends on the interface, not on a specific class.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Since Java 8 interfaces can also have default and static methods.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Always compare String content with equals().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Catch the most specific exception first.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List keeps order, Set removes duplicates, Map looks up values by key.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diamond operator &lt;&gt; lets the compiler infer the type.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 covers lambdas and streams.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versions sort names by length. The lambda is shorter.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block body when you need more than one statement.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 these five and most lambda code makes sense.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Any interface with one abstract method can be the target of a lambda.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references improve readability when no extra logic is needed.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Ravi is removed by the filter. The result is sorted and upper-cased.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3 covers the Java Platform Module System.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Java 9 every public class on the classpath was visible to all code.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 a public class is hidden if its package is not exported.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Trying to import a class from the internal package causes a compile error.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4 covers java.time.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Pick the smallest type that holds what you need.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Unlike java.util.Date, months start at 1.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Immutability makes date objects safe to share between threads.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 1 to Oct 13 is 9 months and 12 days.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format() gives text; parse() gives a date.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instant stays the same; only the displayed zone changes.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Prefer java.time everywhere.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and set practice work. Pick two exercises and run them.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Google Shape;54;p13"/>
          <p:cNvSpPr/>
          <p:nvPr/>
        </p:nvSpPr>
        <p:spPr>
          <a:xfrm flipH="1">
            <a:off x="4504500" y="503996"/>
            <a:ext cx="4639500" cy="4639500"/>
          </a:xfrm>
          <a:prstGeom prst="rtTriangle">
            <a:avLst/>
          </a:prstGeom>
          <a:solidFill>
            <a:srgbClr val="0053A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921084" y="3098170"/>
            <a:ext cx="469705" cy="722606"/>
            <a:chOff x="1549" y="475"/>
            <a:chExt cx="589" cy="906"/>
          </a:xfrm>
        </p:grpSpPr>
        <p:sp>
          <p:nvSpPr>
            <p:cNvPr id="57" name="Google Shape;57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" name="Google Shape;62;p13"/>
          <p:cNvSpPr/>
          <p:nvPr/>
        </p:nvSpPr>
        <p:spPr>
          <a:xfrm>
            <a:off x="7328101" y="1646338"/>
            <a:ext cx="649500" cy="6495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4159376" y="1122487"/>
            <a:ext cx="5376900" cy="40428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980000"/>
              </a:gs>
              <a:gs pos="15000">
                <a:srgbClr val="CC0000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616349" y="4433472"/>
            <a:ext cx="24369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300" b="0" i="0" u="none" strike="noStrike" cap="none">
                <a:solidFill>
                  <a:srgbClr val="7F7F7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</a:t>
            </a:r>
            <a:r>
              <a:rPr lang="en-GB" sz="1300">
                <a:solidFill>
                  <a:srgbClr val="7F7F7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careercraftacademy.com</a:t>
            </a:r>
            <a:endParaRPr sz="1300" b="0" i="0" u="none" strike="noStrike" cap="none">
              <a:solidFill>
                <a:srgbClr val="7F7F7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76" name="Google Shape;76;p13" title="Untitled-1-07.png"/>
          <p:cNvPicPr preferRelativeResize="0"/>
          <p:nvPr/>
        </p:nvPicPr>
        <p:blipFill rotWithShape="1">
          <a:blip r:embed="rId1"/>
          <a:srcRect l="5096" b="15895"/>
          <a:stretch>
            <a:fillRect/>
          </a:stretch>
        </p:blipFill>
        <p:spPr>
          <a:xfrm>
            <a:off x="337150" y="155375"/>
            <a:ext cx="3364626" cy="8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2;p13"/>
          <p:cNvSpPr txBox="1"/>
          <p:nvPr/>
        </p:nvSpPr>
        <p:spPr>
          <a:xfrm>
            <a:off x="406337" y="1376680"/>
            <a:ext cx="3964800" cy="16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buSzPts val="4500"/>
            </a:pPr>
            <a:r>
              <a:rPr lang="en-US" altLang="en-US" sz="2800" b="1" dirty="0">
                <a:solidFill>
                  <a:schemeClr val="accent1">
                    <a:lumMod val="50000"/>
                  </a:schemeClr>
                </a:solidFill>
                <a:latin typeface="Poppins SemiBold" panose="00000400000000000000" charset="0"/>
                <a:ea typeface="Calibri" panose="020F0502020204030204" pitchFamily="34" charset="-122"/>
                <a:cs typeface="Poppins SemiBold" panose="00000400000000000000" charset="0"/>
              </a:rPr>
              <a:t>Introduction to Java Programming</a:t>
            </a:r>
            <a:endParaRPr lang="en-US" altLang="en-US" sz="2800" b="1" dirty="0">
              <a:solidFill>
                <a:schemeClr val="accent1">
                  <a:lumMod val="50000"/>
                </a:schemeClr>
              </a:solidFill>
              <a:latin typeface="Poppins SemiBold" panose="00000400000000000000" charset="0"/>
              <a:ea typeface="Calibri" panose="020F0502020204030204" pitchFamily="34" charset="-122"/>
              <a:cs typeface="Poppins SemiBold" panose="00000400000000000000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 panose="020B0604020202020204"/>
              <a:buNone/>
            </a:pPr>
            <a:endParaRPr sz="4500" b="1" i="0" u="none" strike="noStrike" cap="none" dirty="0">
              <a:solidFill>
                <a:schemeClr val="accent1">
                  <a:lumMod val="50000"/>
                </a:schemeClr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  <a:sym typeface="Poppins SemiBold" panose="00000400000000000000"/>
            </a:endParaRPr>
          </a:p>
        </p:txBody>
      </p:sp>
      <p:sp>
        <p:nvSpPr>
          <p:cNvPr id="18" name="Google Shape;75;p13"/>
          <p:cNvSpPr txBox="1"/>
          <p:nvPr/>
        </p:nvSpPr>
        <p:spPr>
          <a:xfrm>
            <a:off x="460947" y="2772410"/>
            <a:ext cx="396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0000"/>
                </a:solidFill>
                <a:latin typeface="Poppins SemiBold" panose="00000400000000000000" charset="0"/>
                <a:ea typeface="Arial" panose="020B0604020202020204" pitchFamily="34" charset="-122"/>
                <a:cs typeface="Poppins SemiBold" panose="00000400000000000000" charset="0"/>
              </a:rPr>
              <a:t>Basics, Lambda Expressions, Modules and Date API</a:t>
            </a:r>
            <a:endParaRPr lang="en-US" sz="2000" dirty="0">
              <a:solidFill>
                <a:srgbClr val="C00000"/>
              </a:solidFill>
              <a:latin typeface="Poppins SemiBold" panose="00000400000000000000" charset="0"/>
              <a:cs typeface="Poppins SemiBold" panose="00000400000000000000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Poppins SemiBold" panose="00000400000000000000" charset="0"/>
              <a:ea typeface="Poppins SemiBold" panose="00000400000000000000"/>
              <a:cs typeface="Poppins SemiBold" panose="00000400000000000000" charset="0"/>
              <a:sym typeface="Poppins SemiBold" panose="0000040000000000000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15" y="1517015"/>
            <a:ext cx="3740785" cy="2215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9" name="Google Shape;89;p14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</a:t>
            </a:r>
            <a:r>
              <a:rPr lang="en-GB" sz="1200" b="1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551863" y="687538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5;p15"/>
          <p:cNvSpPr txBox="1"/>
          <p:nvPr/>
        </p:nvSpPr>
        <p:spPr>
          <a:xfrm>
            <a:off x="231306" y="192322"/>
            <a:ext cx="640080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 panose="020B0604020202020204"/>
              <a:buNone/>
            </a:pPr>
            <a:r>
              <a:rPr lang="en-GB" sz="3385" b="1" i="0" u="none" strike="noStrike" cap="none" dirty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Learning Objectives</a:t>
            </a:r>
            <a:endParaRPr sz="138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Google Shape;107;p15"/>
          <p:cNvSpPr txBox="1"/>
          <p:nvPr/>
        </p:nvSpPr>
        <p:spPr>
          <a:xfrm>
            <a:off x="231306" y="741350"/>
            <a:ext cx="4206240" cy="54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4"/>
              <a:buFont typeface="Arial" panose="020B0604020202020204"/>
              <a:buNone/>
            </a:pPr>
            <a:r>
              <a:rPr lang="en-GB" sz="1005" b="1" i="0" u="none" strike="noStrike" cap="none" dirty="0">
                <a:solidFill>
                  <a:schemeClr val="tx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On completing this session, the learner will be able to:</a:t>
            </a:r>
            <a:endParaRPr lang="en-GB" sz="1005" b="1" i="0" u="none" strike="noStrike" cap="none" dirty="0">
              <a:solidFill>
                <a:schemeClr val="tx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4"/>
              <a:buFont typeface="Arial" panose="020B0604020202020204"/>
              <a:buNone/>
            </a:pPr>
            <a:endParaRPr lang="en-GB" sz="1005" b="0" i="0" u="none" strike="noStrike" cap="none" dirty="0">
              <a:solidFill>
                <a:srgbClr val="7F7F7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744664" y="539926"/>
            <a:ext cx="1448169" cy="12854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Write and run basic Java programs</a:t>
            </a:r>
            <a:endParaRPr lang="en-US" sz="1050" dirty="0"/>
          </a:p>
        </p:txBody>
      </p:sp>
      <p:sp>
        <p:nvSpPr>
          <p:cNvPr id="16" name="Oval 15"/>
          <p:cNvSpPr/>
          <p:nvPr/>
        </p:nvSpPr>
        <p:spPr>
          <a:xfrm>
            <a:off x="6417406" y="1836322"/>
            <a:ext cx="1411502" cy="109405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conditions and loops</a:t>
            </a:r>
            <a:endParaRPr lang="en-US" sz="1050" dirty="0"/>
          </a:p>
        </p:txBody>
      </p:sp>
      <p:sp>
        <p:nvSpPr>
          <p:cNvPr id="17" name="Oval 16"/>
          <p:cNvSpPr/>
          <p:nvPr/>
        </p:nvSpPr>
        <p:spPr>
          <a:xfrm>
            <a:off x="3441843" y="3233965"/>
            <a:ext cx="1366447" cy="113498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Write lambdas and streams</a:t>
            </a:r>
            <a:endParaRPr lang="en-US" sz="1050" dirty="0"/>
          </a:p>
        </p:txBody>
      </p:sp>
      <p:sp>
        <p:nvSpPr>
          <p:cNvPr id="18" name="Oval 17"/>
          <p:cNvSpPr/>
          <p:nvPr/>
        </p:nvSpPr>
        <p:spPr>
          <a:xfrm>
            <a:off x="5517705" y="3266851"/>
            <a:ext cx="1350256" cy="112948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Apply OOP concepts</a:t>
            </a:r>
            <a:endParaRPr lang="en-US" sz="1050" dirty="0"/>
          </a:p>
        </p:txBody>
      </p:sp>
      <p:sp>
        <p:nvSpPr>
          <p:cNvPr id="19" name="Oval 18"/>
          <p:cNvSpPr/>
          <p:nvPr/>
        </p:nvSpPr>
        <p:spPr>
          <a:xfrm>
            <a:off x="2684996" y="1408358"/>
            <a:ext cx="1567789" cy="120987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1F2937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modules and the Date API</a:t>
            </a:r>
            <a:endParaRPr lang="en-US" sz="1050" dirty="0"/>
          </a:p>
        </p:txBody>
      </p:sp>
      <p:sp>
        <p:nvSpPr>
          <p:cNvPr id="20" name="Arrow: Right 10"/>
          <p:cNvSpPr/>
          <p:nvPr/>
        </p:nvSpPr>
        <p:spPr>
          <a:xfrm rot="1620000">
            <a:off x="6143820" y="1458582"/>
            <a:ext cx="658400" cy="326941"/>
          </a:xfrm>
          <a:prstGeom prst="right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1" name="Arrow: Right 11"/>
          <p:cNvSpPr/>
          <p:nvPr/>
        </p:nvSpPr>
        <p:spPr>
          <a:xfrm rot="7500000">
            <a:off x="6759719" y="3125492"/>
            <a:ext cx="643886" cy="321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12"/>
          <p:cNvSpPr/>
          <p:nvPr/>
        </p:nvSpPr>
        <p:spPr>
          <a:xfrm rot="10800000">
            <a:off x="4761478" y="3993984"/>
            <a:ext cx="707270" cy="2938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3" name="Arrow: Up 14"/>
          <p:cNvSpPr/>
          <p:nvPr/>
        </p:nvSpPr>
        <p:spPr>
          <a:xfrm rot="20880000">
            <a:off x="3380511" y="2683838"/>
            <a:ext cx="289404" cy="59807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4" name="Arrow: Up 15"/>
          <p:cNvSpPr/>
          <p:nvPr/>
        </p:nvSpPr>
        <p:spPr>
          <a:xfrm rot="4440000">
            <a:off x="4309335" y="1208334"/>
            <a:ext cx="283780" cy="6740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pic>
        <p:nvPicPr>
          <p:cNvPr id="25" name="Picture 2" descr="Simple learning objectives icon | Premium AI-generated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744" y="2036168"/>
            <a:ext cx="1959149" cy="119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3" name="Google Shape;113;p15" title="11813 [Converted]-01.jpg"/>
          <p:cNvPicPr preferRelativeResize="0"/>
          <p:nvPr/>
        </p:nvPicPr>
        <p:blipFill>
          <a:blip r:embed="rId1"/>
          <a:stretch>
            <a:fillRect/>
          </a:stretch>
        </p:blipFill>
        <p:spPr>
          <a:xfrm flipH="1">
            <a:off x="4528911" y="210208"/>
            <a:ext cx="4622826" cy="4933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3"/>
          <a:srcRect l="6981" t="44048" r="6714" b="14302"/>
          <a:stretch>
            <a:fillRect/>
          </a:stretch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16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</a:t>
            </a:r>
            <a:r>
              <a:rPr lang="en-GB" sz="1200" b="1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5;p15"/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 panose="020B0604020202020204"/>
              <a:buNone/>
            </a:pPr>
            <a:r>
              <a:rPr lang="en-GB" sz="3385" b="1" i="0" u="none" strike="noStrike" cap="none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Topic Coverage</a:t>
            </a:r>
            <a:r>
              <a:rPr lang="en-GB" sz="3385" b="1" i="0" u="none" strike="noStrike" cap="none">
                <a:solidFill>
                  <a:srgbClr val="00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  <a:sym typeface="Poppins SemiBold" panose="00000400000000000000"/>
              </a:rPr>
              <a:t> </a:t>
            </a:r>
            <a:endParaRPr sz="138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0276" y="1270978"/>
          <a:ext cx="4688159" cy="29626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35818"/>
                <a:gridCol w="3852341"/>
              </a:tblGrid>
              <a:tr h="329184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S.no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400" b="1" u="none" strike="noStrike" cap="none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  <a:sym typeface="Poppins SemiBold" panose="00000400000000000000"/>
                        </a:rPr>
                        <a:t>Topic List</a:t>
                      </a:r>
                      <a:endParaRPr lang="en-IN" sz="1600" b="0" i="0" u="none" strike="noStrike" cap="none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1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Java introduction and first program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2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Variables, data types and operators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3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Conditions: if, else if and switch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4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Loops: for, while and do-while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5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Arrays, methods and OOP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6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Strings, exceptions and collections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7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Lambda expressions and streams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IN" sz="1300">
                          <a:solidFill>
                            <a:schemeClr val="tx1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8</a:t>
                      </a:r>
                      <a:endParaRPr lang="en-IN" sz="1300">
                        <a:solidFill>
                          <a:schemeClr val="tx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Roboto" panose="02000000000000000000" charset="0"/>
                          <a:ea typeface="Roboto" panose="02000000000000000000" charset="0"/>
                          <a:cs typeface="Roboto" panose="02000000000000000000" charset="0"/>
                        </a:rPr>
                        <a:t>Modules and the Date and Time API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Roboto" panose="02000000000000000000" charset="0"/>
                        <a:ea typeface="Roboto" panose="02000000000000000000" charset="0"/>
                        <a:cs typeface="Roboto" panose="0200000000000000000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2" descr="Topics Covered Colored Icon In Powerpoint Pptx Png And Editable Eps Format  PPT PowerPoin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340724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98;p14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99;p14"/>
          <p:cNvSpPr/>
          <p:nvPr/>
        </p:nvSpPr>
        <p:spPr>
          <a:xfrm>
            <a:off x="7551863" y="687538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9" name="Google Shape;129;p16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16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</a:t>
            </a:r>
            <a:r>
              <a:rPr lang="en-GB" sz="1200" b="1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22" name="Picture 2" descr="Group Discussion: Topics, Tips and Tricks - Classplus Growth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64" y="144540"/>
            <a:ext cx="2068204" cy="135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Clear instructions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372" y="174969"/>
            <a:ext cx="1324673" cy="132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Google Shape;158;p17"/>
          <p:cNvSpPr/>
          <p:nvPr/>
        </p:nvSpPr>
        <p:spPr>
          <a:xfrm>
            <a:off x="8202713" y="-450150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99;p14"/>
          <p:cNvSpPr/>
          <p:nvPr/>
        </p:nvSpPr>
        <p:spPr>
          <a:xfrm>
            <a:off x="7677803" y="446654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Title"/>
          <p:cNvSpPr txBox="1"/>
          <p:nvPr/>
        </p:nvSpPr>
        <p:spPr>
          <a:xfrm>
            <a:off x="329184" y="1654175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Discussion Points</a:t>
            </a:r>
            <a:endParaRPr lang="en-US" sz="2400" dirty="0"/>
          </a:p>
        </p:txBody>
      </p:sp>
      <p:sp>
        <p:nvSpPr>
          <p:cNvPr id="102" name="Bullets"/>
          <p:cNvSpPr txBox="1"/>
          <p:nvPr/>
        </p:nvSpPr>
        <p:spPr>
          <a:xfrm>
            <a:off x="365760" y="2237105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Why is Java called platform independent?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When is switch better than else if?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How is do-while different from while?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Why use lambdas instead of anonymous classes?</a:t>
            </a:r>
            <a:endParaRPr lang="en-US" sz="1400" dirty="0"/>
          </a:p>
        </p:txBody>
      </p:sp>
      <p:sp>
        <p:nvSpPr>
          <p:cNvPr id="103" name="Title"/>
          <p:cNvSpPr txBox="1"/>
          <p:nvPr/>
        </p:nvSpPr>
        <p:spPr>
          <a:xfrm>
            <a:off x="5010912" y="15875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Instructions</a:t>
            </a:r>
            <a:endParaRPr lang="en-US" sz="2400" dirty="0"/>
          </a:p>
        </p:txBody>
      </p:sp>
      <p:sp>
        <p:nvSpPr>
          <p:cNvPr id="104" name="Instructions"/>
          <p:cNvSpPr txBox="1"/>
          <p:nvPr/>
        </p:nvSpPr>
        <p:spPr>
          <a:xfrm>
            <a:off x="5010785" y="2159635"/>
            <a:ext cx="3749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Work in groups of four.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Discuss each point for two minutes.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Write one small Java example.</a:t>
            </a:r>
            <a:endParaRPr lang="en-US" sz="14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53A1"/>
              </a:buClr>
              <a:buFont typeface="Arial" panose="020B0604020202020204"/>
              <a:buChar char="•"/>
            </a:pP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One member presents the group answer.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Objective: </a:t>
            </a: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connect Java basics to modern Java features.</a:t>
            </a:r>
            <a:endParaRPr lang="en-US"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Duration: </a:t>
            </a:r>
            <a:r>
              <a:rPr lang="en-US" sz="1400" b="0" i="0" dirty="0">
                <a:solidFill>
                  <a:srgbClr val="262626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10 minutes.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8" name="Google Shape;118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19" name="Google Shape;119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125" name="Google Shape;125;p16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16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PART 1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48640" y="19202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Java Basics</a:t>
            </a:r>
            <a:endParaRPr sz="32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548640" y="27889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Syntax, object-oriented programming, strings and collections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What is Java?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 is a general-purpose, object-oriented programming language. You compile code once and run it on any device that has a JVM.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Write once, run anywhere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Strongly typed: errors found at compile time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Garbage collector frees unused memory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How a program runs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4206240" y="1554480"/>
            <a:ext cx="402336" cy="40233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1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cxnSp>
        <p:nvCxnSpPr>
          <p:cNvPr id="161" name="Connector 160"/>
          <p:cNvCxnSpPr/>
          <p:nvPr/>
        </p:nvCxnSpPr>
        <p:spPr>
          <a:xfrm>
            <a:off x="4407407" y="1975104"/>
            <a:ext cx="0" cy="237744"/>
          </a:xfrm>
          <a:prstGeom prst="line">
            <a:avLst/>
          </a:prstGeom>
          <a:ln w="19050">
            <a:solidFill>
              <a:srgbClr val="0053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800600" y="1536192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Write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Hello.java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4206240" y="2231136"/>
            <a:ext cx="402336" cy="40233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2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cxnSp>
        <p:nvCxnSpPr>
          <p:cNvPr id="164" name="Connector 163"/>
          <p:cNvCxnSpPr/>
          <p:nvPr/>
        </p:nvCxnSpPr>
        <p:spPr>
          <a:xfrm>
            <a:off x="4407407" y="2651760"/>
            <a:ext cx="0" cy="237744"/>
          </a:xfrm>
          <a:prstGeom prst="line">
            <a:avLst/>
          </a:prstGeom>
          <a:ln w="19050">
            <a:solidFill>
              <a:srgbClr val="0053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800600" y="2212848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Compile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javac creates Hello.class (bytecode)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4206240" y="2907791"/>
            <a:ext cx="402336" cy="40233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3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cxnSp>
        <p:nvCxnSpPr>
          <p:cNvPr id="167" name="Connector 166"/>
          <p:cNvCxnSpPr/>
          <p:nvPr/>
        </p:nvCxnSpPr>
        <p:spPr>
          <a:xfrm>
            <a:off x="4407407" y="3328415"/>
            <a:ext cx="0" cy="237744"/>
          </a:xfrm>
          <a:prstGeom prst="line">
            <a:avLst/>
          </a:prstGeom>
          <a:ln w="19050">
            <a:solidFill>
              <a:srgbClr val="0053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800600" y="2889503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Run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JVM executes the bytecode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4206240" y="3584448"/>
            <a:ext cx="402336" cy="40233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4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800600" y="3566160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Anywhere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Windows, macOS or Linux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JDK, JRE and JVM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JDK: Java Development Kit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Tools to write and compile programs, including javac.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JRE: Java Runtime Environment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Libraries plus the JVM needed to run programs.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JVM: Java Virtual Machine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Executes compiled bytecode on your machine.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4206240" y="1188720"/>
            <a:ext cx="4480560" cy="30175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480559" y="1874519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C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4754879" y="256032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JVM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runs bytecode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480559" y="13258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78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JDK  |  develop</a:t>
            </a:r>
            <a:endParaRPr sz="1400" b="1" i="0">
              <a:solidFill>
                <a:srgbClr val="003E78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480559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78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JRE  |  run</a:t>
            </a:r>
            <a:endParaRPr sz="1400" b="1" i="0">
              <a:solidFill>
                <a:srgbClr val="003E78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Your first program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Java program is a class with a main method. The main method is the entry point where execution starts.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File name must match the class name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println prints a line of text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public class HelloWorld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public static void main(String[] args)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System.out.println("Hello, Java!");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76148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Compile and run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3035808"/>
            <a:ext cx="4480560" cy="82296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javac HelloWorld.java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java HelloWorld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Hello, Java!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Variables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variable is a named memory location that stores a value. Its data type decides what kind of value it can hold.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Declare the type, then the name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Names are case-sensitive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var lets the compiler infer the type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dataType variableName = value;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age = 21;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double price = 99.5;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String name = "Asha";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var city = "Chennai";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Data types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data type defines what kind of value a variable stores and how much memory it uses. Java has eight primitive types; String is a reference type.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Whole numbers: byte, short, int, long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Decimals: float, double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371600"/>
                <a:gridCol w="19202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Type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Size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Example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int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32 bits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42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long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64 bits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8000000000L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double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64 bits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3.14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char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16 bits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'A'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boolean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true / false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true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Operators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Operators are symbols that perform operations on values and variables.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Comparison and logical operators give a boolean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% returns the remainder of a division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73736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Type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Operators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Example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Arithmetic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+  -  *  /  %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 + b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Comparison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==  !=  &lt;  &gt;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 &gt; b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Logical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&amp;&amp;  ||  !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 &amp;&amp; b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Assignment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=  +=  -=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 += 5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Conditions: if and else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conditional statement runs a block of code only when a condition is true.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condition must be a boolean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else runs when the condition is false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else if checks another condition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if (condition) { ... } else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marks = 72;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if (marks &gt;= 60)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System.out.println("Pass");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else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System.out.println("Fail");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Else if ladder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An else if ladder checks several conditions in order. The first true condition runs and the rest are skipped.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Conditions are checked top to bottom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else runs when no condition is true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if (c1) { } else if (c2) { } else {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73736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marks = 72;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result: B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if (marks &gt;= 90)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System.out.println("A");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else if (marks &gt;= 60)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System.out.println("B");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else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System.out.println("C");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Switch statement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switch statement picks one block to run by comparing a value with several case labels.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break stops execution from falling through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default runs when no case matches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Works with int, char, String and enum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switch (expression)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case value: ...; break;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default: ...;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57860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852928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day = 2;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switch (day)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case 1: System.out.println("Mon"); break;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case 2: System.out.println("Tue"); break;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default: System.out.println("Other");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Switch expression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switch expression uses -&gt; and returns a value. It needs no break, so cases cannot fall through by mistake.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Available from Java 14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Several labels: case 2, 3 -&gt;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Assign the result to a variable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case value -&gt; result;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day = 3;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String name = switch (day)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case 1 -&gt; "Mon";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case 2, 3 -&gt; "Tue or Wed";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default -&gt; "Other";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System.out.println(name);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Tue or Wed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The for loop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for loop repeats a block a fixed number of times. It sets up, tests and updates a counter in one line.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it when you know the count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break exits early; continue skips one pass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for (init; condition; update)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82296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for (int i = 1; i &lt;= 3; i++)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System.out.println(i);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1, 2, 3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The while loop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while loop repeats a block as long as its condition is true. The condition is checked before every pass.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It may run zero times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Update the variable, or it loops forever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while (condition)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n = 3;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while (n &gt; 0)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System.out.println(n);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3, 2, 1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n--;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The do-while loop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do-while loop runs the block first and then checks the condition. It always runs at least once.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condition is checked after the body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semicolon follows while (...)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Good for menus and input checks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do { ... } while (condition);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n = 5;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do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System.out.println(n);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runs once: 5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n++;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while (n &lt; 3);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Arrays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An array stores a fixed number of values of the same type. Elements are accessed by index, starting at 0.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length gives the size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enhanced for loop reads each element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dataType[] name = {v1, v2, v3};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int[] scores = {80, 92, 75};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System.out.println(scores[1]);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92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for (int s : scores)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System.out.println(s);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Methods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method is a reusable block of code that performs a task. It can take parameters and return a value.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void means no return value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Overloading: same name, different parameters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returnType name(parameters)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static int add(int a, int b)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return a + b;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 total = add(4, 5);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9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Classes and objects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class is a blueprint that defines fields and methods. An object is an instance of a class, created with new.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Fields store data, methods define behaviour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constructor runs when an object is created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ClassName obj = new ClassName(args);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Student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String name;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Student(String name)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this.name = name;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Student s = new Student("Asha");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Encapsulation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Encapsulation hides a class's data by making fields private and exposing them through public methods. This protects data from invalid changes.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private fields cannot be used outside the class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Setters can validate before changing data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private dataType fieldName;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Account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private double balance;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public double getBalance()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return balance;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a.balance would not compile outside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Inheritance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Inheritance lets a child class reuse the fields and methods of a parent class. It models an is-a relationship.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extends creates the link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class can extend only one parent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Child extends Parent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Animal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void eat()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System.out.println("Eating");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Dog extends Animal {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new Dog().eat();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Eating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Polymorphism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Polymorphism means one call can behave differently depending on the object. A child class overrides a parent method to give its own behaviour.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@Override marks an overridden method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actual object decides at runtime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9202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Animal { void speak() { }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Dog extends Animal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@Override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void speak()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System.out.println("Woof");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Animal a = new Dog();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a.speak();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Woof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Interfaces and abstraction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Abstraction shows what an object does and hides how. An interface lists methods that a class must implement.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class can implement many interfaces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Interface methods are abstract by default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interface Name { returnType method();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interface Shape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double area();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 Square implements Shape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public double area() { return 4 * 4;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Abstract class vs interface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An abstract class shares state and code among related classes. An interface defines a contract that any class can implement.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an abstract class for shared code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an interface for a capability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64592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Feature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Abstract class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Interface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Keyword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abstract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interface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Used with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extends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implements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Per class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One only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Many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Fields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Any kind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Constants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Methods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Both kinds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Abstract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Strings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String is a sequence of characters. Strings are immutable: methods return a new String and never change the original.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Compare with equals(), not ==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Common methods: length, substring, toUpperCase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String name = "text";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String s = "Hello Java";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s.length();      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10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s.toUpperCase(); 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HELLO JAVA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s.substring(0, 5);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Hello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s.equals("Hello Java");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true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Exceptions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An exception is an error that occurs while the program runs. try and catch let you handle it so the program does not crash.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finally always runs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Checked exceptions must be caught or declared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try { ... } catch (Exception e) { ...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try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int x = 10 / 0;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catch (ArithmeticException e)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System.out.println("Error");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 finally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System.out.println("Done");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Collections framework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collection stores a group of objects. The Collections framework provides ready-made structures such as List, Set and Map.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Generics like &lt;String&gt; fix the element type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Pick the structure that fits the data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173736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Interface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Meaning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Class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List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Ordered items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ArrayList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Set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Unique items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HashSet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Map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Key-value pairs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HashMap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Collections in code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Generics, written in angle brackets, tell the compiler what type a collection holds. This avoids casts and catches type errors early.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add() and put() insert elements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Set ignores duplicates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Type&lt;Element&gt; name = new Impl&lt;&gt;();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3716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List&lt;String&gt; names = new ArrayList&lt;&gt;();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names.add("Asha");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Set&lt;Integer&gt; ids = new HashSet&lt;&gt;();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ids.add(1);  ids.add(1);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size is 1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Map&lt;String, Integer&gt; marks = new HashMap&lt;&gt;();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marks.put("Asha", 91);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3" name="Google Shape;203;p20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204" name="Google Shape;204;p20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15" name="Google Shape;215;p20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616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PART 2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548640" y="19202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Lambda Expressions</a:t>
            </a:r>
            <a:endParaRPr sz="32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548640" y="27889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 8: functions you can pass around like values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What is a lambda?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lambda expression is a short, anonymous function. It lets you pass behaviour as a value and replaces most anonymous classes.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No name and no declared return type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Works with functional interfaces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Before Java 8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names.sort(new Comparator&lt;String&gt;()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public int compare(String a, String b)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return a.length() - b.length();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76148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With a lambda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3035808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names.sort((a, b) -&gt; a.length() - b.length());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Lambda syntax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lambda has three parts: parameters, the arrow -&gt;, and a body. The compiler infers the parameter types.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One parameter: parentheses are optional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One expression: return is optional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(parameters) -&gt; expression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 -&gt; 42               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no parameters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x -&gt; x * 2            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one parameter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(a, b) -&gt; a + b       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two parameters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(a, b) -&gt; { return a + b; }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block body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Functional interfaces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functional interface has exactly one abstract method. A lambda provides the implementation of that method.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@FunctionalInterface makes the compiler check it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Common ones live in java.util.function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005840"/>
                <a:gridCol w="19202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Interface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Method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Purpose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Predicate&lt;T&gt;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test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Returns boolean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Function&lt;T,R&gt;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apply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Transforms a value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Consumer&lt;T&gt;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accept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Uses a value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Supplier&lt;T&gt;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get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Produces a value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Runnable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run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Runs an action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Using functional interfaces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Assign a lambda to a functional interface variable, then call its single method. You can also define your own interface.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lambda is the body of that one method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Built-in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Predicate&lt;Integer&gt; isEven = n -&gt; n % 2 == 0;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isEven.test(4); 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true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Function&lt;String, Integer&gt; len =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s -&gt; s.length();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len.apply("Java");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4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76148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Your own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303580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interface Calculator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int compute(int a, int b);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Calculator add = (a, b) -&gt; a + b;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add.compute(3, 4);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7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Method references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method reference is a shorthand for a lambda that only calls an existing method.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it when the lambda calls one method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Forms: Class::method and object::method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ClassName::methodName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82296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names.forEach(s -&gt; System.out.println(s));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same thing, shorter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names.forEach(System.out::println);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Streams with lambdas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stream processes a collection as a pipeline of steps. Lambdas supply the logic for each step, and a final step collects the result.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filter keeps matching items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map transforms each item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Pipeline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Pentagon 159"/>
          <p:cNvSpPr/>
          <p:nvPr/>
        </p:nvSpPr>
        <p:spPr>
          <a:xfrm>
            <a:off x="4206240" y="1508760"/>
            <a:ext cx="1083564" cy="457200"/>
          </a:xfrm>
          <a:prstGeom prst="homePlate">
            <a:avLst/>
          </a:prstGeom>
          <a:solidFill>
            <a:srgbClr val="005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filter</a:t>
            </a:r>
            <a:endParaRPr sz="1400" b="1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1" name="Pentagon 160"/>
          <p:cNvSpPr/>
          <p:nvPr/>
        </p:nvSpPr>
        <p:spPr>
          <a:xfrm>
            <a:off x="5326379" y="1508760"/>
            <a:ext cx="1083564" cy="457200"/>
          </a:xfrm>
          <a:prstGeom prst="homePlate">
            <a:avLst/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map</a:t>
            </a:r>
            <a:endParaRPr sz="1400" b="1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2" name="Pentagon 161"/>
          <p:cNvSpPr/>
          <p:nvPr/>
        </p:nvSpPr>
        <p:spPr>
          <a:xfrm>
            <a:off x="6446520" y="1508760"/>
            <a:ext cx="1083564" cy="457200"/>
          </a:xfrm>
          <a:prstGeom prst="homePlate">
            <a:avLst/>
          </a:prstGeom>
          <a:solidFill>
            <a:srgbClr val="005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sorted</a:t>
            </a:r>
            <a:endParaRPr sz="1400" b="1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3" name="Pentagon 162"/>
          <p:cNvSpPr/>
          <p:nvPr/>
        </p:nvSpPr>
        <p:spPr>
          <a:xfrm>
            <a:off x="7566660" y="1508760"/>
            <a:ext cx="1083564" cy="457200"/>
          </a:xfrm>
          <a:prstGeom prst="homePlate">
            <a:avLst/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collect</a:t>
            </a:r>
            <a:endParaRPr sz="1400" b="1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206240" y="214884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4206240" y="2423160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List&lt;String&gt; r = names.stream()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.filter(n -&gt; n.startsWith("A"))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.map(String::toUpperCase)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.sorted()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.collect(Collectors.toList());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names = Asha, Ravi, Arjun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r = [ARJUN, ASHA]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0" name="Google Shape;240;p22"/>
          <p:cNvGrpSpPr/>
          <p:nvPr/>
        </p:nvGrpSpPr>
        <p:grpSpPr>
          <a:xfrm flipH="1">
            <a:off x="5429250" y="-11"/>
            <a:ext cx="3714750" cy="4564844"/>
            <a:chOff x="0" y="-63"/>
            <a:chExt cx="3962400" cy="4869167"/>
          </a:xfrm>
        </p:grpSpPr>
        <p:sp>
          <p:nvSpPr>
            <p:cNvPr id="241" name="Google Shape;241;p22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2"/>
            <p:cNvSpPr/>
            <p:nvPr/>
          </p:nvSpPr>
          <p:spPr>
            <a:xfrm rot="10800000">
              <a:off x="33808" y="-63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0" y="2671378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4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50" name="Google Shape;250;p22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528552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6140269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TextBox 253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PART 3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548640" y="19202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Modules</a:t>
            </a:r>
            <a:endParaRPr sz="32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548640" y="27889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 9: packages grouped with clear boundaries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What is a module?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module is a named group of related packages. It declares which packages it exports and which other modules it requires.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Introduced in Java 9 (Project Jigsaw)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JDK itself is modular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Why use modules?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4206240" y="1673352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1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754879" y="164592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Strong encapsulation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Only exported packages are visible to other modules.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4206240" y="2587751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2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754879" y="256032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Reliable configuration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Missing dependencies are caught at startup.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4206240" y="3502151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3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754879" y="347472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Smaller runtime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jlink builds a custom runtime image.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The module descriptor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module descriptor, module-info.java, sits at the root of a module. It lists the modules it requires and the packages it exports.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A package that is not exported is hidden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requires transitive passes a dependency on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module name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requires other.module;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exports package.name;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57860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85292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module school.students {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requires java.sql;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exports school.students.api;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}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Two modules, one boundary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app module requires the students module. It can use the exported api package but not the hidden internal package.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requires gives access to exported packages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The compiler rejects use of hidden packages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4206240" y="1508760"/>
            <a:ext cx="1280160" cy="2103120"/>
          </a:xfrm>
          <a:prstGeom prst="roundRect">
            <a:avLst>
              <a:gd name="adj" fmla="val 8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school.app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Main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6675120" y="1188720"/>
            <a:ext cx="2011680" cy="30175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766559" y="12618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E78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school.students</a:t>
            </a:r>
            <a:endParaRPr sz="1400" b="1" i="0">
              <a:solidFill>
                <a:srgbClr val="003E78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6812279" y="173736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005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api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exported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3" name="Rounded Rectangle 162"/>
          <p:cNvSpPr/>
          <p:nvPr/>
        </p:nvSpPr>
        <p:spPr>
          <a:xfrm>
            <a:off x="6812279" y="2971800"/>
            <a:ext cx="1737360" cy="96012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internal</a:t>
            </a:r>
            <a:endParaRPr sz="1400" b="1" i="0">
              <a:solidFill>
                <a:srgbClr val="FFFFFF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hidden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cxnSp>
        <p:nvCxnSpPr>
          <p:cNvPr id="164" name="Connector 163"/>
          <p:cNvCxnSpPr/>
          <p:nvPr/>
        </p:nvCxnSpPr>
        <p:spPr>
          <a:xfrm>
            <a:off x="5532120" y="2212848"/>
            <a:ext cx="1234439" cy="0"/>
          </a:xfrm>
          <a:prstGeom prst="line">
            <a:avLst/>
          </a:prstGeom>
          <a:ln w="28575">
            <a:solidFill>
              <a:srgbClr val="0053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5532120" y="1901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requires</a:t>
            </a:r>
            <a:endParaRPr sz="1400" b="1" i="0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cxnSp>
        <p:nvCxnSpPr>
          <p:cNvPr id="166" name="Connector 165"/>
          <p:cNvCxnSpPr/>
          <p:nvPr/>
        </p:nvCxnSpPr>
        <p:spPr>
          <a:xfrm>
            <a:off x="5532120" y="2926080"/>
            <a:ext cx="1234439" cy="457200"/>
          </a:xfrm>
          <a:prstGeom prst="line">
            <a:avLst/>
          </a:prstGeom>
          <a:ln w="28575">
            <a:solidFill>
              <a:srgbClr val="CC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5532120" y="34290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blocked</a:t>
            </a:r>
            <a:endParaRPr sz="1400" b="1" i="0">
              <a:solidFill>
                <a:srgbClr val="CC0000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0" name="Google Shape;240;p22"/>
          <p:cNvGrpSpPr/>
          <p:nvPr/>
        </p:nvGrpSpPr>
        <p:grpSpPr>
          <a:xfrm flipH="1">
            <a:off x="5429250" y="-11"/>
            <a:ext cx="3714750" cy="4564844"/>
            <a:chOff x="0" y="-63"/>
            <a:chExt cx="3962400" cy="4869167"/>
          </a:xfrm>
        </p:grpSpPr>
        <p:sp>
          <p:nvSpPr>
            <p:cNvPr id="241" name="Google Shape;241;p22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2"/>
            <p:cNvSpPr/>
            <p:nvPr/>
          </p:nvSpPr>
          <p:spPr>
            <a:xfrm rot="10800000">
              <a:off x="33808" y="-63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1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0" y="2671378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4" scaled="0"/>
            </a:gra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50" name="Google Shape;250;p22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528552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6140269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TextBox 253"/>
          <p:cNvSpPr txBox="1"/>
          <p:nvPr/>
        </p:nvSpPr>
        <p:spPr>
          <a:xfrm>
            <a:off x="548640" y="15544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PART 4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548640" y="19202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Date and Time API</a:t>
            </a:r>
            <a:endParaRPr sz="32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548640" y="27889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 8: java.time replaces Date and Calendar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The java.time package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java.time is Java's modern API for dates, times and time zones. Its classes are immutable and thread-safe.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Local types have no time zone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Period and Duration measure gaps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118872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Class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Represents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Example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LocalDate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Date only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2026-10-13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LocalTime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Time only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14:30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LocalDateTime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Date + time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2026-10-13T14:30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ZonedDateTime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With zone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T14:30+05:30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Period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Date gap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P1Y2M3D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Duration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Time gap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B33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PT2H30M</a:t>
                      </a:r>
                      <a:endParaRPr sz="1200" b="0" i="0">
                        <a:solidFill>
                          <a:srgbClr val="262B33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Creating dates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LocalDate represents a date without a time or zone. Create it with now() for today or of() for a specific date.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Month numbers start at 1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Other types: LocalTime, LocalDateTime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d = LocalDate.of(year, month, day);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today = LocalDate.now();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d = LocalDate.of(2026, 10, 13);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d.getDayOfWeek();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TUESDAY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d.getMonthValue();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10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Immutable dates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java.time objects are immutable: methods such as plusDays return a new object and never change the original.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plus and minus: plusDays, minusMonths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Compare with isBefore and isAfter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4206240" y="11887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 = 2026-10-13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cxnSp>
        <p:nvCxnSpPr>
          <p:cNvPr id="160" name="Connector 159"/>
          <p:cNvCxnSpPr/>
          <p:nvPr/>
        </p:nvCxnSpPr>
        <p:spPr>
          <a:xfrm>
            <a:off x="6080759" y="1435608"/>
            <a:ext cx="731520" cy="0"/>
          </a:xfrm>
          <a:prstGeom prst="line">
            <a:avLst/>
          </a:prstGeom>
          <a:ln w="28575">
            <a:solidFill>
              <a:srgbClr val="0053A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6903720" y="118872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new = 2026-10-20</a:t>
            </a:r>
            <a:endParaRPr sz="1400" b="0" i="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206240" y="178308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plusDays(7) returns a new object; d is unchanged.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206240" y="228600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4206240" y="2560320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d = LocalDate.of(2026, 10, 13);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next = d.plusDays(7);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System.out.println(next);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2026-10-20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System.out.println(d); 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2026-10-13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Period and Duration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Period measures a gap in years, months and days. Duration measures a gap in hours, minutes and seconds.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Period is for dates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Duration is for times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Period.between(startDate, endDate)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55448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Period p = Period.between(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LocalDate.of(2026, 1, 1),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LocalDate.of(2026, 10, 13));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p.getMonths();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9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LocalTime a = LocalTime.of(9, 0);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LocalTime b = LocalTime.of(11, 30);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Duration.between(a, b).toMinutes();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150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Formatting and parsing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DateTimeFormatter converts a date to text and text to a date, using a pattern such as dd/MM/yyyy.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yyyy year, MM month, dd day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HH hour, mm minute, ss second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DateTimeFormatter.ofPattern("pattern")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18872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DateTimeFormatter f =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DateTimeFormatter.ofPattern("dd/MM/yyyy");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 d = LocalDate.of(2026, 10, 13);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d.format(f);  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13/10/2026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LocalDate.parse("25/12/2026", f);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Time zones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ZonedDateTime holds a date, a time and a time zone. Use withZoneSameInstant to show the same moment in another zone.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Zone ids look like Asia/Kolkata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Instant for stored timestamps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206240" y="11887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Syntax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206240" y="1463040"/>
            <a:ext cx="4480560" cy="45720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ZonedDateTime.now(ZoneId.of("zone"))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206240" y="202996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Example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4206240" y="2304288"/>
            <a:ext cx="4480560" cy="1005840"/>
          </a:xfrm>
          <a:prstGeom prst="roundRect">
            <a:avLst>
              <a:gd name="adj" fmla="val 5000"/>
            </a:avLst>
          </a:prstGeom>
          <a:solidFill>
            <a:srgbClr val="003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28016" tIns="128016" rIns="128016" bIns="128016" rtlCol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ZoneId ist = ZoneId.of("Asia/Kolkata");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ZoneId uk = ZoneId.of("Europe/London");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ZonedDateTime t = ZonedDateTime.now(ist);</a:t>
            </a:r>
            <a:endParaRPr sz="1200" b="0" i="0">
              <a:solidFill>
                <a:srgbClr val="FFFFFF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>
              <a:lnSpc>
                <a:spcPts val="1440"/>
              </a:lnSpc>
            </a:pPr>
            <a:r>
              <a:rPr sz="1200" b="0" i="0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t.withZoneSameInstant(uk); </a:t>
            </a:r>
            <a:r>
              <a:rPr sz="1200" b="0" i="0">
                <a:solidFill>
                  <a:srgbClr val="A9CBF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 UK time</a:t>
            </a:r>
            <a:endParaRPr sz="1200" b="0" i="0">
              <a:solidFill>
                <a:srgbClr val="A9CBF2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Old API vs new API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383280" cy="3035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Definition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Use java.time in all new code. The old Date and Calendar classes are mutable, not thread-safe and confusing.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Key points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Months start at 1, not 0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Zones are built in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graphicFrame>
        <p:nvGraphicFramePr>
          <p:cNvPr id="159" name="Table 158"/>
          <p:cNvGraphicFramePr>
            <a:graphicFrameLocks noGrp="1"/>
          </p:cNvGraphicFramePr>
          <p:nvPr/>
        </p:nvGraphicFramePr>
        <p:xfrm>
          <a:off x="4206240" y="1188720"/>
          <a:ext cx="448056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1737360"/>
                <a:gridCol w="17373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Feature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Old API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Poppins SemiBold" panose="00000400000000000000"/>
                          <a:ea typeface="Poppins SemiBold" panose="00000400000000000000"/>
                          <a:cs typeface="Poppins SemiBold" panose="00000400000000000000"/>
                        </a:rPr>
                        <a:t>java.time</a:t>
                      </a:r>
                      <a:endParaRPr sz="1400" b="1" i="0">
                        <a:solidFill>
                          <a:srgbClr val="FFFFFF"/>
                        </a:solidFill>
                        <a:latin typeface="Poppins SemiBold" panose="00000400000000000000"/>
                        <a:ea typeface="Poppins SemiBold" panose="00000400000000000000"/>
                        <a:cs typeface="Poppins SemiBold" panose="00000400000000000000"/>
                      </a:endParaRPr>
                    </a:p>
                  </a:txBody>
                  <a:tcPr marL="82296" marR="82296" marT="27432" marB="27432" anchor="ctr">
                    <a:solidFill>
                      <a:srgbClr val="0053A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Mutable?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Yes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No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Threads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Not safe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Safe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Months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0 to 11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1 to 12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Zones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Awkward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ZoneId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3F7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Format</a:t>
                      </a:r>
                      <a:endParaRPr sz="1400" b="1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SimpleDateFormat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2B33"/>
                          </a:solidFill>
                          <a:latin typeface="Roboto" panose="02000000000000000000"/>
                          <a:ea typeface="Roboto" panose="02000000000000000000"/>
                          <a:cs typeface="Roboto" panose="02000000000000000000"/>
                        </a:rPr>
                        <a:t>DateTimeFormatter</a:t>
                      </a:r>
                      <a:endParaRPr sz="1400" b="0" i="0">
                        <a:solidFill>
                          <a:srgbClr val="262B33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</a:endParaRP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5" name="Google Shape;145;p17" title="Untitled-1-07.png"/>
          <p:cNvPicPr preferRelativeResize="0"/>
          <p:nvPr/>
        </p:nvPicPr>
        <p:blipFill rotWithShape="1">
          <a:blip r:embed="rId1"/>
          <a:srcRect l="5100" r="4630" b="15895"/>
          <a:stretch>
            <a:fillRect/>
          </a:stretch>
        </p:blipFill>
        <p:spPr>
          <a:xfrm>
            <a:off x="5757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title="powerd by.png"/>
          <p:cNvPicPr preferRelativeResize="0"/>
          <p:nvPr/>
        </p:nvPicPr>
        <p:blipFill rotWithShape="1">
          <a:blip r:embed="rId2"/>
          <a:srcRect l="6981" t="44048" r="6714" b="14302"/>
          <a:stretch>
            <a:fillRect/>
          </a:stretch>
        </p:blipFill>
        <p:spPr>
          <a:xfrm>
            <a:off x="32330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632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</a:t>
            </a:r>
            <a:endParaRPr sz="1200" b="1" i="0" u="none" strike="noStrike" cap="none">
              <a:solidFill>
                <a:srgbClr val="0053A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7962263" y="-378362"/>
            <a:ext cx="1271100" cy="12711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551871" y="696136"/>
            <a:ext cx="410400" cy="410400"/>
          </a:xfrm>
          <a:prstGeom prst="ellipse">
            <a:avLst/>
          </a:prstGeom>
          <a:solidFill>
            <a:srgbClr val="19399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29373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548640" y="38404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53A1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Summary and practice</a:t>
            </a:r>
            <a:endParaRPr sz="2800" b="1" i="0">
              <a:solidFill>
                <a:srgbClr val="0053A1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548640" y="1188720"/>
            <a:ext cx="356616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Summary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Java Basics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Classes, objects, strings and collections.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Lambdas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Short functions that make behaviour a value.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Modules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Packages with clear exports and requirements.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Date API</a:t>
            </a:r>
            <a:endParaRPr sz="1400" b="1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57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Immutable, thread-safe java.time classes.</a:t>
            </a:r>
            <a:endParaRPr sz="1400" b="0" i="0">
              <a:solidFill>
                <a:srgbClr val="5B657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480560" y="1188720"/>
            <a:ext cx="420624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C0000"/>
                </a:solidFill>
                <a:latin typeface="Poppins SemiBold" panose="00000400000000000000"/>
                <a:ea typeface="Poppins SemiBold" panose="00000400000000000000"/>
                <a:cs typeface="Poppins SemiBold" panose="00000400000000000000"/>
              </a:rPr>
              <a:t>Try it yourself</a:t>
            </a:r>
            <a:endParaRPr sz="1400" b="1" i="0">
              <a:solidFill>
                <a:srgbClr val="CC0000"/>
              </a:solidFill>
              <a:latin typeface="Poppins SemiBold" panose="00000400000000000000"/>
              <a:ea typeface="Poppins SemiBold" panose="00000400000000000000"/>
              <a:cs typeface="Poppins SemiBold" panose="00000400000000000000"/>
            </a:endParaRP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Print a multiplication table.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Sort Student objects by marks using a lambda.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Create two modules and export one package.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Font typeface="Arial" panose="020B0604020202020204"/>
              <a:buChar char="•"/>
            </a:pPr>
            <a:r>
              <a:rPr sz="1400" b="0" i="0">
                <a:solidFill>
                  <a:srgbClr val="262B33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Print your age in years, months and days.</a:t>
            </a:r>
            <a:endParaRPr sz="1400" b="0" i="0">
              <a:solidFill>
                <a:srgbClr val="262B33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/>
          <p:nvPr/>
        </p:nvSpPr>
        <p:spPr>
          <a:xfrm>
            <a:off x="-3525" y="1895025"/>
            <a:ext cx="9144000" cy="139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2" name="Google Shape;332;p27" title="Untitled-3-01.png"/>
          <p:cNvPicPr preferRelativeResize="0"/>
          <p:nvPr/>
        </p:nvPicPr>
        <p:blipFill rotWithShape="1">
          <a:blip r:embed="rId1"/>
          <a:srcRect l="2123"/>
          <a:stretch>
            <a:fillRect/>
          </a:stretch>
        </p:blipFill>
        <p:spPr>
          <a:xfrm>
            <a:off x="2954238" y="275375"/>
            <a:ext cx="2820275" cy="81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title="future-visions-business-technology-concept.jpg"/>
          <p:cNvPicPr preferRelativeResize="0"/>
          <p:nvPr>
            <p:ph type="pic" idx="2"/>
          </p:nvPr>
        </p:nvPicPr>
        <p:blipFill rotWithShape="1">
          <a:blip r:embed="rId2"/>
          <a:srcRect t="5317" b="5317"/>
          <a:stretch>
            <a:fillRect/>
          </a:stretch>
        </p:blipFill>
        <p:spPr>
          <a:xfrm>
            <a:off x="2098625" y="1238350"/>
            <a:ext cx="4531500" cy="2768400"/>
          </a:xfrm>
          <a:prstGeom prst="roundRect">
            <a:avLst>
              <a:gd name="adj" fmla="val 8493"/>
            </a:avLst>
          </a:prstGeom>
          <a:solidFill>
            <a:srgbClr val="7F7F7F"/>
          </a:solidFill>
          <a:ln>
            <a:noFill/>
          </a:ln>
        </p:spPr>
      </p:pic>
      <p:sp>
        <p:nvSpPr>
          <p:cNvPr id="334" name="Google Shape;334;p27"/>
          <p:cNvSpPr/>
          <p:nvPr/>
        </p:nvSpPr>
        <p:spPr>
          <a:xfrm>
            <a:off x="6649170" y="1895025"/>
            <a:ext cx="249723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4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5" name="Google Shape;335;p27"/>
          <p:cNvSpPr/>
          <p:nvPr/>
        </p:nvSpPr>
        <p:spPr>
          <a:xfrm flipH="1">
            <a:off x="-5172" y="1875125"/>
            <a:ext cx="208474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4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764050" y="4290875"/>
            <a:ext cx="779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rgbClr val="0053A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www.careercraftacademy.com             info@careercraftacademy.com             +91-9442639366 , +91-9600344633</a:t>
            </a:r>
            <a:endParaRPr sz="1200" b="0" i="0" u="none" strike="noStrike" cap="none">
              <a:solidFill>
                <a:srgbClr val="0053A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7" name="Google Shape;337;p27" title="email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136075" y="4385887"/>
            <a:ext cx="179300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7" title="phone-call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8725" y="4404200"/>
            <a:ext cx="133875" cy="1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7" title="world-wide-web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10800000" flipH="1">
            <a:off x="666150" y="4414075"/>
            <a:ext cx="133875" cy="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19030</Words>
  <Application>WPS Presentation</Application>
  <PresentationFormat/>
  <Paragraphs>1244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6" baseType="lpstr">
      <vt:lpstr>Arial</vt:lpstr>
      <vt:lpstr>SimSun</vt:lpstr>
      <vt:lpstr>Wingdings</vt:lpstr>
      <vt:lpstr>Arial</vt:lpstr>
      <vt:lpstr>Calibri</vt:lpstr>
      <vt:lpstr>Roboto</vt:lpstr>
      <vt:lpstr>Poppins SemiBold</vt:lpstr>
      <vt:lpstr>Calibri</vt:lpstr>
      <vt:lpstr>Poppins SemiBold</vt:lpstr>
      <vt:lpstr>Arial</vt:lpstr>
      <vt:lpstr>Courier New</vt:lpstr>
      <vt:lpstr>Roboto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Subashini M</cp:lastModifiedBy>
  <cp:revision>6</cp:revision>
  <dcterms:created xsi:type="dcterms:W3CDTF">2026-10-08T09:21:00Z</dcterms:created>
  <dcterms:modified xsi:type="dcterms:W3CDTF">2026-10-13T10:50:29Z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47AD95D6EF044076A8B4A0B3D1C583D7_13</vt:lpwstr>
  </property>
</Properties>
</file>