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61" r:id="rId2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Roboto" panose="020B0604020202020204" charset="0"/>
      <p:regular r:id="rId32"/>
      <p:bold r:id="rId33"/>
      <p:italic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Poppins SemiBold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D4545"/>
    <a:srgbClr val="FD3939"/>
    <a:srgbClr val="FC7881"/>
    <a:srgbClr val="FF4747"/>
    <a:srgbClr val="FF5050"/>
    <a:srgbClr val="F2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27BCD-3F05-4862-9247-AF1A75B2131A}" v="22" dt="2026-02-24T05:06:18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71101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5222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0358cef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b0358cef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406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b0358cef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b0358cef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1222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b0358cef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b0358ceff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74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341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randomBar dir="vert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>
            <a:off x="4504500" y="503996"/>
            <a:ext cx="4639500" cy="4639500"/>
          </a:xfrm>
          <a:prstGeom prst="rtTriangle">
            <a:avLst/>
          </a:prstGeom>
          <a:solidFill>
            <a:srgbClr val="0053A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921084" y="3098170"/>
            <a:ext cx="469705" cy="722606"/>
            <a:chOff x="1549" y="475"/>
            <a:chExt cx="589" cy="906"/>
          </a:xfrm>
        </p:grpSpPr>
        <p:sp>
          <p:nvSpPr>
            <p:cNvPr id="57" name="Google Shape;57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3"/>
          <p:cNvSpPr/>
          <p:nvPr/>
        </p:nvSpPr>
        <p:spPr>
          <a:xfrm>
            <a:off x="7767969" y="1146402"/>
            <a:ext cx="649500" cy="6495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4135800" y="1100700"/>
            <a:ext cx="5376900" cy="40428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980000"/>
              </a:gs>
              <a:gs pos="15000">
                <a:srgbClr val="CC0000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16349" y="4433472"/>
            <a:ext cx="24369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3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300" b="0" i="0" u="none" strike="noStrike" cap="non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3" title="Untitled-1-07.png"/>
          <p:cNvPicPr preferRelativeResize="0"/>
          <p:nvPr/>
        </p:nvPicPr>
        <p:blipFill rotWithShape="1">
          <a:blip r:embed="rId3">
            <a:alphaModFix/>
          </a:blip>
          <a:srcRect l="5096" b="15895"/>
          <a:stretch/>
        </p:blipFill>
        <p:spPr>
          <a:xfrm>
            <a:off x="337150" y="155375"/>
            <a:ext cx="3364626" cy="8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2;p13"/>
          <p:cNvSpPr txBox="1"/>
          <p:nvPr/>
        </p:nvSpPr>
        <p:spPr>
          <a:xfrm>
            <a:off x="463487" y="1471152"/>
            <a:ext cx="3964800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SzPts val="4500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Poppins SemiBold" panose="020B0604020202020204" charset="0"/>
                <a:ea typeface="Calibri" pitchFamily="34" charset="-122"/>
                <a:cs typeface="Poppins SemiBold" panose="020B0604020202020204" charset="0"/>
              </a:rPr>
              <a:t>Java Interfaces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Poppins SemiBold" panose="020B0604020202020204" charset="0"/>
              <a:cs typeface="Poppins SemiBold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endParaRPr sz="4500" b="1" i="0" u="none" strike="noStrike" cap="none" dirty="0">
              <a:solidFill>
                <a:schemeClr val="accent1">
                  <a:lumMod val="50000"/>
                </a:schemeClr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" name="Google Shape;75;p13"/>
          <p:cNvSpPr txBox="1"/>
          <p:nvPr/>
        </p:nvSpPr>
        <p:spPr>
          <a:xfrm>
            <a:off x="463487" y="2286000"/>
            <a:ext cx="3964800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C00000"/>
                </a:solidFill>
                <a:latin typeface="Poppins SemiBold" panose="020B0604020202020204" charset="0"/>
                <a:ea typeface="Arial" pitchFamily="34" charset="-122"/>
                <a:cs typeface="Poppins SemiBold" panose="020B0604020202020204" charset="0"/>
              </a:rPr>
              <a:t>Unit II — Functional Interfaces and Stream API</a:t>
            </a:r>
            <a:endParaRPr lang="en-US" sz="2000" dirty="0">
              <a:solidFill>
                <a:srgbClr val="C00000"/>
              </a:solidFill>
              <a:latin typeface="Poppins SemiBold" panose="020B0604020202020204" charset="0"/>
              <a:cs typeface="Poppins SemiBold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Poppins SemiBold" panose="020B0604020202020204" charset="0"/>
              <a:ea typeface="Poppins SemiBold"/>
              <a:cs typeface="Poppins SemiBold" panose="020B0604020202020204" charset="0"/>
              <a:sym typeface="Poppins Semi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75" y="1471152"/>
            <a:ext cx="2636820" cy="263682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title="Untitled-1-07.png"/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5888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551863" y="687538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5;p15"/>
          <p:cNvSpPr txBox="1"/>
          <p:nvPr/>
        </p:nvSpPr>
        <p:spPr>
          <a:xfrm>
            <a:off x="231306" y="192322"/>
            <a:ext cx="640080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 Objectives</a:t>
            </a:r>
            <a:endParaRPr sz="13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07;p15"/>
          <p:cNvSpPr txBox="1"/>
          <p:nvPr/>
        </p:nvSpPr>
        <p:spPr>
          <a:xfrm>
            <a:off x="231306" y="741350"/>
            <a:ext cx="5029200" cy="54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4"/>
              <a:buFont typeface="Arial"/>
              <a:buNone/>
            </a:pPr>
            <a:r>
              <a:rPr lang="en" sz="12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 completing this unit, the learner will be able to: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4"/>
              <a:buFont typeface="Arial"/>
              <a:buNone/>
            </a:pPr>
            <a:endParaRPr lang="en" sz="1003" b="0" i="0" u="none" strike="noStrike" cap="none" dirty="0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74A98DA5-FDFB-A887-245F-0C92F3A98B57}"/>
              </a:ext>
            </a:extLst>
          </p:cNvPr>
          <p:cNvSpPr/>
          <p:nvPr/>
        </p:nvSpPr>
        <p:spPr>
          <a:xfrm>
            <a:off x="4744664" y="539926"/>
            <a:ext cx="1448169" cy="12854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/>
                <a:ea typeface="Roboto"/>
                <a:cs typeface="Roboto"/>
              </a:rPr>
              <a:t>Define and create functional interfaces</a:t>
            </a:r>
            <a:endParaRPr lang="en-US" sz="105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37B62382-158F-BEA9-411F-C03A63635E81}"/>
              </a:ext>
            </a:extLst>
          </p:cNvPr>
          <p:cNvSpPr/>
          <p:nvPr/>
        </p:nvSpPr>
        <p:spPr>
          <a:xfrm>
            <a:off x="6417406" y="1836322"/>
            <a:ext cx="1411502" cy="109405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/>
                <a:ea typeface="Roboto"/>
                <a:cs typeface="Roboto"/>
              </a:rPr>
              <a:t>Use Predicate, Function, Consumer and Supplier</a:t>
            </a:r>
            <a:endParaRPr lang="en-US" sz="105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1E143FF9-F47E-AE09-E9F7-8EE1EC345F11}"/>
              </a:ext>
            </a:extLst>
          </p:cNvPr>
          <p:cNvSpPr/>
          <p:nvPr/>
        </p:nvSpPr>
        <p:spPr>
          <a:xfrm>
            <a:off x="3441843" y="3233965"/>
            <a:ext cx="1366447" cy="113498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/>
                <a:ea typeface="Roboto"/>
                <a:cs typeface="Roboto"/>
              </a:rPr>
              <a:t>Build stream pipelines with filter, map and reduce</a:t>
            </a:r>
            <a:endParaRPr lang="en-US" sz="10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7AD6F84E-E547-2F96-8419-687A1D584216}"/>
              </a:ext>
            </a:extLst>
          </p:cNvPr>
          <p:cNvSpPr/>
          <p:nvPr/>
        </p:nvSpPr>
        <p:spPr>
          <a:xfrm>
            <a:off x="5517705" y="3266851"/>
            <a:ext cx="1350256" cy="112948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/>
                <a:ea typeface="Roboto"/>
                <a:cs typeface="Roboto"/>
              </a:rPr>
              <a:t>Compare functional interfaces with other interface types</a:t>
            </a:r>
            <a:endParaRPr lang="en-US" sz="105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77E3C3B9-A3B3-CC52-848A-FE90741D11A7}"/>
              </a:ext>
            </a:extLst>
          </p:cNvPr>
          <p:cNvSpPr/>
          <p:nvPr/>
        </p:nvSpPr>
        <p:spPr>
          <a:xfrm>
            <a:off x="2684996" y="1408358"/>
            <a:ext cx="1567789" cy="120987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/>
                <a:ea typeface="Roboto"/>
                <a:cs typeface="Roboto"/>
              </a:rPr>
              <a:t>Use collectors to group and summarise data</a:t>
            </a:r>
            <a:endParaRPr lang="en-US" sz="1050" dirty="0"/>
          </a:p>
        </p:txBody>
      </p:sp>
      <p:sp>
        <p:nvSpPr>
          <p:cNvPr id="20" name="Arrow: Right 10">
            <a:extLst>
              <a:ext uri="{FF2B5EF4-FFF2-40B4-BE49-F238E27FC236}">
                <a16:creationId xmlns:a16="http://schemas.microsoft.com/office/drawing/2014/main" xmlns="" id="{D152C3E3-2E4E-5498-6CBD-489C0BB78CB7}"/>
              </a:ext>
            </a:extLst>
          </p:cNvPr>
          <p:cNvSpPr/>
          <p:nvPr/>
        </p:nvSpPr>
        <p:spPr>
          <a:xfrm rot="1620000">
            <a:off x="6143820" y="1458582"/>
            <a:ext cx="658400" cy="326941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B0604020202020204" charset="0"/>
              <a:ea typeface="Roboto" panose="020B0604020202020204" charset="0"/>
              <a:cs typeface="Roboto" panose="020B0604020202020204" charset="0"/>
            </a:endParaRPr>
          </a:p>
        </p:txBody>
      </p:sp>
      <p:sp>
        <p:nvSpPr>
          <p:cNvPr id="21" name="Arrow: Right 11">
            <a:extLst>
              <a:ext uri="{FF2B5EF4-FFF2-40B4-BE49-F238E27FC236}">
                <a16:creationId xmlns:a16="http://schemas.microsoft.com/office/drawing/2014/main" xmlns="" id="{AF47E9A7-8FE4-F049-84BA-EC56DC16C67B}"/>
              </a:ext>
            </a:extLst>
          </p:cNvPr>
          <p:cNvSpPr/>
          <p:nvPr/>
        </p:nvSpPr>
        <p:spPr>
          <a:xfrm rot="7500000">
            <a:off x="6759719" y="3125492"/>
            <a:ext cx="643886" cy="321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12">
            <a:extLst>
              <a:ext uri="{FF2B5EF4-FFF2-40B4-BE49-F238E27FC236}">
                <a16:creationId xmlns:a16="http://schemas.microsoft.com/office/drawing/2014/main" xmlns="" id="{2436C10E-2388-6030-026F-581AC4515031}"/>
              </a:ext>
            </a:extLst>
          </p:cNvPr>
          <p:cNvSpPr/>
          <p:nvPr/>
        </p:nvSpPr>
        <p:spPr>
          <a:xfrm rot="10800000">
            <a:off x="4761478" y="3993984"/>
            <a:ext cx="707270" cy="2938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B0604020202020204" charset="0"/>
              <a:ea typeface="Roboto" panose="020B0604020202020204" charset="0"/>
              <a:cs typeface="Roboto" panose="020B0604020202020204" charset="0"/>
            </a:endParaRPr>
          </a:p>
        </p:txBody>
      </p:sp>
      <p:sp>
        <p:nvSpPr>
          <p:cNvPr id="23" name="Arrow: Up 14">
            <a:extLst>
              <a:ext uri="{FF2B5EF4-FFF2-40B4-BE49-F238E27FC236}">
                <a16:creationId xmlns:a16="http://schemas.microsoft.com/office/drawing/2014/main" xmlns="" id="{E24E6768-3CB7-BDA1-4AE1-FE7E4A246510}"/>
              </a:ext>
            </a:extLst>
          </p:cNvPr>
          <p:cNvSpPr/>
          <p:nvPr/>
        </p:nvSpPr>
        <p:spPr>
          <a:xfrm rot="20880000">
            <a:off x="3380511" y="2683838"/>
            <a:ext cx="289404" cy="59807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B0604020202020204" charset="0"/>
              <a:ea typeface="Roboto" panose="020B0604020202020204" charset="0"/>
              <a:cs typeface="Roboto" panose="020B0604020202020204" charset="0"/>
            </a:endParaRPr>
          </a:p>
        </p:txBody>
      </p:sp>
      <p:sp>
        <p:nvSpPr>
          <p:cNvPr id="24" name="Arrow: Up 15">
            <a:extLst>
              <a:ext uri="{FF2B5EF4-FFF2-40B4-BE49-F238E27FC236}">
                <a16:creationId xmlns:a16="http://schemas.microsoft.com/office/drawing/2014/main" xmlns="" id="{1D3760F0-DB84-908D-D13F-E1B111B87515}"/>
              </a:ext>
            </a:extLst>
          </p:cNvPr>
          <p:cNvSpPr/>
          <p:nvPr/>
        </p:nvSpPr>
        <p:spPr>
          <a:xfrm rot="4440000">
            <a:off x="4309335" y="1208334"/>
            <a:ext cx="283780" cy="6740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B0604020202020204" charset="0"/>
              <a:ea typeface="Roboto" panose="020B0604020202020204" charset="0"/>
              <a:cs typeface="Roboto" panose="020B0604020202020204" charset="0"/>
            </a:endParaRPr>
          </a:p>
        </p:txBody>
      </p:sp>
      <p:pic>
        <p:nvPicPr>
          <p:cNvPr id="25" name="Picture 2" descr="Simple learning objectives icon | Premium AI-generated vector">
            <a:extLst>
              <a:ext uri="{FF2B5EF4-FFF2-40B4-BE49-F238E27FC236}">
                <a16:creationId xmlns:a16="http://schemas.microsoft.com/office/drawing/2014/main" xmlns="" id="{D63C1391-14DB-661A-65BB-B75FB2417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744" y="2036168"/>
            <a:ext cx="1959149" cy="119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title="11813 [Converted]-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28911" y="210208"/>
            <a:ext cx="4622826" cy="4933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Untitled-1-07.png"/>
          <p:cNvPicPr preferRelativeResize="0"/>
          <p:nvPr/>
        </p:nvPicPr>
        <p:blipFill rotWithShape="1">
          <a:blip r:embed="rId4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5;p15"/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Topic Coverage</a:t>
            </a:r>
            <a:r>
              <a:rPr lang="en" sz="2600" b="1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sz="13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AF77DA56-42C1-8B40-2167-E2571696D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865940"/>
              </p:ext>
            </p:extLst>
          </p:nvPr>
        </p:nvGraphicFramePr>
        <p:xfrm>
          <a:off x="770276" y="1270978"/>
          <a:ext cx="4688159" cy="29626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35818">
                  <a:extLst>
                    <a:ext uri="{9D8B030D-6E8A-4147-A177-3AD203B41FA5}">
                      <a16:colId xmlns:a16="http://schemas.microsoft.com/office/drawing/2014/main" xmlns="" val="4265663040"/>
                    </a:ext>
                  </a:extLst>
                </a:gridCol>
                <a:gridCol w="3852341">
                  <a:extLst>
                    <a:ext uri="{9D8B030D-6E8A-4147-A177-3AD203B41FA5}">
                      <a16:colId xmlns:a16="http://schemas.microsoft.com/office/drawing/2014/main" xmlns="" val="335322848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u="none" strike="noStrike" cap="none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Poppins SemiBold"/>
                        </a:rPr>
                        <a:t>Topic List</a:t>
                      </a:r>
                      <a:endParaRPr lang="en-IN" sz="1600" b="0" i="0" u="none" strike="noStrike" cap="none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7545679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Interfaces: basics and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Functional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Built-in functional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Method references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Comparison with other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Stream API: basics and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Intermediate and terminal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Collectors and case 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xmlns="" id="{E5C05D25-51B8-17E6-3907-136ECB089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340724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98;p14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9;p14"/>
          <p:cNvSpPr/>
          <p:nvPr/>
        </p:nvSpPr>
        <p:spPr>
          <a:xfrm>
            <a:off x="7551863" y="687538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title="Untitled-1-07.png"/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" name="Picture 2" descr="Group Discussion: Topics, Tips and Tricks - Classplus Growth Blog">
            <a:extLst>
              <a:ext uri="{FF2B5EF4-FFF2-40B4-BE49-F238E27FC236}">
                <a16:creationId xmlns:a16="http://schemas.microsoft.com/office/drawing/2014/main" xmlns="" id="{7F391353-58AA-0A2D-3BDD-28DA03229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2880"/>
            <a:ext cx="1815207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Clear instructions Images - Free Download on Freepik">
            <a:extLst>
              <a:ext uri="{FF2B5EF4-FFF2-40B4-BE49-F238E27FC236}">
                <a16:creationId xmlns:a16="http://schemas.microsoft.com/office/drawing/2014/main" xmlns="" id="{624BBC3E-423A-E1E2-5D8C-57E027A28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288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158;p17"/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99;p14">
            <a:extLst>
              <a:ext uri="{FF2B5EF4-FFF2-40B4-BE49-F238E27FC236}">
                <a16:creationId xmlns:a16="http://schemas.microsoft.com/office/drawing/2014/main" xmlns="" id="{1E189FDD-C3F1-276C-681C-2CB7051BBB03}"/>
              </a:ext>
            </a:extLst>
          </p:cNvPr>
          <p:cNvSpPr/>
          <p:nvPr/>
        </p:nvSpPr>
        <p:spPr>
          <a:xfrm>
            <a:off x="7677803" y="446654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Title"/>
          <p:cNvSpPr txBox="1"/>
          <p:nvPr/>
        </p:nvSpPr>
        <p:spPr>
          <a:xfrm>
            <a:off x="329184" y="14630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Discussion Points</a:t>
            </a:r>
            <a:endParaRPr lang="en-US" sz="2400" dirty="0"/>
          </a:p>
        </p:txBody>
      </p:sp>
      <p:sp>
        <p:nvSpPr>
          <p:cNvPr id="102" name="Bullets"/>
          <p:cNvSpPr txBox="1"/>
          <p:nvPr/>
        </p:nvSpPr>
        <p:spPr>
          <a:xfrm>
            <a:off x="365760" y="1874519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Where have you used Runnable or Comparator?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Why were default methods added in Java 8?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Can a lambda replace every anonymous class?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How is a stream different from a collection?</a:t>
            </a:r>
            <a:endParaRPr lang="en-US" sz="1400" dirty="0"/>
          </a:p>
        </p:txBody>
      </p:sp>
      <p:sp>
        <p:nvSpPr>
          <p:cNvPr id="103" name="Title"/>
          <p:cNvSpPr txBox="1"/>
          <p:nvPr/>
        </p:nvSpPr>
        <p:spPr>
          <a:xfrm>
            <a:off x="5029200" y="1463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Instructions</a:t>
            </a:r>
            <a:endParaRPr lang="en-US" sz="2400" dirty="0"/>
          </a:p>
        </p:txBody>
      </p:sp>
      <p:sp>
        <p:nvSpPr>
          <p:cNvPr id="104" name="Instructions"/>
          <p:cNvSpPr txBox="1"/>
          <p:nvPr/>
        </p:nvSpPr>
        <p:spPr>
          <a:xfrm>
            <a:off x="5029200" y="1874519"/>
            <a:ext cx="3749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Work in groups of four.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Discuss each point for two minutes.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Write one small lambda or stream example.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One member presents the group answer</a:t>
            </a:r>
            <a:r>
              <a:rPr lang="en-US" sz="1400" b="0" i="0" dirty="0" smtClean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53A1"/>
              </a:buClr>
              <a:buFont typeface="Arial"/>
              <a:buChar char="•"/>
            </a:pP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Roboto"/>
                <a:ea typeface="Roboto"/>
                <a:cs typeface="Roboto"/>
              </a:rPr>
              <a:t>Objective: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link OOP knowledge to functional-style Java.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an Interface?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An interface defines what a class must do, not how</a:t>
            </a:r>
            <a:endParaRPr lang="en-US" sz="1400" dirty="0"/>
          </a:p>
        </p:txBody>
      </p:sp>
      <p:sp>
        <p:nvSpPr>
          <p:cNvPr id="102" name="Bullets"/>
          <p:cNvSpPr txBox="1"/>
          <p:nvPr/>
        </p:nvSpPr>
        <p:spPr>
          <a:xfrm>
            <a:off x="502920" y="1188720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 contract of method signatures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Declared with interface, implemented with implements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Methods are public abstract; fields are public static final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Cannot be instantiated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 class can implement many interfaces</a:t>
            </a:r>
            <a:endParaRPr lang="en-US" sz="1400" dirty="0"/>
          </a:p>
        </p:txBody>
      </p:sp>
      <p:sp>
        <p:nvSpPr>
          <p:cNvPr id="103" name="Code"/>
          <p:cNvSpPr txBox="1"/>
          <p:nvPr/>
        </p:nvSpPr>
        <p:spPr>
          <a:xfrm>
            <a:off x="4663440" y="1188720"/>
            <a:ext cx="4023360" cy="19110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interface Vehicle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void start();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class Car implements Vehicle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public void start()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   System.out.println("Go");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200" dirty="0"/>
          </a:p>
        </p:txBody>
      </p:sp>
      <p:sp>
        <p:nvSpPr>
          <p:cNvPr id="104" name="Subheading"/>
          <p:cNvSpPr txBox="1"/>
          <p:nvPr/>
        </p:nvSpPr>
        <p:spPr>
          <a:xfrm>
            <a:off x="502920" y="342900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Why use interfaces?</a:t>
            </a:r>
            <a:endParaRPr lang="en-US" sz="1400" dirty="0"/>
          </a:p>
        </p:txBody>
      </p:sp>
      <p:sp>
        <p:nvSpPr>
          <p:cNvPr id="105" name="Text"/>
          <p:cNvSpPr txBox="1"/>
          <p:nvPr/>
        </p:nvSpPr>
        <p:spPr>
          <a:xfrm>
            <a:off x="502920" y="37216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Loose coupling, abstraction, polymorphism and callbacks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246120"/>
            <a:ext cx="1992429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Interfaces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Interfaces gained new capabilities in Java 8 and Java 9</a:t>
            </a:r>
            <a:endParaRPr lang="en-US" sz="1400" dirty="0"/>
          </a:p>
        </p:txBody>
      </p:sp>
      <p:sp>
        <p:nvSpPr>
          <p:cNvPr id="102" name="Step"/>
          <p:cNvSpPr/>
          <p:nvPr/>
        </p:nvSpPr>
        <p:spPr>
          <a:xfrm>
            <a:off x="502920" y="11887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53A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1</a:t>
            </a:r>
            <a:endParaRPr lang="en-US" sz="1600" dirty="0"/>
          </a:p>
        </p:txBody>
      </p:sp>
      <p:cxnSp>
        <p:nvCxnSpPr>
          <p:cNvPr id="103" name="Arrow"/>
          <p:cNvCxnSpPr/>
          <p:nvPr/>
        </p:nvCxnSpPr>
        <p:spPr>
          <a:xfrm>
            <a:off x="1069848" y="1417320"/>
            <a:ext cx="2203704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4" name="Subheading"/>
          <p:cNvSpPr txBox="1"/>
          <p:nvPr/>
        </p:nvSpPr>
        <p:spPr>
          <a:xfrm>
            <a:off x="502920" y="17556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Before Java 8</a:t>
            </a:r>
            <a:endParaRPr lang="en-US" sz="1600" dirty="0"/>
          </a:p>
        </p:txBody>
      </p:sp>
      <p:sp>
        <p:nvSpPr>
          <p:cNvPr id="105" name="Text"/>
          <p:cNvSpPr txBox="1"/>
          <p:nvPr/>
        </p:nvSpPr>
        <p:spPr>
          <a:xfrm>
            <a:off x="502920" y="2103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Abstract methods only</a:t>
            </a:r>
            <a:endParaRPr lang="en-US" sz="1400" dirty="0"/>
          </a:p>
        </p:txBody>
      </p:sp>
      <p:sp>
        <p:nvSpPr>
          <p:cNvPr id="106" name="Code"/>
          <p:cNvSpPr txBox="1"/>
          <p:nvPr/>
        </p:nvSpPr>
        <p:spPr>
          <a:xfrm>
            <a:off x="502920" y="2487168"/>
            <a:ext cx="2560320" cy="423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void run();</a:t>
            </a:r>
            <a:endParaRPr lang="en-US" sz="1200" dirty="0"/>
          </a:p>
        </p:txBody>
      </p:sp>
      <p:sp>
        <p:nvSpPr>
          <p:cNvPr id="107" name="Step"/>
          <p:cNvSpPr/>
          <p:nvPr/>
        </p:nvSpPr>
        <p:spPr>
          <a:xfrm>
            <a:off x="3383280" y="11887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53A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2</a:t>
            </a:r>
            <a:endParaRPr lang="en-US" sz="1600" dirty="0"/>
          </a:p>
        </p:txBody>
      </p:sp>
      <p:cxnSp>
        <p:nvCxnSpPr>
          <p:cNvPr id="108" name="Arrow"/>
          <p:cNvCxnSpPr/>
          <p:nvPr/>
        </p:nvCxnSpPr>
        <p:spPr>
          <a:xfrm>
            <a:off x="3950208" y="1417320"/>
            <a:ext cx="2203704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9" name="Subheading"/>
          <p:cNvSpPr txBox="1"/>
          <p:nvPr/>
        </p:nvSpPr>
        <p:spPr>
          <a:xfrm>
            <a:off x="3383280" y="17556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Java 8</a:t>
            </a:r>
            <a:endParaRPr lang="en-US" sz="1600" dirty="0"/>
          </a:p>
        </p:txBody>
      </p:sp>
      <p:sp>
        <p:nvSpPr>
          <p:cNvPr id="2" name="Text"/>
          <p:cNvSpPr txBox="1"/>
          <p:nvPr/>
        </p:nvSpPr>
        <p:spPr>
          <a:xfrm>
            <a:off x="3383280" y="2103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default and static methods</a:t>
            </a:r>
            <a:endParaRPr lang="en-US" sz="1400" dirty="0"/>
          </a:p>
        </p:txBody>
      </p:sp>
      <p:sp>
        <p:nvSpPr>
          <p:cNvPr id="3" name="Code"/>
          <p:cNvSpPr txBox="1"/>
          <p:nvPr/>
        </p:nvSpPr>
        <p:spPr>
          <a:xfrm>
            <a:off x="3383280" y="2487168"/>
            <a:ext cx="2560320" cy="423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default void log() { }</a:t>
            </a:r>
            <a:endParaRPr lang="en-US" sz="1200" dirty="0"/>
          </a:p>
        </p:txBody>
      </p:sp>
      <p:sp>
        <p:nvSpPr>
          <p:cNvPr id="4" name="Step"/>
          <p:cNvSpPr/>
          <p:nvPr/>
        </p:nvSpPr>
        <p:spPr>
          <a:xfrm>
            <a:off x="6263640" y="11887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C00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3</a:t>
            </a:r>
            <a:endParaRPr lang="en-US" sz="1600" dirty="0"/>
          </a:p>
        </p:txBody>
      </p:sp>
      <p:sp>
        <p:nvSpPr>
          <p:cNvPr id="113" name="Subheading"/>
          <p:cNvSpPr txBox="1"/>
          <p:nvPr/>
        </p:nvSpPr>
        <p:spPr>
          <a:xfrm>
            <a:off x="6263640" y="175564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Java 9</a:t>
            </a:r>
            <a:endParaRPr lang="en-US" sz="1600" dirty="0"/>
          </a:p>
        </p:txBody>
      </p:sp>
      <p:sp>
        <p:nvSpPr>
          <p:cNvPr id="5" name="Text"/>
          <p:cNvSpPr txBox="1"/>
          <p:nvPr/>
        </p:nvSpPr>
        <p:spPr>
          <a:xfrm>
            <a:off x="6263640" y="2103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private methods</a:t>
            </a:r>
            <a:endParaRPr lang="en-US" sz="1400" dirty="0"/>
          </a:p>
        </p:txBody>
      </p:sp>
      <p:sp>
        <p:nvSpPr>
          <p:cNvPr id="115" name="Code"/>
          <p:cNvSpPr txBox="1"/>
          <p:nvPr/>
        </p:nvSpPr>
        <p:spPr>
          <a:xfrm>
            <a:off x="6263640" y="2487168"/>
            <a:ext cx="2560320" cy="423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private void helper() { }</a:t>
            </a:r>
            <a:endParaRPr lang="en-US" sz="1200" dirty="0"/>
          </a:p>
        </p:txBody>
      </p:sp>
      <p:sp>
        <p:nvSpPr>
          <p:cNvPr id="116" name="Subheading"/>
          <p:cNvSpPr txBox="1"/>
          <p:nvPr/>
        </p:nvSpPr>
        <p:spPr>
          <a:xfrm>
            <a:off x="502920" y="32461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Why default methods?</a:t>
            </a:r>
            <a:endParaRPr lang="en-US" sz="1400" dirty="0"/>
          </a:p>
        </p:txBody>
      </p:sp>
      <p:sp>
        <p:nvSpPr>
          <p:cNvPr id="117" name="Text"/>
          <p:cNvSpPr txBox="1"/>
          <p:nvPr/>
        </p:nvSpPr>
        <p:spPr>
          <a:xfrm>
            <a:off x="502920" y="354787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New methods can be added to old interfaces, like Collection.stream(), safely.</a:t>
            </a:r>
            <a:endParaRPr lang="en-US" sz="1400" dirty="0"/>
          </a:p>
        </p:txBody>
      </p:sp>
      <p:sp>
        <p:nvSpPr>
          <p:cNvPr id="118" name="Subheading"/>
          <p:cNvSpPr txBox="1"/>
          <p:nvPr/>
        </p:nvSpPr>
        <p:spPr>
          <a:xfrm>
            <a:off x="4663440" y="32461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Diamond rule</a:t>
            </a:r>
            <a:endParaRPr lang="en-US" sz="1400" dirty="0"/>
          </a:p>
        </p:txBody>
      </p:sp>
      <p:sp>
        <p:nvSpPr>
          <p:cNvPr id="119" name="Text"/>
          <p:cNvSpPr txBox="1"/>
          <p:nvPr/>
        </p:nvSpPr>
        <p:spPr>
          <a:xfrm>
            <a:off x="4663440" y="354787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Two interfaces with the same default method? The class must override 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Functional Interface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Exactly one abstract method, the target type for lambdas</a:t>
            </a:r>
            <a:endParaRPr lang="en-US" sz="1400" dirty="0"/>
          </a:p>
        </p:txBody>
      </p:sp>
      <p:sp>
        <p:nvSpPr>
          <p:cNvPr id="102" name="Subheading"/>
          <p:cNvSpPr txBox="1"/>
          <p:nvPr/>
        </p:nvSpPr>
        <p:spPr>
          <a:xfrm>
            <a:off x="502920" y="11887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Single Abstract Method (SAM)</a:t>
            </a:r>
            <a:endParaRPr lang="en-US" sz="1400" dirty="0"/>
          </a:p>
        </p:txBody>
      </p:sp>
      <p:sp>
        <p:nvSpPr>
          <p:cNvPr id="103" name="Bullets"/>
          <p:cNvSpPr txBox="1"/>
          <p:nvPr/>
        </p:nvSpPr>
        <p:spPr>
          <a:xfrm>
            <a:off x="502920" y="155448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Exactly one abstract method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Object methods such as equals() do not count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default, static and private methods are allowed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@FunctionalInterface makes the compiler check the rule</a:t>
            </a:r>
            <a:endParaRPr lang="en-US" sz="1400" dirty="0"/>
          </a:p>
        </p:txBody>
      </p:sp>
      <p:sp>
        <p:nvSpPr>
          <p:cNvPr id="104" name="Code"/>
          <p:cNvSpPr txBox="1"/>
          <p:nvPr/>
        </p:nvSpPr>
        <p:spPr>
          <a:xfrm>
            <a:off x="4663440" y="1188720"/>
            <a:ext cx="4023360" cy="17251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@FunctionalInterface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interface Greeting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void sayHello(String name);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Greeting g = n -&gt;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System.out.println("Hi " + n);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g.sayHello("Java");</a:t>
            </a:r>
            <a:endParaRPr lang="en-US" sz="1200" dirty="0"/>
          </a:p>
        </p:txBody>
      </p:sp>
      <p:sp>
        <p:nvSpPr>
          <p:cNvPr id="105" name="Text"/>
          <p:cNvSpPr txBox="1"/>
          <p:nvPr/>
        </p:nvSpPr>
        <p:spPr>
          <a:xfrm>
            <a:off x="4663440" y="305104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JDK examples: Runnable, Callable, Comparator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 Functional Interface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Generics make a functional interface reusable</a:t>
            </a:r>
            <a:endParaRPr lang="en-US" sz="1400" dirty="0"/>
          </a:p>
        </p:txBody>
      </p:sp>
      <p:sp>
        <p:nvSpPr>
          <p:cNvPr id="102" name="Subheading"/>
          <p:cNvSpPr txBox="1"/>
          <p:nvPr/>
        </p:nvSpPr>
        <p:spPr>
          <a:xfrm>
            <a:off x="502920" y="117043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A generic functional interface</a:t>
            </a:r>
            <a:endParaRPr lang="en-US" sz="1400" dirty="0"/>
          </a:p>
        </p:txBody>
      </p:sp>
      <p:sp>
        <p:nvSpPr>
          <p:cNvPr id="103" name="Code"/>
          <p:cNvSpPr txBox="1"/>
          <p:nvPr/>
        </p:nvSpPr>
        <p:spPr>
          <a:xfrm>
            <a:off x="502920" y="1572768"/>
            <a:ext cx="3931920" cy="17251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@FunctionalInterface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interface Converter&lt;T, R&gt;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R convert(T input);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Converter&lt;String, Integer&gt; toInt =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Integer::parseInt;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toInt.convert("123");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123</a:t>
            </a:r>
            <a:endParaRPr lang="en-US" sz="1200" dirty="0"/>
          </a:p>
        </p:txBody>
      </p:sp>
      <p:sp>
        <p:nvSpPr>
          <p:cNvPr id="104" name="Subheading"/>
          <p:cNvSpPr txBox="1"/>
          <p:nvPr/>
        </p:nvSpPr>
        <p:spPr>
          <a:xfrm>
            <a:off x="4663440" y="117043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CC0000"/>
                </a:solidFill>
                <a:latin typeface="Poppins SemiBold"/>
                <a:ea typeface="Poppins SemiBold"/>
                <a:cs typeface="Poppins SemiBold"/>
              </a:rPr>
              <a:t>Compile-time error</a:t>
            </a:r>
            <a:endParaRPr lang="en-US" sz="1400" dirty="0"/>
          </a:p>
        </p:txBody>
      </p:sp>
      <p:sp>
        <p:nvSpPr>
          <p:cNvPr id="105" name="Code"/>
          <p:cNvSpPr txBox="1"/>
          <p:nvPr/>
        </p:nvSpPr>
        <p:spPr>
          <a:xfrm>
            <a:off x="4663440" y="1572768"/>
            <a:ext cx="4023360" cy="11673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@FunctionalInterface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interface Wrong {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void a();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void b();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ERROR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200" dirty="0"/>
          </a:p>
        </p:txBody>
      </p:sp>
      <p:sp>
        <p:nvSpPr>
          <p:cNvPr id="106" name="Text"/>
          <p:cNvSpPr txBox="1"/>
          <p:nvPr/>
        </p:nvSpPr>
        <p:spPr>
          <a:xfrm>
            <a:off x="4663440" y="2877312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Two abstract methods: the annotation makes the compiler reject 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Built-in Functional Interfaces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Package java.util.function: the Big Four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80160"/>
          <a:ext cx="8138160" cy="2011680"/>
        </p:xfrm>
        <a:graphic>
          <a:graphicData uri="http://schemas.openxmlformats.org/drawingml/2006/table">
            <a:tbl>
              <a:tblPr firstRow="1"/>
              <a:tblGrid>
                <a:gridCol w="2194560"/>
                <a:gridCol w="2560320"/>
                <a:gridCol w="33832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Method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Example lambda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Predicate&lt;T&gt;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boolean test(T t)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n -&gt; n % 2 == 0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Function&lt;T, R&gt;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R apply(T t)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 -&gt; s.length()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Consumer&lt;T&gt;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void accept(T t)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 -&gt; System.out.println(s)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Supplier&lt;T&gt;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T get()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() -&gt; Math.random()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ext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0053A1"/>
                </a:solidFill>
                <a:latin typeface="Roboto"/>
                <a:ea typeface="Roboto"/>
                <a:cs typeface="Roboto"/>
              </a:rPr>
              <a:t>Predicate checks  ·  Function converts  ·  Consumer uses  ·  Supplier gives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Other Functional Interfaces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Variants for two inputs, same-type operations and primitives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34440"/>
          <a:ext cx="8138160" cy="2560320"/>
        </p:xfrm>
        <a:graphic>
          <a:graphicData uri="http://schemas.openxmlformats.org/drawingml/2006/table">
            <a:tbl>
              <a:tblPr firstRow="1"/>
              <a:tblGrid>
                <a:gridCol w="2834640"/>
                <a:gridCol w="53035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Description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BiPredicate&lt;T, U&gt;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Two inputs, returns boolean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BiFunction&lt;T, U, R&gt;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Two inputs, one result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BiConsumer&lt;T, U&gt;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Two inputs, no result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UnaryOperator&lt;T&gt;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Function&lt;T, T&gt;: same input and output type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BinaryOperator&lt;T&gt;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Two inputs of type T, result of type 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IntPredicate, IntFunction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Primitive versions that avoid boxing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Combining Functions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Default methods chain small functions into bigger ones</a:t>
            </a:r>
            <a:endParaRPr lang="en-US" sz="1400" dirty="0"/>
          </a:p>
        </p:txBody>
      </p:sp>
      <p:sp>
        <p:nvSpPr>
          <p:cNvPr id="102" name="Subheading"/>
          <p:cNvSpPr txBox="1"/>
          <p:nvPr/>
        </p:nvSpPr>
        <p:spPr>
          <a:xfrm>
            <a:off x="502920" y="114300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Predicate: and(), or(), negate()</a:t>
            </a:r>
            <a:endParaRPr lang="en-US" sz="1400" dirty="0"/>
          </a:p>
        </p:txBody>
      </p:sp>
      <p:sp>
        <p:nvSpPr>
          <p:cNvPr id="103" name="Code"/>
          <p:cNvSpPr txBox="1"/>
          <p:nvPr/>
        </p:nvSpPr>
        <p:spPr>
          <a:xfrm>
            <a:off x="502920" y="1463040"/>
            <a:ext cx="8138160" cy="9814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Predicate&lt;Integer&gt; positive = n -&gt; n &gt; 0;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Predicate&lt;Integer&gt; even = n -&gt; n % 2 == 0;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positive.and(even).test(8); 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true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positive.negate().test(5);  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false</a:t>
            </a:r>
            <a:endParaRPr lang="en-US" sz="1200" dirty="0"/>
          </a:p>
        </p:txBody>
      </p:sp>
      <p:sp>
        <p:nvSpPr>
          <p:cNvPr id="104" name="Subheading"/>
          <p:cNvSpPr txBox="1"/>
          <p:nvPr/>
        </p:nvSpPr>
        <p:spPr>
          <a:xfrm>
            <a:off x="502920" y="2609088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Function: andThen(), compose()</a:t>
            </a:r>
            <a:endParaRPr lang="en-US" sz="1400" dirty="0"/>
          </a:p>
        </p:txBody>
      </p:sp>
      <p:sp>
        <p:nvSpPr>
          <p:cNvPr id="105" name="Code"/>
          <p:cNvSpPr txBox="1"/>
          <p:nvPr/>
        </p:nvSpPr>
        <p:spPr>
          <a:xfrm>
            <a:off x="502920" y="2929128"/>
            <a:ext cx="8138160" cy="9814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Function&lt;Integer, Integer&gt; twice = x -&gt; x * 2;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Function&lt;Integer, Integer&gt; square = x -&gt; x * x;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twice.andThen(square).apply(3);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(3*2)^2 = 36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twice.compose(square).apply(3);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(3^2)*2 = 18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 References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A shorter lambda when you only call an existing method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80160"/>
          <a:ext cx="8138160" cy="2011680"/>
        </p:xfrm>
        <a:graphic>
          <a:graphicData uri="http://schemas.openxmlformats.org/drawingml/2006/table">
            <a:tbl>
              <a:tblPr firstRow="1"/>
              <a:tblGrid>
                <a:gridCol w="2194560"/>
                <a:gridCol w="27432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Type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Syntax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Equivalent lambda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Static method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Integer::parseInt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 -&gt; Integer.parseInt(s)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Particular object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System.out::println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x -&gt; System.out.println(x)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Arbitrary object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String::toUpperCase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s -&gt; s.toUpperCase()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Constructor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ArrayList::new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1B2B4B"/>
                          </a:solidFill>
                          <a:latin typeface="Consolas"/>
                          <a:ea typeface="Consolas"/>
                          <a:cs typeface="Consolas"/>
                        </a:rPr>
                        <a:t>() -&gt; new ArrayList&lt;&gt;()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ext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Use a method reference when the lambda only calls one existing method.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Normal vs Functional Interface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Comparing a general interface with a functional one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34440"/>
          <a:ext cx="8138160" cy="2194560"/>
        </p:xfrm>
        <a:graphic>
          <a:graphicData uri="http://schemas.openxmlformats.org/drawingml/2006/table">
            <a:tbl>
              <a:tblPr firstRow="1"/>
              <a:tblGrid>
                <a:gridCol w="2194560"/>
                <a:gridCol w="30175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Feature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Normal 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Functional 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Abstract methods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Any number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Exactly one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Lambda support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Not with several abstract methods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Yes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@FunctionalInterface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Not applicable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Allowed and recommended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Purpose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full contract or abstraction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single behaviour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Examples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List, Collection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Runnable, Predicate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ext"/>
          <p:cNvSpPr txBox="1"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Every functional interface is an interface, but not every interface is functional.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Functional vs Abstract Class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Same idea, different tools: behaviour versus shared state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34440"/>
          <a:ext cx="8138160" cy="2560320"/>
        </p:xfrm>
        <a:graphic>
          <a:graphicData uri="http://schemas.openxmlformats.org/drawingml/2006/table">
            <a:tbl>
              <a:tblPr firstRow="1"/>
              <a:tblGrid>
                <a:gridCol w="2194560"/>
                <a:gridCol w="30175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Feature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Functional 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Abstract class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Abstract methods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Exactly one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Any number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State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Constants only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Instance variables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Constructors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Yes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Inheritance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Many interfaces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One class only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Lambda support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Yes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Use when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Passing behaviour, callbacks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Sharing state and code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Two More Comparisons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Marker interfaces and anonymous classes</a:t>
            </a:r>
            <a:endParaRPr lang="en-US" sz="1400" dirty="0"/>
          </a:p>
        </p:txBody>
      </p:sp>
      <p:sp>
        <p:nvSpPr>
          <p:cNvPr id="102" name="Subheading"/>
          <p:cNvSpPr txBox="1"/>
          <p:nvPr/>
        </p:nvSpPr>
        <p:spPr>
          <a:xfrm>
            <a:off x="502920" y="118872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Marker vs functional interface</a:t>
            </a:r>
            <a:endParaRPr lang="en-US" sz="1400" dirty="0"/>
          </a:p>
        </p:txBody>
      </p:sp>
      <p:sp>
        <p:nvSpPr>
          <p:cNvPr id="103" name="Subheading"/>
          <p:cNvSpPr txBox="1"/>
          <p:nvPr/>
        </p:nvSpPr>
        <p:spPr>
          <a:xfrm>
            <a:off x="4754880" y="118872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Anonymous class vs lambda</a:t>
            </a:r>
            <a:endParaRPr lang="en-US" sz="1400" dirty="0"/>
          </a:p>
        </p:txBody>
      </p:sp>
      <p:graphicFrame>
        <p:nvGraphicFramePr>
          <p:cNvPr id="104" name="Table"/>
          <p:cNvGraphicFramePr>
            <a:graphicFrameLocks noGrp="1"/>
          </p:cNvGraphicFramePr>
          <p:nvPr/>
        </p:nvGraphicFramePr>
        <p:xfrm>
          <a:off x="502920" y="1600200"/>
          <a:ext cx="3931920" cy="2267712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Marker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Functional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No methods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One abstract method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Tags a capability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Represents a function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Serializable, Cloneable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Runnable, Comparator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"/>
          <p:cNvGraphicFramePr>
            <a:graphicFrameLocks noGrp="1"/>
          </p:cNvGraphicFramePr>
          <p:nvPr/>
        </p:nvGraphicFramePr>
        <p:xfrm>
          <a:off x="4754880" y="1600200"/>
          <a:ext cx="3931920" cy="2267712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Anonymous class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Lambda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Creates a separate .class file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 extra class file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Works with any interface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Functional interfaces only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this is the anonymous object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this is the enclosing class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Introduction to Stream API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A pipeline for processing data declaratively</a:t>
            </a:r>
            <a:endParaRPr lang="en-US" sz="1400" dirty="0"/>
          </a:p>
        </p:txBody>
      </p:sp>
      <p:sp>
        <p:nvSpPr>
          <p:cNvPr id="102" name="Bullets"/>
          <p:cNvSpPr txBox="1"/>
          <p:nvPr/>
        </p:nvSpPr>
        <p:spPr>
          <a:xfrm>
            <a:off x="502920" y="118872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Package java.util.stream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Does not store data or change its source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Lazy: runs only at a terminal operation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Single use: cannot be reused</a:t>
            </a:r>
            <a:endParaRPr lang="en-US" sz="1400" dirty="0"/>
          </a:p>
          <a:p>
            <a:pPr marL="228600" indent="-22860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Parallel with parallelStream()</a:t>
            </a:r>
            <a:endParaRPr lang="en-US" sz="1400" dirty="0"/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4480560" y="1234440"/>
          <a:ext cx="4206240" cy="2011680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Feature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Collection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Stream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Stores data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Yes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No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Iteration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External loops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Internal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Reuse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Reusable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Single use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Size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Finite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Can be infinite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Stream Pipeline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Source, then intermediate operations, then one terminal operation</a:t>
            </a:r>
            <a:endParaRPr lang="en-US" sz="1400" dirty="0"/>
          </a:p>
        </p:txBody>
      </p:sp>
      <p:sp>
        <p:nvSpPr>
          <p:cNvPr id="102" name="Stage"/>
          <p:cNvSpPr/>
          <p:nvPr/>
        </p:nvSpPr>
        <p:spPr>
          <a:xfrm>
            <a:off x="502920" y="1188720"/>
            <a:ext cx="1737360" cy="731520"/>
          </a:xfrm>
          <a:prstGeom prst="roundRect">
            <a:avLst>
              <a:gd name="adj" fmla="val 14000"/>
            </a:avLst>
          </a:prstGeom>
          <a:solidFill>
            <a:srgbClr val="0053A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Source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list.stream()</a:t>
            </a:r>
            <a:endParaRPr lang="en-US" sz="1200" dirty="0"/>
          </a:p>
        </p:txBody>
      </p:sp>
      <p:cxnSp>
        <p:nvCxnSpPr>
          <p:cNvPr id="103" name="Arrow"/>
          <p:cNvCxnSpPr/>
          <p:nvPr/>
        </p:nvCxnSpPr>
        <p:spPr>
          <a:xfrm>
            <a:off x="2304288" y="1554480"/>
            <a:ext cx="283464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4" name="Stage"/>
          <p:cNvSpPr/>
          <p:nvPr/>
        </p:nvSpPr>
        <p:spPr>
          <a:xfrm>
            <a:off x="2651760" y="1188720"/>
            <a:ext cx="173736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filter()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53A1"/>
                </a:solidFill>
                <a:latin typeface="Roboto"/>
                <a:ea typeface="Roboto"/>
                <a:cs typeface="Roboto"/>
              </a:rPr>
              <a:t>keep matches</a:t>
            </a:r>
            <a:endParaRPr lang="en-US" sz="1200" dirty="0"/>
          </a:p>
        </p:txBody>
      </p:sp>
      <p:cxnSp>
        <p:nvCxnSpPr>
          <p:cNvPr id="105" name="Arrow"/>
          <p:cNvCxnSpPr/>
          <p:nvPr/>
        </p:nvCxnSpPr>
        <p:spPr>
          <a:xfrm>
            <a:off x="4453128" y="1554480"/>
            <a:ext cx="283464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6" name="Stage"/>
          <p:cNvSpPr/>
          <p:nvPr/>
        </p:nvSpPr>
        <p:spPr>
          <a:xfrm>
            <a:off x="4800600" y="1188720"/>
            <a:ext cx="173736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map()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53A1"/>
                </a:solidFill>
                <a:latin typeface="Roboto"/>
                <a:ea typeface="Roboto"/>
                <a:cs typeface="Roboto"/>
              </a:rPr>
              <a:t>transform</a:t>
            </a:r>
            <a:endParaRPr lang="en-US" sz="1200" dirty="0"/>
          </a:p>
        </p:txBody>
      </p:sp>
      <p:cxnSp>
        <p:nvCxnSpPr>
          <p:cNvPr id="107" name="Arrow"/>
          <p:cNvCxnSpPr/>
          <p:nvPr/>
        </p:nvCxnSpPr>
        <p:spPr>
          <a:xfrm>
            <a:off x="6601968" y="1554480"/>
            <a:ext cx="283464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8" name="Stage"/>
          <p:cNvSpPr/>
          <p:nvPr/>
        </p:nvSpPr>
        <p:spPr>
          <a:xfrm>
            <a:off x="6949440" y="1188720"/>
            <a:ext cx="1737360" cy="731520"/>
          </a:xfrm>
          <a:prstGeom prst="roundRect">
            <a:avLst>
              <a:gd name="adj" fmla="val 14000"/>
            </a:avLst>
          </a:prstGeom>
          <a:solidFill>
            <a:srgbClr val="CC00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collect()</a:t>
            </a:r>
            <a:endParaRPr lang="en-US" sz="1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gather result</a:t>
            </a:r>
            <a:endParaRPr lang="en-US" sz="1200" dirty="0"/>
          </a:p>
        </p:txBody>
      </p:sp>
      <p:sp>
        <p:nvSpPr>
          <p:cNvPr id="109" name="Text"/>
          <p:cNvSpPr txBox="1"/>
          <p:nvPr/>
        </p:nvSpPr>
        <p:spPr>
          <a:xfrm>
            <a:off x="502920" y="19842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0" i="1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Source</a:t>
            </a:r>
            <a:endParaRPr lang="en-US" sz="1400" dirty="0"/>
          </a:p>
        </p:txBody>
      </p:sp>
      <p:sp>
        <p:nvSpPr>
          <p:cNvPr id="2" name="Text"/>
          <p:cNvSpPr txBox="1"/>
          <p:nvPr/>
        </p:nvSpPr>
        <p:spPr>
          <a:xfrm>
            <a:off x="2651760" y="19842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0" i="1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Intermediate operations (lazy)</a:t>
            </a:r>
            <a:endParaRPr lang="en-US" sz="1400" dirty="0"/>
          </a:p>
        </p:txBody>
      </p:sp>
      <p:sp>
        <p:nvSpPr>
          <p:cNvPr id="3" name="Text"/>
          <p:cNvSpPr txBox="1"/>
          <p:nvPr/>
        </p:nvSpPr>
        <p:spPr>
          <a:xfrm>
            <a:off x="6949440" y="19842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0" i="1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Terminal (eager)</a:t>
            </a:r>
            <a:endParaRPr lang="en-US" sz="1400" dirty="0"/>
          </a:p>
        </p:txBody>
      </p:sp>
      <p:sp>
        <p:nvSpPr>
          <p:cNvPr id="4" name="Code"/>
          <p:cNvSpPr txBox="1"/>
          <p:nvPr/>
        </p:nvSpPr>
        <p:spPr>
          <a:xfrm>
            <a:off x="502920" y="2514600"/>
            <a:ext cx="8138160" cy="9814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names.stream()                      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source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.filter(n -&gt; n.startsWith("a"))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intermediate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.map(String::toUpperCase)      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intermediate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.forEach(System.out::println);     </a:t>
            </a:r>
            <a:r>
              <a:rPr lang="en-US" sz="1200" b="0" i="1" dirty="0">
                <a:solidFill>
                  <a:srgbClr val="6B7C93"/>
                </a:solidFill>
                <a:latin typeface="Consolas"/>
                <a:ea typeface="Consolas"/>
                <a:cs typeface="Consolas"/>
              </a:rPr>
              <a:t>// terminal</a:t>
            </a:r>
            <a:endParaRPr lang="en-US" sz="1200" dirty="0"/>
          </a:p>
        </p:txBody>
      </p:sp>
      <p:sp>
        <p:nvSpPr>
          <p:cNvPr id="113" name="Text"/>
          <p:cNvSpPr txBox="1"/>
          <p:nvPr/>
        </p:nvSpPr>
        <p:spPr>
          <a:xfrm>
            <a:off x="502920" y="3605784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Output: ASHA, ANU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Creating Streams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Streams come from collections, arrays, generators and files</a:t>
            </a:r>
            <a:endParaRPr lang="en-US" sz="1400" dirty="0"/>
          </a:p>
        </p:txBody>
      </p:sp>
      <p:sp>
        <p:nvSpPr>
          <p:cNvPr id="102" name="Subheading"/>
          <p:cNvSpPr txBox="1"/>
          <p:nvPr/>
        </p:nvSpPr>
        <p:spPr>
          <a:xfrm>
            <a:off x="502920" y="117043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Collections and arrays</a:t>
            </a:r>
            <a:endParaRPr lang="en-US" sz="1400" dirty="0"/>
          </a:p>
        </p:txBody>
      </p:sp>
      <p:sp>
        <p:nvSpPr>
          <p:cNvPr id="103" name="Code"/>
          <p:cNvSpPr txBox="1"/>
          <p:nvPr/>
        </p:nvSpPr>
        <p:spPr>
          <a:xfrm>
            <a:off x="502920" y="1554480"/>
            <a:ext cx="3931920" cy="9814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list.stream();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list.parallelStream();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Arrays.stream(arr);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Stream.of(1, 2, 3);</a:t>
            </a:r>
            <a:endParaRPr lang="en-US" sz="1200" dirty="0"/>
          </a:p>
        </p:txBody>
      </p:sp>
      <p:sp>
        <p:nvSpPr>
          <p:cNvPr id="104" name="Subheading"/>
          <p:cNvSpPr txBox="1"/>
          <p:nvPr/>
        </p:nvSpPr>
        <p:spPr>
          <a:xfrm>
            <a:off x="4663440" y="117043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Infinite, range and file streams</a:t>
            </a:r>
            <a:endParaRPr lang="en-US" sz="1400" dirty="0"/>
          </a:p>
        </p:txBody>
      </p:sp>
      <p:sp>
        <p:nvSpPr>
          <p:cNvPr id="105" name="Code"/>
          <p:cNvSpPr txBox="1"/>
          <p:nvPr/>
        </p:nvSpPr>
        <p:spPr>
          <a:xfrm>
            <a:off x="4663440" y="1554480"/>
            <a:ext cx="4023360" cy="9814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Stream.iterate(1, n -&gt; n + 1).limit(5);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Stream.generate(Math::random).limit(3);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IntStream.rangeClosed(1, 5);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Files.lines(Path.of("data.txt"));</a:t>
            </a:r>
            <a:endParaRPr lang="en-US" sz="1200" dirty="0"/>
          </a:p>
        </p:txBody>
      </p:sp>
      <p:sp>
        <p:nvSpPr>
          <p:cNvPr id="106" name="Text"/>
          <p:cNvSpPr txBox="1"/>
          <p:nvPr/>
        </p:nvSpPr>
        <p:spPr>
          <a:xfrm>
            <a:off x="502920" y="306324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IntStream, LongStream and DoubleStream avoid boxing and are faster for numbers.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Intermediate Operations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Lazy: nothing runs until a terminal operation is called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34440"/>
          <a:ext cx="8138160" cy="256032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4023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Operation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Purpose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Uses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filter()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Keep matching elements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Predicate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map()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Transform each element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Function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distinct()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Remove duplicates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sorted()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Sort elements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Comparator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limit(n), skip(n)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Truncate or skip elements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peek()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Inspect elements while debugging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Consumer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map() vs flatMap()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flatMap flattens the nesting that map keeps</a:t>
            </a:r>
            <a:endParaRPr lang="en-US" sz="1400" dirty="0"/>
          </a:p>
        </p:txBody>
      </p:sp>
      <p:sp>
        <p:nvSpPr>
          <p:cNvPr id="102" name="Input"/>
          <p:cNvSpPr/>
          <p:nvPr/>
        </p:nvSpPr>
        <p:spPr>
          <a:xfrm>
            <a:off x="502920" y="1234440"/>
            <a:ext cx="237744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[[1, 2], [3, 4], [5]]</a:t>
            </a:r>
            <a:endParaRPr lang="en-US" sz="1300" dirty="0"/>
          </a:p>
        </p:txBody>
      </p:sp>
      <p:cxnSp>
        <p:nvCxnSpPr>
          <p:cNvPr id="103" name="Arrow"/>
          <p:cNvCxnSpPr/>
          <p:nvPr/>
        </p:nvCxnSpPr>
        <p:spPr>
          <a:xfrm>
            <a:off x="2926080" y="1600200"/>
            <a:ext cx="365760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4" name="Operation"/>
          <p:cNvSpPr/>
          <p:nvPr/>
        </p:nvSpPr>
        <p:spPr>
          <a:xfrm>
            <a:off x="3337560" y="123444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0053A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map(l -&gt; l.stream())</a:t>
            </a:r>
            <a:endParaRPr lang="en-US" sz="1200" dirty="0"/>
          </a:p>
        </p:txBody>
      </p:sp>
      <p:cxnSp>
        <p:nvCxnSpPr>
          <p:cNvPr id="105" name="Arrow"/>
          <p:cNvCxnSpPr/>
          <p:nvPr/>
        </p:nvCxnSpPr>
        <p:spPr>
          <a:xfrm>
            <a:off x="5669280" y="1600200"/>
            <a:ext cx="320040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6" name="Output"/>
          <p:cNvSpPr/>
          <p:nvPr/>
        </p:nvSpPr>
        <p:spPr>
          <a:xfrm>
            <a:off x="6035040" y="1234440"/>
            <a:ext cx="265176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Stream&lt;Stream&lt;Integer&gt;&gt;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still nested</a:t>
            </a:r>
            <a:endParaRPr lang="en-US" sz="1200" dirty="0"/>
          </a:p>
        </p:txBody>
      </p:sp>
      <p:sp>
        <p:nvSpPr>
          <p:cNvPr id="107" name="Input"/>
          <p:cNvSpPr/>
          <p:nvPr/>
        </p:nvSpPr>
        <p:spPr>
          <a:xfrm>
            <a:off x="502920" y="2286000"/>
            <a:ext cx="237744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[[1, 2], [3, 4], [5]]</a:t>
            </a:r>
            <a:endParaRPr lang="en-US" sz="1300" dirty="0"/>
          </a:p>
        </p:txBody>
      </p:sp>
      <p:cxnSp>
        <p:nvCxnSpPr>
          <p:cNvPr id="108" name="Arrow"/>
          <p:cNvCxnSpPr/>
          <p:nvPr/>
        </p:nvCxnSpPr>
        <p:spPr>
          <a:xfrm>
            <a:off x="2926080" y="2651760"/>
            <a:ext cx="365760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109" name="Operation"/>
          <p:cNvSpPr/>
          <p:nvPr/>
        </p:nvSpPr>
        <p:spPr>
          <a:xfrm>
            <a:off x="3337560" y="2286000"/>
            <a:ext cx="2286000" cy="731520"/>
          </a:xfrm>
          <a:prstGeom prst="roundRect">
            <a:avLst>
              <a:gd name="adj" fmla="val 14000"/>
            </a:avLst>
          </a:prstGeom>
          <a:solidFill>
            <a:srgbClr val="CC000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flatMap(List::stream)</a:t>
            </a:r>
            <a:endParaRPr lang="en-US" sz="1200" dirty="0"/>
          </a:p>
        </p:txBody>
      </p:sp>
      <p:cxnSp>
        <p:nvCxnSpPr>
          <p:cNvPr id="2" name="Arrow"/>
          <p:cNvCxnSpPr/>
          <p:nvPr/>
        </p:nvCxnSpPr>
        <p:spPr>
          <a:xfrm>
            <a:off x="5669280" y="2651760"/>
            <a:ext cx="320040" cy="0"/>
          </a:xfrm>
          <a:prstGeom prst="straightConnector1">
            <a:avLst/>
          </a:prstGeom>
          <a:ln w="22225">
            <a:solidFill>
              <a:srgbClr val="5F6B7A"/>
            </a:solidFill>
            <a:tailEnd type="triangle"/>
          </a:ln>
        </p:spPr>
      </p:cxnSp>
      <p:sp>
        <p:nvSpPr>
          <p:cNvPr id="3" name="Output"/>
          <p:cNvSpPr/>
          <p:nvPr/>
        </p:nvSpPr>
        <p:spPr>
          <a:xfrm>
            <a:off x="6035040" y="2286000"/>
            <a:ext cx="2651760" cy="731520"/>
          </a:xfrm>
          <a:prstGeom prst="roundRect">
            <a:avLst>
              <a:gd name="adj" fmla="val 14000"/>
            </a:avLst>
          </a:prstGeom>
          <a:solidFill>
            <a:srgbClr val="E3EDF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Stream&lt;Integer&gt;</a:t>
            </a:r>
            <a:endParaRPr lang="en-US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1, 2, 3, 4, 5 (flat)</a:t>
            </a:r>
            <a:endParaRPr lang="en-US" sz="1200" dirty="0"/>
          </a:p>
        </p:txBody>
      </p:sp>
      <p:sp>
        <p:nvSpPr>
          <p:cNvPr id="4" name="Text"/>
          <p:cNvSpPr txBox="1"/>
          <p:nvPr/>
        </p:nvSpPr>
        <p:spPr>
          <a:xfrm>
            <a:off x="502920" y="338328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Roboto"/>
                <a:ea typeface="Roboto"/>
                <a:cs typeface="Roboto"/>
              </a:rPr>
              <a:t>map: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one input gives one output.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flatMap: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one input gives zero or more outputs, flattened into one stream.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Terminal Operations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They start the pipeline; short-circuit ones stop early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234440"/>
          <a:ext cx="8138160" cy="2560320"/>
        </p:xfrm>
        <a:graphic>
          <a:graphicData uri="http://schemas.openxmlformats.org/drawingml/2006/table">
            <a:tbl>
              <a:tblPr firstRow="1"/>
              <a:tblGrid>
                <a:gridCol w="356616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Operation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Purpose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forEach()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Perform an action on each element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collect()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Gather into a List, Set or Map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reduce()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Combine all elements into one value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count(), min(), max()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Simple aggregates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anyMatch(), allMatch(), noneMatch()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Boolean checks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findFirst(), findAny()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Return an Optional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Collectors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collect() gathers stream results into useful structures</a:t>
            </a:r>
            <a:endParaRPr lang="en-US" sz="1400" dirty="0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02920" y="1554480"/>
          <a:ext cx="4206240" cy="2432304"/>
        </p:xfrm>
        <a:graphic>
          <a:graphicData uri="http://schemas.openxmlformats.org/drawingml/2006/table">
            <a:tbl>
              <a:tblPr firstRow="1"/>
              <a:tblGrid>
                <a:gridCol w="192024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Collector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Result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8"/>
                      </a:solidFill>
                    </a:lnB>
                    <a:solidFill>
                      <a:srgbClr val="0053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toList(), toSet()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List or a Set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toMap()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key-value Map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joining(", ")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One String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groupingBy()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Map of groups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partitioningBy()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Two groups: true, false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dirty="0">
                          <a:solidFill>
                            <a:srgbClr val="0053A1"/>
                          </a:solidFill>
                          <a:latin typeface="Roboto"/>
                          <a:ea typeface="Roboto"/>
                          <a:cs typeface="Roboto"/>
                        </a:rPr>
                        <a:t>counting()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Roboto"/>
                          <a:ea typeface="Roboto"/>
                          <a:cs typeface="Roboto"/>
                        </a:rPr>
                        <a:t>A count inside each group</a:t>
                      </a:r>
                    </a:p>
                  </a:txBody>
                  <a:tcPr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C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Subheading"/>
          <p:cNvSpPr txBox="1"/>
          <p:nvPr/>
        </p:nvSpPr>
        <p:spPr>
          <a:xfrm>
            <a:off x="4892040" y="118872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Employees per department</a:t>
            </a:r>
            <a:endParaRPr lang="en-US" sz="1400" dirty="0"/>
          </a:p>
        </p:txBody>
      </p:sp>
      <p:sp>
        <p:nvSpPr>
          <p:cNvPr id="104" name="Code"/>
          <p:cNvSpPr txBox="1"/>
          <p:nvPr/>
        </p:nvSpPr>
        <p:spPr>
          <a:xfrm>
            <a:off x="4892040" y="1554480"/>
            <a:ext cx="3794760" cy="243230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Map&lt;String, Long&gt; byDept =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emps.stream().collect(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Collectors.groupingBy(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 Employee::getDept,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 Collectors.counting()));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997513" y="648253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 Study: Employee Data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Names of the top 3 highest-paid IT employees</a:t>
            </a:r>
            <a:endParaRPr lang="en-US" sz="1400" dirty="0"/>
          </a:p>
        </p:txBody>
      </p:sp>
      <p:sp>
        <p:nvSpPr>
          <p:cNvPr id="102" name="Code"/>
          <p:cNvSpPr txBox="1"/>
          <p:nvPr/>
        </p:nvSpPr>
        <p:spPr>
          <a:xfrm>
            <a:off x="502920" y="1188720"/>
            <a:ext cx="4846320" cy="17251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</p:spPr>
        <p:txBody>
          <a:bodyPr wrap="square" lIns="109728" tIns="73152" rIns="91440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List&lt;String&gt; top3 = employees.stream()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.filter(e -&gt; e.getDept().equals("IT"))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.sorted(Comparator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   .comparingDouble(Employee::getSalary)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    .reversed())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.limit(3)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.map(Employee::getName)</a:t>
            </a:r>
            <a:endParaRPr lang="en-US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B4B"/>
                </a:solidFill>
                <a:latin typeface="Consolas"/>
                <a:ea typeface="Consolas"/>
                <a:cs typeface="Consolas"/>
              </a:rPr>
              <a:t>    .collect(Collectors.toList());</a:t>
            </a:r>
            <a:endParaRPr lang="en-US" sz="1200" dirty="0"/>
          </a:p>
        </p:txBody>
      </p:sp>
      <p:sp>
        <p:nvSpPr>
          <p:cNvPr id="103" name="Subheading"/>
          <p:cNvSpPr txBox="1"/>
          <p:nvPr/>
        </p:nvSpPr>
        <p:spPr>
          <a:xfrm>
            <a:off x="5669280" y="1188720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What it uses</a:t>
            </a:r>
            <a:endParaRPr lang="en-US" sz="1400" dirty="0"/>
          </a:p>
        </p:txBody>
      </p:sp>
      <p:sp>
        <p:nvSpPr>
          <p:cNvPr id="104" name="Text"/>
          <p:cNvSpPr txBox="1"/>
          <p:nvPr/>
        </p:nvSpPr>
        <p:spPr>
          <a:xfrm>
            <a:off x="5669280" y="1554480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filter() 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Predicate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sorted() 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Comparator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map() 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Function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collect() 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Collector</a:t>
            </a:r>
            <a:endParaRPr lang="en-US" sz="1400" dirty="0"/>
          </a:p>
        </p:txBody>
      </p:sp>
      <p:sp>
        <p:nvSpPr>
          <p:cNvPr id="105" name="Text"/>
          <p:cNvSpPr txBox="1"/>
          <p:nvPr/>
        </p:nvSpPr>
        <p:spPr>
          <a:xfrm>
            <a:off x="502920" y="329184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5F6B7A"/>
                </a:solidFill>
                <a:latin typeface="Roboto"/>
                <a:ea typeface="Roboto"/>
                <a:cs typeface="Roboto"/>
              </a:rPr>
              <a:t>Old way: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loops, temporary lists and manual sorting, about 15 lines.</a:t>
            </a:r>
            <a:endParaRPr lang="en-US" sz="1400" dirty="0"/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Stream way: </a:t>
            </a:r>
            <a:r>
              <a:rPr lang="en-US" sz="14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one readable pipeline.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ECECC91B-4F41-A92B-68CB-9D1FD77D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title="Untitled-1-07.png">
            <a:extLst>
              <a:ext uri="{FF2B5EF4-FFF2-40B4-BE49-F238E27FC236}">
                <a16:creationId xmlns:a16="http://schemas.microsoft.com/office/drawing/2014/main" xmlns="" id="{3F1B60A9-D491-1230-476E-A00855E116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>
            <a:extLst>
              <a:ext uri="{FF2B5EF4-FFF2-40B4-BE49-F238E27FC236}">
                <a16:creationId xmlns:a16="http://schemas.microsoft.com/office/drawing/2014/main" xmlns="" id="{7328B59F-D1AC-7F57-23C0-7CDD6E0E40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xmlns="" id="{BD6BC65A-8DB1-35B5-9D26-C3CECF954691}"/>
              </a:ext>
            </a:extLst>
          </p:cNvPr>
          <p:cNvSpPr txBox="1"/>
          <p:nvPr/>
        </p:nvSpPr>
        <p:spPr>
          <a:xfrm>
            <a:off x="589369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>
            <a:extLst>
              <a:ext uri="{FF2B5EF4-FFF2-40B4-BE49-F238E27FC236}">
                <a16:creationId xmlns:a16="http://schemas.microsoft.com/office/drawing/2014/main" xmlns="" id="{A8FBE476-26F1-AC02-4C98-7AB02BF47A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3;p16"/>
          <p:cNvSpPr txBox="1"/>
          <p:nvPr/>
        </p:nvSpPr>
        <p:spPr>
          <a:xfrm>
            <a:off x="421896" y="209121"/>
            <a:ext cx="6858000" cy="4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>
              <a:buSzPts val="3387"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Summary</a:t>
            </a:r>
            <a:endParaRPr sz="26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101" name="Takeaway"/>
          <p:cNvSpPr txBox="1"/>
          <p:nvPr/>
        </p:nvSpPr>
        <p:spPr>
          <a:xfrm>
            <a:off x="420624" y="69494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CC0000"/>
                </a:solidFill>
                <a:latin typeface="Roboto"/>
                <a:ea typeface="Roboto"/>
                <a:cs typeface="Roboto"/>
              </a:rPr>
              <a:t>Key takeaways</a:t>
            </a:r>
            <a:endParaRPr lang="en-US" sz="1400" dirty="0"/>
          </a:p>
        </p:txBody>
      </p:sp>
      <p:sp>
        <p:nvSpPr>
          <p:cNvPr id="102" name="Takeaways"/>
          <p:cNvSpPr txBox="1"/>
          <p:nvPr/>
        </p:nvSpPr>
        <p:spPr>
          <a:xfrm>
            <a:off x="502920" y="1280160"/>
            <a:ext cx="6398549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01   </a:t>
            </a: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 functional interface has exactly one abstract method.</a:t>
            </a:r>
            <a:endParaRPr lang="en-US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02   </a:t>
            </a: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Predicate, Function, Consumer and Supplier are the core built-ins.</a:t>
            </a:r>
            <a:endParaRPr lang="en-US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03   </a:t>
            </a: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It differs from normal, abstract and marker interfaces in purpose.</a:t>
            </a:r>
            <a:endParaRPr lang="en-US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04   </a:t>
            </a: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 stream pipeline is Source, Intermediate (lazy), Terminal (eager).</a:t>
            </a:r>
            <a:endParaRPr lang="en-US" sz="15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</a:rPr>
              <a:t>05   </a:t>
            </a:r>
            <a:r>
              <a:rPr lang="en-US" sz="1500" b="0" i="0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Method references and collectors keep stream code short and clean.</a:t>
            </a:r>
            <a:endParaRPr lang="en-US" sz="1500" dirty="0"/>
          </a:p>
        </p:txBody>
      </p:sp>
      <p:grpSp>
        <p:nvGrpSpPr>
          <p:cNvPr id="18" name="Google Shape;144;p17"/>
          <p:cNvGrpSpPr/>
          <p:nvPr/>
        </p:nvGrpSpPr>
        <p:grpSpPr>
          <a:xfrm flipH="1">
            <a:off x="6449786" y="0"/>
            <a:ext cx="2694214" cy="3412671"/>
            <a:chOff x="0" y="-55"/>
            <a:chExt cx="3962400" cy="4869150"/>
          </a:xfrm>
        </p:grpSpPr>
        <p:sp>
          <p:nvSpPr>
            <p:cNvPr id="19" name="Google Shape;145;p17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46;p17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7;p17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158;p17">
            <a:extLst>
              <a:ext uri="{FF2B5EF4-FFF2-40B4-BE49-F238E27FC236}">
                <a16:creationId xmlns:a16="http://schemas.microsoft.com/office/drawing/2014/main" xmlns="" id="{4E95B264-0306-CAFA-D9C4-49BEE836A053}"/>
              </a:ext>
            </a:extLst>
          </p:cNvPr>
          <p:cNvSpPr/>
          <p:nvPr/>
        </p:nvSpPr>
        <p:spPr>
          <a:xfrm>
            <a:off x="8011241" y="-443869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9;p14">
            <a:extLst>
              <a:ext uri="{FF2B5EF4-FFF2-40B4-BE49-F238E27FC236}">
                <a16:creationId xmlns:a16="http://schemas.microsoft.com/office/drawing/2014/main" xmlns="" id="{DB8FB1EA-0AA0-0983-142A-F43C821A57EE}"/>
              </a:ext>
            </a:extLst>
          </p:cNvPr>
          <p:cNvSpPr/>
          <p:nvPr/>
        </p:nvSpPr>
        <p:spPr>
          <a:xfrm>
            <a:off x="7863059" y="757692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901319"/>
      </p:ext>
    </p:extLst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-3525" y="1895025"/>
            <a:ext cx="9144000" cy="139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167" name="Google Shape;167;p18" title="Untitled-3-01.png"/>
          <p:cNvPicPr preferRelativeResize="0"/>
          <p:nvPr/>
        </p:nvPicPr>
        <p:blipFill rotWithShape="1">
          <a:blip r:embed="rId3">
            <a:alphaModFix/>
          </a:blip>
          <a:srcRect l="2123"/>
          <a:stretch/>
        </p:blipFill>
        <p:spPr>
          <a:xfrm>
            <a:off x="2954238" y="275375"/>
            <a:ext cx="2820275" cy="81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title="future-visions-business-technology-concept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5317" b="5317"/>
          <a:stretch/>
        </p:blipFill>
        <p:spPr>
          <a:xfrm>
            <a:off x="2486845" y="1371552"/>
            <a:ext cx="4349309" cy="2400396"/>
          </a:xfrm>
          <a:prstGeom prst="roundRect">
            <a:avLst>
              <a:gd name="adj" fmla="val 8493"/>
            </a:avLst>
          </a:prstGeom>
          <a:solidFill>
            <a:srgbClr val="7F7F7F"/>
          </a:solidFill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6649170" y="1895025"/>
            <a:ext cx="249723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 flipH="1">
            <a:off x="-5172" y="1875125"/>
            <a:ext cx="208474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64050" y="4290875"/>
            <a:ext cx="779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www.careercraftacademy.com             info@careercraftacademy.com             +91-9442639366 , +91-9600344633</a:t>
            </a:r>
            <a:endParaRPr sz="1200">
              <a:solidFill>
                <a:srgbClr val="0053A1"/>
              </a:solidFill>
            </a:endParaRPr>
          </a:p>
        </p:txBody>
      </p:sp>
      <p:pic>
        <p:nvPicPr>
          <p:cNvPr id="172" name="Google Shape;172;p18" title="ema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6075" y="4385887"/>
            <a:ext cx="179300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title="phone-cal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8725" y="4404200"/>
            <a:ext cx="133875" cy="1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title="world-wide-we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 flipH="1">
            <a:off x="666150" y="4414075"/>
            <a:ext cx="133875" cy="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1665</Words>
  <Application>Microsoft Office PowerPoint</Application>
  <PresentationFormat>On-screen Show (16:9)</PresentationFormat>
  <Paragraphs>413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Consolas</vt:lpstr>
      <vt:lpstr>Roboto</vt:lpstr>
      <vt:lpstr>Calibri</vt:lpstr>
      <vt:lpstr>Poppins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Admin</cp:lastModifiedBy>
  <cp:revision>36</cp:revision>
  <dcterms:modified xsi:type="dcterms:W3CDTF">2026-10-13T10:41:00Z</dcterms:modified>
</cp:coreProperties>
</file>