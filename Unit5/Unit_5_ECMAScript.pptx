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303" r:id="rId59"/>
    <p:sldId id="304" r:id="rId60"/>
    <p:sldId id="305" r:id="rId61"/>
    <p:sldId id="306" r:id="rId62"/>
    <p:sldId id="307" r:id="rId63"/>
    <p:sldId id="308" r:id="rId64"/>
    <p:sldId id="309" r:id="rId65"/>
    <p:sldId id="310" r:id="rId66"/>
    <p:sldId id="311" r:id="rId67"/>
    <p:sldId id="312" r:id="rId68"/>
    <p:sldId id="313" r:id="rId69"/>
    <p:sldId id="314" r:id="rId70"/>
    <p:sldId id="315" r:id="rId71"/>
    <p:sldId id="316" r:id="rId72"/>
    <p:sldId id="317" r:id="rId73"/>
    <p:sldId id="318" r:id="rId74"/>
    <p:sldId id="319" r:id="rId75"/>
    <p:sldId id="320" r:id="rId76"/>
    <p:sldId id="321" r:id="rId77"/>
    <p:sldId id="322" r:id="rId78"/>
    <p:sldId id="323" r:id="rId79"/>
    <p:sldId id="324" r:id="rId80"/>
    <p:sldId id="325" r:id="rId81"/>
    <p:sldId id="326" r:id="rId82"/>
    <p:sldId id="327" r:id="rId83"/>
    <p:sldId id="328" r:id="rId84"/>
    <p:sldId id="329" r:id="rId85"/>
    <p:sldId id="330" r:id="rId86"/>
    <p:sldId id="331" r:id="rId87"/>
    <p:sldId id="332" r:id="rId88"/>
  </p:sldIdLst>
  <p:sldSz cx="9144000" cy="5143500" type="screen16x9"/>
  <p:notesSz cx="6858000" cy="9144000"/>
  <p:embeddedFontLst>
    <p:embeddedFont>
      <p:font typeface="Poppins SemiBold" panose="00000700000000000000" pitchFamily="2" charset="0"/>
      <p:regular r:id="rId17"/>
      <p:bold r:id="rId18"/>
      <p:italic r:id="rId19"/>
      <p:boldItalic r:id="rId20"/>
    </p:embeddedFont>
    <p:embeddedFont>
      <p:font typeface="Roboto" panose="02000000000000000000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98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16" Type="http://schemas.openxmlformats.org/officeDocument/2006/relationships/notesMaster" Target="notesMasters/notesMaster1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  <Relationship Id="rId59" Type="http://schemas.openxmlformats.org/officeDocument/2006/relationships/slide" Target="slides/slide45.xml"/>
  <Relationship Id="rId60" Type="http://schemas.openxmlformats.org/officeDocument/2006/relationships/slide" Target="slides/slide46.xml"/>
  <Relationship Id="rId61" Type="http://schemas.openxmlformats.org/officeDocument/2006/relationships/slide" Target="slides/slide47.xml"/>
  <Relationship Id="rId62" Type="http://schemas.openxmlformats.org/officeDocument/2006/relationships/slide" Target="slides/slide48.xml"/>
  <Relationship Id="rId63" Type="http://schemas.openxmlformats.org/officeDocument/2006/relationships/slide" Target="slides/slide49.xml"/>
  <Relationship Id="rId64" Type="http://schemas.openxmlformats.org/officeDocument/2006/relationships/slide" Target="slides/slide50.xml"/>
  <Relationship Id="rId65" Type="http://schemas.openxmlformats.org/officeDocument/2006/relationships/slide" Target="slides/slide51.xml"/>
  <Relationship Id="rId66" Type="http://schemas.openxmlformats.org/officeDocument/2006/relationships/slide" Target="slides/slide52.xml"/>
  <Relationship Id="rId67" Type="http://schemas.openxmlformats.org/officeDocument/2006/relationships/slide" Target="slides/slide53.xml"/>
  <Relationship Id="rId68" Type="http://schemas.openxmlformats.org/officeDocument/2006/relationships/slide" Target="slides/slide54.xml"/>
  <Relationship Id="rId69" Type="http://schemas.openxmlformats.org/officeDocument/2006/relationships/slide" Target="slides/slide55.xml"/>
  <Relationship Id="rId70" Type="http://schemas.openxmlformats.org/officeDocument/2006/relationships/slide" Target="slides/slide56.xml"/>
  <Relationship Id="rId71" Type="http://schemas.openxmlformats.org/officeDocument/2006/relationships/slide" Target="slides/slide57.xml"/>
  <Relationship Id="rId72" Type="http://schemas.openxmlformats.org/officeDocument/2006/relationships/slide" Target="slides/slide58.xml"/>
  <Relationship Id="rId73" Type="http://schemas.openxmlformats.org/officeDocument/2006/relationships/slide" Target="slides/slide59.xml"/>
  <Relationship Id="rId74" Type="http://schemas.openxmlformats.org/officeDocument/2006/relationships/slide" Target="slides/slide60.xml"/>
  <Relationship Id="rId75" Type="http://schemas.openxmlformats.org/officeDocument/2006/relationships/slide" Target="slides/slide61.xml"/>
  <Relationship Id="rId76" Type="http://schemas.openxmlformats.org/officeDocument/2006/relationships/slide" Target="slides/slide62.xml"/>
  <Relationship Id="rId77" Type="http://schemas.openxmlformats.org/officeDocument/2006/relationships/slide" Target="slides/slide63.xml"/>
  <Relationship Id="rId78" Type="http://schemas.openxmlformats.org/officeDocument/2006/relationships/slide" Target="slides/slide64.xml"/>
  <Relationship Id="rId79" Type="http://schemas.openxmlformats.org/officeDocument/2006/relationships/slide" Target="slides/slide65.xml"/>
  <Relationship Id="rId80" Type="http://schemas.openxmlformats.org/officeDocument/2006/relationships/slide" Target="slides/slide66.xml"/>
  <Relationship Id="rId81" Type="http://schemas.openxmlformats.org/officeDocument/2006/relationships/slide" Target="slides/slide67.xml"/>
  <Relationship Id="rId82" Type="http://schemas.openxmlformats.org/officeDocument/2006/relationships/slide" Target="slides/slide68.xml"/>
  <Relationship Id="rId83" Type="http://schemas.openxmlformats.org/officeDocument/2006/relationships/slide" Target="slides/slide69.xml"/>
  <Relationship Id="rId84" Type="http://schemas.openxmlformats.org/officeDocument/2006/relationships/slide" Target="slides/slide70.xml"/>
  <Relationship Id="rId85" Type="http://schemas.openxmlformats.org/officeDocument/2006/relationships/slide" Target="slides/slide71.xml"/>
  <Relationship Id="rId86" Type="http://schemas.openxmlformats.org/officeDocument/2006/relationships/slide" Target="slides/slide72.xml"/>
  <Relationship Id="rId87" Type="http://schemas.openxmlformats.org/officeDocument/2006/relationships/slide" Target="slides/slide73.xml"/>
  <Relationship Id="rId88" Type="http://schemas.openxmlformats.org/officeDocument/2006/relationships/slide" Target="slides/slide74.xml"/>
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0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10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10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10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10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10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10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0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10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1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1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1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1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1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1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1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1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1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1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12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1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12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12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12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12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12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12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12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13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b0358ceff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bb0358ceff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Welcome learners. Today we learn the modern features of JavaScript - officially called ECMAScript or ES6+. Everything here works directly in your browser.</a:t>
            </a:r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b0358ceff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bb0358ceff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 the objectives briefly. Ten topics - each one builds on the previous. Don't worry, every topic starts from zero.</a:t>
            </a:r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b0358ceff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bb0358ceff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our roadmap. Each topic gets 2-3 slides: concept first, then code, then output - exactly like the Bootstrap session.</a:t>
            </a:r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b0358ceff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bb0358ceff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Students often think ECMAScript and JavaScript are different languages. They are not. ECMA writes the rules; browsers like Chrome implement them. When we say 'ES6 features', we mean features added to that rulebook in 2015 - and every browser adopted them.</a:t>
            </a:r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b0358ceff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bb0358ceff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slide answers 'why should I care?' Everything that felt clunky in old JavaScript got a modern replacement in 2015. The timeline shows ES6 was the turning point - that is why tutorials say 'learn ES6'.</a:t>
            </a:r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b0358ceff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bb0358ceff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Before we write features, everyone should have a place to type code. Show DevTools live if possible - press F12, click Console, type const x = 5. That is our lab for the whole session.</a:t>
            </a:r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b0358ceff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bb0358ceff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new ways to declare variables. Walk through line by line: score changes fine because it is let. The moment we try to change name, JavaScript throws a TypeError - show this error live so students are not scared of it later. Emphasize the default rule: const first.</a:t>
            </a:r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b0358ceff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bb0358ceff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the cheat-sheet slide. Do not read every cell - highlight two rows: 'Scope' (we will see what block means on the next slide) and 'Use today'. Learners only need to remember the bottom banner for daily coding.</a:t>
            </a:r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b0358ceff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bb0358ceff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THE most important scoping slide. The nested-boxes visual shows the block boundary. Then the code proves it: after the if ends, var survives (bad!) but let disappears (safe!). Ask learners: which one prevents accidental bugs? That is why var is retired.</a:t>
            </a:r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b0358ceff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bb0358ceff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number one beginner confusion: const locks the box, not the contents. Use the analogy - const is like a house address: you can renovate the house (add age), but you cannot move it to a new address (reassign).</a:t>
            </a:r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b0358ceff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bb0358ceff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 the transformation aloud: remove the word function, add an arrow, and when the body is one line, drop the braces AND the return. Point out the three parameter shapes on the right - zero, one, many. This is the pattern students will use daily.</a:t>
            </a:r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b0358ceff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bb0358ceff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not dive deep into this theory - beginners drown there. Keep it practical: inside a regular function, this gets lost; arrow functions remember it. Run the timer live - seeing 1, 2, 3 count up makes the concept concrete.</a:t>
            </a:r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b0358ceff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bb0358ceff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Show the old line first and let them feel the pain of quote-plus-quote-plus. Then the backtick version - same result, one clean readable line. Key symbol callouts: the backtick wraps everything; ${ } is the window into JavaScript.</a:t>
            </a:r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b0358ceff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bb0358ceff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upgrades in one slide. First - real HTML templates are multi-line; backticks handle it naturally (this is how real UIs get built). Second - the ${} is not just for variables: show price * 2 doing math and the ternary choosing 'Yes'. This foreshadows the mini project.</a:t>
            </a:r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b0358ceff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bb0358ceff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curly braces on the LEFT of the equals sign are the new trick - they say 'pull these property names out of the object'. The rename syntax answers a common question: what if I want a different variable name? The colon renames.</a:t>
            </a:r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b0358ceff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bb0358ceff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Objects use names; arrays use order - square brackets on the left. Walk each line: normal pull, skipping with commas, defaults for missing values, and the famous one-line swap (they will want to screenshot that).</a:t>
            </a:r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b0358ceff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bb0358ceff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Notice we are already combining skills - the fallback string uses a template literal. The second call passes nothing, so the default kicks in automatically. Ask: where would this help? Form inputs, API options, config settings.</a:t>
            </a:r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b0358ceff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bb0358ceff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dots in the parameter position means 'give me everything as an array'. In example 1, sum accepts 4 numbers - or 10 - because they arrive packed into numbers. In example 2, the first item is unpacked and the REST are packed into others. Say the memory tip twice.</a:t>
            </a:r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b0358ceff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bb0358ceff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the confusion slide - same symbol, opposite jobs, and only position decides which. Read the table as the takeaway: in parameters it packs; in usage it unpacks. The object-spread line is how real apps update data without changing the original.</a:t>
            </a:r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b0358ceff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bb0358ceff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your variable already has the right name, JavaScript lets you mention it once. Point out this is not new syntax to memorize - it is just noticing a repetition and deleting it.</a:t>
            </a:r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b0358ceff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bb0358ceff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small upgrades that make objects look clean. start() with no function keyword - same as the old start: function(). And [prop] means 'use the value of the variable as the key name', so the object ends up with a score property.</a:t>
            </a:r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b0358ceff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bb0358ceff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Until now all our code lived in one file. Real projects split code across files. The export card says 'math.js offers add to the world'; the import card says 'main.js collects it'. The two-file visual is the key - point back and forth while explaining.</a:t>
            </a:r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b0358ceff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bb0358ceff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file can offer both types. The import line is the exam question: no braces means default (you may rename it), braces means named (exact match). Rule of thumb: libraries give you a default; utility files give named helpers.</a:t>
            </a:r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b0358ceff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bb0358ceff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Follow the flow: new Student(...) runs the constructor, which stores name and age on this. Then we call introduce(), which uses that stored data. Emphasize this means 'this particular student'. Notice introduce uses a template literal - old friends reappearing.</a:t>
            </a:r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b0358ceff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bb0358ceff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Dog did not define a constructor - it inherited one through extends. Dog overrides speak, so Bruno barks instead of 'makes a sound'. This is code reuse: write Animal once, build many children (Dog, Cat, Bird) that each customize behavior.</a:t>
            </a:r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b0358ceff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bb0358ceff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up the problem before the solution. Order-food analogy: you get a receipt (the promise), not the food yet - and later it is either delivered (fulfilled) or cancelled (rejected). The state diagram IS the promise lifecycle: pending, then fulfilled OR rejected, never both.</a:t>
            </a:r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b0358ceff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bb0358ceff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Each .then receives the previous step's result - that is the chain. res.json() is itself slow, which is why we need a second then. Arrow functions everywhere - point that out! You will mostly see fetch used exactly like this in real projects.</a:t>
            </a:r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b0358ceff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bb0358ceff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Side-by-side with the previous slide: same fetch, but now it reads top-to-bottom like normal code - no chain of .then. await means 'wait here for the answer'. try/catch replaces .catch. Both styles are valid; industry now leans async/await.</a:t>
            </a:r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b0358ceff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bb0358ceff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 topic appears exactly once in the checklist - completing it proves mastery of the whole session. Suggest building it in CodePen with two files, or a single HTML file with modules. Offer to review submissions.</a:t>
            </a:r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b0358ceff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bb0358ceff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the learners, share the mini project deadline, and point to the contact details for questions.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Notes" Type="http://schemas.openxmlformats.org/officeDocument/2006/relationships/notesSlide" Target="../notesSlides/notesSlide10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6.jpeg"/><Relationship Id="rId5" Type="http://schemas.openxmlformats.org/officeDocument/2006/relationships/image" Target="../media/image4.png"/><Relationship Id="rIdNotes" Type="http://schemas.openxmlformats.org/officeDocument/2006/relationships/notesSlide" Target="../notesSlides/notesSlide10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6.jpeg"/><Relationship Id="rId5" Type="http://schemas.openxmlformats.org/officeDocument/2006/relationships/image" Target="../media/image4.png"/><Relationship Id="rIdNotes" Type="http://schemas.openxmlformats.org/officeDocument/2006/relationships/notesSlide" Target="../notesSlides/notesSlide10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Relationship Id="rIdNotes" Type="http://schemas.openxmlformats.org/officeDocument/2006/relationships/notesSlide" Target="../notesSlides/notesSlide10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Relationship Id="rIdNotes" Type="http://schemas.openxmlformats.org/officeDocument/2006/relationships/notesSlide" Target="../notesSlides/notesSlide10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Notes" Type="http://schemas.openxmlformats.org/officeDocument/2006/relationships/notesSlide" Target="../notesSlides/notesSlide10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Notes" Type="http://schemas.openxmlformats.org/officeDocument/2006/relationships/notesSlide" Target="../notesSlides/notesSlide10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6.jpeg"/><Relationship Id="rId5" Type="http://schemas.openxmlformats.org/officeDocument/2006/relationships/image" Target="../media/image4.png"/><Relationship Id="rIdNotes" Type="http://schemas.openxmlformats.org/officeDocument/2006/relationships/notesSlide" Target="../notesSlides/notesSlide108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Notes" Type="http://schemas.openxmlformats.org/officeDocument/2006/relationships/notesSlide" Target="../notesSlides/notesSlide109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Notes" Type="http://schemas.openxmlformats.org/officeDocument/2006/relationships/notesSlide" Target="../notesSlides/notesSlide110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Notes" Type="http://schemas.openxmlformats.org/officeDocument/2006/relationships/notesSlide" Target="../notesSlides/notesSlide11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Notes" Type="http://schemas.openxmlformats.org/officeDocument/2006/relationships/notesSlide" Target="../notesSlides/notesSlide11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Notes" Type="http://schemas.openxmlformats.org/officeDocument/2006/relationships/notesSlide" Target="../notesSlides/notesSlide113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Notes" Type="http://schemas.openxmlformats.org/officeDocument/2006/relationships/notesSlide" Target="../notesSlides/notesSlide114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Notes" Type="http://schemas.openxmlformats.org/officeDocument/2006/relationships/notesSlide" Target="../notesSlides/notesSlide115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Notes" Type="http://schemas.openxmlformats.org/officeDocument/2006/relationships/notesSlide" Target="../notesSlides/notesSlide116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Notes" Type="http://schemas.openxmlformats.org/officeDocument/2006/relationships/notesSlide" Target="../notesSlides/notesSlide11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Notes" Type="http://schemas.openxmlformats.org/officeDocument/2006/relationships/notesSlide" Target="../notesSlides/notesSlide118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Notes" Type="http://schemas.openxmlformats.org/officeDocument/2006/relationships/notesSlide" Target="../notesSlides/notesSlide119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Notes" Type="http://schemas.openxmlformats.org/officeDocument/2006/relationships/notesSlide" Target="../notesSlides/notesSlide120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Notes" Type="http://schemas.openxmlformats.org/officeDocument/2006/relationships/notesSlide" Target="../notesSlides/notesSlide12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Notes" Type="http://schemas.openxmlformats.org/officeDocument/2006/relationships/notesSlide" Target="../notesSlides/notesSlide12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Notes" Type="http://schemas.openxmlformats.org/officeDocument/2006/relationships/notesSlide" Target="../notesSlides/notesSlide123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Notes" Type="http://schemas.openxmlformats.org/officeDocument/2006/relationships/notesSlide" Target="../notesSlides/notesSlide124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Notes" Type="http://schemas.openxmlformats.org/officeDocument/2006/relationships/notesSlide" Target="../notesSlides/notesSlide125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Relationship Id="rIdNotes" Type="http://schemas.openxmlformats.org/officeDocument/2006/relationships/notesSlide" Target="../notesSlides/notesSlide126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Notes" Type="http://schemas.openxmlformats.org/officeDocument/2006/relationships/notesSlide" Target="../notesSlides/notesSlide12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Notes" Type="http://schemas.openxmlformats.org/officeDocument/2006/relationships/notesSlide" Target="../notesSlides/notesSlide128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43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Relationship Id="rId8" Type="http://schemas.openxmlformats.org/officeDocument/2006/relationships/image" Target="../media/image60.png"/><Relationship Id="rId9" Type="http://schemas.openxmlformats.org/officeDocument/2006/relationships/image" Target="../media/image61.png"/><Relationship Id="rId10" Type="http://schemas.openxmlformats.org/officeDocument/2006/relationships/image" Target="../media/image62.png"/><Relationship Id="rId11" Type="http://schemas.openxmlformats.org/officeDocument/2006/relationships/image" Target="../media/image63.png"/><Relationship Id="rId12" Type="http://schemas.openxmlformats.org/officeDocument/2006/relationships/image" Target="../media/image64.png"/><Relationship Id="rIdChkB" Type="http://schemas.openxmlformats.org/officeDocument/2006/relationships/image" Target="../media/chk_blue.png"/><Relationship Id="rIdChkR" Type="http://schemas.openxmlformats.org/officeDocument/2006/relationships/image" Target="../media/chk_red.png"/><Relationship Id="rIdNotes" Type="http://schemas.openxmlformats.org/officeDocument/2006/relationships/notesSlide" Target="../notesSlides/notesSlide129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18.png"/><Relationship Id="rId4" Type="http://schemas.openxmlformats.org/officeDocument/2006/relationships/image" Target="../media/image19.jp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Notes" Type="http://schemas.openxmlformats.org/officeDocument/2006/relationships/notesSlide" Target="../notesSlides/notesSlide130.xml"/></Relationships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 flipH="1">
            <a:off x="4504500" y="503853"/>
            <a:ext cx="4639500" cy="4639500"/>
          </a:xfrm>
          <a:prstGeom prst="rtTriangle">
            <a:avLst/>
          </a:prstGeom>
          <a:solidFill>
            <a:srgbClr val="0053A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5678039" y="1994396"/>
            <a:ext cx="4389900" cy="3149100"/>
          </a:xfrm>
          <a:prstGeom prst="parallelogram">
            <a:avLst>
              <a:gd name="adj" fmla="val 104167"/>
            </a:avLst>
          </a:prstGeom>
          <a:gradFill>
            <a:gsLst>
              <a:gs pos="0">
                <a:srgbClr val="003E78"/>
              </a:gs>
              <a:gs pos="15000">
                <a:srgbClr val="003E78"/>
              </a:gs>
              <a:gs pos="64000">
                <a:srgbClr val="0053A1">
                  <a:alpha val="0"/>
                </a:srgbClr>
              </a:gs>
              <a:gs pos="100000">
                <a:srgbClr val="0053A1">
                  <a:alpha val="0"/>
                </a:srgbClr>
              </a:gs>
            </a:gsLst>
            <a:lin ang="18000042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" name="Google Shape;56;p13"/>
          <p:cNvGrpSpPr/>
          <p:nvPr/>
        </p:nvGrpSpPr>
        <p:grpSpPr>
          <a:xfrm>
            <a:off x="4921084" y="3098170"/>
            <a:ext cx="469705" cy="722606"/>
            <a:chOff x="1549" y="475"/>
            <a:chExt cx="589" cy="906"/>
          </a:xfrm>
        </p:grpSpPr>
        <p:sp>
          <p:nvSpPr>
            <p:cNvPr id="57" name="Google Shape;57;p13"/>
            <p:cNvSpPr/>
            <p:nvPr/>
          </p:nvSpPr>
          <p:spPr>
            <a:xfrm>
              <a:off x="1549" y="475"/>
              <a:ext cx="589" cy="673"/>
            </a:xfrm>
            <a:custGeom>
              <a:avLst/>
              <a:gdLst/>
              <a:ahLst/>
              <a:cxnLst/>
              <a:rect l="l" t="t" r="r" b="b"/>
              <a:pathLst>
                <a:path w="2355" h="2692" extrusionOk="0">
                  <a:moveTo>
                    <a:pt x="1177" y="0"/>
                  </a:moveTo>
                  <a:lnTo>
                    <a:pt x="1261" y="3"/>
                  </a:lnTo>
                  <a:lnTo>
                    <a:pt x="1345" y="12"/>
                  </a:lnTo>
                  <a:lnTo>
                    <a:pt x="1426" y="26"/>
                  </a:lnTo>
                  <a:lnTo>
                    <a:pt x="1508" y="47"/>
                  </a:lnTo>
                  <a:lnTo>
                    <a:pt x="1586" y="74"/>
                  </a:lnTo>
                  <a:lnTo>
                    <a:pt x="1663" y="105"/>
                  </a:lnTo>
                  <a:lnTo>
                    <a:pt x="1738" y="142"/>
                  </a:lnTo>
                  <a:lnTo>
                    <a:pt x="1809" y="184"/>
                  </a:lnTo>
                  <a:lnTo>
                    <a:pt x="1877" y="231"/>
                  </a:lnTo>
                  <a:lnTo>
                    <a:pt x="1943" y="283"/>
                  </a:lnTo>
                  <a:lnTo>
                    <a:pt x="2005" y="340"/>
                  </a:lnTo>
                  <a:lnTo>
                    <a:pt x="2063" y="401"/>
                  </a:lnTo>
                  <a:lnTo>
                    <a:pt x="2113" y="461"/>
                  </a:lnTo>
                  <a:lnTo>
                    <a:pt x="2158" y="524"/>
                  </a:lnTo>
                  <a:lnTo>
                    <a:pt x="2197" y="589"/>
                  </a:lnTo>
                  <a:lnTo>
                    <a:pt x="2234" y="657"/>
                  </a:lnTo>
                  <a:lnTo>
                    <a:pt x="2265" y="726"/>
                  </a:lnTo>
                  <a:lnTo>
                    <a:pt x="2292" y="799"/>
                  </a:lnTo>
                  <a:lnTo>
                    <a:pt x="2315" y="873"/>
                  </a:lnTo>
                  <a:lnTo>
                    <a:pt x="2333" y="948"/>
                  </a:lnTo>
                  <a:lnTo>
                    <a:pt x="2345" y="1025"/>
                  </a:lnTo>
                  <a:lnTo>
                    <a:pt x="2352" y="1102"/>
                  </a:lnTo>
                  <a:lnTo>
                    <a:pt x="2355" y="1180"/>
                  </a:lnTo>
                  <a:lnTo>
                    <a:pt x="2352" y="1258"/>
                  </a:lnTo>
                  <a:lnTo>
                    <a:pt x="2345" y="1336"/>
                  </a:lnTo>
                  <a:lnTo>
                    <a:pt x="2333" y="1413"/>
                  </a:lnTo>
                  <a:lnTo>
                    <a:pt x="2315" y="1488"/>
                  </a:lnTo>
                  <a:lnTo>
                    <a:pt x="2292" y="1562"/>
                  </a:lnTo>
                  <a:lnTo>
                    <a:pt x="2265" y="1633"/>
                  </a:lnTo>
                  <a:lnTo>
                    <a:pt x="2234" y="1704"/>
                  </a:lnTo>
                  <a:lnTo>
                    <a:pt x="2197" y="1771"/>
                  </a:lnTo>
                  <a:lnTo>
                    <a:pt x="2158" y="1837"/>
                  </a:lnTo>
                  <a:lnTo>
                    <a:pt x="2113" y="1900"/>
                  </a:lnTo>
                  <a:lnTo>
                    <a:pt x="2063" y="1959"/>
                  </a:lnTo>
                  <a:lnTo>
                    <a:pt x="2014" y="2011"/>
                  </a:lnTo>
                  <a:lnTo>
                    <a:pt x="1962" y="2060"/>
                  </a:lnTo>
                  <a:lnTo>
                    <a:pt x="1919" y="2101"/>
                  </a:lnTo>
                  <a:lnTo>
                    <a:pt x="1884" y="2142"/>
                  </a:lnTo>
                  <a:lnTo>
                    <a:pt x="1853" y="2184"/>
                  </a:lnTo>
                  <a:lnTo>
                    <a:pt x="1830" y="2225"/>
                  </a:lnTo>
                  <a:lnTo>
                    <a:pt x="1811" y="2268"/>
                  </a:lnTo>
                  <a:lnTo>
                    <a:pt x="1798" y="2313"/>
                  </a:lnTo>
                  <a:lnTo>
                    <a:pt x="1790" y="2362"/>
                  </a:lnTo>
                  <a:lnTo>
                    <a:pt x="1788" y="2411"/>
                  </a:lnTo>
                  <a:lnTo>
                    <a:pt x="1788" y="2413"/>
                  </a:lnTo>
                  <a:lnTo>
                    <a:pt x="1788" y="2414"/>
                  </a:lnTo>
                  <a:lnTo>
                    <a:pt x="1788" y="2415"/>
                  </a:lnTo>
                  <a:lnTo>
                    <a:pt x="1787" y="2560"/>
                  </a:lnTo>
                  <a:lnTo>
                    <a:pt x="1784" y="2586"/>
                  </a:lnTo>
                  <a:lnTo>
                    <a:pt x="1776" y="2612"/>
                  </a:lnTo>
                  <a:lnTo>
                    <a:pt x="1764" y="2634"/>
                  </a:lnTo>
                  <a:lnTo>
                    <a:pt x="1747" y="2654"/>
                  </a:lnTo>
                  <a:lnTo>
                    <a:pt x="1728" y="2670"/>
                  </a:lnTo>
                  <a:lnTo>
                    <a:pt x="1705" y="2682"/>
                  </a:lnTo>
                  <a:lnTo>
                    <a:pt x="1680" y="2690"/>
                  </a:lnTo>
                  <a:lnTo>
                    <a:pt x="1654" y="2692"/>
                  </a:lnTo>
                  <a:lnTo>
                    <a:pt x="1652" y="2692"/>
                  </a:lnTo>
                  <a:lnTo>
                    <a:pt x="1625" y="2689"/>
                  </a:lnTo>
                  <a:lnTo>
                    <a:pt x="1600" y="2681"/>
                  </a:lnTo>
                  <a:lnTo>
                    <a:pt x="1578" y="2669"/>
                  </a:lnTo>
                  <a:lnTo>
                    <a:pt x="1558" y="2652"/>
                  </a:lnTo>
                  <a:lnTo>
                    <a:pt x="1542" y="2632"/>
                  </a:lnTo>
                  <a:lnTo>
                    <a:pt x="1530" y="2610"/>
                  </a:lnTo>
                  <a:lnTo>
                    <a:pt x="1523" y="2584"/>
                  </a:lnTo>
                  <a:lnTo>
                    <a:pt x="1520" y="2557"/>
                  </a:lnTo>
                  <a:lnTo>
                    <a:pt x="1522" y="2411"/>
                  </a:lnTo>
                  <a:lnTo>
                    <a:pt x="1524" y="2349"/>
                  </a:lnTo>
                  <a:lnTo>
                    <a:pt x="1532" y="2287"/>
                  </a:lnTo>
                  <a:lnTo>
                    <a:pt x="1545" y="2229"/>
                  </a:lnTo>
                  <a:lnTo>
                    <a:pt x="1563" y="2171"/>
                  </a:lnTo>
                  <a:lnTo>
                    <a:pt x="1587" y="2116"/>
                  </a:lnTo>
                  <a:lnTo>
                    <a:pt x="1615" y="2063"/>
                  </a:lnTo>
                  <a:lnTo>
                    <a:pt x="1650" y="2011"/>
                  </a:lnTo>
                  <a:lnTo>
                    <a:pt x="1689" y="1960"/>
                  </a:lnTo>
                  <a:lnTo>
                    <a:pt x="1734" y="1911"/>
                  </a:lnTo>
                  <a:lnTo>
                    <a:pt x="1785" y="1862"/>
                  </a:lnTo>
                  <a:lnTo>
                    <a:pt x="1824" y="1824"/>
                  </a:lnTo>
                  <a:lnTo>
                    <a:pt x="1863" y="1783"/>
                  </a:lnTo>
                  <a:lnTo>
                    <a:pt x="1908" y="1728"/>
                  </a:lnTo>
                  <a:lnTo>
                    <a:pt x="1949" y="1670"/>
                  </a:lnTo>
                  <a:lnTo>
                    <a:pt x="1984" y="1609"/>
                  </a:lnTo>
                  <a:lnTo>
                    <a:pt x="2015" y="1546"/>
                  </a:lnTo>
                  <a:lnTo>
                    <a:pt x="2039" y="1483"/>
                  </a:lnTo>
                  <a:lnTo>
                    <a:pt x="2060" y="1416"/>
                  </a:lnTo>
                  <a:lnTo>
                    <a:pt x="2075" y="1350"/>
                  </a:lnTo>
                  <a:lnTo>
                    <a:pt x="2085" y="1283"/>
                  </a:lnTo>
                  <a:lnTo>
                    <a:pt x="2089" y="1215"/>
                  </a:lnTo>
                  <a:lnTo>
                    <a:pt x="2089" y="1147"/>
                  </a:lnTo>
                  <a:lnTo>
                    <a:pt x="2085" y="1080"/>
                  </a:lnTo>
                  <a:lnTo>
                    <a:pt x="2075" y="1011"/>
                  </a:lnTo>
                  <a:lnTo>
                    <a:pt x="2060" y="945"/>
                  </a:lnTo>
                  <a:lnTo>
                    <a:pt x="2040" y="879"/>
                  </a:lnTo>
                  <a:lnTo>
                    <a:pt x="2015" y="816"/>
                  </a:lnTo>
                  <a:lnTo>
                    <a:pt x="1985" y="753"/>
                  </a:lnTo>
                  <a:lnTo>
                    <a:pt x="1950" y="692"/>
                  </a:lnTo>
                  <a:lnTo>
                    <a:pt x="1909" y="634"/>
                  </a:lnTo>
                  <a:lnTo>
                    <a:pt x="1864" y="578"/>
                  </a:lnTo>
                  <a:lnTo>
                    <a:pt x="1815" y="526"/>
                  </a:lnTo>
                  <a:lnTo>
                    <a:pt x="1762" y="479"/>
                  </a:lnTo>
                  <a:lnTo>
                    <a:pt x="1706" y="436"/>
                  </a:lnTo>
                  <a:lnTo>
                    <a:pt x="1647" y="397"/>
                  </a:lnTo>
                  <a:lnTo>
                    <a:pt x="1586" y="363"/>
                  </a:lnTo>
                  <a:lnTo>
                    <a:pt x="1522" y="335"/>
                  </a:lnTo>
                  <a:lnTo>
                    <a:pt x="1456" y="310"/>
                  </a:lnTo>
                  <a:lnTo>
                    <a:pt x="1389" y="292"/>
                  </a:lnTo>
                  <a:lnTo>
                    <a:pt x="1320" y="278"/>
                  </a:lnTo>
                  <a:lnTo>
                    <a:pt x="1249" y="270"/>
                  </a:lnTo>
                  <a:lnTo>
                    <a:pt x="1178" y="266"/>
                  </a:lnTo>
                  <a:lnTo>
                    <a:pt x="1107" y="270"/>
                  </a:lnTo>
                  <a:lnTo>
                    <a:pt x="1037" y="278"/>
                  </a:lnTo>
                  <a:lnTo>
                    <a:pt x="968" y="292"/>
                  </a:lnTo>
                  <a:lnTo>
                    <a:pt x="901" y="310"/>
                  </a:lnTo>
                  <a:lnTo>
                    <a:pt x="835" y="335"/>
                  </a:lnTo>
                  <a:lnTo>
                    <a:pt x="771" y="363"/>
                  </a:lnTo>
                  <a:lnTo>
                    <a:pt x="709" y="397"/>
                  </a:lnTo>
                  <a:lnTo>
                    <a:pt x="650" y="436"/>
                  </a:lnTo>
                  <a:lnTo>
                    <a:pt x="594" y="479"/>
                  </a:lnTo>
                  <a:lnTo>
                    <a:pt x="541" y="526"/>
                  </a:lnTo>
                  <a:lnTo>
                    <a:pt x="493" y="578"/>
                  </a:lnTo>
                  <a:lnTo>
                    <a:pt x="446" y="634"/>
                  </a:lnTo>
                  <a:lnTo>
                    <a:pt x="407" y="692"/>
                  </a:lnTo>
                  <a:lnTo>
                    <a:pt x="371" y="753"/>
                  </a:lnTo>
                  <a:lnTo>
                    <a:pt x="341" y="816"/>
                  </a:lnTo>
                  <a:lnTo>
                    <a:pt x="316" y="880"/>
                  </a:lnTo>
                  <a:lnTo>
                    <a:pt x="296" y="945"/>
                  </a:lnTo>
                  <a:lnTo>
                    <a:pt x="280" y="1013"/>
                  </a:lnTo>
                  <a:lnTo>
                    <a:pt x="271" y="1080"/>
                  </a:lnTo>
                  <a:lnTo>
                    <a:pt x="265" y="1148"/>
                  </a:lnTo>
                  <a:lnTo>
                    <a:pt x="266" y="1216"/>
                  </a:lnTo>
                  <a:lnTo>
                    <a:pt x="271" y="1284"/>
                  </a:lnTo>
                  <a:lnTo>
                    <a:pt x="282" y="1352"/>
                  </a:lnTo>
                  <a:lnTo>
                    <a:pt x="296" y="1419"/>
                  </a:lnTo>
                  <a:lnTo>
                    <a:pt x="317" y="1484"/>
                  </a:lnTo>
                  <a:lnTo>
                    <a:pt x="342" y="1549"/>
                  </a:lnTo>
                  <a:lnTo>
                    <a:pt x="373" y="1611"/>
                  </a:lnTo>
                  <a:lnTo>
                    <a:pt x="408" y="1672"/>
                  </a:lnTo>
                  <a:lnTo>
                    <a:pt x="449" y="1730"/>
                  </a:lnTo>
                  <a:lnTo>
                    <a:pt x="495" y="1785"/>
                  </a:lnTo>
                  <a:lnTo>
                    <a:pt x="532" y="1825"/>
                  </a:lnTo>
                  <a:lnTo>
                    <a:pt x="572" y="1862"/>
                  </a:lnTo>
                  <a:lnTo>
                    <a:pt x="622" y="1912"/>
                  </a:lnTo>
                  <a:lnTo>
                    <a:pt x="669" y="1962"/>
                  </a:lnTo>
                  <a:lnTo>
                    <a:pt x="709" y="2013"/>
                  </a:lnTo>
                  <a:lnTo>
                    <a:pt x="743" y="2066"/>
                  </a:lnTo>
                  <a:lnTo>
                    <a:pt x="772" y="2120"/>
                  </a:lnTo>
                  <a:lnTo>
                    <a:pt x="796" y="2176"/>
                  </a:lnTo>
                  <a:lnTo>
                    <a:pt x="814" y="2234"/>
                  </a:lnTo>
                  <a:lnTo>
                    <a:pt x="827" y="2294"/>
                  </a:lnTo>
                  <a:lnTo>
                    <a:pt x="835" y="2355"/>
                  </a:lnTo>
                  <a:lnTo>
                    <a:pt x="837" y="2419"/>
                  </a:lnTo>
                  <a:lnTo>
                    <a:pt x="837" y="2420"/>
                  </a:lnTo>
                  <a:lnTo>
                    <a:pt x="835" y="2559"/>
                  </a:lnTo>
                  <a:lnTo>
                    <a:pt x="832" y="2585"/>
                  </a:lnTo>
                  <a:lnTo>
                    <a:pt x="824" y="2611"/>
                  </a:lnTo>
                  <a:lnTo>
                    <a:pt x="812" y="2633"/>
                  </a:lnTo>
                  <a:lnTo>
                    <a:pt x="795" y="2652"/>
                  </a:lnTo>
                  <a:lnTo>
                    <a:pt x="776" y="2668"/>
                  </a:lnTo>
                  <a:lnTo>
                    <a:pt x="753" y="2680"/>
                  </a:lnTo>
                  <a:lnTo>
                    <a:pt x="728" y="2688"/>
                  </a:lnTo>
                  <a:lnTo>
                    <a:pt x="702" y="2691"/>
                  </a:lnTo>
                  <a:lnTo>
                    <a:pt x="701" y="2691"/>
                  </a:lnTo>
                  <a:lnTo>
                    <a:pt x="673" y="2688"/>
                  </a:lnTo>
                  <a:lnTo>
                    <a:pt x="649" y="2680"/>
                  </a:lnTo>
                  <a:lnTo>
                    <a:pt x="626" y="2667"/>
                  </a:lnTo>
                  <a:lnTo>
                    <a:pt x="607" y="2650"/>
                  </a:lnTo>
                  <a:lnTo>
                    <a:pt x="591" y="2630"/>
                  </a:lnTo>
                  <a:lnTo>
                    <a:pt x="578" y="2607"/>
                  </a:lnTo>
                  <a:lnTo>
                    <a:pt x="571" y="2583"/>
                  </a:lnTo>
                  <a:lnTo>
                    <a:pt x="569" y="2556"/>
                  </a:lnTo>
                  <a:lnTo>
                    <a:pt x="570" y="2417"/>
                  </a:lnTo>
                  <a:lnTo>
                    <a:pt x="567" y="2366"/>
                  </a:lnTo>
                  <a:lnTo>
                    <a:pt x="560" y="2318"/>
                  </a:lnTo>
                  <a:lnTo>
                    <a:pt x="547" y="2273"/>
                  </a:lnTo>
                  <a:lnTo>
                    <a:pt x="528" y="2229"/>
                  </a:lnTo>
                  <a:lnTo>
                    <a:pt x="504" y="2186"/>
                  </a:lnTo>
                  <a:lnTo>
                    <a:pt x="473" y="2144"/>
                  </a:lnTo>
                  <a:lnTo>
                    <a:pt x="437" y="2102"/>
                  </a:lnTo>
                  <a:lnTo>
                    <a:pt x="394" y="2061"/>
                  </a:lnTo>
                  <a:lnTo>
                    <a:pt x="343" y="2013"/>
                  </a:lnTo>
                  <a:lnTo>
                    <a:pt x="295" y="1962"/>
                  </a:lnTo>
                  <a:lnTo>
                    <a:pt x="245" y="1902"/>
                  </a:lnTo>
                  <a:lnTo>
                    <a:pt x="199" y="1839"/>
                  </a:lnTo>
                  <a:lnTo>
                    <a:pt x="158" y="1774"/>
                  </a:lnTo>
                  <a:lnTo>
                    <a:pt x="122" y="1706"/>
                  </a:lnTo>
                  <a:lnTo>
                    <a:pt x="90" y="1637"/>
                  </a:lnTo>
                  <a:lnTo>
                    <a:pt x="63" y="1564"/>
                  </a:lnTo>
                  <a:lnTo>
                    <a:pt x="41" y="1490"/>
                  </a:lnTo>
                  <a:lnTo>
                    <a:pt x="23" y="1415"/>
                  </a:lnTo>
                  <a:lnTo>
                    <a:pt x="10" y="1338"/>
                  </a:lnTo>
                  <a:lnTo>
                    <a:pt x="2" y="1261"/>
                  </a:lnTo>
                  <a:lnTo>
                    <a:pt x="0" y="1182"/>
                  </a:lnTo>
                  <a:lnTo>
                    <a:pt x="2" y="1104"/>
                  </a:lnTo>
                  <a:lnTo>
                    <a:pt x="10" y="1026"/>
                  </a:lnTo>
                  <a:lnTo>
                    <a:pt x="22" y="950"/>
                  </a:lnTo>
                  <a:lnTo>
                    <a:pt x="40" y="874"/>
                  </a:lnTo>
                  <a:lnTo>
                    <a:pt x="62" y="800"/>
                  </a:lnTo>
                  <a:lnTo>
                    <a:pt x="88" y="728"/>
                  </a:lnTo>
                  <a:lnTo>
                    <a:pt x="120" y="658"/>
                  </a:lnTo>
                  <a:lnTo>
                    <a:pt x="156" y="590"/>
                  </a:lnTo>
                  <a:lnTo>
                    <a:pt x="197" y="524"/>
                  </a:lnTo>
                  <a:lnTo>
                    <a:pt x="242" y="461"/>
                  </a:lnTo>
                  <a:lnTo>
                    <a:pt x="291" y="402"/>
                  </a:lnTo>
                  <a:lnTo>
                    <a:pt x="350" y="340"/>
                  </a:lnTo>
                  <a:lnTo>
                    <a:pt x="411" y="283"/>
                  </a:lnTo>
                  <a:lnTo>
                    <a:pt x="477" y="231"/>
                  </a:lnTo>
                  <a:lnTo>
                    <a:pt x="545" y="184"/>
                  </a:lnTo>
                  <a:lnTo>
                    <a:pt x="617" y="142"/>
                  </a:lnTo>
                  <a:lnTo>
                    <a:pt x="692" y="105"/>
                  </a:lnTo>
                  <a:lnTo>
                    <a:pt x="769" y="74"/>
                  </a:lnTo>
                  <a:lnTo>
                    <a:pt x="847" y="47"/>
                  </a:lnTo>
                  <a:lnTo>
                    <a:pt x="927" y="26"/>
                  </a:lnTo>
                  <a:lnTo>
                    <a:pt x="1010" y="12"/>
                  </a:lnTo>
                  <a:lnTo>
                    <a:pt x="1093" y="3"/>
                  </a:lnTo>
                  <a:lnTo>
                    <a:pt x="1177" y="0"/>
                  </a:lnTo>
                  <a:close/>
                </a:path>
              </a:pathLst>
            </a:custGeom>
            <a:solidFill>
              <a:srgbClr val="F2F2F2">
                <a:alpha val="600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1691" y="1203"/>
              <a:ext cx="304" cy="67"/>
            </a:xfrm>
            <a:custGeom>
              <a:avLst/>
              <a:gdLst/>
              <a:ahLst/>
              <a:cxnLst/>
              <a:rect l="l" t="t" r="r" b="b"/>
              <a:pathLst>
                <a:path w="1217" h="268" extrusionOk="0">
                  <a:moveTo>
                    <a:pt x="133" y="0"/>
                  </a:moveTo>
                  <a:lnTo>
                    <a:pt x="1084" y="0"/>
                  </a:lnTo>
                  <a:lnTo>
                    <a:pt x="1110" y="4"/>
                  </a:lnTo>
                  <a:lnTo>
                    <a:pt x="1136" y="11"/>
                  </a:lnTo>
                  <a:lnTo>
                    <a:pt x="1158" y="23"/>
                  </a:lnTo>
                  <a:lnTo>
                    <a:pt x="1177" y="40"/>
                  </a:lnTo>
                  <a:lnTo>
                    <a:pt x="1194" y="60"/>
                  </a:lnTo>
                  <a:lnTo>
                    <a:pt x="1207" y="83"/>
                  </a:lnTo>
                  <a:lnTo>
                    <a:pt x="1215" y="107"/>
                  </a:lnTo>
                  <a:lnTo>
                    <a:pt x="1217" y="135"/>
                  </a:lnTo>
                  <a:lnTo>
                    <a:pt x="1215" y="161"/>
                  </a:lnTo>
                  <a:lnTo>
                    <a:pt x="1207" y="186"/>
                  </a:lnTo>
                  <a:lnTo>
                    <a:pt x="1195" y="209"/>
                  </a:lnTo>
                  <a:lnTo>
                    <a:pt x="1178" y="229"/>
                  </a:lnTo>
                  <a:lnTo>
                    <a:pt x="1159" y="245"/>
                  </a:lnTo>
                  <a:lnTo>
                    <a:pt x="1136" y="257"/>
                  </a:lnTo>
                  <a:lnTo>
                    <a:pt x="1111" y="264"/>
                  </a:lnTo>
                  <a:lnTo>
                    <a:pt x="1085" y="268"/>
                  </a:lnTo>
                  <a:lnTo>
                    <a:pt x="133" y="268"/>
                  </a:lnTo>
                  <a:lnTo>
                    <a:pt x="106" y="264"/>
                  </a:lnTo>
                  <a:lnTo>
                    <a:pt x="81" y="257"/>
                  </a:lnTo>
                  <a:lnTo>
                    <a:pt x="58" y="245"/>
                  </a:lnTo>
                  <a:lnTo>
                    <a:pt x="39" y="228"/>
                  </a:lnTo>
                  <a:lnTo>
                    <a:pt x="23" y="208"/>
                  </a:lnTo>
                  <a:lnTo>
                    <a:pt x="9" y="186"/>
                  </a:lnTo>
                  <a:lnTo>
                    <a:pt x="2" y="161"/>
                  </a:lnTo>
                  <a:lnTo>
                    <a:pt x="0" y="135"/>
                  </a:lnTo>
                  <a:lnTo>
                    <a:pt x="2" y="107"/>
                  </a:lnTo>
                  <a:lnTo>
                    <a:pt x="9" y="83"/>
                  </a:lnTo>
                  <a:lnTo>
                    <a:pt x="23" y="60"/>
                  </a:lnTo>
                  <a:lnTo>
                    <a:pt x="39" y="40"/>
                  </a:lnTo>
                  <a:lnTo>
                    <a:pt x="58" y="23"/>
                  </a:lnTo>
                  <a:lnTo>
                    <a:pt x="81" y="11"/>
                  </a:lnTo>
                  <a:lnTo>
                    <a:pt x="106" y="4"/>
                  </a:lnTo>
                  <a:lnTo>
                    <a:pt x="133" y="0"/>
                  </a:lnTo>
                  <a:close/>
                </a:path>
              </a:pathLst>
            </a:custGeom>
            <a:solidFill>
              <a:srgbClr val="F2F2F2">
                <a:alpha val="600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1746" y="1314"/>
              <a:ext cx="195" cy="67"/>
            </a:xfrm>
            <a:custGeom>
              <a:avLst/>
              <a:gdLst/>
              <a:ahLst/>
              <a:cxnLst/>
              <a:rect l="l" t="t" r="r" b="b"/>
              <a:pathLst>
                <a:path w="780" h="267" extrusionOk="0">
                  <a:moveTo>
                    <a:pt x="133" y="0"/>
                  </a:moveTo>
                  <a:lnTo>
                    <a:pt x="646" y="0"/>
                  </a:lnTo>
                  <a:lnTo>
                    <a:pt x="673" y="3"/>
                  </a:lnTo>
                  <a:lnTo>
                    <a:pt x="699" y="11"/>
                  </a:lnTo>
                  <a:lnTo>
                    <a:pt x="721" y="23"/>
                  </a:lnTo>
                  <a:lnTo>
                    <a:pt x="741" y="39"/>
                  </a:lnTo>
                  <a:lnTo>
                    <a:pt x="757" y="59"/>
                  </a:lnTo>
                  <a:lnTo>
                    <a:pt x="769" y="81"/>
                  </a:lnTo>
                  <a:lnTo>
                    <a:pt x="777" y="106"/>
                  </a:lnTo>
                  <a:lnTo>
                    <a:pt x="780" y="133"/>
                  </a:lnTo>
                  <a:lnTo>
                    <a:pt x="777" y="160"/>
                  </a:lnTo>
                  <a:lnTo>
                    <a:pt x="769" y="185"/>
                  </a:lnTo>
                  <a:lnTo>
                    <a:pt x="757" y="208"/>
                  </a:lnTo>
                  <a:lnTo>
                    <a:pt x="741" y="227"/>
                  </a:lnTo>
                  <a:lnTo>
                    <a:pt x="721" y="244"/>
                  </a:lnTo>
                  <a:lnTo>
                    <a:pt x="699" y="256"/>
                  </a:lnTo>
                  <a:lnTo>
                    <a:pt x="673" y="264"/>
                  </a:lnTo>
                  <a:lnTo>
                    <a:pt x="646" y="267"/>
                  </a:lnTo>
                  <a:lnTo>
                    <a:pt x="133" y="267"/>
                  </a:lnTo>
                  <a:lnTo>
                    <a:pt x="106" y="264"/>
                  </a:lnTo>
                  <a:lnTo>
                    <a:pt x="82" y="256"/>
                  </a:lnTo>
                  <a:lnTo>
                    <a:pt x="59" y="244"/>
                  </a:lnTo>
                  <a:lnTo>
                    <a:pt x="39" y="227"/>
                  </a:lnTo>
                  <a:lnTo>
                    <a:pt x="22" y="208"/>
                  </a:lnTo>
                  <a:lnTo>
                    <a:pt x="10" y="185"/>
                  </a:lnTo>
                  <a:lnTo>
                    <a:pt x="3" y="160"/>
                  </a:lnTo>
                  <a:lnTo>
                    <a:pt x="0" y="133"/>
                  </a:lnTo>
                  <a:lnTo>
                    <a:pt x="3" y="106"/>
                  </a:lnTo>
                  <a:lnTo>
                    <a:pt x="10" y="81"/>
                  </a:lnTo>
                  <a:lnTo>
                    <a:pt x="22" y="59"/>
                  </a:lnTo>
                  <a:lnTo>
                    <a:pt x="39" y="39"/>
                  </a:lnTo>
                  <a:lnTo>
                    <a:pt x="59" y="23"/>
                  </a:lnTo>
                  <a:lnTo>
                    <a:pt x="82" y="11"/>
                  </a:lnTo>
                  <a:lnTo>
                    <a:pt x="106" y="3"/>
                  </a:lnTo>
                  <a:lnTo>
                    <a:pt x="133" y="0"/>
                  </a:lnTo>
                  <a:close/>
                </a:path>
              </a:pathLst>
            </a:custGeom>
            <a:solidFill>
              <a:srgbClr val="F2F2F2">
                <a:alpha val="600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1718" y="764"/>
              <a:ext cx="159" cy="383"/>
            </a:xfrm>
            <a:custGeom>
              <a:avLst/>
              <a:gdLst/>
              <a:ahLst/>
              <a:cxnLst/>
              <a:rect l="l" t="t" r="r" b="b"/>
              <a:pathLst>
                <a:path w="636" h="1533" extrusionOk="0">
                  <a:moveTo>
                    <a:pt x="134" y="0"/>
                  </a:moveTo>
                  <a:lnTo>
                    <a:pt x="160" y="2"/>
                  </a:lnTo>
                  <a:lnTo>
                    <a:pt x="184" y="9"/>
                  </a:lnTo>
                  <a:lnTo>
                    <a:pt x="207" y="22"/>
                  </a:lnTo>
                  <a:lnTo>
                    <a:pt x="228" y="38"/>
                  </a:lnTo>
                  <a:lnTo>
                    <a:pt x="596" y="407"/>
                  </a:lnTo>
                  <a:lnTo>
                    <a:pt x="608" y="421"/>
                  </a:lnTo>
                  <a:lnTo>
                    <a:pt x="619" y="439"/>
                  </a:lnTo>
                  <a:lnTo>
                    <a:pt x="628" y="460"/>
                  </a:lnTo>
                  <a:lnTo>
                    <a:pt x="634" y="484"/>
                  </a:lnTo>
                  <a:lnTo>
                    <a:pt x="636" y="512"/>
                  </a:lnTo>
                  <a:lnTo>
                    <a:pt x="636" y="1399"/>
                  </a:lnTo>
                  <a:lnTo>
                    <a:pt x="633" y="1426"/>
                  </a:lnTo>
                  <a:lnTo>
                    <a:pt x="625" y="1452"/>
                  </a:lnTo>
                  <a:lnTo>
                    <a:pt x="613" y="1474"/>
                  </a:lnTo>
                  <a:lnTo>
                    <a:pt x="596" y="1493"/>
                  </a:lnTo>
                  <a:lnTo>
                    <a:pt x="576" y="1510"/>
                  </a:lnTo>
                  <a:lnTo>
                    <a:pt x="554" y="1522"/>
                  </a:lnTo>
                  <a:lnTo>
                    <a:pt x="529" y="1530"/>
                  </a:lnTo>
                  <a:lnTo>
                    <a:pt x="502" y="1533"/>
                  </a:lnTo>
                  <a:lnTo>
                    <a:pt x="475" y="1530"/>
                  </a:lnTo>
                  <a:lnTo>
                    <a:pt x="450" y="1522"/>
                  </a:lnTo>
                  <a:lnTo>
                    <a:pt x="428" y="1510"/>
                  </a:lnTo>
                  <a:lnTo>
                    <a:pt x="408" y="1493"/>
                  </a:lnTo>
                  <a:lnTo>
                    <a:pt x="392" y="1474"/>
                  </a:lnTo>
                  <a:lnTo>
                    <a:pt x="380" y="1452"/>
                  </a:lnTo>
                  <a:lnTo>
                    <a:pt x="372" y="1426"/>
                  </a:lnTo>
                  <a:lnTo>
                    <a:pt x="369" y="1399"/>
                  </a:lnTo>
                  <a:lnTo>
                    <a:pt x="369" y="557"/>
                  </a:lnTo>
                  <a:lnTo>
                    <a:pt x="40" y="228"/>
                  </a:lnTo>
                  <a:lnTo>
                    <a:pt x="22" y="207"/>
                  </a:lnTo>
                  <a:lnTo>
                    <a:pt x="10" y="183"/>
                  </a:lnTo>
                  <a:lnTo>
                    <a:pt x="2" y="158"/>
                  </a:lnTo>
                  <a:lnTo>
                    <a:pt x="0" y="133"/>
                  </a:lnTo>
                  <a:lnTo>
                    <a:pt x="2" y="107"/>
                  </a:lnTo>
                  <a:lnTo>
                    <a:pt x="10" y="82"/>
                  </a:lnTo>
                  <a:lnTo>
                    <a:pt x="22" y="59"/>
                  </a:lnTo>
                  <a:lnTo>
                    <a:pt x="40" y="38"/>
                  </a:lnTo>
                  <a:lnTo>
                    <a:pt x="61" y="22"/>
                  </a:lnTo>
                  <a:lnTo>
                    <a:pt x="84" y="9"/>
                  </a:lnTo>
                  <a:lnTo>
                    <a:pt x="108" y="2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rgbClr val="F2F2F2">
                <a:alpha val="600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1884" y="764"/>
              <a:ext cx="85" cy="85"/>
            </a:xfrm>
            <a:custGeom>
              <a:avLst/>
              <a:gdLst/>
              <a:ahLst/>
              <a:cxnLst/>
              <a:rect l="l" t="t" r="r" b="b"/>
              <a:pathLst>
                <a:path w="337" h="338" extrusionOk="0">
                  <a:moveTo>
                    <a:pt x="204" y="0"/>
                  </a:moveTo>
                  <a:lnTo>
                    <a:pt x="230" y="2"/>
                  </a:lnTo>
                  <a:lnTo>
                    <a:pt x="254" y="10"/>
                  </a:lnTo>
                  <a:lnTo>
                    <a:pt x="277" y="22"/>
                  </a:lnTo>
                  <a:lnTo>
                    <a:pt x="298" y="38"/>
                  </a:lnTo>
                  <a:lnTo>
                    <a:pt x="315" y="59"/>
                  </a:lnTo>
                  <a:lnTo>
                    <a:pt x="327" y="83"/>
                  </a:lnTo>
                  <a:lnTo>
                    <a:pt x="335" y="108"/>
                  </a:lnTo>
                  <a:lnTo>
                    <a:pt x="337" y="133"/>
                  </a:lnTo>
                  <a:lnTo>
                    <a:pt x="335" y="159"/>
                  </a:lnTo>
                  <a:lnTo>
                    <a:pt x="327" y="184"/>
                  </a:lnTo>
                  <a:lnTo>
                    <a:pt x="315" y="207"/>
                  </a:lnTo>
                  <a:lnTo>
                    <a:pt x="298" y="228"/>
                  </a:lnTo>
                  <a:lnTo>
                    <a:pt x="227" y="298"/>
                  </a:lnTo>
                  <a:lnTo>
                    <a:pt x="206" y="316"/>
                  </a:lnTo>
                  <a:lnTo>
                    <a:pt x="183" y="328"/>
                  </a:lnTo>
                  <a:lnTo>
                    <a:pt x="158" y="335"/>
                  </a:lnTo>
                  <a:lnTo>
                    <a:pt x="133" y="338"/>
                  </a:lnTo>
                  <a:lnTo>
                    <a:pt x="107" y="334"/>
                  </a:lnTo>
                  <a:lnTo>
                    <a:pt x="83" y="328"/>
                  </a:lnTo>
                  <a:lnTo>
                    <a:pt x="60" y="316"/>
                  </a:lnTo>
                  <a:lnTo>
                    <a:pt x="39" y="298"/>
                  </a:lnTo>
                  <a:lnTo>
                    <a:pt x="22" y="277"/>
                  </a:lnTo>
                  <a:lnTo>
                    <a:pt x="10" y="254"/>
                  </a:lnTo>
                  <a:lnTo>
                    <a:pt x="3" y="229"/>
                  </a:lnTo>
                  <a:lnTo>
                    <a:pt x="0" y="203"/>
                  </a:lnTo>
                  <a:lnTo>
                    <a:pt x="3" y="178"/>
                  </a:lnTo>
                  <a:lnTo>
                    <a:pt x="10" y="153"/>
                  </a:lnTo>
                  <a:lnTo>
                    <a:pt x="22" y="130"/>
                  </a:lnTo>
                  <a:lnTo>
                    <a:pt x="39" y="109"/>
                  </a:lnTo>
                  <a:lnTo>
                    <a:pt x="110" y="38"/>
                  </a:lnTo>
                  <a:lnTo>
                    <a:pt x="131" y="22"/>
                  </a:lnTo>
                  <a:lnTo>
                    <a:pt x="154" y="10"/>
                  </a:lnTo>
                  <a:lnTo>
                    <a:pt x="179" y="2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rgbClr val="F2F2F2">
                <a:alpha val="600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" name="Google Shape;62;p13"/>
          <p:cNvSpPr/>
          <p:nvPr/>
        </p:nvSpPr>
        <p:spPr>
          <a:xfrm>
            <a:off x="7328101" y="1646338"/>
            <a:ext cx="649500" cy="6495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3"/>
          <p:cNvSpPr/>
          <p:nvPr/>
        </p:nvSpPr>
        <p:spPr>
          <a:xfrm rot="2700000">
            <a:off x="5131719" y="1237653"/>
            <a:ext cx="2702986" cy="2702986"/>
          </a:xfrm>
          <a:prstGeom prst="roundRect">
            <a:avLst>
              <a:gd name="adj" fmla="val 5268"/>
            </a:avLst>
          </a:prstGeom>
          <a:solidFill>
            <a:srgbClr val="FFFFFF"/>
          </a:solidFill>
          <a:ln>
            <a:noFill/>
          </a:ln>
          <a:effectLst>
            <a:outerShdw blurRad="367307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4" name="Google Shape;64;p13"/>
          <p:cNvGrpSpPr/>
          <p:nvPr/>
        </p:nvGrpSpPr>
        <p:grpSpPr>
          <a:xfrm>
            <a:off x="7543214" y="677846"/>
            <a:ext cx="469705" cy="722606"/>
            <a:chOff x="1549" y="475"/>
            <a:chExt cx="589" cy="906"/>
          </a:xfrm>
        </p:grpSpPr>
        <p:sp>
          <p:nvSpPr>
            <p:cNvPr id="65" name="Google Shape;65;p13"/>
            <p:cNvSpPr/>
            <p:nvPr/>
          </p:nvSpPr>
          <p:spPr>
            <a:xfrm>
              <a:off x="1549" y="475"/>
              <a:ext cx="589" cy="673"/>
            </a:xfrm>
            <a:custGeom>
              <a:avLst/>
              <a:gdLst/>
              <a:ahLst/>
              <a:cxnLst/>
              <a:rect l="l" t="t" r="r" b="b"/>
              <a:pathLst>
                <a:path w="2355" h="2692" extrusionOk="0">
                  <a:moveTo>
                    <a:pt x="1177" y="0"/>
                  </a:moveTo>
                  <a:lnTo>
                    <a:pt x="1261" y="3"/>
                  </a:lnTo>
                  <a:lnTo>
                    <a:pt x="1345" y="12"/>
                  </a:lnTo>
                  <a:lnTo>
                    <a:pt x="1426" y="26"/>
                  </a:lnTo>
                  <a:lnTo>
                    <a:pt x="1508" y="47"/>
                  </a:lnTo>
                  <a:lnTo>
                    <a:pt x="1586" y="74"/>
                  </a:lnTo>
                  <a:lnTo>
                    <a:pt x="1663" y="105"/>
                  </a:lnTo>
                  <a:lnTo>
                    <a:pt x="1738" y="142"/>
                  </a:lnTo>
                  <a:lnTo>
                    <a:pt x="1809" y="184"/>
                  </a:lnTo>
                  <a:lnTo>
                    <a:pt x="1877" y="231"/>
                  </a:lnTo>
                  <a:lnTo>
                    <a:pt x="1943" y="283"/>
                  </a:lnTo>
                  <a:lnTo>
                    <a:pt x="2005" y="340"/>
                  </a:lnTo>
                  <a:lnTo>
                    <a:pt x="2063" y="401"/>
                  </a:lnTo>
                  <a:lnTo>
                    <a:pt x="2113" y="461"/>
                  </a:lnTo>
                  <a:lnTo>
                    <a:pt x="2158" y="524"/>
                  </a:lnTo>
                  <a:lnTo>
                    <a:pt x="2197" y="589"/>
                  </a:lnTo>
                  <a:lnTo>
                    <a:pt x="2234" y="657"/>
                  </a:lnTo>
                  <a:lnTo>
                    <a:pt x="2265" y="726"/>
                  </a:lnTo>
                  <a:lnTo>
                    <a:pt x="2292" y="799"/>
                  </a:lnTo>
                  <a:lnTo>
                    <a:pt x="2315" y="873"/>
                  </a:lnTo>
                  <a:lnTo>
                    <a:pt x="2333" y="948"/>
                  </a:lnTo>
                  <a:lnTo>
                    <a:pt x="2345" y="1025"/>
                  </a:lnTo>
                  <a:lnTo>
                    <a:pt x="2352" y="1102"/>
                  </a:lnTo>
                  <a:lnTo>
                    <a:pt x="2355" y="1180"/>
                  </a:lnTo>
                  <a:lnTo>
                    <a:pt x="2352" y="1258"/>
                  </a:lnTo>
                  <a:lnTo>
                    <a:pt x="2345" y="1336"/>
                  </a:lnTo>
                  <a:lnTo>
                    <a:pt x="2333" y="1413"/>
                  </a:lnTo>
                  <a:lnTo>
                    <a:pt x="2315" y="1488"/>
                  </a:lnTo>
                  <a:lnTo>
                    <a:pt x="2292" y="1562"/>
                  </a:lnTo>
                  <a:lnTo>
                    <a:pt x="2265" y="1633"/>
                  </a:lnTo>
                  <a:lnTo>
                    <a:pt x="2234" y="1704"/>
                  </a:lnTo>
                  <a:lnTo>
                    <a:pt x="2197" y="1771"/>
                  </a:lnTo>
                  <a:lnTo>
                    <a:pt x="2158" y="1837"/>
                  </a:lnTo>
                  <a:lnTo>
                    <a:pt x="2113" y="1900"/>
                  </a:lnTo>
                  <a:lnTo>
                    <a:pt x="2063" y="1959"/>
                  </a:lnTo>
                  <a:lnTo>
                    <a:pt x="2014" y="2011"/>
                  </a:lnTo>
                  <a:lnTo>
                    <a:pt x="1962" y="2060"/>
                  </a:lnTo>
                  <a:lnTo>
                    <a:pt x="1919" y="2101"/>
                  </a:lnTo>
                  <a:lnTo>
                    <a:pt x="1884" y="2142"/>
                  </a:lnTo>
                  <a:lnTo>
                    <a:pt x="1853" y="2184"/>
                  </a:lnTo>
                  <a:lnTo>
                    <a:pt x="1830" y="2225"/>
                  </a:lnTo>
                  <a:lnTo>
                    <a:pt x="1811" y="2268"/>
                  </a:lnTo>
                  <a:lnTo>
                    <a:pt x="1798" y="2313"/>
                  </a:lnTo>
                  <a:lnTo>
                    <a:pt x="1790" y="2362"/>
                  </a:lnTo>
                  <a:lnTo>
                    <a:pt x="1788" y="2411"/>
                  </a:lnTo>
                  <a:lnTo>
                    <a:pt x="1788" y="2413"/>
                  </a:lnTo>
                  <a:lnTo>
                    <a:pt x="1788" y="2414"/>
                  </a:lnTo>
                  <a:lnTo>
                    <a:pt x="1788" y="2415"/>
                  </a:lnTo>
                  <a:lnTo>
                    <a:pt x="1787" y="2560"/>
                  </a:lnTo>
                  <a:lnTo>
                    <a:pt x="1784" y="2586"/>
                  </a:lnTo>
                  <a:lnTo>
                    <a:pt x="1776" y="2612"/>
                  </a:lnTo>
                  <a:lnTo>
                    <a:pt x="1764" y="2634"/>
                  </a:lnTo>
                  <a:lnTo>
                    <a:pt x="1747" y="2654"/>
                  </a:lnTo>
                  <a:lnTo>
                    <a:pt x="1728" y="2670"/>
                  </a:lnTo>
                  <a:lnTo>
                    <a:pt x="1705" y="2682"/>
                  </a:lnTo>
                  <a:lnTo>
                    <a:pt x="1680" y="2690"/>
                  </a:lnTo>
                  <a:lnTo>
                    <a:pt x="1654" y="2692"/>
                  </a:lnTo>
                  <a:lnTo>
                    <a:pt x="1652" y="2692"/>
                  </a:lnTo>
                  <a:lnTo>
                    <a:pt x="1625" y="2689"/>
                  </a:lnTo>
                  <a:lnTo>
                    <a:pt x="1600" y="2681"/>
                  </a:lnTo>
                  <a:lnTo>
                    <a:pt x="1578" y="2669"/>
                  </a:lnTo>
                  <a:lnTo>
                    <a:pt x="1558" y="2652"/>
                  </a:lnTo>
                  <a:lnTo>
                    <a:pt x="1542" y="2632"/>
                  </a:lnTo>
                  <a:lnTo>
                    <a:pt x="1530" y="2610"/>
                  </a:lnTo>
                  <a:lnTo>
                    <a:pt x="1523" y="2584"/>
                  </a:lnTo>
                  <a:lnTo>
                    <a:pt x="1520" y="2557"/>
                  </a:lnTo>
                  <a:lnTo>
                    <a:pt x="1522" y="2411"/>
                  </a:lnTo>
                  <a:lnTo>
                    <a:pt x="1524" y="2349"/>
                  </a:lnTo>
                  <a:lnTo>
                    <a:pt x="1532" y="2287"/>
                  </a:lnTo>
                  <a:lnTo>
                    <a:pt x="1545" y="2229"/>
                  </a:lnTo>
                  <a:lnTo>
                    <a:pt x="1563" y="2171"/>
                  </a:lnTo>
                  <a:lnTo>
                    <a:pt x="1587" y="2116"/>
                  </a:lnTo>
                  <a:lnTo>
                    <a:pt x="1615" y="2063"/>
                  </a:lnTo>
                  <a:lnTo>
                    <a:pt x="1650" y="2011"/>
                  </a:lnTo>
                  <a:lnTo>
                    <a:pt x="1689" y="1960"/>
                  </a:lnTo>
                  <a:lnTo>
                    <a:pt x="1734" y="1911"/>
                  </a:lnTo>
                  <a:lnTo>
                    <a:pt x="1785" y="1862"/>
                  </a:lnTo>
                  <a:lnTo>
                    <a:pt x="1824" y="1824"/>
                  </a:lnTo>
                  <a:lnTo>
                    <a:pt x="1863" y="1783"/>
                  </a:lnTo>
                  <a:lnTo>
                    <a:pt x="1908" y="1728"/>
                  </a:lnTo>
                  <a:lnTo>
                    <a:pt x="1949" y="1670"/>
                  </a:lnTo>
                  <a:lnTo>
                    <a:pt x="1984" y="1609"/>
                  </a:lnTo>
                  <a:lnTo>
                    <a:pt x="2015" y="1546"/>
                  </a:lnTo>
                  <a:lnTo>
                    <a:pt x="2039" y="1483"/>
                  </a:lnTo>
                  <a:lnTo>
                    <a:pt x="2060" y="1416"/>
                  </a:lnTo>
                  <a:lnTo>
                    <a:pt x="2075" y="1350"/>
                  </a:lnTo>
                  <a:lnTo>
                    <a:pt x="2085" y="1283"/>
                  </a:lnTo>
                  <a:lnTo>
                    <a:pt x="2089" y="1215"/>
                  </a:lnTo>
                  <a:lnTo>
                    <a:pt x="2089" y="1147"/>
                  </a:lnTo>
                  <a:lnTo>
                    <a:pt x="2085" y="1080"/>
                  </a:lnTo>
                  <a:lnTo>
                    <a:pt x="2075" y="1011"/>
                  </a:lnTo>
                  <a:lnTo>
                    <a:pt x="2060" y="945"/>
                  </a:lnTo>
                  <a:lnTo>
                    <a:pt x="2040" y="879"/>
                  </a:lnTo>
                  <a:lnTo>
                    <a:pt x="2015" y="816"/>
                  </a:lnTo>
                  <a:lnTo>
                    <a:pt x="1985" y="753"/>
                  </a:lnTo>
                  <a:lnTo>
                    <a:pt x="1950" y="692"/>
                  </a:lnTo>
                  <a:lnTo>
                    <a:pt x="1909" y="634"/>
                  </a:lnTo>
                  <a:lnTo>
                    <a:pt x="1864" y="578"/>
                  </a:lnTo>
                  <a:lnTo>
                    <a:pt x="1815" y="526"/>
                  </a:lnTo>
                  <a:lnTo>
                    <a:pt x="1762" y="479"/>
                  </a:lnTo>
                  <a:lnTo>
                    <a:pt x="1706" y="436"/>
                  </a:lnTo>
                  <a:lnTo>
                    <a:pt x="1647" y="397"/>
                  </a:lnTo>
                  <a:lnTo>
                    <a:pt x="1586" y="363"/>
                  </a:lnTo>
                  <a:lnTo>
                    <a:pt x="1522" y="335"/>
                  </a:lnTo>
                  <a:lnTo>
                    <a:pt x="1456" y="310"/>
                  </a:lnTo>
                  <a:lnTo>
                    <a:pt x="1389" y="292"/>
                  </a:lnTo>
                  <a:lnTo>
                    <a:pt x="1320" y="278"/>
                  </a:lnTo>
                  <a:lnTo>
                    <a:pt x="1249" y="270"/>
                  </a:lnTo>
                  <a:lnTo>
                    <a:pt x="1178" y="266"/>
                  </a:lnTo>
                  <a:lnTo>
                    <a:pt x="1107" y="270"/>
                  </a:lnTo>
                  <a:lnTo>
                    <a:pt x="1037" y="278"/>
                  </a:lnTo>
                  <a:lnTo>
                    <a:pt x="968" y="292"/>
                  </a:lnTo>
                  <a:lnTo>
                    <a:pt x="901" y="310"/>
                  </a:lnTo>
                  <a:lnTo>
                    <a:pt x="835" y="335"/>
                  </a:lnTo>
                  <a:lnTo>
                    <a:pt x="771" y="363"/>
                  </a:lnTo>
                  <a:lnTo>
                    <a:pt x="709" y="397"/>
                  </a:lnTo>
                  <a:lnTo>
                    <a:pt x="650" y="436"/>
                  </a:lnTo>
                  <a:lnTo>
                    <a:pt x="594" y="479"/>
                  </a:lnTo>
                  <a:lnTo>
                    <a:pt x="541" y="526"/>
                  </a:lnTo>
                  <a:lnTo>
                    <a:pt x="493" y="578"/>
                  </a:lnTo>
                  <a:lnTo>
                    <a:pt x="446" y="634"/>
                  </a:lnTo>
                  <a:lnTo>
                    <a:pt x="407" y="692"/>
                  </a:lnTo>
                  <a:lnTo>
                    <a:pt x="371" y="753"/>
                  </a:lnTo>
                  <a:lnTo>
                    <a:pt x="341" y="816"/>
                  </a:lnTo>
                  <a:lnTo>
                    <a:pt x="316" y="880"/>
                  </a:lnTo>
                  <a:lnTo>
                    <a:pt x="296" y="945"/>
                  </a:lnTo>
                  <a:lnTo>
                    <a:pt x="280" y="1013"/>
                  </a:lnTo>
                  <a:lnTo>
                    <a:pt x="271" y="1080"/>
                  </a:lnTo>
                  <a:lnTo>
                    <a:pt x="265" y="1148"/>
                  </a:lnTo>
                  <a:lnTo>
                    <a:pt x="266" y="1216"/>
                  </a:lnTo>
                  <a:lnTo>
                    <a:pt x="271" y="1284"/>
                  </a:lnTo>
                  <a:lnTo>
                    <a:pt x="282" y="1352"/>
                  </a:lnTo>
                  <a:lnTo>
                    <a:pt x="296" y="1419"/>
                  </a:lnTo>
                  <a:lnTo>
                    <a:pt x="317" y="1484"/>
                  </a:lnTo>
                  <a:lnTo>
                    <a:pt x="342" y="1549"/>
                  </a:lnTo>
                  <a:lnTo>
                    <a:pt x="373" y="1611"/>
                  </a:lnTo>
                  <a:lnTo>
                    <a:pt x="408" y="1672"/>
                  </a:lnTo>
                  <a:lnTo>
                    <a:pt x="449" y="1730"/>
                  </a:lnTo>
                  <a:lnTo>
                    <a:pt x="495" y="1785"/>
                  </a:lnTo>
                  <a:lnTo>
                    <a:pt x="532" y="1825"/>
                  </a:lnTo>
                  <a:lnTo>
                    <a:pt x="572" y="1862"/>
                  </a:lnTo>
                  <a:lnTo>
                    <a:pt x="622" y="1912"/>
                  </a:lnTo>
                  <a:lnTo>
                    <a:pt x="669" y="1962"/>
                  </a:lnTo>
                  <a:lnTo>
                    <a:pt x="709" y="2013"/>
                  </a:lnTo>
                  <a:lnTo>
                    <a:pt x="743" y="2066"/>
                  </a:lnTo>
                  <a:lnTo>
                    <a:pt x="772" y="2120"/>
                  </a:lnTo>
                  <a:lnTo>
                    <a:pt x="796" y="2176"/>
                  </a:lnTo>
                  <a:lnTo>
                    <a:pt x="814" y="2234"/>
                  </a:lnTo>
                  <a:lnTo>
                    <a:pt x="827" y="2294"/>
                  </a:lnTo>
                  <a:lnTo>
                    <a:pt x="835" y="2355"/>
                  </a:lnTo>
                  <a:lnTo>
                    <a:pt x="837" y="2419"/>
                  </a:lnTo>
                  <a:lnTo>
                    <a:pt x="837" y="2420"/>
                  </a:lnTo>
                  <a:lnTo>
                    <a:pt x="835" y="2559"/>
                  </a:lnTo>
                  <a:lnTo>
                    <a:pt x="832" y="2585"/>
                  </a:lnTo>
                  <a:lnTo>
                    <a:pt x="824" y="2611"/>
                  </a:lnTo>
                  <a:lnTo>
                    <a:pt x="812" y="2633"/>
                  </a:lnTo>
                  <a:lnTo>
                    <a:pt x="795" y="2652"/>
                  </a:lnTo>
                  <a:lnTo>
                    <a:pt x="776" y="2668"/>
                  </a:lnTo>
                  <a:lnTo>
                    <a:pt x="753" y="2680"/>
                  </a:lnTo>
                  <a:lnTo>
                    <a:pt x="728" y="2688"/>
                  </a:lnTo>
                  <a:lnTo>
                    <a:pt x="702" y="2691"/>
                  </a:lnTo>
                  <a:lnTo>
                    <a:pt x="701" y="2691"/>
                  </a:lnTo>
                  <a:lnTo>
                    <a:pt x="673" y="2688"/>
                  </a:lnTo>
                  <a:lnTo>
                    <a:pt x="649" y="2680"/>
                  </a:lnTo>
                  <a:lnTo>
                    <a:pt x="626" y="2667"/>
                  </a:lnTo>
                  <a:lnTo>
                    <a:pt x="607" y="2650"/>
                  </a:lnTo>
                  <a:lnTo>
                    <a:pt x="591" y="2630"/>
                  </a:lnTo>
                  <a:lnTo>
                    <a:pt x="578" y="2607"/>
                  </a:lnTo>
                  <a:lnTo>
                    <a:pt x="571" y="2583"/>
                  </a:lnTo>
                  <a:lnTo>
                    <a:pt x="569" y="2556"/>
                  </a:lnTo>
                  <a:lnTo>
                    <a:pt x="570" y="2417"/>
                  </a:lnTo>
                  <a:lnTo>
                    <a:pt x="567" y="2366"/>
                  </a:lnTo>
                  <a:lnTo>
                    <a:pt x="560" y="2318"/>
                  </a:lnTo>
                  <a:lnTo>
                    <a:pt x="547" y="2273"/>
                  </a:lnTo>
                  <a:lnTo>
                    <a:pt x="528" y="2229"/>
                  </a:lnTo>
                  <a:lnTo>
                    <a:pt x="504" y="2186"/>
                  </a:lnTo>
                  <a:lnTo>
                    <a:pt x="473" y="2144"/>
                  </a:lnTo>
                  <a:lnTo>
                    <a:pt x="437" y="2102"/>
                  </a:lnTo>
                  <a:lnTo>
                    <a:pt x="394" y="2061"/>
                  </a:lnTo>
                  <a:lnTo>
                    <a:pt x="343" y="2013"/>
                  </a:lnTo>
                  <a:lnTo>
                    <a:pt x="295" y="1962"/>
                  </a:lnTo>
                  <a:lnTo>
                    <a:pt x="245" y="1902"/>
                  </a:lnTo>
                  <a:lnTo>
                    <a:pt x="199" y="1839"/>
                  </a:lnTo>
                  <a:lnTo>
                    <a:pt x="158" y="1774"/>
                  </a:lnTo>
                  <a:lnTo>
                    <a:pt x="122" y="1706"/>
                  </a:lnTo>
                  <a:lnTo>
                    <a:pt x="90" y="1637"/>
                  </a:lnTo>
                  <a:lnTo>
                    <a:pt x="63" y="1564"/>
                  </a:lnTo>
                  <a:lnTo>
                    <a:pt x="41" y="1490"/>
                  </a:lnTo>
                  <a:lnTo>
                    <a:pt x="23" y="1415"/>
                  </a:lnTo>
                  <a:lnTo>
                    <a:pt x="10" y="1338"/>
                  </a:lnTo>
                  <a:lnTo>
                    <a:pt x="2" y="1261"/>
                  </a:lnTo>
                  <a:lnTo>
                    <a:pt x="0" y="1182"/>
                  </a:lnTo>
                  <a:lnTo>
                    <a:pt x="2" y="1104"/>
                  </a:lnTo>
                  <a:lnTo>
                    <a:pt x="10" y="1026"/>
                  </a:lnTo>
                  <a:lnTo>
                    <a:pt x="22" y="950"/>
                  </a:lnTo>
                  <a:lnTo>
                    <a:pt x="40" y="874"/>
                  </a:lnTo>
                  <a:lnTo>
                    <a:pt x="62" y="800"/>
                  </a:lnTo>
                  <a:lnTo>
                    <a:pt x="88" y="728"/>
                  </a:lnTo>
                  <a:lnTo>
                    <a:pt x="120" y="658"/>
                  </a:lnTo>
                  <a:lnTo>
                    <a:pt x="156" y="590"/>
                  </a:lnTo>
                  <a:lnTo>
                    <a:pt x="197" y="524"/>
                  </a:lnTo>
                  <a:lnTo>
                    <a:pt x="242" y="461"/>
                  </a:lnTo>
                  <a:lnTo>
                    <a:pt x="291" y="402"/>
                  </a:lnTo>
                  <a:lnTo>
                    <a:pt x="350" y="340"/>
                  </a:lnTo>
                  <a:lnTo>
                    <a:pt x="411" y="283"/>
                  </a:lnTo>
                  <a:lnTo>
                    <a:pt x="477" y="231"/>
                  </a:lnTo>
                  <a:lnTo>
                    <a:pt x="545" y="184"/>
                  </a:lnTo>
                  <a:lnTo>
                    <a:pt x="617" y="142"/>
                  </a:lnTo>
                  <a:lnTo>
                    <a:pt x="692" y="105"/>
                  </a:lnTo>
                  <a:lnTo>
                    <a:pt x="769" y="74"/>
                  </a:lnTo>
                  <a:lnTo>
                    <a:pt x="847" y="47"/>
                  </a:lnTo>
                  <a:lnTo>
                    <a:pt x="927" y="26"/>
                  </a:lnTo>
                  <a:lnTo>
                    <a:pt x="1010" y="12"/>
                  </a:lnTo>
                  <a:lnTo>
                    <a:pt x="1093" y="3"/>
                  </a:lnTo>
                  <a:lnTo>
                    <a:pt x="1177" y="0"/>
                  </a:lnTo>
                  <a:close/>
                </a:path>
              </a:pathLst>
            </a:custGeom>
            <a:solidFill>
              <a:srgbClr val="F2F2F2">
                <a:alpha val="600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1691" y="1203"/>
              <a:ext cx="304" cy="67"/>
            </a:xfrm>
            <a:custGeom>
              <a:avLst/>
              <a:gdLst/>
              <a:ahLst/>
              <a:cxnLst/>
              <a:rect l="l" t="t" r="r" b="b"/>
              <a:pathLst>
                <a:path w="1217" h="268" extrusionOk="0">
                  <a:moveTo>
                    <a:pt x="133" y="0"/>
                  </a:moveTo>
                  <a:lnTo>
                    <a:pt x="1084" y="0"/>
                  </a:lnTo>
                  <a:lnTo>
                    <a:pt x="1110" y="4"/>
                  </a:lnTo>
                  <a:lnTo>
                    <a:pt x="1136" y="11"/>
                  </a:lnTo>
                  <a:lnTo>
                    <a:pt x="1158" y="23"/>
                  </a:lnTo>
                  <a:lnTo>
                    <a:pt x="1177" y="40"/>
                  </a:lnTo>
                  <a:lnTo>
                    <a:pt x="1194" y="60"/>
                  </a:lnTo>
                  <a:lnTo>
                    <a:pt x="1207" y="83"/>
                  </a:lnTo>
                  <a:lnTo>
                    <a:pt x="1215" y="107"/>
                  </a:lnTo>
                  <a:lnTo>
                    <a:pt x="1217" y="135"/>
                  </a:lnTo>
                  <a:lnTo>
                    <a:pt x="1215" y="161"/>
                  </a:lnTo>
                  <a:lnTo>
                    <a:pt x="1207" y="186"/>
                  </a:lnTo>
                  <a:lnTo>
                    <a:pt x="1195" y="209"/>
                  </a:lnTo>
                  <a:lnTo>
                    <a:pt x="1178" y="229"/>
                  </a:lnTo>
                  <a:lnTo>
                    <a:pt x="1159" y="245"/>
                  </a:lnTo>
                  <a:lnTo>
                    <a:pt x="1136" y="257"/>
                  </a:lnTo>
                  <a:lnTo>
                    <a:pt x="1111" y="264"/>
                  </a:lnTo>
                  <a:lnTo>
                    <a:pt x="1085" y="268"/>
                  </a:lnTo>
                  <a:lnTo>
                    <a:pt x="133" y="268"/>
                  </a:lnTo>
                  <a:lnTo>
                    <a:pt x="106" y="264"/>
                  </a:lnTo>
                  <a:lnTo>
                    <a:pt x="81" y="257"/>
                  </a:lnTo>
                  <a:lnTo>
                    <a:pt x="58" y="245"/>
                  </a:lnTo>
                  <a:lnTo>
                    <a:pt x="39" y="228"/>
                  </a:lnTo>
                  <a:lnTo>
                    <a:pt x="23" y="208"/>
                  </a:lnTo>
                  <a:lnTo>
                    <a:pt x="9" y="186"/>
                  </a:lnTo>
                  <a:lnTo>
                    <a:pt x="2" y="161"/>
                  </a:lnTo>
                  <a:lnTo>
                    <a:pt x="0" y="135"/>
                  </a:lnTo>
                  <a:lnTo>
                    <a:pt x="2" y="107"/>
                  </a:lnTo>
                  <a:lnTo>
                    <a:pt x="9" y="83"/>
                  </a:lnTo>
                  <a:lnTo>
                    <a:pt x="23" y="60"/>
                  </a:lnTo>
                  <a:lnTo>
                    <a:pt x="39" y="40"/>
                  </a:lnTo>
                  <a:lnTo>
                    <a:pt x="58" y="23"/>
                  </a:lnTo>
                  <a:lnTo>
                    <a:pt x="81" y="11"/>
                  </a:lnTo>
                  <a:lnTo>
                    <a:pt x="106" y="4"/>
                  </a:lnTo>
                  <a:lnTo>
                    <a:pt x="133" y="0"/>
                  </a:lnTo>
                  <a:close/>
                </a:path>
              </a:pathLst>
            </a:custGeom>
            <a:solidFill>
              <a:srgbClr val="F2F2F2">
                <a:alpha val="600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1746" y="1314"/>
              <a:ext cx="195" cy="67"/>
            </a:xfrm>
            <a:custGeom>
              <a:avLst/>
              <a:gdLst/>
              <a:ahLst/>
              <a:cxnLst/>
              <a:rect l="l" t="t" r="r" b="b"/>
              <a:pathLst>
                <a:path w="780" h="267" extrusionOk="0">
                  <a:moveTo>
                    <a:pt x="133" y="0"/>
                  </a:moveTo>
                  <a:lnTo>
                    <a:pt x="646" y="0"/>
                  </a:lnTo>
                  <a:lnTo>
                    <a:pt x="673" y="3"/>
                  </a:lnTo>
                  <a:lnTo>
                    <a:pt x="699" y="11"/>
                  </a:lnTo>
                  <a:lnTo>
                    <a:pt x="721" y="23"/>
                  </a:lnTo>
                  <a:lnTo>
                    <a:pt x="741" y="39"/>
                  </a:lnTo>
                  <a:lnTo>
                    <a:pt x="757" y="59"/>
                  </a:lnTo>
                  <a:lnTo>
                    <a:pt x="769" y="81"/>
                  </a:lnTo>
                  <a:lnTo>
                    <a:pt x="777" y="106"/>
                  </a:lnTo>
                  <a:lnTo>
                    <a:pt x="780" y="133"/>
                  </a:lnTo>
                  <a:lnTo>
                    <a:pt x="777" y="160"/>
                  </a:lnTo>
                  <a:lnTo>
                    <a:pt x="769" y="185"/>
                  </a:lnTo>
                  <a:lnTo>
                    <a:pt x="757" y="208"/>
                  </a:lnTo>
                  <a:lnTo>
                    <a:pt x="741" y="227"/>
                  </a:lnTo>
                  <a:lnTo>
                    <a:pt x="721" y="244"/>
                  </a:lnTo>
                  <a:lnTo>
                    <a:pt x="699" y="256"/>
                  </a:lnTo>
                  <a:lnTo>
                    <a:pt x="673" y="264"/>
                  </a:lnTo>
                  <a:lnTo>
                    <a:pt x="646" y="267"/>
                  </a:lnTo>
                  <a:lnTo>
                    <a:pt x="133" y="267"/>
                  </a:lnTo>
                  <a:lnTo>
                    <a:pt x="106" y="264"/>
                  </a:lnTo>
                  <a:lnTo>
                    <a:pt x="82" y="256"/>
                  </a:lnTo>
                  <a:lnTo>
                    <a:pt x="59" y="244"/>
                  </a:lnTo>
                  <a:lnTo>
                    <a:pt x="39" y="227"/>
                  </a:lnTo>
                  <a:lnTo>
                    <a:pt x="22" y="208"/>
                  </a:lnTo>
                  <a:lnTo>
                    <a:pt x="10" y="185"/>
                  </a:lnTo>
                  <a:lnTo>
                    <a:pt x="3" y="160"/>
                  </a:lnTo>
                  <a:lnTo>
                    <a:pt x="0" y="133"/>
                  </a:lnTo>
                  <a:lnTo>
                    <a:pt x="3" y="106"/>
                  </a:lnTo>
                  <a:lnTo>
                    <a:pt x="10" y="81"/>
                  </a:lnTo>
                  <a:lnTo>
                    <a:pt x="22" y="59"/>
                  </a:lnTo>
                  <a:lnTo>
                    <a:pt x="39" y="39"/>
                  </a:lnTo>
                  <a:lnTo>
                    <a:pt x="59" y="23"/>
                  </a:lnTo>
                  <a:lnTo>
                    <a:pt x="82" y="11"/>
                  </a:lnTo>
                  <a:lnTo>
                    <a:pt x="106" y="3"/>
                  </a:lnTo>
                  <a:lnTo>
                    <a:pt x="133" y="0"/>
                  </a:lnTo>
                  <a:close/>
                </a:path>
              </a:pathLst>
            </a:custGeom>
            <a:solidFill>
              <a:srgbClr val="F2F2F2">
                <a:alpha val="600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1718" y="764"/>
              <a:ext cx="159" cy="383"/>
            </a:xfrm>
            <a:custGeom>
              <a:avLst/>
              <a:gdLst/>
              <a:ahLst/>
              <a:cxnLst/>
              <a:rect l="l" t="t" r="r" b="b"/>
              <a:pathLst>
                <a:path w="636" h="1533" extrusionOk="0">
                  <a:moveTo>
                    <a:pt x="134" y="0"/>
                  </a:moveTo>
                  <a:lnTo>
                    <a:pt x="160" y="2"/>
                  </a:lnTo>
                  <a:lnTo>
                    <a:pt x="184" y="9"/>
                  </a:lnTo>
                  <a:lnTo>
                    <a:pt x="207" y="22"/>
                  </a:lnTo>
                  <a:lnTo>
                    <a:pt x="228" y="38"/>
                  </a:lnTo>
                  <a:lnTo>
                    <a:pt x="596" y="407"/>
                  </a:lnTo>
                  <a:lnTo>
                    <a:pt x="608" y="421"/>
                  </a:lnTo>
                  <a:lnTo>
                    <a:pt x="619" y="439"/>
                  </a:lnTo>
                  <a:lnTo>
                    <a:pt x="628" y="460"/>
                  </a:lnTo>
                  <a:lnTo>
                    <a:pt x="634" y="484"/>
                  </a:lnTo>
                  <a:lnTo>
                    <a:pt x="636" y="512"/>
                  </a:lnTo>
                  <a:lnTo>
                    <a:pt x="636" y="1399"/>
                  </a:lnTo>
                  <a:lnTo>
                    <a:pt x="633" y="1426"/>
                  </a:lnTo>
                  <a:lnTo>
                    <a:pt x="625" y="1452"/>
                  </a:lnTo>
                  <a:lnTo>
                    <a:pt x="613" y="1474"/>
                  </a:lnTo>
                  <a:lnTo>
                    <a:pt x="596" y="1493"/>
                  </a:lnTo>
                  <a:lnTo>
                    <a:pt x="576" y="1510"/>
                  </a:lnTo>
                  <a:lnTo>
                    <a:pt x="554" y="1522"/>
                  </a:lnTo>
                  <a:lnTo>
                    <a:pt x="529" y="1530"/>
                  </a:lnTo>
                  <a:lnTo>
                    <a:pt x="502" y="1533"/>
                  </a:lnTo>
                  <a:lnTo>
                    <a:pt x="475" y="1530"/>
                  </a:lnTo>
                  <a:lnTo>
                    <a:pt x="450" y="1522"/>
                  </a:lnTo>
                  <a:lnTo>
                    <a:pt x="428" y="1510"/>
                  </a:lnTo>
                  <a:lnTo>
                    <a:pt x="408" y="1493"/>
                  </a:lnTo>
                  <a:lnTo>
                    <a:pt x="392" y="1474"/>
                  </a:lnTo>
                  <a:lnTo>
                    <a:pt x="380" y="1452"/>
                  </a:lnTo>
                  <a:lnTo>
                    <a:pt x="372" y="1426"/>
                  </a:lnTo>
                  <a:lnTo>
                    <a:pt x="369" y="1399"/>
                  </a:lnTo>
                  <a:lnTo>
                    <a:pt x="369" y="557"/>
                  </a:lnTo>
                  <a:lnTo>
                    <a:pt x="40" y="228"/>
                  </a:lnTo>
                  <a:lnTo>
                    <a:pt x="22" y="207"/>
                  </a:lnTo>
                  <a:lnTo>
                    <a:pt x="10" y="183"/>
                  </a:lnTo>
                  <a:lnTo>
                    <a:pt x="2" y="158"/>
                  </a:lnTo>
                  <a:lnTo>
                    <a:pt x="0" y="133"/>
                  </a:lnTo>
                  <a:lnTo>
                    <a:pt x="2" y="107"/>
                  </a:lnTo>
                  <a:lnTo>
                    <a:pt x="10" y="82"/>
                  </a:lnTo>
                  <a:lnTo>
                    <a:pt x="22" y="59"/>
                  </a:lnTo>
                  <a:lnTo>
                    <a:pt x="40" y="38"/>
                  </a:lnTo>
                  <a:lnTo>
                    <a:pt x="61" y="22"/>
                  </a:lnTo>
                  <a:lnTo>
                    <a:pt x="84" y="9"/>
                  </a:lnTo>
                  <a:lnTo>
                    <a:pt x="108" y="2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rgbClr val="F2F2F2">
                <a:alpha val="600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1884" y="764"/>
              <a:ext cx="85" cy="85"/>
            </a:xfrm>
            <a:custGeom>
              <a:avLst/>
              <a:gdLst/>
              <a:ahLst/>
              <a:cxnLst/>
              <a:rect l="l" t="t" r="r" b="b"/>
              <a:pathLst>
                <a:path w="337" h="338" extrusionOk="0">
                  <a:moveTo>
                    <a:pt x="204" y="0"/>
                  </a:moveTo>
                  <a:lnTo>
                    <a:pt x="230" y="2"/>
                  </a:lnTo>
                  <a:lnTo>
                    <a:pt x="254" y="10"/>
                  </a:lnTo>
                  <a:lnTo>
                    <a:pt x="277" y="22"/>
                  </a:lnTo>
                  <a:lnTo>
                    <a:pt x="298" y="38"/>
                  </a:lnTo>
                  <a:lnTo>
                    <a:pt x="315" y="59"/>
                  </a:lnTo>
                  <a:lnTo>
                    <a:pt x="327" y="83"/>
                  </a:lnTo>
                  <a:lnTo>
                    <a:pt x="335" y="108"/>
                  </a:lnTo>
                  <a:lnTo>
                    <a:pt x="337" y="133"/>
                  </a:lnTo>
                  <a:lnTo>
                    <a:pt x="335" y="159"/>
                  </a:lnTo>
                  <a:lnTo>
                    <a:pt x="327" y="184"/>
                  </a:lnTo>
                  <a:lnTo>
                    <a:pt x="315" y="207"/>
                  </a:lnTo>
                  <a:lnTo>
                    <a:pt x="298" y="228"/>
                  </a:lnTo>
                  <a:lnTo>
                    <a:pt x="227" y="298"/>
                  </a:lnTo>
                  <a:lnTo>
                    <a:pt x="206" y="316"/>
                  </a:lnTo>
                  <a:lnTo>
                    <a:pt x="183" y="328"/>
                  </a:lnTo>
                  <a:lnTo>
                    <a:pt x="158" y="335"/>
                  </a:lnTo>
                  <a:lnTo>
                    <a:pt x="133" y="338"/>
                  </a:lnTo>
                  <a:lnTo>
                    <a:pt x="107" y="334"/>
                  </a:lnTo>
                  <a:lnTo>
                    <a:pt x="83" y="328"/>
                  </a:lnTo>
                  <a:lnTo>
                    <a:pt x="60" y="316"/>
                  </a:lnTo>
                  <a:lnTo>
                    <a:pt x="39" y="298"/>
                  </a:lnTo>
                  <a:lnTo>
                    <a:pt x="22" y="277"/>
                  </a:lnTo>
                  <a:lnTo>
                    <a:pt x="10" y="254"/>
                  </a:lnTo>
                  <a:lnTo>
                    <a:pt x="3" y="229"/>
                  </a:lnTo>
                  <a:lnTo>
                    <a:pt x="0" y="203"/>
                  </a:lnTo>
                  <a:lnTo>
                    <a:pt x="3" y="178"/>
                  </a:lnTo>
                  <a:lnTo>
                    <a:pt x="10" y="153"/>
                  </a:lnTo>
                  <a:lnTo>
                    <a:pt x="22" y="130"/>
                  </a:lnTo>
                  <a:lnTo>
                    <a:pt x="39" y="109"/>
                  </a:lnTo>
                  <a:lnTo>
                    <a:pt x="110" y="38"/>
                  </a:lnTo>
                  <a:lnTo>
                    <a:pt x="131" y="22"/>
                  </a:lnTo>
                  <a:lnTo>
                    <a:pt x="154" y="10"/>
                  </a:lnTo>
                  <a:lnTo>
                    <a:pt x="179" y="2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rgbClr val="F2F2F2">
                <a:alpha val="60000"/>
              </a:srgbClr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0" name="Google Shape;70;p13" title="education-cent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00890" y="906736"/>
            <a:ext cx="3364644" cy="3364644"/>
          </a:xfrm>
          <a:custGeom>
            <a:avLst/>
            <a:gdLst/>
            <a:ahLst/>
            <a:cxnLst/>
            <a:rect l="l" t="t" r="r" b="b"/>
            <a:pathLst>
              <a:path w="4486192" h="4486192" extrusionOk="0">
                <a:moveTo>
                  <a:pt x="2243096" y="0"/>
                </a:moveTo>
                <a:cubicBezTo>
                  <a:pt x="2287226" y="0"/>
                  <a:pt x="2331355" y="16835"/>
                  <a:pt x="2365025" y="50505"/>
                </a:cubicBezTo>
                <a:lnTo>
                  <a:pt x="4435687" y="2121167"/>
                </a:lnTo>
                <a:cubicBezTo>
                  <a:pt x="4503027" y="2188507"/>
                  <a:pt x="4503027" y="2297685"/>
                  <a:pt x="4435687" y="2365025"/>
                </a:cubicBezTo>
                <a:lnTo>
                  <a:pt x="2365025" y="4435687"/>
                </a:lnTo>
                <a:cubicBezTo>
                  <a:pt x="2297685" y="4503027"/>
                  <a:pt x="2188507" y="4503027"/>
                  <a:pt x="2121167" y="4435687"/>
                </a:cubicBezTo>
                <a:lnTo>
                  <a:pt x="50505" y="2365025"/>
                </a:lnTo>
                <a:cubicBezTo>
                  <a:pt x="-16835" y="2297685"/>
                  <a:pt x="-16835" y="2188507"/>
                  <a:pt x="50505" y="2121167"/>
                </a:cubicBezTo>
                <a:lnTo>
                  <a:pt x="2121167" y="50505"/>
                </a:lnTo>
                <a:cubicBezTo>
                  <a:pt x="2154837" y="16835"/>
                  <a:pt x="2198967" y="0"/>
                  <a:pt x="2243096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71" name="Google Shape;71;p13"/>
          <p:cNvSpPr/>
          <p:nvPr/>
        </p:nvSpPr>
        <p:spPr>
          <a:xfrm>
            <a:off x="3888274" y="1100626"/>
            <a:ext cx="5376900" cy="4042800"/>
          </a:xfrm>
          <a:prstGeom prst="parallelogram">
            <a:avLst>
              <a:gd name="adj" fmla="val 104167"/>
            </a:avLst>
          </a:prstGeom>
          <a:gradFill>
            <a:gsLst>
              <a:gs pos="0">
                <a:srgbClr val="980000"/>
              </a:gs>
              <a:gs pos="15000">
                <a:srgbClr val="CC0000"/>
              </a:gs>
              <a:gs pos="64000">
                <a:srgbClr val="0053A1">
                  <a:alpha val="0"/>
                </a:srgbClr>
              </a:gs>
              <a:gs pos="100000">
                <a:srgbClr val="0053A1">
                  <a:alpha val="0"/>
                </a:srgbClr>
              </a:gs>
            </a:gsLst>
            <a:lin ang="18000042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463487" y="1529413"/>
            <a:ext cx="3964800" cy="1361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025" tIns="43000" rIns="86025" bIns="43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i="0" u="none" strike="noStrike" cap="none" dirty="0">
                <a:solidFill>
                  <a:srgbClr val="193993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ECMAScript </a:t>
            </a:r>
            <a:endParaRPr lang="en" sz="2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i="0" u="none" strike="noStrike" cap="none" dirty="0">
                <a:solidFill>
                  <a:srgbClr val="C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for Beginners</a:t>
            </a:r>
            <a:endParaRPr lang="en" sz="2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" name="Google Shape;73;p13"/>
          <p:cNvSpPr txBox="1"/>
          <p:nvPr/>
        </p:nvSpPr>
        <p:spPr>
          <a:xfrm>
            <a:off x="490918" y="2988239"/>
            <a:ext cx="3300000" cy="40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025" tIns="43000" rIns="86025" bIns="43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Write Modern JavaScript with ES6+ Features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" name="Google Shape;74;p13"/>
          <p:cNvSpPr txBox="1"/>
          <p:nvPr/>
        </p:nvSpPr>
        <p:spPr>
          <a:xfrm>
            <a:off x="446349" y="4433472"/>
            <a:ext cx="2436900" cy="2694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3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30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300" b="0" i="0" u="none" strike="noStrike" cap="none">
              <a:solidFill>
                <a:srgbClr val="7F7F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6" name="Google Shape;76;p13" title="Untitled-1-07.png"/>
          <p:cNvPicPr preferRelativeResize="0"/>
          <p:nvPr/>
        </p:nvPicPr>
        <p:blipFill rotWithShape="1">
          <a:blip r:embed="rId4">
            <a:alphaModFix/>
          </a:blip>
          <a:srcRect l="5096" b="15895"/>
          <a:stretch/>
        </p:blipFill>
        <p:spPr>
          <a:xfrm>
            <a:off x="337150" y="155375"/>
            <a:ext cx="3364626" cy="83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grpSpPr/>
      <p:sp>
        <p:nvSpPr>
          <p:cNvPr id="2" name="Google Shape;105;p15">
            <a:extLst>
              <a:ext uri="{FF2B5EF4-FFF2-40B4-BE49-F238E27FC236}">
                <a16:creationId xmlns:a16="http://schemas.microsoft.com/office/drawing/2014/main" id="{37704251-34F5-613C-5E3B-94145DB0E1FA}"/>
              </a:ext>
            </a:extLst>
          </p:cNvPr>
          <p:cNvSpPr txBox="1"/>
          <p:nvPr/>
        </p:nvSpPr>
        <p:spPr>
          <a:xfrm>
            <a:off x="712771" y="301857"/>
            <a:ext cx="4111990" cy="608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025" tIns="43000" rIns="86025" bIns="43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87"/>
              <a:buFont typeface="Arial"/>
              <a:buNone/>
            </a:pPr>
            <a:r>
              <a:rPr lang="en" sz="26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Learning </a:t>
            </a:r>
            <a:r>
              <a:rPr lang="en" sz="2600" b="1" i="0" u="none" strike="noStrike" cap="none" dirty="0">
                <a:solidFill>
                  <a:schemeClr val="tx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Objectives</a:t>
            </a:r>
            <a:endParaRPr sz="1379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110;p15" title="Untitled-1-07.png">
            <a:extLst>
              <a:ext uri="{FF2B5EF4-FFF2-40B4-BE49-F238E27FC236}">
                <a16:creationId xmlns:a16="http://schemas.microsoft.com/office/drawing/2014/main" id="{C3B7E3F1-D37B-2646-9BB6-E571C4C7125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11;p15" title="powerd by.png">
            <a:extLst>
              <a:ext uri="{FF2B5EF4-FFF2-40B4-BE49-F238E27FC236}">
                <a16:creationId xmlns:a16="http://schemas.microsoft.com/office/drawing/2014/main" id="{CA76EB78-E3B8-F90F-90C7-6589A8D97E7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2;p15">
            <a:extLst>
              <a:ext uri="{FF2B5EF4-FFF2-40B4-BE49-F238E27FC236}">
                <a16:creationId xmlns:a16="http://schemas.microsoft.com/office/drawing/2014/main" id="{A1FA0073-F414-E725-1106-D978C7D87A08}"/>
              </a:ext>
            </a:extLst>
          </p:cNvPr>
          <p:cNvSpPr txBox="1"/>
          <p:nvPr/>
        </p:nvSpPr>
        <p:spPr>
          <a:xfrm>
            <a:off x="599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" name="Google Shape;114;p15">
            <a:extLst>
              <a:ext uri="{FF2B5EF4-FFF2-40B4-BE49-F238E27FC236}">
                <a16:creationId xmlns:a16="http://schemas.microsoft.com/office/drawing/2014/main" id="{45F38B8D-4514-11F2-6B68-BF1315E796AF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Topics Covered Colored Icon In Powerpoint Pptx Png And Editable Eps Format  PPT PowerPoint">
            <a:extLst>
              <a:ext uri="{FF2B5EF4-FFF2-40B4-BE49-F238E27FC236}">
                <a16:creationId xmlns:a16="http://schemas.microsoft.com/office/drawing/2014/main" id="{1508F156-F14D-23C4-AFD8-634CD3B7D2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4" t="15654" r="11334" b="-6352"/>
          <a:stretch>
            <a:fillRect/>
          </a:stretch>
        </p:blipFill>
        <p:spPr bwMode="auto">
          <a:xfrm>
            <a:off x="4426776" y="90096"/>
            <a:ext cx="1827288" cy="1031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oogle Shape;119;p16">
            <a:extLst>
              <a:ext uri="{FF2B5EF4-FFF2-40B4-BE49-F238E27FC236}">
                <a16:creationId xmlns:a16="http://schemas.microsoft.com/office/drawing/2014/main" id="{DBA8812A-9AED-7145-1197-9A62D6C3AF38}"/>
              </a:ext>
            </a:extLst>
          </p:cNvPr>
          <p:cNvGrpSpPr/>
          <p:nvPr/>
        </p:nvGrpSpPr>
        <p:grpSpPr>
          <a:xfrm flipH="1">
            <a:off x="6168011" y="-64240"/>
            <a:ext cx="3075825" cy="2569547"/>
            <a:chOff x="0" y="-55"/>
            <a:chExt cx="3962400" cy="4869150"/>
          </a:xfrm>
        </p:grpSpPr>
        <p:sp>
          <p:nvSpPr>
            <p:cNvPr id="10" name="Google Shape;120;p16">
              <a:extLst>
                <a:ext uri="{FF2B5EF4-FFF2-40B4-BE49-F238E27FC236}">
                  <a16:creationId xmlns:a16="http://schemas.microsoft.com/office/drawing/2014/main" id="{6B801943-4BF2-4F32-22C5-CAD3D7262D0A}"/>
                </a:ext>
              </a:extLst>
            </p:cNvPr>
            <p:cNvSpPr/>
            <p:nvPr/>
          </p:nvSpPr>
          <p:spPr>
            <a:xfrm rot="10800000" flipH="1">
              <a:off x="0" y="-50"/>
              <a:ext cx="3962400" cy="3962400"/>
            </a:xfrm>
            <a:prstGeom prst="rtTriangle">
              <a:avLst/>
            </a:prstGeom>
            <a:solidFill>
              <a:srgbClr val="0053A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21;p16">
              <a:extLst>
                <a:ext uri="{FF2B5EF4-FFF2-40B4-BE49-F238E27FC236}">
                  <a16:creationId xmlns:a16="http://schemas.microsoft.com/office/drawing/2014/main" id="{3419E328-7AB1-C842-D1B9-B717797AB33B}"/>
                </a:ext>
              </a:extLst>
            </p:cNvPr>
            <p:cNvSpPr/>
            <p:nvPr/>
          </p:nvSpPr>
          <p:spPr>
            <a:xfrm rot="10800000">
              <a:off x="33807" y="-55"/>
              <a:ext cx="3264300" cy="2341800"/>
            </a:xfrm>
            <a:prstGeom prst="parallelogram">
              <a:avLst>
                <a:gd name="adj" fmla="val 104167"/>
              </a:avLst>
            </a:prstGeom>
            <a:gradFill>
              <a:gsLst>
                <a:gs pos="0">
                  <a:srgbClr val="003E78"/>
                </a:gs>
                <a:gs pos="15000">
                  <a:srgbClr val="003E78"/>
                </a:gs>
                <a:gs pos="64000">
                  <a:srgbClr val="0053A1">
                    <a:alpha val="0"/>
                  </a:srgbClr>
                </a:gs>
                <a:gs pos="100000">
                  <a:srgbClr val="0053A1">
                    <a:alpha val="0"/>
                  </a:srgbClr>
                </a:gs>
              </a:gsLst>
              <a:lin ang="18000042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2;p16">
              <a:extLst>
                <a:ext uri="{FF2B5EF4-FFF2-40B4-BE49-F238E27FC236}">
                  <a16:creationId xmlns:a16="http://schemas.microsoft.com/office/drawing/2014/main" id="{14DD40DA-9BB5-507F-D5C4-DDBF9AE65E0E}"/>
                </a:ext>
              </a:extLst>
            </p:cNvPr>
            <p:cNvSpPr/>
            <p:nvPr/>
          </p:nvSpPr>
          <p:spPr>
            <a:xfrm>
              <a:off x="0" y="2671369"/>
              <a:ext cx="2289304" cy="2197726"/>
            </a:xfrm>
            <a:custGeom>
              <a:avLst/>
              <a:gdLst/>
              <a:ahLst/>
              <a:cxnLst/>
              <a:rect l="l" t="t" r="r" b="b"/>
              <a:pathLst>
                <a:path w="2289304" h="2197726" extrusionOk="0">
                  <a:moveTo>
                    <a:pt x="1614108" y="0"/>
                  </a:moveTo>
                  <a:lnTo>
                    <a:pt x="2289304" y="0"/>
                  </a:lnTo>
                  <a:lnTo>
                    <a:pt x="0" y="2197726"/>
                  </a:lnTo>
                  <a:lnTo>
                    <a:pt x="0" y="1549539"/>
                  </a:lnTo>
                  <a:close/>
                </a:path>
              </a:pathLst>
            </a:custGeom>
            <a:gradFill>
              <a:gsLst>
                <a:gs pos="0">
                  <a:srgbClr val="980000"/>
                </a:gs>
                <a:gs pos="15000">
                  <a:srgbClr val="CC0000"/>
                </a:gs>
                <a:gs pos="64000">
                  <a:srgbClr val="0053A1">
                    <a:alpha val="0"/>
                  </a:srgbClr>
                </a:gs>
                <a:gs pos="100000">
                  <a:srgbClr val="0053A1">
                    <a:alpha val="0"/>
                  </a:srgbClr>
                </a:gs>
              </a:gsLst>
              <a:lin ang="18000042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669" name="Table"/>
          <p:cNvGraphicFramePr>
            <a:graphicFrameLocks noGrp="1"/>
          </p:cNvGraphicFramePr>
          <p:nvPr/>
        </p:nvGraphicFramePr>
        <p:xfrm>
          <a:off x="771590" y="1250000"/>
          <a:ext cx="5560000" cy="29150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60000"/>
                <a:gridCol w="5000000"/>
              </a:tblGrid>
              <a:tr h="265000">
                <a:tc>
                  <a:txBody>
                    <a:bodyPr/>
                    <a:lstStyle/>
                    <a:p>
                      <a:r>
                        <a:rPr lang="en-IN" sz="1050" b="1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S.no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1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By the end of this session, you will learn: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265000"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What ECMAScript is and how it relates to JavaScript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000"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How to declare variables with let and const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000"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How to write compact arrow functions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000"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How to build strings with template literals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000"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How to extract data using destructuring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000"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How to use default, rest, and spread operators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000"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How to write cleaner objects with shorthand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000"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How to organize code using modules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000"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How to create classes and inheritance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000"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How to handle async tasks with promises and async/await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grpSpPr/>
      <p:sp>
        <p:nvSpPr>
          <p:cNvPr id="2" name="Google Shape;105;p15">
            <a:extLst>
              <a:ext uri="{FF2B5EF4-FFF2-40B4-BE49-F238E27FC236}">
                <a16:creationId xmlns:a16="http://schemas.microsoft.com/office/drawing/2014/main" id="{37704251-34F5-613C-5E3B-94145DB0E1FA}"/>
              </a:ext>
            </a:extLst>
          </p:cNvPr>
          <p:cNvSpPr txBox="1"/>
          <p:nvPr/>
        </p:nvSpPr>
        <p:spPr>
          <a:xfrm>
            <a:off x="712771" y="301857"/>
            <a:ext cx="4111990" cy="608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025" tIns="43000" rIns="86025" bIns="43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87"/>
              <a:buFont typeface="Arial"/>
              <a:buNone/>
            </a:pPr>
            <a:r>
              <a:rPr lang="en" sz="3387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Session </a:t>
            </a:r>
            <a:r>
              <a:rPr lang="en" sz="3387" b="1" i="0" u="none" strike="noStrike" cap="none" dirty="0">
                <a:solidFill>
                  <a:schemeClr val="tx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Agenda</a:t>
            </a:r>
            <a:endParaRPr sz="1379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110;p15" title="Untitled-1-07.png">
            <a:extLst>
              <a:ext uri="{FF2B5EF4-FFF2-40B4-BE49-F238E27FC236}">
                <a16:creationId xmlns:a16="http://schemas.microsoft.com/office/drawing/2014/main" id="{C3B7E3F1-D37B-2646-9BB6-E571C4C7125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11;p15" title="powerd by.png">
            <a:extLst>
              <a:ext uri="{FF2B5EF4-FFF2-40B4-BE49-F238E27FC236}">
                <a16:creationId xmlns:a16="http://schemas.microsoft.com/office/drawing/2014/main" id="{CA76EB78-E3B8-F90F-90C7-6589A8D97E7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2;p15">
            <a:extLst>
              <a:ext uri="{FF2B5EF4-FFF2-40B4-BE49-F238E27FC236}">
                <a16:creationId xmlns:a16="http://schemas.microsoft.com/office/drawing/2014/main" id="{A1FA0073-F414-E725-1106-D978C7D87A08}"/>
              </a:ext>
            </a:extLst>
          </p:cNvPr>
          <p:cNvSpPr txBox="1"/>
          <p:nvPr/>
        </p:nvSpPr>
        <p:spPr>
          <a:xfrm>
            <a:off x="599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" name="Google Shape;114;p15">
            <a:extLst>
              <a:ext uri="{FF2B5EF4-FFF2-40B4-BE49-F238E27FC236}">
                <a16:creationId xmlns:a16="http://schemas.microsoft.com/office/drawing/2014/main" id="{45F38B8D-4514-11F2-6B68-BF1315E796AF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Topics Covered Colored Icon In Powerpoint Pptx Png And Editable Eps Format  PPT PowerPoint">
            <a:extLst>
              <a:ext uri="{FF2B5EF4-FFF2-40B4-BE49-F238E27FC236}">
                <a16:creationId xmlns:a16="http://schemas.microsoft.com/office/drawing/2014/main" id="{1508F156-F14D-23C4-AFD8-634CD3B7D2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4" t="15654" r="11334" b="-6352"/>
          <a:stretch>
            <a:fillRect/>
          </a:stretch>
        </p:blipFill>
        <p:spPr bwMode="auto">
          <a:xfrm>
            <a:off x="4426776" y="90096"/>
            <a:ext cx="1827288" cy="1031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oogle Shape;119;p16">
            <a:extLst>
              <a:ext uri="{FF2B5EF4-FFF2-40B4-BE49-F238E27FC236}">
                <a16:creationId xmlns:a16="http://schemas.microsoft.com/office/drawing/2014/main" id="{DBA8812A-9AED-7145-1197-9A62D6C3AF38}"/>
              </a:ext>
            </a:extLst>
          </p:cNvPr>
          <p:cNvGrpSpPr/>
          <p:nvPr/>
        </p:nvGrpSpPr>
        <p:grpSpPr>
          <a:xfrm flipH="1">
            <a:off x="6168011" y="-64240"/>
            <a:ext cx="3075825" cy="2569547"/>
            <a:chOff x="0" y="-55"/>
            <a:chExt cx="3962400" cy="4869150"/>
          </a:xfrm>
        </p:grpSpPr>
        <p:sp>
          <p:nvSpPr>
            <p:cNvPr id="10" name="Google Shape;120;p16">
              <a:extLst>
                <a:ext uri="{FF2B5EF4-FFF2-40B4-BE49-F238E27FC236}">
                  <a16:creationId xmlns:a16="http://schemas.microsoft.com/office/drawing/2014/main" id="{6B801943-4BF2-4F32-22C5-CAD3D7262D0A}"/>
                </a:ext>
              </a:extLst>
            </p:cNvPr>
            <p:cNvSpPr/>
            <p:nvPr/>
          </p:nvSpPr>
          <p:spPr>
            <a:xfrm rot="10800000" flipH="1">
              <a:off x="0" y="-50"/>
              <a:ext cx="3962400" cy="3962400"/>
            </a:xfrm>
            <a:prstGeom prst="rtTriangle">
              <a:avLst/>
            </a:prstGeom>
            <a:solidFill>
              <a:srgbClr val="0053A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21;p16">
              <a:extLst>
                <a:ext uri="{FF2B5EF4-FFF2-40B4-BE49-F238E27FC236}">
                  <a16:creationId xmlns:a16="http://schemas.microsoft.com/office/drawing/2014/main" id="{3419E328-7AB1-C842-D1B9-B717797AB33B}"/>
                </a:ext>
              </a:extLst>
            </p:cNvPr>
            <p:cNvSpPr/>
            <p:nvPr/>
          </p:nvSpPr>
          <p:spPr>
            <a:xfrm rot="10800000">
              <a:off x="33807" y="-55"/>
              <a:ext cx="3264300" cy="2341800"/>
            </a:xfrm>
            <a:prstGeom prst="parallelogram">
              <a:avLst>
                <a:gd name="adj" fmla="val 104167"/>
              </a:avLst>
            </a:prstGeom>
            <a:gradFill>
              <a:gsLst>
                <a:gs pos="0">
                  <a:srgbClr val="003E78"/>
                </a:gs>
                <a:gs pos="15000">
                  <a:srgbClr val="003E78"/>
                </a:gs>
                <a:gs pos="64000">
                  <a:srgbClr val="0053A1">
                    <a:alpha val="0"/>
                  </a:srgbClr>
                </a:gs>
                <a:gs pos="100000">
                  <a:srgbClr val="0053A1">
                    <a:alpha val="0"/>
                  </a:srgbClr>
                </a:gs>
              </a:gsLst>
              <a:lin ang="18000042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2;p16">
              <a:extLst>
                <a:ext uri="{FF2B5EF4-FFF2-40B4-BE49-F238E27FC236}">
                  <a16:creationId xmlns:a16="http://schemas.microsoft.com/office/drawing/2014/main" id="{14DD40DA-9BB5-507F-D5C4-DDBF9AE65E0E}"/>
                </a:ext>
              </a:extLst>
            </p:cNvPr>
            <p:cNvSpPr/>
            <p:nvPr/>
          </p:nvSpPr>
          <p:spPr>
            <a:xfrm>
              <a:off x="0" y="2671369"/>
              <a:ext cx="2289304" cy="2197726"/>
            </a:xfrm>
            <a:custGeom>
              <a:avLst/>
              <a:gdLst/>
              <a:ahLst/>
              <a:cxnLst/>
              <a:rect l="l" t="t" r="r" b="b"/>
              <a:pathLst>
                <a:path w="2289304" h="2197726" extrusionOk="0">
                  <a:moveTo>
                    <a:pt x="1614108" y="0"/>
                  </a:moveTo>
                  <a:lnTo>
                    <a:pt x="2289304" y="0"/>
                  </a:lnTo>
                  <a:lnTo>
                    <a:pt x="0" y="2197726"/>
                  </a:lnTo>
                  <a:lnTo>
                    <a:pt x="0" y="1549539"/>
                  </a:lnTo>
                  <a:close/>
                </a:path>
              </a:pathLst>
            </a:custGeom>
            <a:gradFill>
              <a:gsLst>
                <a:gs pos="0">
                  <a:srgbClr val="980000"/>
                </a:gs>
                <a:gs pos="15000">
                  <a:srgbClr val="CC0000"/>
                </a:gs>
                <a:gs pos="64000">
                  <a:srgbClr val="0053A1">
                    <a:alpha val="0"/>
                  </a:srgbClr>
                </a:gs>
                <a:gs pos="100000">
                  <a:srgbClr val="0053A1">
                    <a:alpha val="0"/>
                  </a:srgbClr>
                </a:gs>
              </a:gsLst>
              <a:lin ang="18000042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670" name="Table"/>
          <p:cNvGraphicFramePr>
            <a:graphicFrameLocks noGrp="1"/>
          </p:cNvGraphicFramePr>
          <p:nvPr/>
        </p:nvGraphicFramePr>
        <p:xfrm>
          <a:off x="771590" y="1250000"/>
          <a:ext cx="5560000" cy="29150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60000"/>
                <a:gridCol w="5000000"/>
              </a:tblGrid>
              <a:tr h="265000">
                <a:tc>
                  <a:txBody>
                    <a:bodyPr/>
                    <a:lstStyle/>
                    <a:p>
                      <a:r>
                        <a:rPr lang="en-IN" sz="1050" b="1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S.no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1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Agenda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265000"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Introduction to ECMAScript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000"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Variables and Scoping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000"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Arrow Functions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000"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Template Literals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000"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Destructuring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000"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Default, Rest and Spread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000"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Enhanced Object Literals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000"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Modules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000"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Classes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000"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Promises and Async Programming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grpSpPr/>
      <p:grpSp>
        <p:nvGrpSpPr>
          <p:cNvPr id="119" name="Google Shape;119;p16"/>
          <p:cNvGrpSpPr/>
          <p:nvPr/>
        </p:nvGrpSpPr>
        <p:grpSpPr>
          <a:xfrm flipH="1">
            <a:off x="5429250" y="-2"/>
            <a:ext cx="3714750" cy="4564828"/>
            <a:chOff x="0" y="-55"/>
            <a:chExt cx="3962400" cy="4869150"/>
          </a:xfrm>
        </p:grpSpPr>
        <p:sp>
          <p:nvSpPr>
            <p:cNvPr id="120" name="Google Shape;120;p16"/>
            <p:cNvSpPr/>
            <p:nvPr/>
          </p:nvSpPr>
          <p:spPr>
            <a:xfrm rot="10800000" flipH="1">
              <a:off x="0" y="-50"/>
              <a:ext cx="3962400" cy="3962400"/>
            </a:xfrm>
            <a:prstGeom prst="rtTriangle">
              <a:avLst/>
            </a:prstGeom>
            <a:solidFill>
              <a:srgbClr val="0053A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6"/>
            <p:cNvSpPr/>
            <p:nvPr/>
          </p:nvSpPr>
          <p:spPr>
            <a:xfrm rot="10800000">
              <a:off x="33807" y="-55"/>
              <a:ext cx="3264300" cy="2341800"/>
            </a:xfrm>
            <a:prstGeom prst="parallelogram">
              <a:avLst>
                <a:gd name="adj" fmla="val 104167"/>
              </a:avLst>
            </a:prstGeom>
            <a:gradFill>
              <a:gsLst>
                <a:gs pos="0">
                  <a:srgbClr val="003E78"/>
                </a:gs>
                <a:gs pos="15000">
                  <a:srgbClr val="003E78"/>
                </a:gs>
                <a:gs pos="64000">
                  <a:srgbClr val="0053A1">
                    <a:alpha val="0"/>
                  </a:srgbClr>
                </a:gs>
                <a:gs pos="100000">
                  <a:srgbClr val="0053A1">
                    <a:alpha val="0"/>
                  </a:srgbClr>
                </a:gs>
              </a:gsLst>
              <a:lin ang="18000042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6"/>
            <p:cNvSpPr/>
            <p:nvPr/>
          </p:nvSpPr>
          <p:spPr>
            <a:xfrm>
              <a:off x="0" y="2671369"/>
              <a:ext cx="2289304" cy="2197726"/>
            </a:xfrm>
            <a:custGeom>
              <a:avLst/>
              <a:gdLst/>
              <a:ahLst/>
              <a:cxnLst/>
              <a:rect l="l" t="t" r="r" b="b"/>
              <a:pathLst>
                <a:path w="2289304" h="2197726" extrusionOk="0">
                  <a:moveTo>
                    <a:pt x="1614108" y="0"/>
                  </a:moveTo>
                  <a:lnTo>
                    <a:pt x="2289304" y="0"/>
                  </a:lnTo>
                  <a:lnTo>
                    <a:pt x="0" y="2197726"/>
                  </a:lnTo>
                  <a:lnTo>
                    <a:pt x="0" y="1549539"/>
                  </a:lnTo>
                  <a:close/>
                </a:path>
              </a:pathLst>
            </a:custGeom>
            <a:gradFill>
              <a:gsLst>
                <a:gs pos="0">
                  <a:srgbClr val="980000"/>
                </a:gs>
                <a:gs pos="15000">
                  <a:srgbClr val="CC0000"/>
                </a:gs>
                <a:gs pos="64000">
                  <a:srgbClr val="0053A1">
                    <a:alpha val="0"/>
                  </a:srgbClr>
                </a:gs>
                <a:gs pos="100000">
                  <a:srgbClr val="0053A1">
                    <a:alpha val="0"/>
                  </a:srgbClr>
                </a:gs>
              </a:gsLst>
              <a:lin ang="18000042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9" name="Google Shape;129;p16" title="Untitled-1-07.png"/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title="powerd by.png"/>
          <p:cNvPicPr preferRelativeResize="0"/>
          <p:nvPr/>
        </p:nvPicPr>
        <p:blipFill rotWithShape="1">
          <a:blip r:embed="rId4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99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" name="Kicker"/>
          <p:cNvSpPr txBox="1"/>
          <p:nvPr/>
        </p:nvSpPr>
        <p:spPr>
          <a:xfrm>
            <a:off x="675600" y="285000"/>
            <a:ext cx="4150000" cy="2412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3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Introduction</a:t>
            </a:r>
            <a:endParaRPr lang="en" sz="1003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" name="Title"/>
          <p:cNvSpPr txBox="1"/>
          <p:nvPr/>
        </p:nvSpPr>
        <p:spPr>
          <a:xfrm>
            <a:off x="675600" y="520000"/>
            <a:ext cx="4150000" cy="425394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What is </a:t>
            </a:r>
            <a:r>
              <a:rPr lang="en" sz="22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ECMAScript?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1" name="Body"/>
          <p:cNvSpPr txBox="1"/>
          <p:nvPr/>
        </p:nvSpPr>
        <p:spPr>
          <a:xfrm>
            <a:off x="620000" y="1048000"/>
            <a:ext cx="4150000" cy="214213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ECMAScript is the official </a:t>
            </a:r>
            <a:r>
              <a:rPr lang="en" sz="11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standard (specification)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for JavaScript.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It is maintained by </a:t>
            </a:r>
            <a:r>
              <a:rPr lang="en" sz="11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ECMA International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(the TC39 committee).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" sz="11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JavaScript is an implementation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of ECMAScript - browsers follow this rulebook.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700"/>
              </a:spcBef>
              <a:spcAft>
                <a:spcPts val="200"/>
              </a:spcAft>
              <a:buNone/>
            </a:pPr>
            <a:r>
              <a:rPr lang="en" sz="1129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Note</a:t>
            </a:r>
            <a:endParaRPr lang="en" sz="1129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ECMAScript is the recipe. JavaScript is the dish.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1" name="Visual panel"/>
          <p:cNvSpPr/>
          <p:nvPr/>
        </p:nvSpPr>
        <p:spPr>
          <a:xfrm>
            <a:off x="4940000" y="560000"/>
            <a:ext cx="3500000" cy="30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02" name="Panel heading"/>
          <p:cNvSpPr txBox="1"/>
          <p:nvPr/>
        </p:nvSpPr>
        <p:spPr>
          <a:xfrm>
            <a:off x="5070000" y="690000"/>
            <a:ext cx="3240000" cy="270000"/>
          </a:xfrm>
          <a:prstGeom prst="rect">
            <a:avLst/>
          </a:prstGeom>
          <a:noFill/>
        </p:spPr>
        <p:txBody>
          <a:bodyPr spcFirstLastPara="1" wrap="square" lIns="0" tIns="30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How they connect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" name="Spec box"/>
          <p:cNvSpPr/>
          <p:nvPr/>
        </p:nvSpPr>
        <p:spPr>
          <a:xfrm>
            <a:off x="5070000" y="1150000"/>
            <a:ext cx="3240000" cy="480000"/>
          </a:xfrm>
          <a:prstGeom prst="roundRect">
            <a:avLst>
              <a:gd name="adj" fmla="val 12000"/>
            </a:avLst>
          </a:prstGeom>
          <a:solidFill>
            <a:srgbClr val="0053A1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 dirty="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ECMAScript Specification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" name="Arrow"/>
          <p:cNvSpPr/>
          <p:nvPr/>
        </p:nvSpPr>
        <p:spPr>
          <a:xfrm>
            <a:off x="5740000" y="1690000"/>
            <a:ext cx="220000" cy="330000"/>
          </a:xfrm>
          <a:prstGeom prst="downArrow">
            <a:avLst/>
          </a:prstGeom>
          <a:solidFill>
            <a:srgbClr val="0053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5" name="Impl box"/>
          <p:cNvSpPr/>
          <p:nvPr/>
        </p:nvSpPr>
        <p:spPr>
          <a:xfrm>
            <a:off x="5070000" y="2090000"/>
            <a:ext cx="1560000" cy="700000"/>
          </a:xfrm>
          <a:prstGeom prst="roundRect">
            <a:avLst>
              <a:gd name="adj" fmla="val 10000"/>
            </a:avLst>
          </a:prstGeom>
          <a:solidFill>
            <a:srgbClr val="F3F7FC"/>
          </a:solidFill>
          <a:ln w="9525">
            <a:solidFill>
              <a:srgbClr val="D9D9D9"/>
            </a:solidFill>
          </a:ln>
        </p:spPr>
        <p:txBody>
          <a:bodyPr wrap="square" lIns="45720" tIns="45720" rIns="45720" bIns="45720" rtlCol="0" anchor="ctr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JavaScript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(Browsers)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" name="Arrow"/>
          <p:cNvSpPr/>
          <p:nvPr/>
        </p:nvSpPr>
        <p:spPr>
          <a:xfrm>
            <a:off x="7420000" y="1690000"/>
            <a:ext cx="220000" cy="330000"/>
          </a:xfrm>
          <a:prstGeom prst="downArrow">
            <a:avLst/>
          </a:prstGeom>
          <a:solidFill>
            <a:srgbClr val="0053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7" name="Impl box"/>
          <p:cNvSpPr/>
          <p:nvPr/>
        </p:nvSpPr>
        <p:spPr>
          <a:xfrm>
            <a:off x="6750000" y="2090000"/>
            <a:ext cx="1560000" cy="700000"/>
          </a:xfrm>
          <a:prstGeom prst="roundRect">
            <a:avLst>
              <a:gd name="adj" fmla="val 10000"/>
            </a:avLst>
          </a:prstGeom>
          <a:solidFill>
            <a:srgbClr val="F3F7FC"/>
          </a:solidFill>
          <a:ln w="9525">
            <a:solidFill>
              <a:srgbClr val="D9D9D9"/>
            </a:solidFill>
          </a:ln>
        </p:spPr>
        <p:txBody>
          <a:bodyPr wrap="square" lIns="45720" tIns="45720" rIns="45720" bIns="45720" rtlCol="0" anchor="ctr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Node.js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" name="Chip"/>
          <p:cNvSpPr/>
          <p:nvPr/>
        </p:nvSpPr>
        <p:spPr>
          <a:xfrm>
            <a:off x="5070000" y="3030000"/>
            <a:ext cx="3240000" cy="400000"/>
          </a:xfrm>
          <a:prstGeom prst="roundRect">
            <a:avLst>
              <a:gd name="adj" fmla="val 50000"/>
            </a:avLst>
          </a:prstGeom>
          <a:solidFill>
            <a:srgbClr val="E6EFFA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C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ES6 / ES2015 = the biggest modern update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grpSpPr/>
      <p:grpSp>
        <p:nvGrpSpPr>
          <p:cNvPr id="119" name="Google Shape;119;p16"/>
          <p:cNvGrpSpPr/>
          <p:nvPr/>
        </p:nvGrpSpPr>
        <p:grpSpPr>
          <a:xfrm flipH="1">
            <a:off x="5429250" y="-2"/>
            <a:ext cx="3714750" cy="4564828"/>
            <a:chOff x="0" y="-55"/>
            <a:chExt cx="3962400" cy="4869150"/>
          </a:xfrm>
        </p:grpSpPr>
        <p:sp>
          <p:nvSpPr>
            <p:cNvPr id="120" name="Google Shape;120;p16"/>
            <p:cNvSpPr/>
            <p:nvPr/>
          </p:nvSpPr>
          <p:spPr>
            <a:xfrm rot="10800000" flipH="1">
              <a:off x="0" y="-50"/>
              <a:ext cx="3962400" cy="3962400"/>
            </a:xfrm>
            <a:prstGeom prst="rtTriangle">
              <a:avLst/>
            </a:prstGeom>
            <a:solidFill>
              <a:srgbClr val="0053A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6"/>
            <p:cNvSpPr/>
            <p:nvPr/>
          </p:nvSpPr>
          <p:spPr>
            <a:xfrm rot="10800000">
              <a:off x="33807" y="-55"/>
              <a:ext cx="3264300" cy="2341800"/>
            </a:xfrm>
            <a:prstGeom prst="parallelogram">
              <a:avLst>
                <a:gd name="adj" fmla="val 104167"/>
              </a:avLst>
            </a:prstGeom>
            <a:gradFill>
              <a:gsLst>
                <a:gs pos="0">
                  <a:srgbClr val="003E78"/>
                </a:gs>
                <a:gs pos="15000">
                  <a:srgbClr val="003E78"/>
                </a:gs>
                <a:gs pos="64000">
                  <a:srgbClr val="0053A1">
                    <a:alpha val="0"/>
                  </a:srgbClr>
                </a:gs>
                <a:gs pos="100000">
                  <a:srgbClr val="0053A1">
                    <a:alpha val="0"/>
                  </a:srgbClr>
                </a:gs>
              </a:gsLst>
              <a:lin ang="18000042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6"/>
            <p:cNvSpPr/>
            <p:nvPr/>
          </p:nvSpPr>
          <p:spPr>
            <a:xfrm>
              <a:off x="0" y="2671369"/>
              <a:ext cx="2289304" cy="2197726"/>
            </a:xfrm>
            <a:custGeom>
              <a:avLst/>
              <a:gdLst/>
              <a:ahLst/>
              <a:cxnLst/>
              <a:rect l="l" t="t" r="r" b="b"/>
              <a:pathLst>
                <a:path w="2289304" h="2197726" extrusionOk="0">
                  <a:moveTo>
                    <a:pt x="1614108" y="0"/>
                  </a:moveTo>
                  <a:lnTo>
                    <a:pt x="2289304" y="0"/>
                  </a:lnTo>
                  <a:lnTo>
                    <a:pt x="0" y="2197726"/>
                  </a:lnTo>
                  <a:lnTo>
                    <a:pt x="0" y="1549539"/>
                  </a:lnTo>
                  <a:close/>
                </a:path>
              </a:pathLst>
            </a:custGeom>
            <a:gradFill>
              <a:gsLst>
                <a:gs pos="0">
                  <a:srgbClr val="980000"/>
                </a:gs>
                <a:gs pos="15000">
                  <a:srgbClr val="CC0000"/>
                </a:gs>
                <a:gs pos="64000">
                  <a:srgbClr val="0053A1">
                    <a:alpha val="0"/>
                  </a:srgbClr>
                </a:gs>
                <a:gs pos="100000">
                  <a:srgbClr val="0053A1">
                    <a:alpha val="0"/>
                  </a:srgbClr>
                </a:gs>
              </a:gsLst>
              <a:lin ang="18000042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9" name="Google Shape;129;p16" title="Untitled-1-07.png"/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title="powerd by.png"/>
          <p:cNvPicPr preferRelativeResize="0"/>
          <p:nvPr/>
        </p:nvPicPr>
        <p:blipFill rotWithShape="1">
          <a:blip r:embed="rId4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99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" name="Kicker"/>
          <p:cNvSpPr txBox="1"/>
          <p:nvPr/>
        </p:nvSpPr>
        <p:spPr>
          <a:xfrm>
            <a:off x="675600" y="285000"/>
            <a:ext cx="4150000" cy="2412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3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Introduction</a:t>
            </a:r>
            <a:endParaRPr lang="en" sz="1003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5" name="Title"/>
          <p:cNvSpPr txBox="1"/>
          <p:nvPr/>
        </p:nvSpPr>
        <p:spPr>
          <a:xfrm>
            <a:off x="675600" y="520000"/>
            <a:ext cx="4150000" cy="425394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Why </a:t>
            </a:r>
            <a:r>
              <a:rPr lang="en" sz="22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ECMAScript (ES6)?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" name="Body"/>
          <p:cNvSpPr txBox="1"/>
          <p:nvPr/>
        </p:nvSpPr>
        <p:spPr>
          <a:xfrm>
            <a:off x="620000" y="1048000"/>
            <a:ext cx="4150000" cy="209768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700"/>
              </a:spcBef>
              <a:spcAft>
                <a:spcPts val="200"/>
              </a:spcAft>
              <a:buNone/>
            </a:pPr>
            <a:r>
              <a:rPr lang="en" sz="1129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Before ES6 (2015)</a:t>
            </a:r>
            <a:endParaRPr lang="en" sz="1129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Only </a:t>
            </a: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var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, long function syntax, string joining with </a:t>
            </a: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No classes, no modules, "callback chaos"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700"/>
              </a:spcBef>
              <a:spcAft>
                <a:spcPts val="200"/>
              </a:spcAft>
              <a:buNone/>
            </a:pPr>
            <a:r>
              <a:rPr lang="en" sz="1129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ES6 gave us</a:t>
            </a:r>
            <a:endParaRPr lang="en" sz="1129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/ </a:t>
            </a: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, arrow functions, template literals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Classes, modules and promises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Since 2015 there is a </a:t>
            </a:r>
            <a:r>
              <a:rPr lang="en" sz="11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new version every year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" name="Visual panel"/>
          <p:cNvSpPr/>
          <p:nvPr/>
        </p:nvSpPr>
        <p:spPr>
          <a:xfrm>
            <a:off x="4940000" y="560000"/>
            <a:ext cx="3500000" cy="359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13" name="Panel heading"/>
          <p:cNvSpPr txBox="1"/>
          <p:nvPr/>
        </p:nvSpPr>
        <p:spPr>
          <a:xfrm>
            <a:off x="5070000" y="690000"/>
            <a:ext cx="3240000" cy="270000"/>
          </a:xfrm>
          <a:prstGeom prst="rect">
            <a:avLst/>
          </a:prstGeom>
          <a:noFill/>
        </p:spPr>
        <p:txBody>
          <a:bodyPr spcFirstLastPara="1" wrap="square" lIns="0" tIns="30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ECMAScript timeline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" name="Timeline line"/>
          <p:cNvSpPr/>
          <p:nvPr/>
        </p:nvSpPr>
        <p:spPr>
          <a:xfrm>
            <a:off x="5156000" y="1360000"/>
            <a:ext cx="38100" cy="2040000"/>
          </a:xfrm>
          <a:prstGeom prst="rect">
            <a:avLst/>
          </a:prstGeom>
          <a:solidFill>
            <a:srgbClr val="A6C3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5" name="Node"/>
          <p:cNvSpPr/>
          <p:nvPr/>
        </p:nvSpPr>
        <p:spPr>
          <a:xfrm>
            <a:off x="5090000" y="1275000"/>
            <a:ext cx="170000" cy="170000"/>
          </a:xfrm>
          <a:prstGeom prst="ellipse">
            <a:avLst/>
          </a:prstGeom>
          <a:solidFill>
            <a:srgbClr val="0053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6" name="Milestone"/>
          <p:cNvSpPr txBox="1"/>
          <p:nvPr/>
        </p:nvSpPr>
        <p:spPr>
          <a:xfrm>
            <a:off x="5430000" y="1200000"/>
            <a:ext cx="2840000" cy="5000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ES5 (2009)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Only var, long functions, callbacks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Highlight"/>
          <p:cNvSpPr/>
          <p:nvPr/>
        </p:nvSpPr>
        <p:spPr>
          <a:xfrm>
            <a:off x="5400000" y="1850000"/>
            <a:ext cx="2910000" cy="560000"/>
          </a:xfrm>
          <a:prstGeom prst="roundRect">
            <a:avLst>
              <a:gd name="adj" fmla="val 10000"/>
            </a:avLst>
          </a:prstGeom>
          <a:solidFill>
            <a:srgbClr val="E6EF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8" name="Node"/>
          <p:cNvSpPr/>
          <p:nvPr/>
        </p:nvSpPr>
        <p:spPr>
          <a:xfrm>
            <a:off x="5070000" y="1935000"/>
            <a:ext cx="210000" cy="21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9" name="Milestone"/>
          <p:cNvSpPr txBox="1"/>
          <p:nvPr/>
        </p:nvSpPr>
        <p:spPr>
          <a:xfrm>
            <a:off x="5430000" y="1880000"/>
            <a:ext cx="2840000" cy="5000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1" i="0" u="none" strike="noStrike" cap="none" dirty="0">
                <a:solidFill>
                  <a:srgbClr val="C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ES6 (2015)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Biggest jump: let/const, classes, modules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0" name="Node"/>
          <p:cNvSpPr/>
          <p:nvPr/>
        </p:nvSpPr>
        <p:spPr>
          <a:xfrm>
            <a:off x="5090000" y="2635000"/>
            <a:ext cx="170000" cy="170000"/>
          </a:xfrm>
          <a:prstGeom prst="ellipse">
            <a:avLst/>
          </a:prstGeom>
          <a:solidFill>
            <a:srgbClr val="0053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1" name="Milestone"/>
          <p:cNvSpPr txBox="1"/>
          <p:nvPr/>
        </p:nvSpPr>
        <p:spPr>
          <a:xfrm>
            <a:off x="5430000" y="2560000"/>
            <a:ext cx="2840000" cy="5000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ES2017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async / await arrives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" name="Node"/>
          <p:cNvSpPr/>
          <p:nvPr/>
        </p:nvSpPr>
        <p:spPr>
          <a:xfrm>
            <a:off x="5090000" y="3315000"/>
            <a:ext cx="170000" cy="170000"/>
          </a:xfrm>
          <a:prstGeom prst="ellipse">
            <a:avLst/>
          </a:prstGeom>
          <a:solidFill>
            <a:srgbClr val="0053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3" name="Milestone"/>
          <p:cNvSpPr txBox="1"/>
          <p:nvPr/>
        </p:nvSpPr>
        <p:spPr>
          <a:xfrm>
            <a:off x="5430000" y="3240000"/>
            <a:ext cx="2840000" cy="5000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Today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new version every year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grpSpPr/>
      <p:pic>
        <p:nvPicPr>
          <p:cNvPr id="110" name="Google Shape;110;p15" title="Untitled-1-07.png"/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powerd by.png"/>
          <p:cNvPicPr preferRelativeResize="0"/>
          <p:nvPr/>
        </p:nvPicPr>
        <p:blipFill rotWithShape="1">
          <a:blip r:embed="rId5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99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Kicker"/>
          <p:cNvSpPr txBox="1"/>
          <p:nvPr/>
        </p:nvSpPr>
        <p:spPr>
          <a:xfrm>
            <a:off x="675600" y="285000"/>
            <a:ext cx="3560000" cy="2412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3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Introduction</a:t>
            </a:r>
            <a:endParaRPr lang="en" sz="1003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8" name="Title"/>
          <p:cNvSpPr txBox="1"/>
          <p:nvPr/>
        </p:nvSpPr>
        <p:spPr>
          <a:xfrm>
            <a:off x="675600" y="520000"/>
            <a:ext cx="3560000" cy="425394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Running </a:t>
            </a:r>
            <a:r>
              <a:rPr lang="en" sz="22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ES6+ Code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9" name="Body"/>
          <p:cNvSpPr txBox="1"/>
          <p:nvPr/>
        </p:nvSpPr>
        <p:spPr>
          <a:xfrm>
            <a:off x="620000" y="1048000"/>
            <a:ext cx="3560000" cy="202783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You only need a </a:t>
            </a:r>
            <a:r>
              <a:rPr lang="en" sz="11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browser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- no installation.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700"/>
              </a:spcBef>
              <a:spcAft>
                <a:spcPts val="200"/>
              </a:spcAft>
              <a:buNone/>
            </a:pPr>
            <a:r>
              <a:rPr lang="en" sz="1129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Three ways to practice</a:t>
            </a:r>
            <a:endParaRPr lang="en" sz="1129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DevTools Console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- press F12, open Console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VS Code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with an HTML file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Online playgrounds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- CodePen, JSFiddle, StackBlitz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All modern browsers support ES6+ natively.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Code panel"/>
          <p:cNvSpPr/>
          <p:nvPr/>
        </p:nvSpPr>
        <p:spPr>
          <a:xfrm>
            <a:off x="4300000" y="500000"/>
            <a:ext cx="4350000" cy="1841328"/>
          </a:xfrm>
          <a:prstGeom prst="roundRect">
            <a:avLst>
              <a:gd name="adj" fmla="val 3500"/>
            </a:avLst>
          </a:prstGeom>
          <a:solidFill>
            <a:srgbClr val="0E2455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31" name="Dot 1"/>
          <p:cNvSpPr/>
          <p:nvPr/>
        </p:nvSpPr>
        <p:spPr>
          <a:xfrm>
            <a:off x="4420000" y="605000"/>
            <a:ext cx="70000" cy="7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2" name="Dot 2"/>
          <p:cNvSpPr/>
          <p:nvPr/>
        </p:nvSpPr>
        <p:spPr>
          <a:xfrm>
            <a:off x="4550000" y="605000"/>
            <a:ext cx="70000" cy="700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3" name="Dot 3"/>
          <p:cNvSpPr/>
          <p:nvPr/>
        </p:nvSpPr>
        <p:spPr>
          <a:xfrm>
            <a:off x="4680000" y="605000"/>
            <a:ext cx="70000" cy="70000"/>
          </a:xfrm>
          <a:prstGeom prst="ellipse">
            <a:avLst/>
          </a:prstGeom>
          <a:solidFill>
            <a:srgbClr val="3DAE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4" name="Code label"/>
          <p:cNvSpPr txBox="1"/>
          <p:nvPr/>
        </p:nvSpPr>
        <p:spPr>
          <a:xfrm>
            <a:off x="7650000" y="555000"/>
            <a:ext cx="900000" cy="170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8FA3C4"/>
                </a:solidFill>
                <a:latin typeface="Roboto"/>
                <a:ea typeface="Roboto"/>
                <a:cs typeface="Roboto"/>
                <a:sym typeface="Roboto"/>
              </a:rPr>
              <a:t>HTML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" name="Code"/>
          <p:cNvSpPr txBox="1"/>
          <p:nvPr/>
        </p:nvSpPr>
        <p:spPr>
          <a:xfrm>
            <a:off x="4360000" y="750000"/>
            <a:ext cx="4230000" cy="1561328"/>
          </a:xfrm>
          <a:prstGeom prst="rect">
            <a:avLst/>
          </a:prstGeom>
          <a:noFill/>
        </p:spPr>
        <p:txBody>
          <a:bodyPr spcFirstLastPara="1" wrap="square" lIns="86025" tIns="0" rIns="6000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&lt;!doctype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html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&lt;html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&lt;body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&lt;script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message = 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"Hello, ES6!"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  console.log(message);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&lt;/script&gt;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&lt;/body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&lt;/html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" name="Output panel"/>
          <p:cNvSpPr/>
          <p:nvPr/>
        </p:nvSpPr>
        <p:spPr>
          <a:xfrm>
            <a:off x="4300000" y="2451328"/>
            <a:ext cx="4350000" cy="47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37" name="Output heading"/>
          <p:cNvSpPr txBox="1"/>
          <p:nvPr/>
        </p:nvSpPr>
        <p:spPr>
          <a:xfrm>
            <a:off x="4420000" y="2491328"/>
            <a:ext cx="4110000" cy="200000"/>
          </a:xfrm>
          <a:prstGeom prst="rect">
            <a:avLst/>
          </a:prstGeom>
          <a:noFill/>
        </p:spPr>
        <p:txBody>
          <a:bodyPr spcFirstLastPara="1" wrap="square" lIns="0" tIns="30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Console output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" name="Output"/>
          <p:cNvSpPr txBox="1"/>
          <p:nvPr/>
        </p:nvSpPr>
        <p:spPr>
          <a:xfrm>
            <a:off x="4420000" y="2701328"/>
            <a:ext cx="4110000" cy="1900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 u="none" strike="noStrike" cap="none" dirty="0">
                <a:solidFill>
                  <a:srgbClr val="0E2455"/>
                </a:solidFill>
                <a:latin typeface="Courier New"/>
                <a:ea typeface="Courier New"/>
                <a:cs typeface="Courier New"/>
                <a:sym typeface="Courier New"/>
              </a:rPr>
              <a:t>Hello, ES6!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grpSpPr/>
      <p:pic>
        <p:nvPicPr>
          <p:cNvPr id="110" name="Google Shape;110;p15" title="Untitled-1-07.png"/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powerd by.png"/>
          <p:cNvPicPr preferRelativeResize="0"/>
          <p:nvPr/>
        </p:nvPicPr>
        <p:blipFill rotWithShape="1">
          <a:blip r:embed="rId5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99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Kicker"/>
          <p:cNvSpPr txBox="1"/>
          <p:nvPr/>
        </p:nvSpPr>
        <p:spPr>
          <a:xfrm>
            <a:off x="675600" y="285000"/>
            <a:ext cx="3560000" cy="2412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3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Variables and Scoping</a:t>
            </a:r>
            <a:endParaRPr lang="en" sz="1003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" name="Title"/>
          <p:cNvSpPr txBox="1"/>
          <p:nvPr/>
        </p:nvSpPr>
        <p:spPr>
          <a:xfrm>
            <a:off x="675600" y="520000"/>
            <a:ext cx="3560000" cy="763948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Declaring Variables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let and const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" name="Body"/>
          <p:cNvSpPr txBox="1"/>
          <p:nvPr/>
        </p:nvSpPr>
        <p:spPr>
          <a:xfrm>
            <a:off x="620000" y="1383000"/>
            <a:ext cx="3560000" cy="134457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- value </a:t>
            </a:r>
            <a:r>
              <a:rPr lang="en" sz="11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can be changed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later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- value </a:t>
            </a:r>
            <a:r>
              <a:rPr lang="en" sz="11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cannot be reassigned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700"/>
              </a:spcBef>
              <a:spcAft>
                <a:spcPts val="200"/>
              </a:spcAft>
              <a:buNone/>
            </a:pPr>
            <a:r>
              <a:rPr lang="en" sz="1129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Rule of thumb</a:t>
            </a:r>
            <a:endParaRPr lang="en" sz="1129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Use </a:t>
            </a: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by default. Switch to </a:t>
            </a: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only when the value must change.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" name="Code panel"/>
          <p:cNvSpPr/>
          <p:nvPr/>
        </p:nvSpPr>
        <p:spPr>
          <a:xfrm>
            <a:off x="4300000" y="500000"/>
            <a:ext cx="4350000" cy="1182960"/>
          </a:xfrm>
          <a:prstGeom prst="roundRect">
            <a:avLst>
              <a:gd name="adj" fmla="val 3500"/>
            </a:avLst>
          </a:prstGeom>
          <a:solidFill>
            <a:srgbClr val="0E2455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43" name="Dot 1"/>
          <p:cNvSpPr/>
          <p:nvPr/>
        </p:nvSpPr>
        <p:spPr>
          <a:xfrm>
            <a:off x="4420000" y="605000"/>
            <a:ext cx="70000" cy="7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4" name="Dot 2"/>
          <p:cNvSpPr/>
          <p:nvPr/>
        </p:nvSpPr>
        <p:spPr>
          <a:xfrm>
            <a:off x="4550000" y="605000"/>
            <a:ext cx="70000" cy="700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5" name="Dot 3"/>
          <p:cNvSpPr/>
          <p:nvPr/>
        </p:nvSpPr>
        <p:spPr>
          <a:xfrm>
            <a:off x="4680000" y="605000"/>
            <a:ext cx="70000" cy="70000"/>
          </a:xfrm>
          <a:prstGeom prst="ellipse">
            <a:avLst/>
          </a:prstGeom>
          <a:solidFill>
            <a:srgbClr val="3DAE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6" name="Code label"/>
          <p:cNvSpPr txBox="1"/>
          <p:nvPr/>
        </p:nvSpPr>
        <p:spPr>
          <a:xfrm>
            <a:off x="7650000" y="555000"/>
            <a:ext cx="900000" cy="170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8FA3C4"/>
                </a:solidFill>
                <a:latin typeface="Roboto"/>
                <a:ea typeface="Roboto"/>
                <a:cs typeface="Roboto"/>
                <a:sym typeface="Roboto"/>
              </a:rPr>
              <a:t>JS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7" name="Code"/>
          <p:cNvSpPr txBox="1"/>
          <p:nvPr/>
        </p:nvSpPr>
        <p:spPr>
          <a:xfrm>
            <a:off x="4360000" y="750000"/>
            <a:ext cx="4230000" cy="902960"/>
          </a:xfrm>
          <a:prstGeom prst="rect">
            <a:avLst/>
          </a:prstGeom>
          <a:noFill/>
        </p:spPr>
        <p:txBody>
          <a:bodyPr spcFirstLastPara="1" wrap="square" lIns="86025" tIns="0" rIns="6000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score = </a:t>
            </a:r>
            <a:r>
              <a:rPr lang="en" sz="1000" b="0" i="0" u="none" strike="noStrike" cap="none" dirty="0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score = </a:t>
            </a:r>
            <a:r>
              <a:rPr lang="en" sz="1000" b="0" i="0" u="none" strike="noStrike" cap="none" dirty="0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;    </a:t>
            </a:r>
            <a:r>
              <a:rPr lang="en" sz="10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// allowed - let can change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name = 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"Asha"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name = 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"Ravi"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en" sz="10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// Error - const cannot change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8" name="Output panel"/>
          <p:cNvSpPr/>
          <p:nvPr/>
        </p:nvSpPr>
        <p:spPr>
          <a:xfrm>
            <a:off x="4300000" y="1792960"/>
            <a:ext cx="4350000" cy="47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49" name="Output heading"/>
          <p:cNvSpPr txBox="1"/>
          <p:nvPr/>
        </p:nvSpPr>
        <p:spPr>
          <a:xfrm>
            <a:off x="4420000" y="1832960"/>
            <a:ext cx="4110000" cy="200000"/>
          </a:xfrm>
          <a:prstGeom prst="rect">
            <a:avLst/>
          </a:prstGeom>
          <a:noFill/>
        </p:spPr>
        <p:txBody>
          <a:bodyPr spcFirstLastPara="1" wrap="square" lIns="0" tIns="30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Console output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0" name="Output"/>
          <p:cNvSpPr txBox="1"/>
          <p:nvPr/>
        </p:nvSpPr>
        <p:spPr>
          <a:xfrm>
            <a:off x="4420000" y="2042960"/>
            <a:ext cx="4110000" cy="1900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1" i="0" u="none" strike="noStrike" cap="none" dirty="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TypeError: Assignment to constant variable.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grpSpPr/>
      <p:sp>
        <p:nvSpPr>
          <p:cNvPr id="2" name="Google Shape;105;p15">
            <a:extLst>
              <a:ext uri="{FF2B5EF4-FFF2-40B4-BE49-F238E27FC236}">
                <a16:creationId xmlns:a16="http://schemas.microsoft.com/office/drawing/2014/main" id="{37704251-34F5-613C-5E3B-94145DB0E1FA}"/>
              </a:ext>
            </a:extLst>
          </p:cNvPr>
          <p:cNvSpPr txBox="1"/>
          <p:nvPr/>
        </p:nvSpPr>
        <p:spPr>
          <a:xfrm>
            <a:off x="712771" y="301857"/>
            <a:ext cx="4111990" cy="608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025" tIns="43000" rIns="86025" bIns="43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87"/>
              <a:buFont typeface="Arial"/>
              <a:buNone/>
            </a:pPr>
            <a:r>
              <a:rPr lang="en" sz="26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var vs </a:t>
            </a:r>
            <a:r>
              <a:rPr lang="en" sz="2600" b="1" i="0" u="none" strike="noStrike" cap="none" dirty="0">
                <a:solidFill>
                  <a:schemeClr val="tx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let vs const</a:t>
            </a:r>
            <a:endParaRPr sz="1379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110;p15" title="Untitled-1-07.png">
            <a:extLst>
              <a:ext uri="{FF2B5EF4-FFF2-40B4-BE49-F238E27FC236}">
                <a16:creationId xmlns:a16="http://schemas.microsoft.com/office/drawing/2014/main" id="{C3B7E3F1-D37B-2646-9BB6-E571C4C7125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11;p15" title="powerd by.png">
            <a:extLst>
              <a:ext uri="{FF2B5EF4-FFF2-40B4-BE49-F238E27FC236}">
                <a16:creationId xmlns:a16="http://schemas.microsoft.com/office/drawing/2014/main" id="{CA76EB78-E3B8-F90F-90C7-6589A8D97E7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2;p15">
            <a:extLst>
              <a:ext uri="{FF2B5EF4-FFF2-40B4-BE49-F238E27FC236}">
                <a16:creationId xmlns:a16="http://schemas.microsoft.com/office/drawing/2014/main" id="{A1FA0073-F414-E725-1106-D978C7D87A08}"/>
              </a:ext>
            </a:extLst>
          </p:cNvPr>
          <p:cNvSpPr txBox="1"/>
          <p:nvPr/>
        </p:nvSpPr>
        <p:spPr>
          <a:xfrm>
            <a:off x="599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" name="Google Shape;114;p15">
            <a:extLst>
              <a:ext uri="{FF2B5EF4-FFF2-40B4-BE49-F238E27FC236}">
                <a16:creationId xmlns:a16="http://schemas.microsoft.com/office/drawing/2014/main" id="{45F38B8D-4514-11F2-6B68-BF1315E796AF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" descr="Topics Covered Colored Icon In Powerpoint Pptx Png And Editable Eps Format  PPT PowerPoint">
            <a:extLst>
              <a:ext uri="{FF2B5EF4-FFF2-40B4-BE49-F238E27FC236}">
                <a16:creationId xmlns:a16="http://schemas.microsoft.com/office/drawing/2014/main" id="{1508F156-F14D-23C4-AFD8-634CD3B7D2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4" t="15654" r="11334" b="-6352"/>
          <a:stretch>
            <a:fillRect/>
          </a:stretch>
        </p:blipFill>
        <p:spPr bwMode="auto">
          <a:xfrm>
            <a:off x="4426776" y="90096"/>
            <a:ext cx="1827288" cy="1031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oogle Shape;119;p16">
            <a:extLst>
              <a:ext uri="{FF2B5EF4-FFF2-40B4-BE49-F238E27FC236}">
                <a16:creationId xmlns:a16="http://schemas.microsoft.com/office/drawing/2014/main" id="{DBA8812A-9AED-7145-1197-9A62D6C3AF38}"/>
              </a:ext>
            </a:extLst>
          </p:cNvPr>
          <p:cNvGrpSpPr/>
          <p:nvPr/>
        </p:nvGrpSpPr>
        <p:grpSpPr>
          <a:xfrm flipH="1">
            <a:off x="6168011" y="-64240"/>
            <a:ext cx="3075825" cy="2569547"/>
            <a:chOff x="0" y="-55"/>
            <a:chExt cx="3962400" cy="4869150"/>
          </a:xfrm>
        </p:grpSpPr>
        <p:sp>
          <p:nvSpPr>
            <p:cNvPr id="10" name="Google Shape;120;p16">
              <a:extLst>
                <a:ext uri="{FF2B5EF4-FFF2-40B4-BE49-F238E27FC236}">
                  <a16:creationId xmlns:a16="http://schemas.microsoft.com/office/drawing/2014/main" id="{6B801943-4BF2-4F32-22C5-CAD3D7262D0A}"/>
                </a:ext>
              </a:extLst>
            </p:cNvPr>
            <p:cNvSpPr/>
            <p:nvPr/>
          </p:nvSpPr>
          <p:spPr>
            <a:xfrm rot="10800000" flipH="1">
              <a:off x="0" y="-50"/>
              <a:ext cx="3962400" cy="3962400"/>
            </a:xfrm>
            <a:prstGeom prst="rtTriangle">
              <a:avLst/>
            </a:prstGeom>
            <a:solidFill>
              <a:srgbClr val="0053A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21;p16">
              <a:extLst>
                <a:ext uri="{FF2B5EF4-FFF2-40B4-BE49-F238E27FC236}">
                  <a16:creationId xmlns:a16="http://schemas.microsoft.com/office/drawing/2014/main" id="{3419E328-7AB1-C842-D1B9-B717797AB33B}"/>
                </a:ext>
              </a:extLst>
            </p:cNvPr>
            <p:cNvSpPr/>
            <p:nvPr/>
          </p:nvSpPr>
          <p:spPr>
            <a:xfrm rot="10800000">
              <a:off x="33807" y="-55"/>
              <a:ext cx="3264300" cy="2341800"/>
            </a:xfrm>
            <a:prstGeom prst="parallelogram">
              <a:avLst>
                <a:gd name="adj" fmla="val 104167"/>
              </a:avLst>
            </a:prstGeom>
            <a:gradFill>
              <a:gsLst>
                <a:gs pos="0">
                  <a:srgbClr val="003E78"/>
                </a:gs>
                <a:gs pos="15000">
                  <a:srgbClr val="003E78"/>
                </a:gs>
                <a:gs pos="64000">
                  <a:srgbClr val="0053A1">
                    <a:alpha val="0"/>
                  </a:srgbClr>
                </a:gs>
                <a:gs pos="100000">
                  <a:srgbClr val="0053A1">
                    <a:alpha val="0"/>
                  </a:srgbClr>
                </a:gs>
              </a:gsLst>
              <a:lin ang="18000042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2;p16">
              <a:extLst>
                <a:ext uri="{FF2B5EF4-FFF2-40B4-BE49-F238E27FC236}">
                  <a16:creationId xmlns:a16="http://schemas.microsoft.com/office/drawing/2014/main" id="{14DD40DA-9BB5-507F-D5C4-DDBF9AE65E0E}"/>
                </a:ext>
              </a:extLst>
            </p:cNvPr>
            <p:cNvSpPr/>
            <p:nvPr/>
          </p:nvSpPr>
          <p:spPr>
            <a:xfrm>
              <a:off x="0" y="2671369"/>
              <a:ext cx="2289304" cy="2197726"/>
            </a:xfrm>
            <a:custGeom>
              <a:avLst/>
              <a:gdLst/>
              <a:ahLst/>
              <a:cxnLst/>
              <a:rect l="l" t="t" r="r" b="b"/>
              <a:pathLst>
                <a:path w="2289304" h="2197726" extrusionOk="0">
                  <a:moveTo>
                    <a:pt x="1614108" y="0"/>
                  </a:moveTo>
                  <a:lnTo>
                    <a:pt x="2289304" y="0"/>
                  </a:lnTo>
                  <a:lnTo>
                    <a:pt x="0" y="2197726"/>
                  </a:lnTo>
                  <a:lnTo>
                    <a:pt x="0" y="1549539"/>
                  </a:lnTo>
                  <a:close/>
                </a:path>
              </a:pathLst>
            </a:custGeom>
            <a:gradFill>
              <a:gsLst>
                <a:gs pos="0">
                  <a:srgbClr val="980000"/>
                </a:gs>
                <a:gs pos="15000">
                  <a:srgbClr val="CC0000"/>
                </a:gs>
                <a:gs pos="64000">
                  <a:srgbClr val="0053A1">
                    <a:alpha val="0"/>
                  </a:srgbClr>
                </a:gs>
                <a:gs pos="100000">
                  <a:srgbClr val="0053A1">
                    <a:alpha val="0"/>
                  </a:srgbClr>
                </a:gs>
              </a:gsLst>
              <a:lin ang="18000042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351" name="Table"/>
          <p:cNvGraphicFramePr>
            <a:graphicFrameLocks noGrp="1"/>
          </p:cNvGraphicFramePr>
          <p:nvPr/>
        </p:nvGraphicFramePr>
        <p:xfrm>
          <a:off x="771590" y="1250000"/>
          <a:ext cx="7600000" cy="16500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900000"/>
                <a:gridCol w="1900000"/>
                <a:gridCol w="1900000"/>
                <a:gridCol w="1900000"/>
              </a:tblGrid>
              <a:tr h="330000">
                <a:tc>
                  <a:txBody>
                    <a:bodyPr/>
                    <a:lstStyle/>
                    <a:p>
                      <a:r>
                        <a:rPr lang="en-IN" sz="1050" b="1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1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var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1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let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1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const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D3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lang="en-IN" sz="1050" b="1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Scope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Block { 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Block { 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lang="en-IN" sz="1050" b="1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Can reassign?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lang="en-IN" sz="1050" b="1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Can redeclare?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000">
                <a:tc>
                  <a:txBody>
                    <a:bodyPr/>
                    <a:lstStyle/>
                    <a:p>
                      <a:r>
                        <a:rPr lang="en-IN" sz="1050" b="1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Use today?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Avoid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When needed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Default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52" name="Banner"/>
          <p:cNvSpPr/>
          <p:nvPr/>
        </p:nvSpPr>
        <p:spPr>
          <a:xfrm>
            <a:off x="771590" y="3180000"/>
            <a:ext cx="7600000" cy="520000"/>
          </a:xfrm>
          <a:prstGeom prst="roundRect">
            <a:avLst>
              <a:gd name="adj" fmla="val 12000"/>
            </a:avLst>
          </a:prstGeom>
          <a:solidFill>
            <a:srgbClr val="E6EFFA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Modern rule: </a:t>
            </a:r>
            <a:r>
              <a:rPr lang="en" sz="1200" b="1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const first, let if it changes, never var.</a:t>
            </a:r>
            <a:endParaRPr lang="en" sz="1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grpSpPr/>
      <p:pic>
        <p:nvPicPr>
          <p:cNvPr id="110" name="Google Shape;110;p15" title="Untitled-1-07.png"/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powerd by.png"/>
          <p:cNvPicPr preferRelativeResize="0"/>
          <p:nvPr/>
        </p:nvPicPr>
        <p:blipFill rotWithShape="1">
          <a:blip r:embed="rId5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99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Kicker"/>
          <p:cNvSpPr txBox="1"/>
          <p:nvPr/>
        </p:nvSpPr>
        <p:spPr>
          <a:xfrm>
            <a:off x="675600" y="285000"/>
            <a:ext cx="3560000" cy="2412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3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Variables and Scoping</a:t>
            </a:r>
            <a:endParaRPr lang="en" sz="1003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" name="Title"/>
          <p:cNvSpPr txBox="1"/>
          <p:nvPr/>
        </p:nvSpPr>
        <p:spPr>
          <a:xfrm>
            <a:off x="675600" y="520000"/>
            <a:ext cx="3560000" cy="763948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Understanding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Block Scope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5" name="Body"/>
          <p:cNvSpPr txBox="1"/>
          <p:nvPr/>
        </p:nvSpPr>
        <p:spPr>
          <a:xfrm>
            <a:off x="620000" y="1383000"/>
            <a:ext cx="3560000" cy="14449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lang="en" sz="11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block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is code inside curly braces </a:t>
            </a: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{ }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, like an </a:t>
            </a: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or a loop.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live </a:t>
            </a:r>
            <a:r>
              <a:rPr lang="en" sz="11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only inside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their block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var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ignores blocks and </a:t>
            </a:r>
            <a:r>
              <a:rPr lang="en" sz="11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leaks out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- a classic source of bugs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6" name="Outer"/>
          <p:cNvSpPr/>
          <p:nvPr/>
        </p:nvSpPr>
        <p:spPr>
          <a:xfrm>
            <a:off x="675600" y="2947900"/>
            <a:ext cx="3400000" cy="1130000"/>
          </a:xfrm>
          <a:prstGeom prst="roundRect">
            <a:avLst>
              <a:gd name="adj" fmla="val 6000"/>
            </a:avLst>
          </a:prstGeom>
          <a:solidFill>
            <a:srgbClr val="F3F7FC"/>
          </a:solidFill>
          <a:ln w="9525">
            <a:solidFill>
              <a:srgbClr val="D9D9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7" name="Outer label"/>
          <p:cNvSpPr txBox="1"/>
          <p:nvPr/>
        </p:nvSpPr>
        <p:spPr>
          <a:xfrm>
            <a:off x="760000" y="2987900"/>
            <a:ext cx="3200000" cy="2200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 b="1" i="0" u="none" strike="noStrike" cap="none" dirty="0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Outside the block: var is still visible</a:t>
            </a:r>
            <a:endParaRPr lang="en" sz="8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" name="Block"/>
          <p:cNvSpPr/>
          <p:nvPr/>
        </p:nvSpPr>
        <p:spPr>
          <a:xfrm>
            <a:off x="800000" y="3247900"/>
            <a:ext cx="3150000" cy="720000"/>
          </a:xfrm>
          <a:prstGeom prst="roundRect">
            <a:avLst>
              <a:gd name="adj" fmla="val 8000"/>
            </a:avLst>
          </a:prstGeom>
          <a:solidFill>
            <a:srgbClr val="E6EFFA"/>
          </a:solidFill>
          <a:ln w="9525">
            <a:solidFill>
              <a:srgbClr val="0053A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9" name="Block label"/>
          <p:cNvSpPr txBox="1"/>
          <p:nvPr/>
        </p:nvSpPr>
        <p:spPr>
          <a:xfrm>
            <a:off x="880000" y="3277900"/>
            <a:ext cx="3000000" cy="2200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 b="1" i="0" u="none" strike="noStrike" cap="none" dirty="0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Inside the { } block</a:t>
            </a:r>
            <a:endParaRPr lang="en" sz="8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0" name="Inner chip"/>
          <p:cNvSpPr/>
          <p:nvPr/>
        </p:nvSpPr>
        <p:spPr>
          <a:xfrm>
            <a:off x="880000" y="3537900"/>
            <a:ext cx="2000000" cy="300000"/>
          </a:xfrm>
          <a:prstGeom prst="roundRect">
            <a:avLst>
              <a:gd name="adj" fmla="val 30000"/>
            </a:avLst>
          </a:prstGeom>
          <a:solidFill>
            <a:srgbClr val="0053A1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 b="1" i="0" u="none" strike="noStrike" cap="none" dirty="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let / const stay here</a:t>
            </a:r>
            <a:endParaRPr lang="en" sz="8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" name="Code panel"/>
          <p:cNvSpPr/>
          <p:nvPr/>
        </p:nvSpPr>
        <p:spPr>
          <a:xfrm>
            <a:off x="4300000" y="500000"/>
            <a:ext cx="4350000" cy="1347552"/>
          </a:xfrm>
          <a:prstGeom prst="roundRect">
            <a:avLst>
              <a:gd name="adj" fmla="val 3500"/>
            </a:avLst>
          </a:prstGeom>
          <a:solidFill>
            <a:srgbClr val="0E2455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62" name="Dot 1"/>
          <p:cNvSpPr/>
          <p:nvPr/>
        </p:nvSpPr>
        <p:spPr>
          <a:xfrm>
            <a:off x="4420000" y="605000"/>
            <a:ext cx="70000" cy="7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3" name="Dot 2"/>
          <p:cNvSpPr/>
          <p:nvPr/>
        </p:nvSpPr>
        <p:spPr>
          <a:xfrm>
            <a:off x="4550000" y="605000"/>
            <a:ext cx="70000" cy="700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4" name="Dot 3"/>
          <p:cNvSpPr/>
          <p:nvPr/>
        </p:nvSpPr>
        <p:spPr>
          <a:xfrm>
            <a:off x="4680000" y="605000"/>
            <a:ext cx="70000" cy="70000"/>
          </a:xfrm>
          <a:prstGeom prst="ellipse">
            <a:avLst/>
          </a:prstGeom>
          <a:solidFill>
            <a:srgbClr val="3DAE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5" name="Code label"/>
          <p:cNvSpPr txBox="1"/>
          <p:nvPr/>
        </p:nvSpPr>
        <p:spPr>
          <a:xfrm>
            <a:off x="7650000" y="555000"/>
            <a:ext cx="900000" cy="170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8FA3C4"/>
                </a:solidFill>
                <a:latin typeface="Roboto"/>
                <a:ea typeface="Roboto"/>
                <a:cs typeface="Roboto"/>
                <a:sym typeface="Roboto"/>
              </a:rPr>
              <a:t>JS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6" name="Code"/>
          <p:cNvSpPr txBox="1"/>
          <p:nvPr/>
        </p:nvSpPr>
        <p:spPr>
          <a:xfrm>
            <a:off x="4360000" y="750000"/>
            <a:ext cx="4230000" cy="1067552"/>
          </a:xfrm>
          <a:prstGeom prst="rect">
            <a:avLst/>
          </a:prstGeom>
          <a:noFill/>
        </p:spPr>
        <p:txBody>
          <a:bodyPr spcFirstLastPara="1" wrap="square" lIns="86025" tIns="0" rIns="6000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var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oldWay = 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"I leak out"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newWay = 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"I stay inside"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console.log(oldWay); </a:t>
            </a:r>
            <a:r>
              <a:rPr lang="en" sz="10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// I leak out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console.log(newWay); </a:t>
            </a:r>
            <a:r>
              <a:rPr lang="en" sz="10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// ReferenceError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" name="Output panel"/>
          <p:cNvSpPr/>
          <p:nvPr/>
        </p:nvSpPr>
        <p:spPr>
          <a:xfrm>
            <a:off x="4300000" y="1957552"/>
            <a:ext cx="4350000" cy="62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68" name="Output heading"/>
          <p:cNvSpPr txBox="1"/>
          <p:nvPr/>
        </p:nvSpPr>
        <p:spPr>
          <a:xfrm>
            <a:off x="4420000" y="1997552"/>
            <a:ext cx="4110000" cy="200000"/>
          </a:xfrm>
          <a:prstGeom prst="rect">
            <a:avLst/>
          </a:prstGeom>
          <a:noFill/>
        </p:spPr>
        <p:txBody>
          <a:bodyPr spcFirstLastPara="1" wrap="square" lIns="0" tIns="30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Console output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Output"/>
          <p:cNvSpPr txBox="1"/>
          <p:nvPr/>
        </p:nvSpPr>
        <p:spPr>
          <a:xfrm>
            <a:off x="4420000" y="2207552"/>
            <a:ext cx="4110000" cy="3400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1" i="0" u="none" strike="noStrike" cap="none" dirty="0">
                <a:solidFill>
                  <a:srgbClr val="1E7B3A"/>
                </a:solidFill>
                <a:latin typeface="Courier New"/>
                <a:ea typeface="Courier New"/>
                <a:cs typeface="Courier New"/>
                <a:sym typeface="Courier New"/>
              </a:rPr>
              <a:t>I leak out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1" i="0" u="none" strike="noStrike" cap="none" dirty="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ReferenceError: newWay is not defined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grpSpPr/>
      <p:pic>
        <p:nvPicPr>
          <p:cNvPr id="110" name="Google Shape;110;p15" title="Untitled-1-07.png"/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powerd by.png"/>
          <p:cNvPicPr preferRelativeResize="0"/>
          <p:nvPr/>
        </p:nvPicPr>
        <p:blipFill rotWithShape="1">
          <a:blip r:embed="rId5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99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Kicker"/>
          <p:cNvSpPr txBox="1"/>
          <p:nvPr/>
        </p:nvSpPr>
        <p:spPr>
          <a:xfrm>
            <a:off x="675600" y="285000"/>
            <a:ext cx="3560000" cy="2412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3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Variables and Scoping</a:t>
            </a:r>
            <a:endParaRPr lang="en" sz="1003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1" name="Title"/>
          <p:cNvSpPr txBox="1"/>
          <p:nvPr/>
        </p:nvSpPr>
        <p:spPr>
          <a:xfrm>
            <a:off x="675600" y="520000"/>
            <a:ext cx="3560000" cy="763948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Variables: Mistakes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and Best Practices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2" name="Body"/>
          <p:cNvSpPr txBox="1"/>
          <p:nvPr/>
        </p:nvSpPr>
        <p:spPr>
          <a:xfrm>
            <a:off x="620000" y="1383000"/>
            <a:ext cx="3560000" cy="2044339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700"/>
              </a:spcBef>
              <a:spcAft>
                <a:spcPts val="200"/>
              </a:spcAft>
              <a:buNone/>
            </a:pPr>
            <a:r>
              <a:rPr lang="en" sz="1129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Common mistakes</a:t>
            </a:r>
            <a:endParaRPr lang="en" sz="1129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Using a variable before declaring it (ReferenceError)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Thinking </a:t>
            </a: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makes objects fully frozen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700"/>
              </a:spcBef>
              <a:spcAft>
                <a:spcPts val="200"/>
              </a:spcAft>
              <a:buNone/>
            </a:pPr>
            <a:r>
              <a:rPr lang="en" sz="1129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Best practices</a:t>
            </a:r>
            <a:endParaRPr lang="en" sz="1129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Declare before use, use meaningful names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Build a const-first habit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3" name="Code panel"/>
          <p:cNvSpPr/>
          <p:nvPr/>
        </p:nvSpPr>
        <p:spPr>
          <a:xfrm>
            <a:off x="4300000" y="500000"/>
            <a:ext cx="4350000" cy="1347552"/>
          </a:xfrm>
          <a:prstGeom prst="roundRect">
            <a:avLst>
              <a:gd name="adj" fmla="val 3500"/>
            </a:avLst>
          </a:prstGeom>
          <a:solidFill>
            <a:srgbClr val="0E2455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74" name="Dot 1"/>
          <p:cNvSpPr/>
          <p:nvPr/>
        </p:nvSpPr>
        <p:spPr>
          <a:xfrm>
            <a:off x="4420000" y="605000"/>
            <a:ext cx="70000" cy="7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5" name="Dot 2"/>
          <p:cNvSpPr/>
          <p:nvPr/>
        </p:nvSpPr>
        <p:spPr>
          <a:xfrm>
            <a:off x="4550000" y="605000"/>
            <a:ext cx="70000" cy="700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6" name="Dot 3"/>
          <p:cNvSpPr/>
          <p:nvPr/>
        </p:nvSpPr>
        <p:spPr>
          <a:xfrm>
            <a:off x="4680000" y="605000"/>
            <a:ext cx="70000" cy="70000"/>
          </a:xfrm>
          <a:prstGeom prst="ellipse">
            <a:avLst/>
          </a:prstGeom>
          <a:solidFill>
            <a:srgbClr val="3DAE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7" name="Code label"/>
          <p:cNvSpPr txBox="1"/>
          <p:nvPr/>
        </p:nvSpPr>
        <p:spPr>
          <a:xfrm>
            <a:off x="7650000" y="555000"/>
            <a:ext cx="900000" cy="170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8FA3C4"/>
                </a:solidFill>
                <a:latin typeface="Roboto"/>
                <a:ea typeface="Roboto"/>
                <a:cs typeface="Roboto"/>
                <a:sym typeface="Roboto"/>
              </a:rPr>
              <a:t>JS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8" name="Code"/>
          <p:cNvSpPr txBox="1"/>
          <p:nvPr/>
        </p:nvSpPr>
        <p:spPr>
          <a:xfrm>
            <a:off x="4360000" y="750000"/>
            <a:ext cx="4230000" cy="1067552"/>
          </a:xfrm>
          <a:prstGeom prst="rect">
            <a:avLst/>
          </a:prstGeom>
          <a:noFill/>
        </p:spPr>
        <p:txBody>
          <a:bodyPr spcFirstLastPara="1" wrap="square" lIns="86025" tIns="0" rIns="6000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user = { name: 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"Asha"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};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user.age = </a:t>
            </a:r>
            <a:r>
              <a:rPr lang="en" sz="1000" b="0" i="0" u="none" strike="noStrike" cap="none" dirty="0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21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en" sz="10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// allowed - edits the inside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console.log(user);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// user = {};  // TypeError - reassigns the box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9" name="Output panel"/>
          <p:cNvSpPr/>
          <p:nvPr/>
        </p:nvSpPr>
        <p:spPr>
          <a:xfrm>
            <a:off x="4300000" y="1957552"/>
            <a:ext cx="4350000" cy="47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80" name="Output heading"/>
          <p:cNvSpPr txBox="1"/>
          <p:nvPr/>
        </p:nvSpPr>
        <p:spPr>
          <a:xfrm>
            <a:off x="4420000" y="1997552"/>
            <a:ext cx="4110000" cy="200000"/>
          </a:xfrm>
          <a:prstGeom prst="rect">
            <a:avLst/>
          </a:prstGeom>
          <a:noFill/>
        </p:spPr>
        <p:txBody>
          <a:bodyPr spcFirstLastPara="1" wrap="square" lIns="0" tIns="30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Console output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1" name="Output"/>
          <p:cNvSpPr txBox="1"/>
          <p:nvPr/>
        </p:nvSpPr>
        <p:spPr>
          <a:xfrm>
            <a:off x="4420000" y="2207552"/>
            <a:ext cx="4110000" cy="1900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 u="none" strike="noStrike" cap="none" dirty="0">
                <a:solidFill>
                  <a:srgbClr val="0E2455"/>
                </a:solidFill>
                <a:latin typeface="Courier New"/>
                <a:ea typeface="Courier New"/>
                <a:cs typeface="Courier New"/>
                <a:sym typeface="Courier New"/>
              </a:rPr>
              <a:t>{ name: "Asha", age: 21 }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grpSpPr/>
      <p:pic>
        <p:nvPicPr>
          <p:cNvPr id="110" name="Google Shape;110;p15" title="Untitled-1-07.png"/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powerd by.png"/>
          <p:cNvPicPr preferRelativeResize="0"/>
          <p:nvPr/>
        </p:nvPicPr>
        <p:blipFill rotWithShape="1">
          <a:blip r:embed="rId5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99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Kicker"/>
          <p:cNvSpPr txBox="1"/>
          <p:nvPr/>
        </p:nvSpPr>
        <p:spPr>
          <a:xfrm>
            <a:off x="675600" y="285000"/>
            <a:ext cx="3560000" cy="2412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3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Arrow Functions</a:t>
            </a:r>
            <a:endParaRPr lang="en" sz="1003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3" name="Title"/>
          <p:cNvSpPr txBox="1"/>
          <p:nvPr/>
        </p:nvSpPr>
        <p:spPr>
          <a:xfrm>
            <a:off x="675600" y="520000"/>
            <a:ext cx="3560000" cy="763948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Arrow Function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Basics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" name="Body"/>
          <p:cNvSpPr txBox="1"/>
          <p:nvPr/>
        </p:nvSpPr>
        <p:spPr>
          <a:xfrm>
            <a:off x="620000" y="1383000"/>
            <a:ext cx="3560000" cy="121884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Remove the word </a:t>
            </a: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, add </a:t>
            </a: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One-line body gives an </a:t>
            </a:r>
            <a:r>
              <a:rPr lang="en" sz="11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implicit return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- no braces, no </a:t>
            </a: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Zero params: </a:t>
            </a: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, one param: no brackets, many: </a:t>
            </a: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( )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5" name="Old - regular function card"/>
          <p:cNvSpPr/>
          <p:nvPr/>
        </p:nvSpPr>
        <p:spPr>
          <a:xfrm>
            <a:off x="675600" y="2701840"/>
            <a:ext cx="3400000" cy="740000"/>
          </a:xfrm>
          <a:prstGeom prst="roundRect">
            <a:avLst>
              <a:gd name="adj" fmla="val 3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6" name="Old - regular function label"/>
          <p:cNvSpPr txBox="1"/>
          <p:nvPr/>
        </p:nvSpPr>
        <p:spPr>
          <a:xfrm>
            <a:off x="785600" y="2741840"/>
            <a:ext cx="3200000" cy="190000"/>
          </a:xfrm>
          <a:prstGeom prst="rect">
            <a:avLst/>
          </a:prstGeom>
          <a:noFill/>
        </p:spPr>
        <p:txBody>
          <a:bodyPr spcFirstLastPara="1" wrap="square" lIns="0" tIns="20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C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Old - regular function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7" name="Old - regular function code"/>
          <p:cNvSpPr txBox="1"/>
          <p:nvPr/>
        </p:nvSpPr>
        <p:spPr>
          <a:xfrm>
            <a:off x="785600" y="2941840"/>
            <a:ext cx="3200000" cy="4800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en" sz="950" b="0" i="0" u="none" strike="noStrike" cap="none" dirty="0">
                <a:solidFill>
                  <a:srgbClr val="0E2455"/>
                </a:solidFill>
                <a:latin typeface="Courier New"/>
                <a:ea typeface="Courier New"/>
                <a:cs typeface="Courier New"/>
                <a:sym typeface="Courier New"/>
              </a:rPr>
              <a:t> add(a, b) {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 u="none" strike="noStrike" cap="none" dirty="0">
                <a:solidFill>
                  <a:srgbClr val="0E2455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9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950" b="0" i="0" u="none" strike="noStrike" cap="none" dirty="0">
                <a:solidFill>
                  <a:srgbClr val="0E2455"/>
                </a:solidFill>
                <a:latin typeface="Courier New"/>
                <a:ea typeface="Courier New"/>
                <a:cs typeface="Courier New"/>
                <a:sym typeface="Courier New"/>
              </a:rPr>
              <a:t> a + b;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 u="none" strike="noStrike" cap="none" dirty="0">
                <a:solidFill>
                  <a:srgbClr val="0E2455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8" name="New - arrow function card"/>
          <p:cNvSpPr/>
          <p:nvPr/>
        </p:nvSpPr>
        <p:spPr>
          <a:xfrm>
            <a:off x="675600" y="3531840"/>
            <a:ext cx="3400000" cy="440000"/>
          </a:xfrm>
          <a:prstGeom prst="roundRect">
            <a:avLst>
              <a:gd name="adj" fmla="val 3000"/>
            </a:avLst>
          </a:prstGeom>
          <a:solidFill>
            <a:srgbClr val="E6EF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9" name="New - arrow function label"/>
          <p:cNvSpPr txBox="1"/>
          <p:nvPr/>
        </p:nvSpPr>
        <p:spPr>
          <a:xfrm>
            <a:off x="785600" y="3571840"/>
            <a:ext cx="3200000" cy="190000"/>
          </a:xfrm>
          <a:prstGeom prst="rect">
            <a:avLst/>
          </a:prstGeom>
          <a:noFill/>
        </p:spPr>
        <p:txBody>
          <a:bodyPr spcFirstLastPara="1" wrap="square" lIns="0" tIns="20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New - arrow function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" name="New - arrow function code"/>
          <p:cNvSpPr txBox="1"/>
          <p:nvPr/>
        </p:nvSpPr>
        <p:spPr>
          <a:xfrm>
            <a:off x="785600" y="3771840"/>
            <a:ext cx="3200000" cy="1800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950" b="0" i="0" u="none" strike="noStrike" cap="none" dirty="0">
                <a:solidFill>
                  <a:srgbClr val="0E2455"/>
                </a:solidFill>
                <a:latin typeface="Courier New"/>
                <a:ea typeface="Courier New"/>
                <a:cs typeface="Courier New"/>
                <a:sym typeface="Courier New"/>
              </a:rPr>
              <a:t> add = (a, b) =&gt; a + b;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1" name="Code panel"/>
          <p:cNvSpPr/>
          <p:nvPr/>
        </p:nvSpPr>
        <p:spPr>
          <a:xfrm>
            <a:off x="4300000" y="500000"/>
            <a:ext cx="4350000" cy="1512144"/>
          </a:xfrm>
          <a:prstGeom prst="roundRect">
            <a:avLst>
              <a:gd name="adj" fmla="val 3500"/>
            </a:avLst>
          </a:prstGeom>
          <a:solidFill>
            <a:srgbClr val="0E2455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92" name="Dot 1"/>
          <p:cNvSpPr/>
          <p:nvPr/>
        </p:nvSpPr>
        <p:spPr>
          <a:xfrm>
            <a:off x="4420000" y="605000"/>
            <a:ext cx="70000" cy="7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3" name="Dot 2"/>
          <p:cNvSpPr/>
          <p:nvPr/>
        </p:nvSpPr>
        <p:spPr>
          <a:xfrm>
            <a:off x="4550000" y="605000"/>
            <a:ext cx="70000" cy="700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4" name="Dot 3"/>
          <p:cNvSpPr/>
          <p:nvPr/>
        </p:nvSpPr>
        <p:spPr>
          <a:xfrm>
            <a:off x="4680000" y="605000"/>
            <a:ext cx="70000" cy="70000"/>
          </a:xfrm>
          <a:prstGeom prst="ellipse">
            <a:avLst/>
          </a:prstGeom>
          <a:solidFill>
            <a:srgbClr val="3DAE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5" name="Code label"/>
          <p:cNvSpPr txBox="1"/>
          <p:nvPr/>
        </p:nvSpPr>
        <p:spPr>
          <a:xfrm>
            <a:off x="7650000" y="555000"/>
            <a:ext cx="900000" cy="170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8FA3C4"/>
                </a:solidFill>
                <a:latin typeface="Roboto"/>
                <a:ea typeface="Roboto"/>
                <a:cs typeface="Roboto"/>
                <a:sym typeface="Roboto"/>
              </a:rPr>
              <a:t>JS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6" name="Code"/>
          <p:cNvSpPr txBox="1"/>
          <p:nvPr/>
        </p:nvSpPr>
        <p:spPr>
          <a:xfrm>
            <a:off x="4360000" y="750000"/>
            <a:ext cx="4230000" cy="1232144"/>
          </a:xfrm>
          <a:prstGeom prst="rect">
            <a:avLst/>
          </a:prstGeom>
          <a:noFill/>
        </p:spPr>
        <p:txBody>
          <a:bodyPr spcFirstLastPara="1" wrap="square" lIns="86025" tIns="0" rIns="6000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greet  = ()     =&gt; 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"Hello!"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double = n      =&gt; n * </a:t>
            </a:r>
            <a:r>
              <a:rPr lang="en" sz="1000" b="0" i="0" u="none" strike="noStrike" cap="none" dirty="0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sum    = (a, b) =&gt; a + b;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console.log(greet());   </a:t>
            </a:r>
            <a:r>
              <a:rPr lang="en" sz="10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// Hello!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console.log(double(</a:t>
            </a:r>
            <a:r>
              <a:rPr lang="en" sz="1000" b="0" i="0" u="none" strike="noStrike" cap="none" dirty="0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)); </a:t>
            </a:r>
            <a:r>
              <a:rPr lang="en" sz="10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// 10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console.log(sum(</a:t>
            </a:r>
            <a:r>
              <a:rPr lang="en" sz="1000" b="0" i="0" u="none" strike="noStrike" cap="none" dirty="0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 b="0" i="0" u="none" strike="noStrike" cap="none" dirty="0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)); </a:t>
            </a:r>
            <a:r>
              <a:rPr lang="en" sz="10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// 5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7" name="Output panel"/>
          <p:cNvSpPr/>
          <p:nvPr/>
        </p:nvSpPr>
        <p:spPr>
          <a:xfrm>
            <a:off x="4300000" y="2122144"/>
            <a:ext cx="4350000" cy="77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98" name="Output heading"/>
          <p:cNvSpPr txBox="1"/>
          <p:nvPr/>
        </p:nvSpPr>
        <p:spPr>
          <a:xfrm>
            <a:off x="4420000" y="2162144"/>
            <a:ext cx="4110000" cy="200000"/>
          </a:xfrm>
          <a:prstGeom prst="rect">
            <a:avLst/>
          </a:prstGeom>
          <a:noFill/>
        </p:spPr>
        <p:txBody>
          <a:bodyPr spcFirstLastPara="1" wrap="square" lIns="0" tIns="30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Console output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9" name="Output"/>
          <p:cNvSpPr txBox="1"/>
          <p:nvPr/>
        </p:nvSpPr>
        <p:spPr>
          <a:xfrm>
            <a:off x="4420000" y="2372144"/>
            <a:ext cx="4110000" cy="4900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 u="none" strike="noStrike" cap="none" dirty="0">
                <a:solidFill>
                  <a:srgbClr val="0E2455"/>
                </a:solidFill>
                <a:latin typeface="Courier New"/>
                <a:ea typeface="Courier New"/>
                <a:cs typeface="Courier New"/>
                <a:sym typeface="Courier New"/>
              </a:rPr>
              <a:t>Hello!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 u="none" strike="noStrike" cap="none" dirty="0">
                <a:solidFill>
                  <a:srgbClr val="0E2455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 u="none" strike="noStrike" cap="none" dirty="0">
                <a:solidFill>
                  <a:srgbClr val="0E2455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grpSpPr/>
      <p:pic>
        <p:nvPicPr>
          <p:cNvPr id="110" name="Google Shape;110;p15" title="Untitled-1-07.png"/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powerd by.png"/>
          <p:cNvPicPr preferRelativeResize="0"/>
          <p:nvPr/>
        </p:nvPicPr>
        <p:blipFill rotWithShape="1">
          <a:blip r:embed="rId5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99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Kicker"/>
          <p:cNvSpPr txBox="1"/>
          <p:nvPr/>
        </p:nvSpPr>
        <p:spPr>
          <a:xfrm>
            <a:off x="675600" y="285000"/>
            <a:ext cx="3560000" cy="2412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3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Arrow Functions</a:t>
            </a:r>
            <a:endParaRPr lang="en" sz="1003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1" name="Title"/>
          <p:cNvSpPr txBox="1"/>
          <p:nvPr/>
        </p:nvSpPr>
        <p:spPr>
          <a:xfrm>
            <a:off x="675600" y="520000"/>
            <a:ext cx="3560000" cy="763948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Arrow Functions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and this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" name="Body"/>
          <p:cNvSpPr txBox="1"/>
          <p:nvPr/>
        </p:nvSpPr>
        <p:spPr>
          <a:xfrm>
            <a:off x="620000" y="1383000"/>
            <a:ext cx="3560000" cy="220055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Arrow functions do </a:t>
            </a:r>
            <a:r>
              <a:rPr lang="en" sz="11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not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have their own </a:t>
            </a: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They borrow </a:t>
            </a: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from the surrounding code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Perfect for callbacks: timers, array methods, event handlers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700"/>
              </a:spcBef>
              <a:spcAft>
                <a:spcPts val="200"/>
              </a:spcAft>
              <a:buNone/>
            </a:pPr>
            <a:r>
              <a:rPr lang="en" sz="1129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Note</a:t>
            </a:r>
            <a:endParaRPr lang="en" sz="1129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A regular function inside </a:t>
            </a: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start()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would lose </a:t>
            </a: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- the bug arrow functions fix.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3" name="Code panel"/>
          <p:cNvSpPr/>
          <p:nvPr/>
        </p:nvSpPr>
        <p:spPr>
          <a:xfrm>
            <a:off x="4300000" y="500000"/>
            <a:ext cx="4350000" cy="2005920"/>
          </a:xfrm>
          <a:prstGeom prst="roundRect">
            <a:avLst>
              <a:gd name="adj" fmla="val 3500"/>
            </a:avLst>
          </a:prstGeom>
          <a:solidFill>
            <a:srgbClr val="0E2455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04" name="Dot 1"/>
          <p:cNvSpPr/>
          <p:nvPr/>
        </p:nvSpPr>
        <p:spPr>
          <a:xfrm>
            <a:off x="4420000" y="605000"/>
            <a:ext cx="70000" cy="7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5" name="Dot 2"/>
          <p:cNvSpPr/>
          <p:nvPr/>
        </p:nvSpPr>
        <p:spPr>
          <a:xfrm>
            <a:off x="4550000" y="605000"/>
            <a:ext cx="70000" cy="700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6" name="Dot 3"/>
          <p:cNvSpPr/>
          <p:nvPr/>
        </p:nvSpPr>
        <p:spPr>
          <a:xfrm>
            <a:off x="4680000" y="605000"/>
            <a:ext cx="70000" cy="70000"/>
          </a:xfrm>
          <a:prstGeom prst="ellipse">
            <a:avLst/>
          </a:prstGeom>
          <a:solidFill>
            <a:srgbClr val="3DAE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7" name="Code label"/>
          <p:cNvSpPr txBox="1"/>
          <p:nvPr/>
        </p:nvSpPr>
        <p:spPr>
          <a:xfrm>
            <a:off x="7650000" y="555000"/>
            <a:ext cx="900000" cy="170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8FA3C4"/>
                </a:solidFill>
                <a:latin typeface="Roboto"/>
                <a:ea typeface="Roboto"/>
                <a:cs typeface="Roboto"/>
                <a:sym typeface="Roboto"/>
              </a:rPr>
              <a:t>JS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8" name="Code"/>
          <p:cNvSpPr txBox="1"/>
          <p:nvPr/>
        </p:nvSpPr>
        <p:spPr>
          <a:xfrm>
            <a:off x="4360000" y="750000"/>
            <a:ext cx="4230000" cy="1725920"/>
          </a:xfrm>
          <a:prstGeom prst="rect">
            <a:avLst/>
          </a:prstGeom>
          <a:noFill/>
        </p:spPr>
        <p:txBody>
          <a:bodyPr spcFirstLastPara="1" wrap="square" lIns="86025" tIns="0" rIns="6000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timer = {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seconds: </a:t>
            </a:r>
            <a:r>
              <a:rPr lang="en" sz="1000" b="0" i="0" u="none" strike="noStrike" cap="none" dirty="0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start() {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  setInterval(() =&gt; {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.seconds++; </a:t>
            </a:r>
            <a:r>
              <a:rPr lang="en" sz="10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// arrow keeps this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    console.log(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.seconds);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  }, </a:t>
            </a:r>
            <a:r>
              <a:rPr lang="en" sz="1000" b="0" i="0" u="none" strike="noStrike" cap="none" dirty="0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1000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timer.start();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9" name="Output panel"/>
          <p:cNvSpPr/>
          <p:nvPr/>
        </p:nvSpPr>
        <p:spPr>
          <a:xfrm>
            <a:off x="4300000" y="2615920"/>
            <a:ext cx="4350000" cy="77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10" name="Output heading"/>
          <p:cNvSpPr txBox="1"/>
          <p:nvPr/>
        </p:nvSpPr>
        <p:spPr>
          <a:xfrm>
            <a:off x="4420000" y="2655920"/>
            <a:ext cx="4110000" cy="200000"/>
          </a:xfrm>
          <a:prstGeom prst="rect">
            <a:avLst/>
          </a:prstGeom>
          <a:noFill/>
        </p:spPr>
        <p:txBody>
          <a:bodyPr spcFirstLastPara="1" wrap="square" lIns="0" tIns="30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Console output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1" name="Output"/>
          <p:cNvSpPr txBox="1"/>
          <p:nvPr/>
        </p:nvSpPr>
        <p:spPr>
          <a:xfrm>
            <a:off x="4420000" y="2865920"/>
            <a:ext cx="4110000" cy="4900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 u="none" strike="noStrike" cap="none" dirty="0">
                <a:solidFill>
                  <a:srgbClr val="0E2455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 u="none" strike="noStrike" cap="none" dirty="0">
                <a:solidFill>
                  <a:srgbClr val="0E2455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 u="none" strike="noStrike" cap="none" dirty="0">
                <a:solidFill>
                  <a:srgbClr val="0E2455"/>
                </a:solidFill>
                <a:latin typeface="Courier New"/>
                <a:ea typeface="Courier New"/>
                <a:cs typeface="Courier New"/>
                <a:sym typeface="Courier New"/>
              </a:rPr>
              <a:t>3 ... (counts up every second)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grpSpPr/>
      <p:pic>
        <p:nvPicPr>
          <p:cNvPr id="110" name="Google Shape;110;p15" title="Untitled-1-07.png"/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powerd by.png"/>
          <p:cNvPicPr preferRelativeResize="0"/>
          <p:nvPr/>
        </p:nvPicPr>
        <p:blipFill rotWithShape="1">
          <a:blip r:embed="rId5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99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Kicker"/>
          <p:cNvSpPr txBox="1"/>
          <p:nvPr/>
        </p:nvSpPr>
        <p:spPr>
          <a:xfrm>
            <a:off x="675600" y="285000"/>
            <a:ext cx="3560000" cy="2412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3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Template Literals</a:t>
            </a:r>
            <a:endParaRPr lang="en" sz="1003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3" name="Title"/>
          <p:cNvSpPr txBox="1"/>
          <p:nvPr/>
        </p:nvSpPr>
        <p:spPr>
          <a:xfrm>
            <a:off x="675600" y="520000"/>
            <a:ext cx="3560000" cy="763948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Template Literals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Basics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4" name="Body"/>
          <p:cNvSpPr txBox="1"/>
          <p:nvPr/>
        </p:nvSpPr>
        <p:spPr>
          <a:xfrm>
            <a:off x="620000" y="1383000"/>
            <a:ext cx="3560000" cy="96738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Use </a:t>
            </a:r>
            <a:r>
              <a:rPr lang="en" sz="11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backticks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instead of quotes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Embed any value with </a:t>
            </a: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${ }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The old way needed </a:t>
            </a: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chaining - messy and error-prone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5" name="Old way card"/>
          <p:cNvSpPr/>
          <p:nvPr/>
        </p:nvSpPr>
        <p:spPr>
          <a:xfrm>
            <a:off x="675600" y="2450380"/>
            <a:ext cx="3400000" cy="440000"/>
          </a:xfrm>
          <a:prstGeom prst="roundRect">
            <a:avLst>
              <a:gd name="adj" fmla="val 3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6" name="Old way label"/>
          <p:cNvSpPr txBox="1"/>
          <p:nvPr/>
        </p:nvSpPr>
        <p:spPr>
          <a:xfrm>
            <a:off x="785600" y="2490380"/>
            <a:ext cx="3200000" cy="190000"/>
          </a:xfrm>
          <a:prstGeom prst="rect">
            <a:avLst/>
          </a:prstGeom>
          <a:noFill/>
        </p:spPr>
        <p:txBody>
          <a:bodyPr spcFirstLastPara="1" wrap="square" lIns="0" tIns="20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C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Old way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7" name="Old way code"/>
          <p:cNvSpPr txBox="1"/>
          <p:nvPr/>
        </p:nvSpPr>
        <p:spPr>
          <a:xfrm>
            <a:off x="785600" y="2690380"/>
            <a:ext cx="3200000" cy="1800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 u="none" strike="noStrike" cap="none" dirty="0">
                <a:solidFill>
                  <a:srgbClr val="B45F06"/>
                </a:solidFill>
                <a:latin typeface="Courier New"/>
                <a:ea typeface="Courier New"/>
                <a:cs typeface="Courier New"/>
                <a:sym typeface="Courier New"/>
              </a:rPr>
              <a:t>"Hello "</a:t>
            </a:r>
            <a:r>
              <a:rPr lang="en" sz="950" b="0" i="0" u="none" strike="noStrike" cap="none" dirty="0">
                <a:solidFill>
                  <a:srgbClr val="0E2455"/>
                </a:solidFill>
                <a:latin typeface="Courier New"/>
                <a:ea typeface="Courier New"/>
                <a:cs typeface="Courier New"/>
                <a:sym typeface="Courier New"/>
              </a:rPr>
              <a:t> + name + </a:t>
            </a:r>
            <a:r>
              <a:rPr lang="en" sz="950" b="0" i="0" u="none" strike="noStrike" cap="none" dirty="0">
                <a:solidFill>
                  <a:srgbClr val="B45F06"/>
                </a:solidFill>
                <a:latin typeface="Courier New"/>
                <a:ea typeface="Courier New"/>
                <a:cs typeface="Courier New"/>
                <a:sym typeface="Courier New"/>
              </a:rPr>
              <a:t>", you are "</a:t>
            </a:r>
            <a:r>
              <a:rPr lang="en" sz="950" b="0" i="0" u="none" strike="noStrike" cap="none" dirty="0">
                <a:solidFill>
                  <a:srgbClr val="0E2455"/>
                </a:solidFill>
                <a:latin typeface="Courier New"/>
                <a:ea typeface="Courier New"/>
                <a:cs typeface="Courier New"/>
                <a:sym typeface="Courier New"/>
              </a:rPr>
              <a:t> + age;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" name="New way card"/>
          <p:cNvSpPr/>
          <p:nvPr/>
        </p:nvSpPr>
        <p:spPr>
          <a:xfrm>
            <a:off x="675600" y="2980380"/>
            <a:ext cx="3400000" cy="440000"/>
          </a:xfrm>
          <a:prstGeom prst="roundRect">
            <a:avLst>
              <a:gd name="adj" fmla="val 3000"/>
            </a:avLst>
          </a:prstGeom>
          <a:solidFill>
            <a:srgbClr val="E6EF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9" name="New way label"/>
          <p:cNvSpPr txBox="1"/>
          <p:nvPr/>
        </p:nvSpPr>
        <p:spPr>
          <a:xfrm>
            <a:off x="785600" y="3020380"/>
            <a:ext cx="3200000" cy="190000"/>
          </a:xfrm>
          <a:prstGeom prst="rect">
            <a:avLst/>
          </a:prstGeom>
          <a:noFill/>
        </p:spPr>
        <p:txBody>
          <a:bodyPr spcFirstLastPara="1" wrap="square" lIns="0" tIns="20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New way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0" name="New way code"/>
          <p:cNvSpPr txBox="1"/>
          <p:nvPr/>
        </p:nvSpPr>
        <p:spPr>
          <a:xfrm>
            <a:off x="785600" y="3220380"/>
            <a:ext cx="3200000" cy="1800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 u="none" strike="noStrike" cap="none" dirty="0">
                <a:solidFill>
                  <a:srgbClr val="B45F06"/>
                </a:solidFill>
                <a:latin typeface="Courier New"/>
                <a:ea typeface="Courier New"/>
                <a:cs typeface="Courier New"/>
                <a:sym typeface="Courier New"/>
              </a:rPr>
              <a:t>`Hello ${name}, you are ${age}`</a:t>
            </a:r>
            <a:r>
              <a:rPr lang="en" sz="950" b="0" i="0" u="none" strike="noStrike" cap="none" dirty="0">
                <a:solidFill>
                  <a:srgbClr val="0E2455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1" name="Code panel"/>
          <p:cNvSpPr/>
          <p:nvPr/>
        </p:nvSpPr>
        <p:spPr>
          <a:xfrm>
            <a:off x="4300000" y="500000"/>
            <a:ext cx="4350000" cy="853776"/>
          </a:xfrm>
          <a:prstGeom prst="roundRect">
            <a:avLst>
              <a:gd name="adj" fmla="val 3500"/>
            </a:avLst>
          </a:prstGeom>
          <a:solidFill>
            <a:srgbClr val="0E2455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22" name="Dot 1"/>
          <p:cNvSpPr/>
          <p:nvPr/>
        </p:nvSpPr>
        <p:spPr>
          <a:xfrm>
            <a:off x="4420000" y="605000"/>
            <a:ext cx="70000" cy="7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3" name="Dot 2"/>
          <p:cNvSpPr/>
          <p:nvPr/>
        </p:nvSpPr>
        <p:spPr>
          <a:xfrm>
            <a:off x="4550000" y="605000"/>
            <a:ext cx="70000" cy="700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4" name="Dot 3"/>
          <p:cNvSpPr/>
          <p:nvPr/>
        </p:nvSpPr>
        <p:spPr>
          <a:xfrm>
            <a:off x="4680000" y="605000"/>
            <a:ext cx="70000" cy="70000"/>
          </a:xfrm>
          <a:prstGeom prst="ellipse">
            <a:avLst/>
          </a:prstGeom>
          <a:solidFill>
            <a:srgbClr val="3DAE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5" name="Code label"/>
          <p:cNvSpPr txBox="1"/>
          <p:nvPr/>
        </p:nvSpPr>
        <p:spPr>
          <a:xfrm>
            <a:off x="7650000" y="555000"/>
            <a:ext cx="900000" cy="170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8FA3C4"/>
                </a:solidFill>
                <a:latin typeface="Roboto"/>
                <a:ea typeface="Roboto"/>
                <a:cs typeface="Roboto"/>
                <a:sym typeface="Roboto"/>
              </a:rPr>
              <a:t>JS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6" name="Code"/>
          <p:cNvSpPr txBox="1"/>
          <p:nvPr/>
        </p:nvSpPr>
        <p:spPr>
          <a:xfrm>
            <a:off x="4360000" y="750000"/>
            <a:ext cx="4230000" cy="573776"/>
          </a:xfrm>
          <a:prstGeom prst="rect">
            <a:avLst/>
          </a:prstGeom>
          <a:noFill/>
        </p:spPr>
        <p:txBody>
          <a:bodyPr spcFirstLastPara="1" wrap="square" lIns="86025" tIns="0" rIns="6000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name = 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"Asha"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age = </a:t>
            </a:r>
            <a:r>
              <a:rPr lang="en" sz="1000" b="0" i="0" u="none" strike="noStrike" cap="none" dirty="0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21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console.log(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`Hello ${name}, you are ${age}`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7" name="Output panel"/>
          <p:cNvSpPr/>
          <p:nvPr/>
        </p:nvSpPr>
        <p:spPr>
          <a:xfrm>
            <a:off x="4300000" y="1463776"/>
            <a:ext cx="4350000" cy="47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28" name="Output heading"/>
          <p:cNvSpPr txBox="1"/>
          <p:nvPr/>
        </p:nvSpPr>
        <p:spPr>
          <a:xfrm>
            <a:off x="4420000" y="1503776"/>
            <a:ext cx="4110000" cy="200000"/>
          </a:xfrm>
          <a:prstGeom prst="rect">
            <a:avLst/>
          </a:prstGeom>
          <a:noFill/>
        </p:spPr>
        <p:txBody>
          <a:bodyPr spcFirstLastPara="1" wrap="square" lIns="0" tIns="30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Console output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" name="Output"/>
          <p:cNvSpPr txBox="1"/>
          <p:nvPr/>
        </p:nvSpPr>
        <p:spPr>
          <a:xfrm>
            <a:off x="4420000" y="1713776"/>
            <a:ext cx="4110000" cy="1900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 u="none" strike="noStrike" cap="none" dirty="0">
                <a:solidFill>
                  <a:srgbClr val="0E2455"/>
                </a:solidFill>
                <a:latin typeface="Courier New"/>
                <a:ea typeface="Courier New"/>
                <a:cs typeface="Courier New"/>
                <a:sym typeface="Courier New"/>
              </a:rPr>
              <a:t>Hello Asha, you are 21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grpSpPr/>
      <p:pic>
        <p:nvPicPr>
          <p:cNvPr id="110" name="Google Shape;110;p15" title="Untitled-1-07.png"/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powerd by.png"/>
          <p:cNvPicPr preferRelativeResize="0"/>
          <p:nvPr/>
        </p:nvPicPr>
        <p:blipFill rotWithShape="1">
          <a:blip r:embed="rId5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99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Kicker"/>
          <p:cNvSpPr txBox="1"/>
          <p:nvPr/>
        </p:nvSpPr>
        <p:spPr>
          <a:xfrm>
            <a:off x="675600" y="285000"/>
            <a:ext cx="3560000" cy="2412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3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Template Literals</a:t>
            </a:r>
            <a:endParaRPr lang="en" sz="1003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1" name="Title"/>
          <p:cNvSpPr txBox="1"/>
          <p:nvPr/>
        </p:nvSpPr>
        <p:spPr>
          <a:xfrm>
            <a:off x="675600" y="520000"/>
            <a:ext cx="3560000" cy="763948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Multi-line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and Expressions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2" name="Body"/>
          <p:cNvSpPr txBox="1"/>
          <p:nvPr/>
        </p:nvSpPr>
        <p:spPr>
          <a:xfrm>
            <a:off x="620000" y="1383000"/>
            <a:ext cx="3560000" cy="95468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Multi-line strings </a:t>
            </a:r>
            <a:r>
              <a:rPr lang="en" sz="11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just work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- press Enter, no </a:t>
            </a: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\n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needed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${ }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accepts </a:t>
            </a:r>
            <a:r>
              <a:rPr lang="en" sz="11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any expression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: math, function calls, ternary conditions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3" name="Code panel"/>
          <p:cNvSpPr/>
          <p:nvPr/>
        </p:nvSpPr>
        <p:spPr>
          <a:xfrm>
            <a:off x="4300000" y="500000"/>
            <a:ext cx="4350000" cy="2170512"/>
          </a:xfrm>
          <a:prstGeom prst="roundRect">
            <a:avLst>
              <a:gd name="adj" fmla="val 3500"/>
            </a:avLst>
          </a:prstGeom>
          <a:solidFill>
            <a:srgbClr val="0E2455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34" name="Dot 1"/>
          <p:cNvSpPr/>
          <p:nvPr/>
        </p:nvSpPr>
        <p:spPr>
          <a:xfrm>
            <a:off x="4420000" y="605000"/>
            <a:ext cx="70000" cy="7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5" name="Dot 2"/>
          <p:cNvSpPr/>
          <p:nvPr/>
        </p:nvSpPr>
        <p:spPr>
          <a:xfrm>
            <a:off x="4550000" y="605000"/>
            <a:ext cx="70000" cy="700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6" name="Dot 3"/>
          <p:cNvSpPr/>
          <p:nvPr/>
        </p:nvSpPr>
        <p:spPr>
          <a:xfrm>
            <a:off x="4680000" y="605000"/>
            <a:ext cx="70000" cy="70000"/>
          </a:xfrm>
          <a:prstGeom prst="ellipse">
            <a:avLst/>
          </a:prstGeom>
          <a:solidFill>
            <a:srgbClr val="3DAE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7" name="Code label"/>
          <p:cNvSpPr txBox="1"/>
          <p:nvPr/>
        </p:nvSpPr>
        <p:spPr>
          <a:xfrm>
            <a:off x="7650000" y="555000"/>
            <a:ext cx="900000" cy="170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8FA3C4"/>
                </a:solidFill>
                <a:latin typeface="Roboto"/>
                <a:ea typeface="Roboto"/>
                <a:cs typeface="Roboto"/>
                <a:sym typeface="Roboto"/>
              </a:rPr>
              <a:t>JS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8" name="Code"/>
          <p:cNvSpPr txBox="1"/>
          <p:nvPr/>
        </p:nvSpPr>
        <p:spPr>
          <a:xfrm>
            <a:off x="4360000" y="750000"/>
            <a:ext cx="4230000" cy="1890512"/>
          </a:xfrm>
          <a:prstGeom prst="rect">
            <a:avLst/>
          </a:prstGeom>
          <a:noFill/>
        </p:spPr>
        <p:txBody>
          <a:bodyPr spcFirstLastPara="1" wrap="square" lIns="86025" tIns="0" rIns="6000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name = 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"Asha"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price = </a:t>
            </a:r>
            <a:r>
              <a:rPr lang="en" sz="1000" b="0" i="0" u="none" strike="noStrike" cap="none" dirty="0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isMember =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card = 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`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  &lt;div class="card"&gt;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    &lt;h3&gt;${name}&lt;/h3&gt;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    &lt;p&gt;Total: ${price * 2}&lt;/p&gt;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    &lt;p&gt;Member: ${isMember ? "Yes" : "No"}&lt;/p&gt;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  &lt;/div&gt;`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console.log(card);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9" name="Output panel"/>
          <p:cNvSpPr/>
          <p:nvPr/>
        </p:nvSpPr>
        <p:spPr>
          <a:xfrm>
            <a:off x="4300000" y="2780512"/>
            <a:ext cx="4350000" cy="77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40" name="Output heading"/>
          <p:cNvSpPr txBox="1"/>
          <p:nvPr/>
        </p:nvSpPr>
        <p:spPr>
          <a:xfrm>
            <a:off x="4420000" y="2820512"/>
            <a:ext cx="4110000" cy="200000"/>
          </a:xfrm>
          <a:prstGeom prst="rect">
            <a:avLst/>
          </a:prstGeom>
          <a:noFill/>
        </p:spPr>
        <p:txBody>
          <a:bodyPr spcFirstLastPara="1" wrap="square" lIns="0" tIns="30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Rendered card preview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1" name="Output"/>
          <p:cNvSpPr txBox="1"/>
          <p:nvPr/>
        </p:nvSpPr>
        <p:spPr>
          <a:xfrm>
            <a:off x="4420000" y="3030512"/>
            <a:ext cx="4110000" cy="4900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 u="none" strike="noStrike" cap="none" dirty="0">
                <a:solidFill>
                  <a:srgbClr val="0E2455"/>
                </a:solidFill>
                <a:latin typeface="Courier New"/>
                <a:ea typeface="Courier New"/>
                <a:cs typeface="Courier New"/>
                <a:sym typeface="Courier New"/>
              </a:rPr>
              <a:t>Asha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 u="none" strike="noStrike" cap="none" dirty="0">
                <a:solidFill>
                  <a:srgbClr val="0E2455"/>
                </a:solidFill>
                <a:latin typeface="Courier New"/>
                <a:ea typeface="Courier New"/>
                <a:cs typeface="Courier New"/>
                <a:sym typeface="Courier New"/>
              </a:rPr>
              <a:t>Total: 200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 u="none" strike="noStrike" cap="none" dirty="0">
                <a:solidFill>
                  <a:srgbClr val="0E2455"/>
                </a:solidFill>
                <a:latin typeface="Courier New"/>
                <a:ea typeface="Courier New"/>
                <a:cs typeface="Courier New"/>
                <a:sym typeface="Courier New"/>
              </a:rPr>
              <a:t>Member: Yes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grpSpPr/>
      <p:pic>
        <p:nvPicPr>
          <p:cNvPr id="110" name="Google Shape;110;p15" title="Untitled-1-07.png"/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powerd by.png"/>
          <p:cNvPicPr preferRelativeResize="0"/>
          <p:nvPr/>
        </p:nvPicPr>
        <p:blipFill rotWithShape="1">
          <a:blip r:embed="rId5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99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Kicker"/>
          <p:cNvSpPr txBox="1"/>
          <p:nvPr/>
        </p:nvSpPr>
        <p:spPr>
          <a:xfrm>
            <a:off x="675600" y="285000"/>
            <a:ext cx="3560000" cy="2412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3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Destructuring</a:t>
            </a:r>
            <a:endParaRPr lang="en" sz="1003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3" name="Title"/>
          <p:cNvSpPr txBox="1"/>
          <p:nvPr/>
        </p:nvSpPr>
        <p:spPr>
          <a:xfrm>
            <a:off x="675600" y="520000"/>
            <a:ext cx="3560000" cy="425394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Object </a:t>
            </a:r>
            <a:r>
              <a:rPr lang="en" sz="22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Destructuring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4" name="Body"/>
          <p:cNvSpPr txBox="1"/>
          <p:nvPr/>
        </p:nvSpPr>
        <p:spPr>
          <a:xfrm>
            <a:off x="620000" y="1048000"/>
            <a:ext cx="3560000" cy="96738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Curly braces on the </a:t>
            </a:r>
            <a:r>
              <a:rPr lang="en" sz="11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left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of </a:t>
            </a: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pull properties out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Names must </a:t>
            </a:r>
            <a:r>
              <a:rPr lang="en" sz="11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match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the property names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Rename: </a:t>
            </a: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{ city: homeTown }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5" name="Old - one line per property card"/>
          <p:cNvSpPr/>
          <p:nvPr/>
        </p:nvSpPr>
        <p:spPr>
          <a:xfrm>
            <a:off x="675600" y="2115380"/>
            <a:ext cx="3400000" cy="590000"/>
          </a:xfrm>
          <a:prstGeom prst="roundRect">
            <a:avLst>
              <a:gd name="adj" fmla="val 3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6" name="Old - one line per property label"/>
          <p:cNvSpPr txBox="1"/>
          <p:nvPr/>
        </p:nvSpPr>
        <p:spPr>
          <a:xfrm>
            <a:off x="785600" y="2155380"/>
            <a:ext cx="3200000" cy="190000"/>
          </a:xfrm>
          <a:prstGeom prst="rect">
            <a:avLst/>
          </a:prstGeom>
          <a:noFill/>
        </p:spPr>
        <p:txBody>
          <a:bodyPr spcFirstLastPara="1" wrap="square" lIns="0" tIns="20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C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Old - one line per property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7" name="Old - one line per property code"/>
          <p:cNvSpPr txBox="1"/>
          <p:nvPr/>
        </p:nvSpPr>
        <p:spPr>
          <a:xfrm>
            <a:off x="785600" y="2355380"/>
            <a:ext cx="3200000" cy="3300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950" b="0" i="0" u="none" strike="noStrike" cap="none" dirty="0">
                <a:solidFill>
                  <a:srgbClr val="0E2455"/>
                </a:solidFill>
                <a:latin typeface="Courier New"/>
                <a:ea typeface="Courier New"/>
                <a:cs typeface="Courier New"/>
                <a:sym typeface="Courier New"/>
              </a:rPr>
              <a:t> name = person.name;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950" b="0" i="0" u="none" strike="noStrike" cap="none" dirty="0">
                <a:solidFill>
                  <a:srgbClr val="0E2455"/>
                </a:solidFill>
                <a:latin typeface="Courier New"/>
                <a:ea typeface="Courier New"/>
                <a:cs typeface="Courier New"/>
                <a:sym typeface="Courier New"/>
              </a:rPr>
              <a:t> age  = person.age;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8" name="New - one line for all card"/>
          <p:cNvSpPr/>
          <p:nvPr/>
        </p:nvSpPr>
        <p:spPr>
          <a:xfrm>
            <a:off x="675600" y="2795380"/>
            <a:ext cx="3400000" cy="440000"/>
          </a:xfrm>
          <a:prstGeom prst="roundRect">
            <a:avLst>
              <a:gd name="adj" fmla="val 3000"/>
            </a:avLst>
          </a:prstGeom>
          <a:solidFill>
            <a:srgbClr val="E6EF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9" name="New - one line for all label"/>
          <p:cNvSpPr txBox="1"/>
          <p:nvPr/>
        </p:nvSpPr>
        <p:spPr>
          <a:xfrm>
            <a:off x="785600" y="2835380"/>
            <a:ext cx="3200000" cy="190000"/>
          </a:xfrm>
          <a:prstGeom prst="rect">
            <a:avLst/>
          </a:prstGeom>
          <a:noFill/>
        </p:spPr>
        <p:txBody>
          <a:bodyPr spcFirstLastPara="1" wrap="square" lIns="0" tIns="20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New - one line for all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0" name="New - one line for all code"/>
          <p:cNvSpPr txBox="1"/>
          <p:nvPr/>
        </p:nvSpPr>
        <p:spPr>
          <a:xfrm>
            <a:off x="785600" y="3035380"/>
            <a:ext cx="3200000" cy="1800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950" b="0" i="0" u="none" strike="noStrike" cap="none" dirty="0">
                <a:solidFill>
                  <a:srgbClr val="0E2455"/>
                </a:solidFill>
                <a:latin typeface="Courier New"/>
                <a:ea typeface="Courier New"/>
                <a:cs typeface="Courier New"/>
                <a:sym typeface="Courier New"/>
              </a:rPr>
              <a:t> { name, age } = person;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1" name="Code panel"/>
          <p:cNvSpPr/>
          <p:nvPr/>
        </p:nvSpPr>
        <p:spPr>
          <a:xfrm>
            <a:off x="4300000" y="500000"/>
            <a:ext cx="4350000" cy="1396929"/>
          </a:xfrm>
          <a:prstGeom prst="roundRect">
            <a:avLst>
              <a:gd name="adj" fmla="val 3500"/>
            </a:avLst>
          </a:prstGeom>
          <a:solidFill>
            <a:srgbClr val="0E2455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52" name="Dot 1"/>
          <p:cNvSpPr/>
          <p:nvPr/>
        </p:nvSpPr>
        <p:spPr>
          <a:xfrm>
            <a:off x="4420000" y="605000"/>
            <a:ext cx="70000" cy="7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3" name="Dot 2"/>
          <p:cNvSpPr/>
          <p:nvPr/>
        </p:nvSpPr>
        <p:spPr>
          <a:xfrm>
            <a:off x="4550000" y="605000"/>
            <a:ext cx="70000" cy="700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4" name="Dot 3"/>
          <p:cNvSpPr/>
          <p:nvPr/>
        </p:nvSpPr>
        <p:spPr>
          <a:xfrm>
            <a:off x="4680000" y="605000"/>
            <a:ext cx="70000" cy="70000"/>
          </a:xfrm>
          <a:prstGeom prst="ellipse">
            <a:avLst/>
          </a:prstGeom>
          <a:solidFill>
            <a:srgbClr val="3DAE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5" name="Code label"/>
          <p:cNvSpPr txBox="1"/>
          <p:nvPr/>
        </p:nvSpPr>
        <p:spPr>
          <a:xfrm>
            <a:off x="7650000" y="555000"/>
            <a:ext cx="900000" cy="170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8FA3C4"/>
                </a:solidFill>
                <a:latin typeface="Roboto"/>
                <a:ea typeface="Roboto"/>
                <a:cs typeface="Roboto"/>
                <a:sym typeface="Roboto"/>
              </a:rPr>
              <a:t>JS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6" name="Code"/>
          <p:cNvSpPr txBox="1"/>
          <p:nvPr/>
        </p:nvSpPr>
        <p:spPr>
          <a:xfrm>
            <a:off x="4360000" y="750000"/>
            <a:ext cx="4230000" cy="1116929"/>
          </a:xfrm>
          <a:prstGeom prst="rect">
            <a:avLst/>
          </a:prstGeom>
          <a:noFill/>
        </p:spPr>
        <p:txBody>
          <a:bodyPr spcFirstLastPara="1" wrap="square" lIns="86025" tIns="0" rIns="6000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9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person = { name: </a:t>
            </a:r>
            <a:r>
              <a:rPr lang="en" sz="9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"Asha"</a:t>
            </a:r>
            <a:r>
              <a:rPr lang="en" sz="9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, age: </a:t>
            </a:r>
            <a:r>
              <a:rPr lang="en" sz="900" b="0" i="0" u="none" strike="noStrike" cap="none" dirty="0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21</a:t>
            </a:r>
            <a:r>
              <a:rPr lang="en" sz="9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, city: </a:t>
            </a:r>
            <a:r>
              <a:rPr lang="en" sz="9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"Chennai"</a:t>
            </a:r>
            <a:r>
              <a:rPr lang="en" sz="9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};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9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{ name, age } = person;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9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{ city: homeTown } = person; </a:t>
            </a:r>
            <a:r>
              <a:rPr lang="en" sz="9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// renamed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console.log(name, age); </a:t>
            </a:r>
            <a:r>
              <a:rPr lang="en" sz="9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// Asha 21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console.log(homeTown);  </a:t>
            </a:r>
            <a:r>
              <a:rPr lang="en" sz="9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// Chennai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7" name="Output panel"/>
          <p:cNvSpPr/>
          <p:nvPr/>
        </p:nvSpPr>
        <p:spPr>
          <a:xfrm>
            <a:off x="4300000" y="2006929"/>
            <a:ext cx="4350000" cy="62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58" name="Output heading"/>
          <p:cNvSpPr txBox="1"/>
          <p:nvPr/>
        </p:nvSpPr>
        <p:spPr>
          <a:xfrm>
            <a:off x="4420000" y="2046929"/>
            <a:ext cx="4110000" cy="200000"/>
          </a:xfrm>
          <a:prstGeom prst="rect">
            <a:avLst/>
          </a:prstGeom>
          <a:noFill/>
        </p:spPr>
        <p:txBody>
          <a:bodyPr spcFirstLastPara="1" wrap="square" lIns="0" tIns="30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Console output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9" name="Output"/>
          <p:cNvSpPr txBox="1"/>
          <p:nvPr/>
        </p:nvSpPr>
        <p:spPr>
          <a:xfrm>
            <a:off x="4420000" y="2256929"/>
            <a:ext cx="4110000" cy="3400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 u="none" strike="noStrike" cap="none" dirty="0">
                <a:solidFill>
                  <a:srgbClr val="0E2455"/>
                </a:solidFill>
                <a:latin typeface="Courier New"/>
                <a:ea typeface="Courier New"/>
                <a:cs typeface="Courier New"/>
                <a:sym typeface="Courier New"/>
              </a:rPr>
              <a:t>Asha 21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 u="none" strike="noStrike" cap="none" dirty="0">
                <a:solidFill>
                  <a:srgbClr val="0E2455"/>
                </a:solidFill>
                <a:latin typeface="Courier New"/>
                <a:ea typeface="Courier New"/>
                <a:cs typeface="Courier New"/>
                <a:sym typeface="Courier New"/>
              </a:rPr>
              <a:t>Chennai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grpSpPr/>
      <p:pic>
        <p:nvPicPr>
          <p:cNvPr id="110" name="Google Shape;110;p15" title="Untitled-1-07.png"/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powerd by.png"/>
          <p:cNvPicPr preferRelativeResize="0"/>
          <p:nvPr/>
        </p:nvPicPr>
        <p:blipFill rotWithShape="1">
          <a:blip r:embed="rId5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99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Kicker"/>
          <p:cNvSpPr txBox="1"/>
          <p:nvPr/>
        </p:nvSpPr>
        <p:spPr>
          <a:xfrm>
            <a:off x="675600" y="285000"/>
            <a:ext cx="3560000" cy="2412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3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Destructuring</a:t>
            </a:r>
            <a:endParaRPr lang="en" sz="1003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1" name="Title"/>
          <p:cNvSpPr txBox="1"/>
          <p:nvPr/>
        </p:nvSpPr>
        <p:spPr>
          <a:xfrm>
            <a:off x="675600" y="520000"/>
            <a:ext cx="3560000" cy="425394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Array </a:t>
            </a:r>
            <a:r>
              <a:rPr lang="en" sz="22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Destructuring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2" name="Body"/>
          <p:cNvSpPr txBox="1"/>
          <p:nvPr/>
        </p:nvSpPr>
        <p:spPr>
          <a:xfrm>
            <a:off x="620000" y="1048000"/>
            <a:ext cx="3560000" cy="155285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Arrays destructure by </a:t>
            </a:r>
            <a:r>
              <a:rPr lang="en" sz="11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position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, not name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Square brackets on the left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Can </a:t>
            </a:r>
            <a:r>
              <a:rPr lang="en" sz="11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skip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items, give </a:t>
            </a:r>
            <a:r>
              <a:rPr lang="en" sz="11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defaults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, even </a:t>
            </a:r>
            <a:r>
              <a:rPr lang="en" sz="11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swap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variables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700"/>
              </a:spcBef>
              <a:spcAft>
                <a:spcPts val="200"/>
              </a:spcAft>
              <a:buNone/>
            </a:pPr>
            <a:r>
              <a:rPr lang="en" sz="1129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Common use</a:t>
            </a:r>
            <a:endParaRPr lang="en" sz="1129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Functions that return multiple values.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3" name="Code panel"/>
          <p:cNvSpPr/>
          <p:nvPr/>
        </p:nvSpPr>
        <p:spPr>
          <a:xfrm>
            <a:off x="4300000" y="500000"/>
            <a:ext cx="4350000" cy="1676736"/>
          </a:xfrm>
          <a:prstGeom prst="roundRect">
            <a:avLst>
              <a:gd name="adj" fmla="val 3500"/>
            </a:avLst>
          </a:prstGeom>
          <a:solidFill>
            <a:srgbClr val="0E2455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64" name="Dot 1"/>
          <p:cNvSpPr/>
          <p:nvPr/>
        </p:nvSpPr>
        <p:spPr>
          <a:xfrm>
            <a:off x="4420000" y="605000"/>
            <a:ext cx="70000" cy="7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5" name="Dot 2"/>
          <p:cNvSpPr/>
          <p:nvPr/>
        </p:nvSpPr>
        <p:spPr>
          <a:xfrm>
            <a:off x="4550000" y="605000"/>
            <a:ext cx="70000" cy="700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6" name="Dot 3"/>
          <p:cNvSpPr/>
          <p:nvPr/>
        </p:nvSpPr>
        <p:spPr>
          <a:xfrm>
            <a:off x="4680000" y="605000"/>
            <a:ext cx="70000" cy="70000"/>
          </a:xfrm>
          <a:prstGeom prst="ellipse">
            <a:avLst/>
          </a:prstGeom>
          <a:solidFill>
            <a:srgbClr val="3DAE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7" name="Code label"/>
          <p:cNvSpPr txBox="1"/>
          <p:nvPr/>
        </p:nvSpPr>
        <p:spPr>
          <a:xfrm>
            <a:off x="7650000" y="555000"/>
            <a:ext cx="900000" cy="170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8FA3C4"/>
                </a:solidFill>
                <a:latin typeface="Roboto"/>
                <a:ea typeface="Roboto"/>
                <a:cs typeface="Roboto"/>
                <a:sym typeface="Roboto"/>
              </a:rPr>
              <a:t>JS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8" name="Code"/>
          <p:cNvSpPr txBox="1"/>
          <p:nvPr/>
        </p:nvSpPr>
        <p:spPr>
          <a:xfrm>
            <a:off x="4360000" y="750000"/>
            <a:ext cx="4230000" cy="1396736"/>
          </a:xfrm>
          <a:prstGeom prst="rect">
            <a:avLst/>
          </a:prstGeom>
          <a:noFill/>
        </p:spPr>
        <p:txBody>
          <a:bodyPr spcFirstLastPara="1" wrap="square" lIns="86025" tIns="0" rIns="6000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colors = [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"red"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"green"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"blue"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[first, second] = colors; </a:t>
            </a:r>
            <a:r>
              <a:rPr lang="en" sz="10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// red, green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[, , third] = colors;     </a:t>
            </a:r>
            <a:r>
              <a:rPr lang="en" sz="10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// skip two: blue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[a = </a:t>
            </a:r>
            <a:r>
              <a:rPr lang="en" sz="1000" b="0" i="0" u="none" strike="noStrike" cap="none" dirty="0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] = [];            </a:t>
            </a:r>
            <a:r>
              <a:rPr lang="en" sz="10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// default: 10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x = </a:t>
            </a:r>
            <a:r>
              <a:rPr lang="en" sz="1000" b="0" i="0" u="none" strike="noStrike" cap="none" dirty="0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, y = </a:t>
            </a:r>
            <a:r>
              <a:rPr lang="en" sz="1000" b="0" i="0" u="none" strike="noStrike" cap="none" dirty="0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[x, y] = [y, x];                </a:t>
            </a:r>
            <a:r>
              <a:rPr lang="en" sz="10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// swap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9" name="Output panel"/>
          <p:cNvSpPr/>
          <p:nvPr/>
        </p:nvSpPr>
        <p:spPr>
          <a:xfrm>
            <a:off x="4300000" y="2286736"/>
            <a:ext cx="4350000" cy="77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70" name="Output heading"/>
          <p:cNvSpPr txBox="1"/>
          <p:nvPr/>
        </p:nvSpPr>
        <p:spPr>
          <a:xfrm>
            <a:off x="4420000" y="2326736"/>
            <a:ext cx="4110000" cy="200000"/>
          </a:xfrm>
          <a:prstGeom prst="rect">
            <a:avLst/>
          </a:prstGeom>
          <a:noFill/>
        </p:spPr>
        <p:txBody>
          <a:bodyPr spcFirstLastPara="1" wrap="square" lIns="0" tIns="30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Resulting values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1" name="Output"/>
          <p:cNvSpPr txBox="1"/>
          <p:nvPr/>
        </p:nvSpPr>
        <p:spPr>
          <a:xfrm>
            <a:off x="4420000" y="2536736"/>
            <a:ext cx="4110000" cy="4900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 u="none" strike="noStrike" cap="none" dirty="0">
                <a:solidFill>
                  <a:srgbClr val="0E2455"/>
                </a:solidFill>
                <a:latin typeface="Courier New"/>
                <a:ea typeface="Courier New"/>
                <a:cs typeface="Courier New"/>
                <a:sym typeface="Courier New"/>
              </a:rPr>
              <a:t>first = red, second = green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 u="none" strike="noStrike" cap="none" dirty="0">
                <a:solidFill>
                  <a:srgbClr val="0E2455"/>
                </a:solidFill>
                <a:latin typeface="Courier New"/>
                <a:ea typeface="Courier New"/>
                <a:cs typeface="Courier New"/>
                <a:sym typeface="Courier New"/>
              </a:rPr>
              <a:t>third = blue, a = 10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 u="none" strike="noStrike" cap="none" dirty="0">
                <a:solidFill>
                  <a:srgbClr val="0E2455"/>
                </a:solidFill>
                <a:latin typeface="Courier New"/>
                <a:ea typeface="Courier New"/>
                <a:cs typeface="Courier New"/>
                <a:sym typeface="Courier New"/>
              </a:rPr>
              <a:t>x = 2, y = 1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grpSpPr/>
      <p:pic>
        <p:nvPicPr>
          <p:cNvPr id="110" name="Google Shape;110;p15" title="Untitled-1-07.png"/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powerd by.png"/>
          <p:cNvPicPr preferRelativeResize="0"/>
          <p:nvPr/>
        </p:nvPicPr>
        <p:blipFill rotWithShape="1">
          <a:blip r:embed="rId5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99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Kicker"/>
          <p:cNvSpPr txBox="1"/>
          <p:nvPr/>
        </p:nvSpPr>
        <p:spPr>
          <a:xfrm>
            <a:off x="675600" y="285000"/>
            <a:ext cx="3560000" cy="2412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3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Default, Rest and Spread</a:t>
            </a:r>
            <a:endParaRPr lang="en" sz="1003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3" name="Title"/>
          <p:cNvSpPr txBox="1"/>
          <p:nvPr/>
        </p:nvSpPr>
        <p:spPr>
          <a:xfrm>
            <a:off x="675600" y="520000"/>
            <a:ext cx="3560000" cy="425394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Default </a:t>
            </a:r>
            <a:r>
              <a:rPr lang="en" sz="22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Parameters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4" name="Body"/>
          <p:cNvSpPr txBox="1"/>
          <p:nvPr/>
        </p:nvSpPr>
        <p:spPr>
          <a:xfrm>
            <a:off x="620000" y="1048000"/>
            <a:ext cx="3560000" cy="74386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Give a parameter a </a:t>
            </a:r>
            <a:r>
              <a:rPr lang="en" sz="11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fallback value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Used when the argument is </a:t>
            </a:r>
            <a:r>
              <a:rPr lang="en" sz="11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missing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or </a:t>
            </a: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undefined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5" name="Old way - clunky card"/>
          <p:cNvSpPr/>
          <p:nvPr/>
        </p:nvSpPr>
        <p:spPr>
          <a:xfrm>
            <a:off x="675600" y="1891860"/>
            <a:ext cx="3400000" cy="440000"/>
          </a:xfrm>
          <a:prstGeom prst="roundRect">
            <a:avLst>
              <a:gd name="adj" fmla="val 3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6" name="Old way - clunky label"/>
          <p:cNvSpPr txBox="1"/>
          <p:nvPr/>
        </p:nvSpPr>
        <p:spPr>
          <a:xfrm>
            <a:off x="785600" y="1931860"/>
            <a:ext cx="3200000" cy="190000"/>
          </a:xfrm>
          <a:prstGeom prst="rect">
            <a:avLst/>
          </a:prstGeom>
          <a:noFill/>
        </p:spPr>
        <p:txBody>
          <a:bodyPr spcFirstLastPara="1" wrap="square" lIns="0" tIns="20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C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Old way - clunky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7" name="Old way - clunky code"/>
          <p:cNvSpPr txBox="1"/>
          <p:nvPr/>
        </p:nvSpPr>
        <p:spPr>
          <a:xfrm>
            <a:off x="785600" y="2131860"/>
            <a:ext cx="3200000" cy="1800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 u="none" strike="noStrike" cap="none" dirty="0">
                <a:solidFill>
                  <a:srgbClr val="0E2455"/>
                </a:solidFill>
                <a:latin typeface="Courier New"/>
                <a:ea typeface="Courier New"/>
                <a:cs typeface="Courier New"/>
                <a:sym typeface="Courier New"/>
              </a:rPr>
              <a:t>name = name || </a:t>
            </a:r>
            <a:r>
              <a:rPr lang="en" sz="950" b="0" i="0" u="none" strike="noStrike" cap="none" dirty="0">
                <a:solidFill>
                  <a:srgbClr val="B45F06"/>
                </a:solidFill>
                <a:latin typeface="Courier New"/>
                <a:ea typeface="Courier New"/>
                <a:cs typeface="Courier New"/>
                <a:sym typeface="Courier New"/>
              </a:rPr>
              <a:t>"Guest"</a:t>
            </a:r>
            <a:r>
              <a:rPr lang="en" sz="950" b="0" i="0" u="none" strike="noStrike" cap="none" dirty="0">
                <a:solidFill>
                  <a:srgbClr val="0E2455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8" name="New way - in the parentheses card"/>
          <p:cNvSpPr/>
          <p:nvPr/>
        </p:nvSpPr>
        <p:spPr>
          <a:xfrm>
            <a:off x="675600" y="2421860"/>
            <a:ext cx="3400000" cy="440000"/>
          </a:xfrm>
          <a:prstGeom prst="roundRect">
            <a:avLst>
              <a:gd name="adj" fmla="val 3000"/>
            </a:avLst>
          </a:prstGeom>
          <a:solidFill>
            <a:srgbClr val="E6EF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9" name="New way - in the parentheses label"/>
          <p:cNvSpPr txBox="1"/>
          <p:nvPr/>
        </p:nvSpPr>
        <p:spPr>
          <a:xfrm>
            <a:off x="785600" y="2461860"/>
            <a:ext cx="3200000" cy="190000"/>
          </a:xfrm>
          <a:prstGeom prst="rect">
            <a:avLst/>
          </a:prstGeom>
          <a:noFill/>
        </p:spPr>
        <p:txBody>
          <a:bodyPr spcFirstLastPara="1" wrap="square" lIns="0" tIns="20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New way - in the parentheses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0" name="New way - in the parentheses code"/>
          <p:cNvSpPr txBox="1"/>
          <p:nvPr/>
        </p:nvSpPr>
        <p:spPr>
          <a:xfrm>
            <a:off x="785600" y="2661860"/>
            <a:ext cx="3200000" cy="1800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en" sz="950" b="0" i="0" u="none" strike="noStrike" cap="none" dirty="0">
                <a:solidFill>
                  <a:srgbClr val="0E2455"/>
                </a:solidFill>
                <a:latin typeface="Courier New"/>
                <a:ea typeface="Courier New"/>
                <a:cs typeface="Courier New"/>
                <a:sym typeface="Courier New"/>
              </a:rPr>
              <a:t> greet(name = </a:t>
            </a:r>
            <a:r>
              <a:rPr lang="en" sz="950" b="0" i="0" u="none" strike="noStrike" cap="none" dirty="0">
                <a:solidFill>
                  <a:srgbClr val="B45F06"/>
                </a:solidFill>
                <a:latin typeface="Courier New"/>
                <a:ea typeface="Courier New"/>
                <a:cs typeface="Courier New"/>
                <a:sym typeface="Courier New"/>
              </a:rPr>
              <a:t>"Guest"</a:t>
            </a:r>
            <a:r>
              <a:rPr lang="en" sz="950" b="0" i="0" u="none" strike="noStrike" cap="none" dirty="0">
                <a:solidFill>
                  <a:srgbClr val="0E2455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1" name="Code panel"/>
          <p:cNvSpPr/>
          <p:nvPr/>
        </p:nvSpPr>
        <p:spPr>
          <a:xfrm>
            <a:off x="4300000" y="500000"/>
            <a:ext cx="4350000" cy="1347552"/>
          </a:xfrm>
          <a:prstGeom prst="roundRect">
            <a:avLst>
              <a:gd name="adj" fmla="val 3500"/>
            </a:avLst>
          </a:prstGeom>
          <a:solidFill>
            <a:srgbClr val="0E2455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82" name="Dot 1"/>
          <p:cNvSpPr/>
          <p:nvPr/>
        </p:nvSpPr>
        <p:spPr>
          <a:xfrm>
            <a:off x="4420000" y="605000"/>
            <a:ext cx="70000" cy="7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3" name="Dot 2"/>
          <p:cNvSpPr/>
          <p:nvPr/>
        </p:nvSpPr>
        <p:spPr>
          <a:xfrm>
            <a:off x="4550000" y="605000"/>
            <a:ext cx="70000" cy="700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4" name="Dot 3"/>
          <p:cNvSpPr/>
          <p:nvPr/>
        </p:nvSpPr>
        <p:spPr>
          <a:xfrm>
            <a:off x="4680000" y="605000"/>
            <a:ext cx="70000" cy="70000"/>
          </a:xfrm>
          <a:prstGeom prst="ellipse">
            <a:avLst/>
          </a:prstGeom>
          <a:solidFill>
            <a:srgbClr val="3DAE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5" name="Code label"/>
          <p:cNvSpPr txBox="1"/>
          <p:nvPr/>
        </p:nvSpPr>
        <p:spPr>
          <a:xfrm>
            <a:off x="7650000" y="555000"/>
            <a:ext cx="900000" cy="170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8FA3C4"/>
                </a:solidFill>
                <a:latin typeface="Roboto"/>
                <a:ea typeface="Roboto"/>
                <a:cs typeface="Roboto"/>
                <a:sym typeface="Roboto"/>
              </a:rPr>
              <a:t>JS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" name="Code"/>
          <p:cNvSpPr txBox="1"/>
          <p:nvPr/>
        </p:nvSpPr>
        <p:spPr>
          <a:xfrm>
            <a:off x="4360000" y="750000"/>
            <a:ext cx="4230000" cy="1067552"/>
          </a:xfrm>
          <a:prstGeom prst="rect">
            <a:avLst/>
          </a:prstGeom>
          <a:noFill/>
        </p:spPr>
        <p:txBody>
          <a:bodyPr spcFirstLastPara="1" wrap="square" lIns="86025" tIns="0" rIns="6000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greet(name = 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"Guest"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`Welcome, ${name}!`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console.log(greet(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"Asha"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)); </a:t>
            </a:r>
            <a:r>
              <a:rPr lang="en" sz="10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// Welcome, Asha!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console.log(greet());       </a:t>
            </a:r>
            <a:r>
              <a:rPr lang="en" sz="10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// Welcome, Guest!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" name="Output panel"/>
          <p:cNvSpPr/>
          <p:nvPr/>
        </p:nvSpPr>
        <p:spPr>
          <a:xfrm>
            <a:off x="4300000" y="1957552"/>
            <a:ext cx="4350000" cy="62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88" name="Output heading"/>
          <p:cNvSpPr txBox="1"/>
          <p:nvPr/>
        </p:nvSpPr>
        <p:spPr>
          <a:xfrm>
            <a:off x="4420000" y="1997552"/>
            <a:ext cx="4110000" cy="200000"/>
          </a:xfrm>
          <a:prstGeom prst="rect">
            <a:avLst/>
          </a:prstGeom>
          <a:noFill/>
        </p:spPr>
        <p:txBody>
          <a:bodyPr spcFirstLastPara="1" wrap="square" lIns="0" tIns="30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Console output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9" name="Output"/>
          <p:cNvSpPr txBox="1"/>
          <p:nvPr/>
        </p:nvSpPr>
        <p:spPr>
          <a:xfrm>
            <a:off x="4420000" y="2207552"/>
            <a:ext cx="4110000" cy="3400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 u="none" strike="noStrike" cap="none" dirty="0">
                <a:solidFill>
                  <a:srgbClr val="0E2455"/>
                </a:solidFill>
                <a:latin typeface="Courier New"/>
                <a:ea typeface="Courier New"/>
                <a:cs typeface="Courier New"/>
                <a:sym typeface="Courier New"/>
              </a:rPr>
              <a:t>Welcome, Asha!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 u="none" strike="noStrike" cap="none" dirty="0">
                <a:solidFill>
                  <a:srgbClr val="0E2455"/>
                </a:solidFill>
                <a:latin typeface="Courier New"/>
                <a:ea typeface="Courier New"/>
                <a:cs typeface="Courier New"/>
                <a:sym typeface="Courier New"/>
              </a:rPr>
              <a:t>Welcome, Guest!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grpSpPr/>
      <p:pic>
        <p:nvPicPr>
          <p:cNvPr id="110" name="Google Shape;110;p15" title="Untitled-1-07.png"/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powerd by.png"/>
          <p:cNvPicPr preferRelativeResize="0"/>
          <p:nvPr/>
        </p:nvPicPr>
        <p:blipFill rotWithShape="1">
          <a:blip r:embed="rId5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99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Kicker"/>
          <p:cNvSpPr txBox="1"/>
          <p:nvPr/>
        </p:nvSpPr>
        <p:spPr>
          <a:xfrm>
            <a:off x="675600" y="285000"/>
            <a:ext cx="3560000" cy="2412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3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Default, Rest and Spread</a:t>
            </a:r>
            <a:endParaRPr lang="en" sz="1003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1" name="Title"/>
          <p:cNvSpPr txBox="1"/>
          <p:nvPr/>
        </p:nvSpPr>
        <p:spPr>
          <a:xfrm>
            <a:off x="675600" y="520000"/>
            <a:ext cx="3560000" cy="425394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Rest </a:t>
            </a:r>
            <a:r>
              <a:rPr lang="en" sz="22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Operator (...)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2" name="Body"/>
          <p:cNvSpPr txBox="1"/>
          <p:nvPr/>
        </p:nvSpPr>
        <p:spPr>
          <a:xfrm>
            <a:off x="620000" y="1048000"/>
            <a:ext cx="3560000" cy="176367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Same three dots - used in function </a:t>
            </a:r>
            <a:r>
              <a:rPr lang="en" sz="11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parameters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and destructuring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Collects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many values into one array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Lets functions accept </a:t>
            </a:r>
            <a:r>
              <a:rPr lang="en" sz="11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any number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of arguments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700"/>
              </a:spcBef>
              <a:spcAft>
                <a:spcPts val="200"/>
              </a:spcAft>
              <a:buNone/>
            </a:pPr>
            <a:r>
              <a:rPr lang="en" sz="1129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Memory tip</a:t>
            </a:r>
            <a:endParaRPr lang="en" sz="1129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Rest gathers the REST into one box.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3" name="Code panel"/>
          <p:cNvSpPr/>
          <p:nvPr/>
        </p:nvSpPr>
        <p:spPr>
          <a:xfrm>
            <a:off x="4300000" y="500000"/>
            <a:ext cx="4350000" cy="1676736"/>
          </a:xfrm>
          <a:prstGeom prst="roundRect">
            <a:avLst>
              <a:gd name="adj" fmla="val 3500"/>
            </a:avLst>
          </a:prstGeom>
          <a:solidFill>
            <a:srgbClr val="0E2455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94" name="Dot 1"/>
          <p:cNvSpPr/>
          <p:nvPr/>
        </p:nvSpPr>
        <p:spPr>
          <a:xfrm>
            <a:off x="4420000" y="605000"/>
            <a:ext cx="70000" cy="7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5" name="Dot 2"/>
          <p:cNvSpPr/>
          <p:nvPr/>
        </p:nvSpPr>
        <p:spPr>
          <a:xfrm>
            <a:off x="4550000" y="605000"/>
            <a:ext cx="70000" cy="700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6" name="Dot 3"/>
          <p:cNvSpPr/>
          <p:nvPr/>
        </p:nvSpPr>
        <p:spPr>
          <a:xfrm>
            <a:off x="4680000" y="605000"/>
            <a:ext cx="70000" cy="70000"/>
          </a:xfrm>
          <a:prstGeom prst="ellipse">
            <a:avLst/>
          </a:prstGeom>
          <a:solidFill>
            <a:srgbClr val="3DAE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7" name="Code label"/>
          <p:cNvSpPr txBox="1"/>
          <p:nvPr/>
        </p:nvSpPr>
        <p:spPr>
          <a:xfrm>
            <a:off x="7650000" y="555000"/>
            <a:ext cx="900000" cy="170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8FA3C4"/>
                </a:solidFill>
                <a:latin typeface="Roboto"/>
                <a:ea typeface="Roboto"/>
                <a:cs typeface="Roboto"/>
                <a:sym typeface="Roboto"/>
              </a:rPr>
              <a:t>JS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8" name="Code"/>
          <p:cNvSpPr txBox="1"/>
          <p:nvPr/>
        </p:nvSpPr>
        <p:spPr>
          <a:xfrm>
            <a:off x="4360000" y="750000"/>
            <a:ext cx="4230000" cy="1396736"/>
          </a:xfrm>
          <a:prstGeom prst="rect">
            <a:avLst/>
          </a:prstGeom>
          <a:noFill/>
        </p:spPr>
        <p:txBody>
          <a:bodyPr spcFirstLastPara="1" wrap="square" lIns="86025" tIns="0" rIns="6000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sum(...numbers) {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numbers.reduce((a, b) =&gt; a + b, </a:t>
            </a:r>
            <a:r>
              <a:rPr lang="en" sz="1000" b="0" i="0" u="none" strike="noStrike" cap="none" dirty="0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console.log(sum(</a:t>
            </a:r>
            <a:r>
              <a:rPr lang="en" sz="1000" b="0" i="0" u="none" strike="noStrike" cap="none" dirty="0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 b="0" i="0" u="none" strike="noStrike" cap="none" dirty="0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 b="0" i="0" u="none" strike="noStrike" cap="none" dirty="0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 b="0" i="0" u="none" strike="noStrike" cap="none" dirty="0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)); </a:t>
            </a:r>
            <a:r>
              <a:rPr lang="en" sz="10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// 10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[first, ...others] = [</a:t>
            </a:r>
            <a:r>
              <a:rPr lang="en" sz="1000" b="0" i="0" u="none" strike="noStrike" cap="none" dirty="0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 b="0" i="0" u="none" strike="noStrike" cap="none" dirty="0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 b="0" i="0" u="none" strike="noStrike" cap="none" dirty="0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30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 b="0" i="0" u="none" strike="noStrike" cap="none" dirty="0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40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console.log(first);           </a:t>
            </a:r>
            <a:r>
              <a:rPr lang="en" sz="10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// 10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console.log(others);          </a:t>
            </a:r>
            <a:r>
              <a:rPr lang="en" sz="10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// [20, 30, 40]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9" name="Output panel"/>
          <p:cNvSpPr/>
          <p:nvPr/>
        </p:nvSpPr>
        <p:spPr>
          <a:xfrm>
            <a:off x="4300000" y="2286736"/>
            <a:ext cx="4350000" cy="77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00" name="Output heading"/>
          <p:cNvSpPr txBox="1"/>
          <p:nvPr/>
        </p:nvSpPr>
        <p:spPr>
          <a:xfrm>
            <a:off x="4420000" y="2326736"/>
            <a:ext cx="4110000" cy="200000"/>
          </a:xfrm>
          <a:prstGeom prst="rect">
            <a:avLst/>
          </a:prstGeom>
          <a:noFill/>
        </p:spPr>
        <p:txBody>
          <a:bodyPr spcFirstLastPara="1" wrap="square" lIns="0" tIns="30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Console output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1" name="Output"/>
          <p:cNvSpPr txBox="1"/>
          <p:nvPr/>
        </p:nvSpPr>
        <p:spPr>
          <a:xfrm>
            <a:off x="4420000" y="2536736"/>
            <a:ext cx="4110000" cy="4900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 u="none" strike="noStrike" cap="none" dirty="0">
                <a:solidFill>
                  <a:srgbClr val="0E2455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 u="none" strike="noStrike" cap="none" dirty="0">
                <a:solidFill>
                  <a:srgbClr val="0E2455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 u="none" strike="noStrike" cap="none" dirty="0">
                <a:solidFill>
                  <a:srgbClr val="0E2455"/>
                </a:solidFill>
                <a:latin typeface="Courier New"/>
                <a:ea typeface="Courier New"/>
                <a:cs typeface="Courier New"/>
                <a:sym typeface="Courier New"/>
              </a:rPr>
              <a:t>[20, 30, 40]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grpSpPr/>
      <p:pic>
        <p:nvPicPr>
          <p:cNvPr id="110" name="Google Shape;110;p15" title="Untitled-1-07.png"/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powerd by.png"/>
          <p:cNvPicPr preferRelativeResize="0"/>
          <p:nvPr/>
        </p:nvPicPr>
        <p:blipFill rotWithShape="1">
          <a:blip r:embed="rId5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99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Kicker"/>
          <p:cNvSpPr txBox="1"/>
          <p:nvPr/>
        </p:nvSpPr>
        <p:spPr>
          <a:xfrm>
            <a:off x="675600" y="285000"/>
            <a:ext cx="3560000" cy="2412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3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Default, Rest and Spread</a:t>
            </a:r>
            <a:endParaRPr lang="en" sz="1003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4" name="Title"/>
          <p:cNvSpPr txBox="1"/>
          <p:nvPr/>
        </p:nvSpPr>
        <p:spPr>
          <a:xfrm>
            <a:off x="675600" y="520000"/>
            <a:ext cx="3560000" cy="425394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Spread </a:t>
            </a:r>
            <a:r>
              <a:rPr lang="en" sz="22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Operator (...)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5" name="Body"/>
          <p:cNvSpPr txBox="1"/>
          <p:nvPr/>
        </p:nvSpPr>
        <p:spPr>
          <a:xfrm>
            <a:off x="620000" y="1048000"/>
            <a:ext cx="3560000" cy="11782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Same dots - used when </a:t>
            </a:r>
            <a:r>
              <a:rPr lang="en" sz="11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calling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or </a:t>
            </a:r>
            <a:r>
              <a:rPr lang="en" sz="11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building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Spreads values out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of a collection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Powers copying, merging and safe object updates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6" name="Code panel"/>
          <p:cNvSpPr/>
          <p:nvPr/>
        </p:nvSpPr>
        <p:spPr>
          <a:xfrm>
            <a:off x="4300000" y="500000"/>
            <a:ext cx="4350000" cy="1347552"/>
          </a:xfrm>
          <a:prstGeom prst="roundRect">
            <a:avLst>
              <a:gd name="adj" fmla="val 3500"/>
            </a:avLst>
          </a:prstGeom>
          <a:solidFill>
            <a:srgbClr val="0E2455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07" name="Dot 1"/>
          <p:cNvSpPr/>
          <p:nvPr/>
        </p:nvSpPr>
        <p:spPr>
          <a:xfrm>
            <a:off x="4420000" y="605000"/>
            <a:ext cx="70000" cy="7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8" name="Dot 2"/>
          <p:cNvSpPr/>
          <p:nvPr/>
        </p:nvSpPr>
        <p:spPr>
          <a:xfrm>
            <a:off x="4550000" y="605000"/>
            <a:ext cx="70000" cy="700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9" name="Dot 3"/>
          <p:cNvSpPr/>
          <p:nvPr/>
        </p:nvSpPr>
        <p:spPr>
          <a:xfrm>
            <a:off x="4680000" y="605000"/>
            <a:ext cx="70000" cy="70000"/>
          </a:xfrm>
          <a:prstGeom prst="ellipse">
            <a:avLst/>
          </a:prstGeom>
          <a:solidFill>
            <a:srgbClr val="3DAE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0" name="Code label"/>
          <p:cNvSpPr txBox="1"/>
          <p:nvPr/>
        </p:nvSpPr>
        <p:spPr>
          <a:xfrm>
            <a:off x="7650000" y="555000"/>
            <a:ext cx="900000" cy="170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8FA3C4"/>
                </a:solidFill>
                <a:latin typeface="Roboto"/>
                <a:ea typeface="Roboto"/>
                <a:cs typeface="Roboto"/>
                <a:sym typeface="Roboto"/>
              </a:rPr>
              <a:t>JS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1" name="Code"/>
          <p:cNvSpPr txBox="1"/>
          <p:nvPr/>
        </p:nvSpPr>
        <p:spPr>
          <a:xfrm>
            <a:off x="4360000" y="750000"/>
            <a:ext cx="4230000" cy="1067552"/>
          </a:xfrm>
          <a:prstGeom prst="rect">
            <a:avLst/>
          </a:prstGeom>
          <a:noFill/>
        </p:spPr>
        <p:txBody>
          <a:bodyPr spcFirstLastPara="1" wrap="square" lIns="86025" tIns="0" rIns="6000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arr1 = [</a:t>
            </a:r>
            <a:r>
              <a:rPr lang="en" sz="1000" b="0" i="0" u="none" strike="noStrike" cap="none" dirty="0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 b="0" i="0" u="none" strike="noStrike" cap="none" dirty="0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], arr2 = [</a:t>
            </a:r>
            <a:r>
              <a:rPr lang="en" sz="1000" b="0" i="0" u="none" strike="noStrike" cap="none" dirty="0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 b="0" i="0" u="none" strike="noStrike" cap="none" dirty="0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merged = [...arr1, ...arr2]; </a:t>
            </a:r>
            <a:r>
              <a:rPr lang="en" sz="10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// [1,2,3,4]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copy = [...arr1];            </a:t>
            </a:r>
            <a:r>
              <a:rPr lang="en" sz="10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// safe copy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user = { name: 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"Asha"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};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updated = { ...user, age: </a:t>
            </a:r>
            <a:r>
              <a:rPr lang="en" sz="1000" b="0" i="0" u="none" strike="noStrike" cap="none" dirty="0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21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};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02" name="Table"/>
          <p:cNvGraphicFramePr>
            <a:graphicFrameLocks noGrp="1"/>
          </p:cNvGraphicFramePr>
          <p:nvPr/>
        </p:nvGraphicFramePr>
        <p:xfrm>
          <a:off x="675600" y="2900000"/>
          <a:ext cx="7800000" cy="8700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500000"/>
                <a:gridCol w="3100000"/>
                <a:gridCol w="3200000"/>
              </a:tblGrid>
              <a:tr h="290000">
                <a:tc>
                  <a:txBody>
                    <a:bodyPr/>
                    <a:lstStyle/>
                    <a:p>
                      <a:r>
                        <a:rPr lang="en-IN" sz="1050" b="1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Same symbol 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1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Position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1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Job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290000">
                <a:tc>
                  <a:txBody>
                    <a:bodyPr/>
                    <a:lstStyle/>
                    <a:p>
                      <a:r>
                        <a:rPr lang="en-IN" sz="1050" b="1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Rest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parameters / destructuring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Packs values into one array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0000">
                <a:tc>
                  <a:txBody>
                    <a:bodyPr/>
                    <a:lstStyle/>
                    <a:p>
                      <a:r>
                        <a:rPr lang="en-IN" sz="1050" b="1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Spread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calls / array and object literals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Unpacks values out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grpSpPr/>
      <p:pic>
        <p:nvPicPr>
          <p:cNvPr id="110" name="Google Shape;110;p15" title="Untitled-1-07.png"/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powerd by.png"/>
          <p:cNvPicPr preferRelativeResize="0"/>
          <p:nvPr/>
        </p:nvPicPr>
        <p:blipFill rotWithShape="1">
          <a:blip r:embed="rId5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99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Kicker"/>
          <p:cNvSpPr txBox="1"/>
          <p:nvPr/>
        </p:nvSpPr>
        <p:spPr>
          <a:xfrm>
            <a:off x="675600" y="285000"/>
            <a:ext cx="3560000" cy="2412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3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Enhanced Object Literals</a:t>
            </a:r>
            <a:endParaRPr lang="en" sz="1003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3" name="Title"/>
          <p:cNvSpPr txBox="1"/>
          <p:nvPr/>
        </p:nvSpPr>
        <p:spPr>
          <a:xfrm>
            <a:off x="675600" y="520000"/>
            <a:ext cx="3560000" cy="425394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Property </a:t>
            </a:r>
            <a:r>
              <a:rPr lang="en" sz="22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Shorthand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4" name="Body"/>
          <p:cNvSpPr txBox="1"/>
          <p:nvPr/>
        </p:nvSpPr>
        <p:spPr>
          <a:xfrm>
            <a:off x="620000" y="1048000"/>
            <a:ext cx="3560000" cy="74386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Works when the </a:t>
            </a:r>
            <a:r>
              <a:rPr lang="en" sz="11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variable name = property name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Common in APIs, configs and React code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" name="Old - name written twice card"/>
          <p:cNvSpPr/>
          <p:nvPr/>
        </p:nvSpPr>
        <p:spPr>
          <a:xfrm>
            <a:off x="675600" y="1891860"/>
            <a:ext cx="3400000" cy="440000"/>
          </a:xfrm>
          <a:prstGeom prst="roundRect">
            <a:avLst>
              <a:gd name="adj" fmla="val 3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6" name="Old - name written twice label"/>
          <p:cNvSpPr txBox="1"/>
          <p:nvPr/>
        </p:nvSpPr>
        <p:spPr>
          <a:xfrm>
            <a:off x="785600" y="1931860"/>
            <a:ext cx="3200000" cy="190000"/>
          </a:xfrm>
          <a:prstGeom prst="rect">
            <a:avLst/>
          </a:prstGeom>
          <a:noFill/>
        </p:spPr>
        <p:txBody>
          <a:bodyPr spcFirstLastPara="1" wrap="square" lIns="0" tIns="20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C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Old - name written twice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7" name="Old - name written twice code"/>
          <p:cNvSpPr txBox="1"/>
          <p:nvPr/>
        </p:nvSpPr>
        <p:spPr>
          <a:xfrm>
            <a:off x="785600" y="2131860"/>
            <a:ext cx="3200000" cy="1800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950" b="0" i="0" u="none" strike="noStrike" cap="none" dirty="0">
                <a:solidFill>
                  <a:srgbClr val="0E2455"/>
                </a:solidFill>
                <a:latin typeface="Courier New"/>
                <a:ea typeface="Courier New"/>
                <a:cs typeface="Courier New"/>
                <a:sym typeface="Courier New"/>
              </a:rPr>
              <a:t> user = { name: name, age: age };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8" name="New - written once card"/>
          <p:cNvSpPr/>
          <p:nvPr/>
        </p:nvSpPr>
        <p:spPr>
          <a:xfrm>
            <a:off x="675600" y="2421860"/>
            <a:ext cx="3400000" cy="440000"/>
          </a:xfrm>
          <a:prstGeom prst="roundRect">
            <a:avLst>
              <a:gd name="adj" fmla="val 3000"/>
            </a:avLst>
          </a:prstGeom>
          <a:solidFill>
            <a:srgbClr val="E6EF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9" name="New - written once label"/>
          <p:cNvSpPr txBox="1"/>
          <p:nvPr/>
        </p:nvSpPr>
        <p:spPr>
          <a:xfrm>
            <a:off x="785600" y="2461860"/>
            <a:ext cx="3200000" cy="190000"/>
          </a:xfrm>
          <a:prstGeom prst="rect">
            <a:avLst/>
          </a:prstGeom>
          <a:noFill/>
        </p:spPr>
        <p:txBody>
          <a:bodyPr spcFirstLastPara="1" wrap="square" lIns="0" tIns="20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New - written once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0" name="New - written once code"/>
          <p:cNvSpPr txBox="1"/>
          <p:nvPr/>
        </p:nvSpPr>
        <p:spPr>
          <a:xfrm>
            <a:off x="785600" y="2661860"/>
            <a:ext cx="3200000" cy="1800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950" b="0" i="0" u="none" strike="noStrike" cap="none" dirty="0">
                <a:solidFill>
                  <a:srgbClr val="0E2455"/>
                </a:solidFill>
                <a:latin typeface="Courier New"/>
                <a:ea typeface="Courier New"/>
                <a:cs typeface="Courier New"/>
                <a:sym typeface="Courier New"/>
              </a:rPr>
              <a:t> user = { name, age };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1" name="Code panel"/>
          <p:cNvSpPr/>
          <p:nvPr/>
        </p:nvSpPr>
        <p:spPr>
          <a:xfrm>
            <a:off x="4300000" y="500000"/>
            <a:ext cx="4350000" cy="1182960"/>
          </a:xfrm>
          <a:prstGeom prst="roundRect">
            <a:avLst>
              <a:gd name="adj" fmla="val 3500"/>
            </a:avLst>
          </a:prstGeom>
          <a:solidFill>
            <a:srgbClr val="0E2455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22" name="Dot 1"/>
          <p:cNvSpPr/>
          <p:nvPr/>
        </p:nvSpPr>
        <p:spPr>
          <a:xfrm>
            <a:off x="4420000" y="605000"/>
            <a:ext cx="70000" cy="7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3" name="Dot 2"/>
          <p:cNvSpPr/>
          <p:nvPr/>
        </p:nvSpPr>
        <p:spPr>
          <a:xfrm>
            <a:off x="4550000" y="605000"/>
            <a:ext cx="70000" cy="700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4" name="Dot 3"/>
          <p:cNvSpPr/>
          <p:nvPr/>
        </p:nvSpPr>
        <p:spPr>
          <a:xfrm>
            <a:off x="4680000" y="605000"/>
            <a:ext cx="70000" cy="70000"/>
          </a:xfrm>
          <a:prstGeom prst="ellipse">
            <a:avLst/>
          </a:prstGeom>
          <a:solidFill>
            <a:srgbClr val="3DAE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5" name="Code label"/>
          <p:cNvSpPr txBox="1"/>
          <p:nvPr/>
        </p:nvSpPr>
        <p:spPr>
          <a:xfrm>
            <a:off x="7650000" y="555000"/>
            <a:ext cx="900000" cy="170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8FA3C4"/>
                </a:solidFill>
                <a:latin typeface="Roboto"/>
                <a:ea typeface="Roboto"/>
                <a:cs typeface="Roboto"/>
                <a:sym typeface="Roboto"/>
              </a:rPr>
              <a:t>JS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6" name="Code"/>
          <p:cNvSpPr txBox="1"/>
          <p:nvPr/>
        </p:nvSpPr>
        <p:spPr>
          <a:xfrm>
            <a:off x="4360000" y="750000"/>
            <a:ext cx="4230000" cy="902960"/>
          </a:xfrm>
          <a:prstGeom prst="rect">
            <a:avLst/>
          </a:prstGeom>
          <a:noFill/>
        </p:spPr>
        <p:txBody>
          <a:bodyPr spcFirstLastPara="1" wrap="square" lIns="86025" tIns="0" rIns="6000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name = 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"Asha"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age = </a:t>
            </a:r>
            <a:r>
              <a:rPr lang="en" sz="1000" b="0" i="0" u="none" strike="noStrike" cap="none" dirty="0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21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user = { name, age };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console.log(user);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7" name="Output panel"/>
          <p:cNvSpPr/>
          <p:nvPr/>
        </p:nvSpPr>
        <p:spPr>
          <a:xfrm>
            <a:off x="4300000" y="1792960"/>
            <a:ext cx="4350000" cy="47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28" name="Output heading"/>
          <p:cNvSpPr txBox="1"/>
          <p:nvPr/>
        </p:nvSpPr>
        <p:spPr>
          <a:xfrm>
            <a:off x="4420000" y="1832960"/>
            <a:ext cx="4110000" cy="200000"/>
          </a:xfrm>
          <a:prstGeom prst="rect">
            <a:avLst/>
          </a:prstGeom>
          <a:noFill/>
        </p:spPr>
        <p:txBody>
          <a:bodyPr spcFirstLastPara="1" wrap="square" lIns="0" tIns="30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Console output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9" name="Output"/>
          <p:cNvSpPr txBox="1"/>
          <p:nvPr/>
        </p:nvSpPr>
        <p:spPr>
          <a:xfrm>
            <a:off x="4420000" y="2042960"/>
            <a:ext cx="4110000" cy="1900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 u="none" strike="noStrike" cap="none" dirty="0">
                <a:solidFill>
                  <a:srgbClr val="0E2455"/>
                </a:solidFill>
                <a:latin typeface="Courier New"/>
                <a:ea typeface="Courier New"/>
                <a:cs typeface="Courier New"/>
                <a:sym typeface="Courier New"/>
              </a:rPr>
              <a:t>{ name: "Asha", age: 21 }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grpSpPr/>
      <p:pic>
        <p:nvPicPr>
          <p:cNvPr id="110" name="Google Shape;110;p15" title="Untitled-1-07.png"/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powerd by.png"/>
          <p:cNvPicPr preferRelativeResize="0"/>
          <p:nvPr/>
        </p:nvPicPr>
        <p:blipFill rotWithShape="1">
          <a:blip r:embed="rId5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99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Kicker"/>
          <p:cNvSpPr txBox="1"/>
          <p:nvPr/>
        </p:nvSpPr>
        <p:spPr>
          <a:xfrm>
            <a:off x="675600" y="285000"/>
            <a:ext cx="3560000" cy="2412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3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Enhanced Object Literals</a:t>
            </a:r>
            <a:endParaRPr lang="en" sz="1003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1" name="Title"/>
          <p:cNvSpPr txBox="1"/>
          <p:nvPr/>
        </p:nvSpPr>
        <p:spPr>
          <a:xfrm>
            <a:off x="675600" y="520000"/>
            <a:ext cx="3560000" cy="763948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Method Shorthand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and Computed Keys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2" name="Body"/>
          <p:cNvSpPr txBox="1"/>
          <p:nvPr/>
        </p:nvSpPr>
        <p:spPr>
          <a:xfrm>
            <a:off x="620000" y="1383000"/>
            <a:ext cx="3560000" cy="14830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700"/>
              </a:spcBef>
              <a:spcAft>
                <a:spcPts val="200"/>
              </a:spcAft>
              <a:buNone/>
            </a:pPr>
            <a:r>
              <a:rPr lang="en" sz="1129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Method shorthand</a:t>
            </a:r>
            <a:endParaRPr lang="en" sz="1129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Skip the </a:t>
            </a: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keyword inside objects.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700"/>
              </a:spcBef>
              <a:spcAft>
                <a:spcPts val="200"/>
              </a:spcAft>
              <a:buNone/>
            </a:pPr>
            <a:r>
              <a:rPr lang="en" sz="1129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Computed keys</a:t>
            </a:r>
            <a:endParaRPr lang="en" sz="1129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Build property names from variables using </a:t>
            </a: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[ ]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3" name="Code panel"/>
          <p:cNvSpPr/>
          <p:nvPr/>
        </p:nvSpPr>
        <p:spPr>
          <a:xfrm>
            <a:off x="4300000" y="500000"/>
            <a:ext cx="4350000" cy="2005920"/>
          </a:xfrm>
          <a:prstGeom prst="roundRect">
            <a:avLst>
              <a:gd name="adj" fmla="val 3500"/>
            </a:avLst>
          </a:prstGeom>
          <a:solidFill>
            <a:srgbClr val="0E2455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34" name="Dot 1"/>
          <p:cNvSpPr/>
          <p:nvPr/>
        </p:nvSpPr>
        <p:spPr>
          <a:xfrm>
            <a:off x="4420000" y="605000"/>
            <a:ext cx="70000" cy="7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5" name="Dot 2"/>
          <p:cNvSpPr/>
          <p:nvPr/>
        </p:nvSpPr>
        <p:spPr>
          <a:xfrm>
            <a:off x="4550000" y="605000"/>
            <a:ext cx="70000" cy="700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6" name="Dot 3"/>
          <p:cNvSpPr/>
          <p:nvPr/>
        </p:nvSpPr>
        <p:spPr>
          <a:xfrm>
            <a:off x="4680000" y="605000"/>
            <a:ext cx="70000" cy="70000"/>
          </a:xfrm>
          <a:prstGeom prst="ellipse">
            <a:avLst/>
          </a:prstGeom>
          <a:solidFill>
            <a:srgbClr val="3DAE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7" name="Code label"/>
          <p:cNvSpPr txBox="1"/>
          <p:nvPr/>
        </p:nvSpPr>
        <p:spPr>
          <a:xfrm>
            <a:off x="7650000" y="555000"/>
            <a:ext cx="900000" cy="170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8FA3C4"/>
                </a:solidFill>
                <a:latin typeface="Roboto"/>
                <a:ea typeface="Roboto"/>
                <a:cs typeface="Roboto"/>
                <a:sym typeface="Roboto"/>
              </a:rPr>
              <a:t>JS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8" name="Code"/>
          <p:cNvSpPr txBox="1"/>
          <p:nvPr/>
        </p:nvSpPr>
        <p:spPr>
          <a:xfrm>
            <a:off x="4360000" y="750000"/>
            <a:ext cx="4230000" cy="1725920"/>
          </a:xfrm>
          <a:prstGeom prst="rect">
            <a:avLst/>
          </a:prstGeom>
          <a:noFill/>
        </p:spPr>
        <p:txBody>
          <a:bodyPr spcFirstLastPara="1" wrap="square" lIns="86025" tIns="0" rIns="6000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prop = 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"score"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game = {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title: 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"Quiz App"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start() { console.log(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"Game started!"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); },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[prop]: </a:t>
            </a:r>
            <a:r>
              <a:rPr lang="en" sz="1000" b="0" i="0" u="none" strike="noStrike" cap="none" dirty="0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// computed key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game.start();             </a:t>
            </a:r>
            <a:r>
              <a:rPr lang="en" sz="10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// Game started!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console.log(game.score);  </a:t>
            </a:r>
            <a:r>
              <a:rPr lang="en" sz="10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// 100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9" name="Output panel"/>
          <p:cNvSpPr/>
          <p:nvPr/>
        </p:nvSpPr>
        <p:spPr>
          <a:xfrm>
            <a:off x="4300000" y="2615920"/>
            <a:ext cx="4350000" cy="62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40" name="Output heading"/>
          <p:cNvSpPr txBox="1"/>
          <p:nvPr/>
        </p:nvSpPr>
        <p:spPr>
          <a:xfrm>
            <a:off x="4420000" y="2655920"/>
            <a:ext cx="4110000" cy="200000"/>
          </a:xfrm>
          <a:prstGeom prst="rect">
            <a:avLst/>
          </a:prstGeom>
          <a:noFill/>
        </p:spPr>
        <p:txBody>
          <a:bodyPr spcFirstLastPara="1" wrap="square" lIns="0" tIns="30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Console output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1" name="Output"/>
          <p:cNvSpPr txBox="1"/>
          <p:nvPr/>
        </p:nvSpPr>
        <p:spPr>
          <a:xfrm>
            <a:off x="4420000" y="2865920"/>
            <a:ext cx="4110000" cy="3400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 u="none" strike="noStrike" cap="none" dirty="0">
                <a:solidFill>
                  <a:srgbClr val="0E2455"/>
                </a:solidFill>
                <a:latin typeface="Courier New"/>
                <a:ea typeface="Courier New"/>
                <a:cs typeface="Courier New"/>
                <a:sym typeface="Courier New"/>
              </a:rPr>
              <a:t>Game started!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 u="none" strike="noStrike" cap="none" dirty="0">
                <a:solidFill>
                  <a:srgbClr val="0E2455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grpSpPr/>
      <p:pic>
        <p:nvPicPr>
          <p:cNvPr id="110" name="Google Shape;110;p15" title="Untitled-1-07.png"/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powerd by.png"/>
          <p:cNvPicPr preferRelativeResize="0"/>
          <p:nvPr/>
        </p:nvPicPr>
        <p:blipFill rotWithShape="1">
          <a:blip r:embed="rId5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99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Kicker"/>
          <p:cNvSpPr txBox="1"/>
          <p:nvPr/>
        </p:nvSpPr>
        <p:spPr>
          <a:xfrm>
            <a:off x="675600" y="285000"/>
            <a:ext cx="3560000" cy="2412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3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Modules</a:t>
            </a:r>
            <a:endParaRPr lang="en" sz="1003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3" name="Title"/>
          <p:cNvSpPr txBox="1"/>
          <p:nvPr/>
        </p:nvSpPr>
        <p:spPr>
          <a:xfrm>
            <a:off x="675600" y="520000"/>
            <a:ext cx="3560000" cy="763948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Modules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Import and Export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4" name="Body"/>
          <p:cNvSpPr txBox="1"/>
          <p:nvPr/>
        </p:nvSpPr>
        <p:spPr>
          <a:xfrm>
            <a:off x="620000" y="1383000"/>
            <a:ext cx="3560000" cy="198719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Modules are </a:t>
            </a:r>
            <a:r>
              <a:rPr lang="en" sz="11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separate files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that share code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makes something available </a:t>
            </a:r>
            <a:r>
              <a:rPr lang="en" sz="11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from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a file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brings it </a:t>
            </a:r>
            <a:r>
              <a:rPr lang="en" sz="11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into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another file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Organized, reusable, no name conflicts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700"/>
              </a:spcBef>
              <a:spcAft>
                <a:spcPts val="200"/>
              </a:spcAft>
              <a:buNone/>
            </a:pPr>
            <a:r>
              <a:rPr lang="en" sz="1129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Requirement</a:t>
            </a:r>
            <a:endParaRPr lang="en" sz="1129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In the browser, use </a:t>
            </a: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&lt;script type="module"&gt;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5" name="Code panel"/>
          <p:cNvSpPr/>
          <p:nvPr/>
        </p:nvSpPr>
        <p:spPr>
          <a:xfrm>
            <a:off x="4300000" y="500000"/>
            <a:ext cx="4350000" cy="853776"/>
          </a:xfrm>
          <a:prstGeom prst="roundRect">
            <a:avLst>
              <a:gd name="adj" fmla="val 3500"/>
            </a:avLst>
          </a:prstGeom>
          <a:solidFill>
            <a:srgbClr val="0E2455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46" name="Dot 1"/>
          <p:cNvSpPr/>
          <p:nvPr/>
        </p:nvSpPr>
        <p:spPr>
          <a:xfrm>
            <a:off x="4420000" y="605000"/>
            <a:ext cx="70000" cy="7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7" name="Dot 2"/>
          <p:cNvSpPr/>
          <p:nvPr/>
        </p:nvSpPr>
        <p:spPr>
          <a:xfrm>
            <a:off x="4550000" y="605000"/>
            <a:ext cx="70000" cy="700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8" name="Dot 3"/>
          <p:cNvSpPr/>
          <p:nvPr/>
        </p:nvSpPr>
        <p:spPr>
          <a:xfrm>
            <a:off x="4680000" y="605000"/>
            <a:ext cx="70000" cy="70000"/>
          </a:xfrm>
          <a:prstGeom prst="ellipse">
            <a:avLst/>
          </a:prstGeom>
          <a:solidFill>
            <a:srgbClr val="3DAE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9" name="File name"/>
          <p:cNvSpPr txBox="1"/>
          <p:nvPr/>
        </p:nvSpPr>
        <p:spPr>
          <a:xfrm>
            <a:off x="4860000" y="560000"/>
            <a:ext cx="2200000" cy="170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math.js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Code label"/>
          <p:cNvSpPr txBox="1"/>
          <p:nvPr/>
        </p:nvSpPr>
        <p:spPr>
          <a:xfrm>
            <a:off x="7650000" y="555000"/>
            <a:ext cx="900000" cy="170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8FA3C4"/>
                </a:solidFill>
                <a:latin typeface="Roboto"/>
                <a:ea typeface="Roboto"/>
                <a:cs typeface="Roboto"/>
                <a:sym typeface="Roboto"/>
              </a:rPr>
              <a:t>JS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1" name="Code"/>
          <p:cNvSpPr txBox="1"/>
          <p:nvPr/>
        </p:nvSpPr>
        <p:spPr>
          <a:xfrm>
            <a:off x="4360000" y="750000"/>
            <a:ext cx="4230000" cy="573776"/>
          </a:xfrm>
          <a:prstGeom prst="rect">
            <a:avLst/>
          </a:prstGeom>
          <a:noFill/>
        </p:spPr>
        <p:txBody>
          <a:bodyPr spcFirstLastPara="1" wrap="square" lIns="86025" tIns="0" rIns="6000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add(a, b) {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a + b;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2" name="Code panel"/>
          <p:cNvSpPr/>
          <p:nvPr/>
        </p:nvSpPr>
        <p:spPr>
          <a:xfrm>
            <a:off x="4300000" y="1483776"/>
            <a:ext cx="4350000" cy="689184"/>
          </a:xfrm>
          <a:prstGeom prst="roundRect">
            <a:avLst>
              <a:gd name="adj" fmla="val 3500"/>
            </a:avLst>
          </a:prstGeom>
          <a:solidFill>
            <a:srgbClr val="0E2455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53" name="Dot 1"/>
          <p:cNvSpPr/>
          <p:nvPr/>
        </p:nvSpPr>
        <p:spPr>
          <a:xfrm>
            <a:off x="4420000" y="1588776"/>
            <a:ext cx="70000" cy="7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4" name="Dot 2"/>
          <p:cNvSpPr/>
          <p:nvPr/>
        </p:nvSpPr>
        <p:spPr>
          <a:xfrm>
            <a:off x="4550000" y="1588776"/>
            <a:ext cx="70000" cy="700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5" name="Dot 3"/>
          <p:cNvSpPr/>
          <p:nvPr/>
        </p:nvSpPr>
        <p:spPr>
          <a:xfrm>
            <a:off x="4680000" y="1588776"/>
            <a:ext cx="70000" cy="70000"/>
          </a:xfrm>
          <a:prstGeom prst="ellipse">
            <a:avLst/>
          </a:prstGeom>
          <a:solidFill>
            <a:srgbClr val="3DAE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6" name="File name"/>
          <p:cNvSpPr txBox="1"/>
          <p:nvPr/>
        </p:nvSpPr>
        <p:spPr>
          <a:xfrm>
            <a:off x="4860000" y="1543776"/>
            <a:ext cx="2200000" cy="170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main.js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7" name="Code label"/>
          <p:cNvSpPr txBox="1"/>
          <p:nvPr/>
        </p:nvSpPr>
        <p:spPr>
          <a:xfrm>
            <a:off x="7650000" y="1538776"/>
            <a:ext cx="900000" cy="170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8FA3C4"/>
                </a:solidFill>
                <a:latin typeface="Roboto"/>
                <a:ea typeface="Roboto"/>
                <a:cs typeface="Roboto"/>
                <a:sym typeface="Roboto"/>
              </a:rPr>
              <a:t>JS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8" name="Code"/>
          <p:cNvSpPr txBox="1"/>
          <p:nvPr/>
        </p:nvSpPr>
        <p:spPr>
          <a:xfrm>
            <a:off x="4360000" y="1733776"/>
            <a:ext cx="4230000" cy="409184"/>
          </a:xfrm>
          <a:prstGeom prst="rect">
            <a:avLst/>
          </a:prstGeom>
          <a:noFill/>
        </p:spPr>
        <p:txBody>
          <a:bodyPr spcFirstLastPara="1" wrap="square" lIns="86025" tIns="0" rIns="6000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{ add }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"./math.js"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console.log(add(</a:t>
            </a:r>
            <a:r>
              <a:rPr lang="en" sz="1000" b="0" i="0" u="none" strike="noStrike" cap="none" dirty="0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 b="0" i="0" u="none" strike="noStrike" cap="none" dirty="0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));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9" name="Output panel"/>
          <p:cNvSpPr/>
          <p:nvPr/>
        </p:nvSpPr>
        <p:spPr>
          <a:xfrm>
            <a:off x="4300000" y="2282960"/>
            <a:ext cx="4350000" cy="47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60" name="Output heading"/>
          <p:cNvSpPr txBox="1"/>
          <p:nvPr/>
        </p:nvSpPr>
        <p:spPr>
          <a:xfrm>
            <a:off x="4420000" y="2322960"/>
            <a:ext cx="4110000" cy="200000"/>
          </a:xfrm>
          <a:prstGeom prst="rect">
            <a:avLst/>
          </a:prstGeom>
          <a:noFill/>
        </p:spPr>
        <p:txBody>
          <a:bodyPr spcFirstLastPara="1" wrap="square" lIns="0" tIns="30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Console output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1" name="Output"/>
          <p:cNvSpPr txBox="1"/>
          <p:nvPr/>
        </p:nvSpPr>
        <p:spPr>
          <a:xfrm>
            <a:off x="4420000" y="2532960"/>
            <a:ext cx="4110000" cy="1900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 u="none" strike="noStrike" cap="none" dirty="0">
                <a:solidFill>
                  <a:srgbClr val="0E2455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grpSpPr/>
      <p:pic>
        <p:nvPicPr>
          <p:cNvPr id="110" name="Google Shape;110;p15" title="Untitled-1-07.png"/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powerd by.png"/>
          <p:cNvPicPr preferRelativeResize="0"/>
          <p:nvPr/>
        </p:nvPicPr>
        <p:blipFill rotWithShape="1">
          <a:blip r:embed="rId5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99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Kicker"/>
          <p:cNvSpPr txBox="1"/>
          <p:nvPr/>
        </p:nvSpPr>
        <p:spPr>
          <a:xfrm>
            <a:off x="675600" y="285000"/>
            <a:ext cx="3560000" cy="2412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3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Modules</a:t>
            </a:r>
            <a:endParaRPr lang="en" sz="1003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3" name="Title"/>
          <p:cNvSpPr txBox="1"/>
          <p:nvPr/>
        </p:nvSpPr>
        <p:spPr>
          <a:xfrm>
            <a:off x="675600" y="520000"/>
            <a:ext cx="3560000" cy="763948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Named vs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Default Exports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4" name="Body"/>
          <p:cNvSpPr txBox="1"/>
          <p:nvPr/>
        </p:nvSpPr>
        <p:spPr>
          <a:xfrm>
            <a:off x="620000" y="1383000"/>
            <a:ext cx="3560000" cy="16227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700"/>
              </a:spcBef>
              <a:spcAft>
                <a:spcPts val="200"/>
              </a:spcAft>
              <a:buNone/>
            </a:pPr>
            <a:r>
              <a:rPr lang="en" sz="1129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Named exports</a:t>
            </a:r>
            <a:endParaRPr lang="en" sz="1129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Many per file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Imported with </a:t>
            </a: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{ }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- name must match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700"/>
              </a:spcBef>
              <a:spcAft>
                <a:spcPts val="200"/>
              </a:spcAft>
              <a:buNone/>
            </a:pPr>
            <a:r>
              <a:rPr lang="en" sz="1129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Default export</a:t>
            </a:r>
            <a:endParaRPr lang="en" sz="1129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Only </a:t>
            </a:r>
            <a:r>
              <a:rPr lang="en" sz="11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one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per file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No braces - import with </a:t>
            </a:r>
            <a:r>
              <a:rPr lang="en" sz="11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any name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5" name="Code panel"/>
          <p:cNvSpPr/>
          <p:nvPr/>
        </p:nvSpPr>
        <p:spPr>
          <a:xfrm>
            <a:off x="4300000" y="500000"/>
            <a:ext cx="4350000" cy="689184"/>
          </a:xfrm>
          <a:prstGeom prst="roundRect">
            <a:avLst>
              <a:gd name="adj" fmla="val 3500"/>
            </a:avLst>
          </a:prstGeom>
          <a:solidFill>
            <a:srgbClr val="0E2455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66" name="Dot 1"/>
          <p:cNvSpPr/>
          <p:nvPr/>
        </p:nvSpPr>
        <p:spPr>
          <a:xfrm>
            <a:off x="4420000" y="605000"/>
            <a:ext cx="70000" cy="7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7" name="Dot 2"/>
          <p:cNvSpPr/>
          <p:nvPr/>
        </p:nvSpPr>
        <p:spPr>
          <a:xfrm>
            <a:off x="4550000" y="605000"/>
            <a:ext cx="70000" cy="700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8" name="Dot 3"/>
          <p:cNvSpPr/>
          <p:nvPr/>
        </p:nvSpPr>
        <p:spPr>
          <a:xfrm>
            <a:off x="4680000" y="605000"/>
            <a:ext cx="70000" cy="70000"/>
          </a:xfrm>
          <a:prstGeom prst="ellipse">
            <a:avLst/>
          </a:prstGeom>
          <a:solidFill>
            <a:srgbClr val="3DAE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9" name="File name"/>
          <p:cNvSpPr txBox="1"/>
          <p:nvPr/>
        </p:nvSpPr>
        <p:spPr>
          <a:xfrm>
            <a:off x="4860000" y="560000"/>
            <a:ext cx="2200000" cy="170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user.js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0" name="Code label"/>
          <p:cNvSpPr txBox="1"/>
          <p:nvPr/>
        </p:nvSpPr>
        <p:spPr>
          <a:xfrm>
            <a:off x="7650000" y="555000"/>
            <a:ext cx="900000" cy="170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8FA3C4"/>
                </a:solidFill>
                <a:latin typeface="Roboto"/>
                <a:ea typeface="Roboto"/>
                <a:cs typeface="Roboto"/>
                <a:sym typeface="Roboto"/>
              </a:rPr>
              <a:t>JS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1" name="Code"/>
          <p:cNvSpPr txBox="1"/>
          <p:nvPr/>
        </p:nvSpPr>
        <p:spPr>
          <a:xfrm>
            <a:off x="4360000" y="750000"/>
            <a:ext cx="4230000" cy="409184"/>
          </a:xfrm>
          <a:prstGeom prst="rect">
            <a:avLst/>
          </a:prstGeom>
          <a:noFill/>
        </p:spPr>
        <p:txBody>
          <a:bodyPr spcFirstLastPara="1" wrap="square" lIns="86025" tIns="0" rIns="6000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role = 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"student"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en" sz="10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// named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User { } </a:t>
            </a:r>
            <a:r>
              <a:rPr lang="en" sz="10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// default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2" name="Code panel"/>
          <p:cNvSpPr/>
          <p:nvPr/>
        </p:nvSpPr>
        <p:spPr>
          <a:xfrm>
            <a:off x="4300000" y="1319184"/>
            <a:ext cx="4350000" cy="853776"/>
          </a:xfrm>
          <a:prstGeom prst="roundRect">
            <a:avLst>
              <a:gd name="adj" fmla="val 3500"/>
            </a:avLst>
          </a:prstGeom>
          <a:solidFill>
            <a:srgbClr val="0E2455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73" name="Dot 1"/>
          <p:cNvSpPr/>
          <p:nvPr/>
        </p:nvSpPr>
        <p:spPr>
          <a:xfrm>
            <a:off x="4420000" y="1424184"/>
            <a:ext cx="70000" cy="7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4" name="Dot 2"/>
          <p:cNvSpPr/>
          <p:nvPr/>
        </p:nvSpPr>
        <p:spPr>
          <a:xfrm>
            <a:off x="4550000" y="1424184"/>
            <a:ext cx="70000" cy="700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5" name="Dot 3"/>
          <p:cNvSpPr/>
          <p:nvPr/>
        </p:nvSpPr>
        <p:spPr>
          <a:xfrm>
            <a:off x="4680000" y="1424184"/>
            <a:ext cx="70000" cy="70000"/>
          </a:xfrm>
          <a:prstGeom prst="ellipse">
            <a:avLst/>
          </a:prstGeom>
          <a:solidFill>
            <a:srgbClr val="3DAE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6" name="File name"/>
          <p:cNvSpPr txBox="1"/>
          <p:nvPr/>
        </p:nvSpPr>
        <p:spPr>
          <a:xfrm>
            <a:off x="4860000" y="1379184"/>
            <a:ext cx="2200000" cy="170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main.js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7" name="Code label"/>
          <p:cNvSpPr txBox="1"/>
          <p:nvPr/>
        </p:nvSpPr>
        <p:spPr>
          <a:xfrm>
            <a:off x="7650000" y="1374184"/>
            <a:ext cx="900000" cy="170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8FA3C4"/>
                </a:solidFill>
                <a:latin typeface="Roboto"/>
                <a:ea typeface="Roboto"/>
                <a:cs typeface="Roboto"/>
                <a:sym typeface="Roboto"/>
              </a:rPr>
              <a:t>JS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8" name="Code"/>
          <p:cNvSpPr txBox="1"/>
          <p:nvPr/>
        </p:nvSpPr>
        <p:spPr>
          <a:xfrm>
            <a:off x="4360000" y="1569184"/>
            <a:ext cx="4230000" cy="573776"/>
          </a:xfrm>
          <a:prstGeom prst="rect">
            <a:avLst/>
          </a:prstGeom>
          <a:noFill/>
        </p:spPr>
        <p:txBody>
          <a:bodyPr spcFirstLastPara="1" wrap="square" lIns="86025" tIns="0" rIns="6000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User, { role }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"./user.js"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// User: default (any name)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// { role }: named (exact name)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grpSpPr/>
      <p:pic>
        <p:nvPicPr>
          <p:cNvPr id="110" name="Google Shape;110;p15" title="Untitled-1-07.png"/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powerd by.png"/>
          <p:cNvPicPr preferRelativeResize="0"/>
          <p:nvPr/>
        </p:nvPicPr>
        <p:blipFill rotWithShape="1">
          <a:blip r:embed="rId5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99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Kicker"/>
          <p:cNvSpPr txBox="1"/>
          <p:nvPr/>
        </p:nvSpPr>
        <p:spPr>
          <a:xfrm>
            <a:off x="675600" y="285000"/>
            <a:ext cx="3560000" cy="2412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3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Classes</a:t>
            </a:r>
            <a:endParaRPr lang="en" sz="1003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0" name="Title"/>
          <p:cNvSpPr txBox="1"/>
          <p:nvPr/>
        </p:nvSpPr>
        <p:spPr>
          <a:xfrm>
            <a:off x="675600" y="520000"/>
            <a:ext cx="3560000" cy="425394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Classes </a:t>
            </a:r>
            <a:r>
              <a:rPr lang="en" sz="22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Basics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1" name="Body"/>
          <p:cNvSpPr txBox="1"/>
          <p:nvPr/>
        </p:nvSpPr>
        <p:spPr>
          <a:xfrm>
            <a:off x="620000" y="1048000"/>
            <a:ext cx="3560000" cy="220055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lang="en" sz="11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class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is a blueprint for creating many similar objects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constructor()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runs </a:t>
            </a:r>
            <a:r>
              <a:rPr lang="en" sz="11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automatically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with </a:t>
            </a: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Methods go </a:t>
            </a:r>
            <a:r>
              <a:rPr lang="en" sz="11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inside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the class - no commas needed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700"/>
              </a:spcBef>
              <a:spcAft>
                <a:spcPts val="200"/>
              </a:spcAft>
              <a:buNone/>
            </a:pPr>
            <a:r>
              <a:rPr lang="en" sz="1129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Analogy</a:t>
            </a:r>
            <a:endParaRPr lang="en" sz="1129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Class = blueprint, objects = houses built from it.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2" name="Code panel"/>
          <p:cNvSpPr/>
          <p:nvPr/>
        </p:nvSpPr>
        <p:spPr>
          <a:xfrm>
            <a:off x="4300000" y="500000"/>
            <a:ext cx="4350000" cy="2335104"/>
          </a:xfrm>
          <a:prstGeom prst="roundRect">
            <a:avLst>
              <a:gd name="adj" fmla="val 3500"/>
            </a:avLst>
          </a:prstGeom>
          <a:solidFill>
            <a:srgbClr val="0E2455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83" name="Dot 1"/>
          <p:cNvSpPr/>
          <p:nvPr/>
        </p:nvSpPr>
        <p:spPr>
          <a:xfrm>
            <a:off x="4420000" y="605000"/>
            <a:ext cx="70000" cy="7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4" name="Dot 2"/>
          <p:cNvSpPr/>
          <p:nvPr/>
        </p:nvSpPr>
        <p:spPr>
          <a:xfrm>
            <a:off x="4550000" y="605000"/>
            <a:ext cx="70000" cy="700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5" name="Dot 3"/>
          <p:cNvSpPr/>
          <p:nvPr/>
        </p:nvSpPr>
        <p:spPr>
          <a:xfrm>
            <a:off x="4680000" y="605000"/>
            <a:ext cx="70000" cy="70000"/>
          </a:xfrm>
          <a:prstGeom prst="ellipse">
            <a:avLst/>
          </a:prstGeom>
          <a:solidFill>
            <a:srgbClr val="3DAE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6" name="Code label"/>
          <p:cNvSpPr txBox="1"/>
          <p:nvPr/>
        </p:nvSpPr>
        <p:spPr>
          <a:xfrm>
            <a:off x="7650000" y="555000"/>
            <a:ext cx="900000" cy="170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8FA3C4"/>
                </a:solidFill>
                <a:latin typeface="Roboto"/>
                <a:ea typeface="Roboto"/>
                <a:cs typeface="Roboto"/>
                <a:sym typeface="Roboto"/>
              </a:rPr>
              <a:t>JS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7" name="Code"/>
          <p:cNvSpPr txBox="1"/>
          <p:nvPr/>
        </p:nvSpPr>
        <p:spPr>
          <a:xfrm>
            <a:off x="4360000" y="750000"/>
            <a:ext cx="4230000" cy="2055104"/>
          </a:xfrm>
          <a:prstGeom prst="rect">
            <a:avLst/>
          </a:prstGeom>
          <a:noFill/>
        </p:spPr>
        <p:txBody>
          <a:bodyPr spcFirstLastPara="1" wrap="square" lIns="86025" tIns="0" rIns="6000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Student {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constructor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(name, age) {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.name = name;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.age = age;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introduce() {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`Hi, I am ${this.name}`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s1 =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Student(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"Asha"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 b="0" i="0" u="none" strike="noStrike" cap="none" dirty="0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21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console.log(s1.introduce());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8" name="Output panel"/>
          <p:cNvSpPr/>
          <p:nvPr/>
        </p:nvSpPr>
        <p:spPr>
          <a:xfrm>
            <a:off x="4300000" y="2945104"/>
            <a:ext cx="4350000" cy="47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89" name="Output heading"/>
          <p:cNvSpPr txBox="1"/>
          <p:nvPr/>
        </p:nvSpPr>
        <p:spPr>
          <a:xfrm>
            <a:off x="4420000" y="2985104"/>
            <a:ext cx="4110000" cy="200000"/>
          </a:xfrm>
          <a:prstGeom prst="rect">
            <a:avLst/>
          </a:prstGeom>
          <a:noFill/>
        </p:spPr>
        <p:txBody>
          <a:bodyPr spcFirstLastPara="1" wrap="square" lIns="0" tIns="30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Console output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0" name="Output"/>
          <p:cNvSpPr txBox="1"/>
          <p:nvPr/>
        </p:nvSpPr>
        <p:spPr>
          <a:xfrm>
            <a:off x="4420000" y="3195104"/>
            <a:ext cx="4110000" cy="1900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 u="none" strike="noStrike" cap="none" dirty="0">
                <a:solidFill>
                  <a:srgbClr val="0E2455"/>
                </a:solidFill>
                <a:latin typeface="Courier New"/>
                <a:ea typeface="Courier New"/>
                <a:cs typeface="Courier New"/>
                <a:sym typeface="Courier New"/>
              </a:rPr>
              <a:t>Hi, I am Asha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grpSpPr/>
      <p:pic>
        <p:nvPicPr>
          <p:cNvPr id="110" name="Google Shape;110;p15" title="Untitled-1-07.png"/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powerd by.png"/>
          <p:cNvPicPr preferRelativeResize="0"/>
          <p:nvPr/>
        </p:nvPicPr>
        <p:blipFill rotWithShape="1">
          <a:blip r:embed="rId5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99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Kicker"/>
          <p:cNvSpPr txBox="1"/>
          <p:nvPr/>
        </p:nvSpPr>
        <p:spPr>
          <a:xfrm>
            <a:off x="675600" y="285000"/>
            <a:ext cx="3560000" cy="2412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3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Classes</a:t>
            </a:r>
            <a:endParaRPr lang="en" sz="1003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2" name="Title"/>
          <p:cNvSpPr txBox="1"/>
          <p:nvPr/>
        </p:nvSpPr>
        <p:spPr>
          <a:xfrm>
            <a:off x="675600" y="520000"/>
            <a:ext cx="3560000" cy="425394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Classes </a:t>
            </a:r>
            <a:r>
              <a:rPr lang="en" sz="22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Inheritance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3" name="Body"/>
          <p:cNvSpPr txBox="1"/>
          <p:nvPr/>
        </p:nvSpPr>
        <p:spPr>
          <a:xfrm>
            <a:off x="620000" y="1048000"/>
            <a:ext cx="3560000" cy="138902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extends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creates a </a:t>
            </a:r>
            <a:r>
              <a:rPr lang="en" sz="11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child class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from a parent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super()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calls the </a:t>
            </a:r>
            <a:r>
              <a:rPr lang="en" sz="11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parent's constructor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first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A child </a:t>
            </a:r>
            <a:r>
              <a:rPr lang="en" sz="11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inherits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everything and can </a:t>
            </a:r>
            <a:r>
              <a:rPr lang="en" sz="11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override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methods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4" name="Parent"/>
          <p:cNvSpPr/>
          <p:nvPr/>
        </p:nvSpPr>
        <p:spPr>
          <a:xfrm>
            <a:off x="675600" y="2617020"/>
            <a:ext cx="1250000" cy="420000"/>
          </a:xfrm>
          <a:prstGeom prst="roundRect">
            <a:avLst>
              <a:gd name="adj" fmla="val 12000"/>
            </a:avLst>
          </a:prstGeom>
          <a:solidFill>
            <a:srgbClr val="0053A1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Animal (parent)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5" name="extends"/>
          <p:cNvSpPr txBox="1"/>
          <p:nvPr/>
        </p:nvSpPr>
        <p:spPr>
          <a:xfrm>
            <a:off x="1930000" y="2577020"/>
            <a:ext cx="600000" cy="2000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 b="1" i="0" u="none" strike="noStrike" cap="none" dirty="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extends</a:t>
            </a:r>
            <a:endParaRPr lang="en" sz="8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6" name="Arrow"/>
          <p:cNvSpPr/>
          <p:nvPr/>
        </p:nvSpPr>
        <p:spPr>
          <a:xfrm>
            <a:off x="1990000" y="2787020"/>
            <a:ext cx="480000" cy="200000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7" name="Child"/>
          <p:cNvSpPr/>
          <p:nvPr/>
        </p:nvSpPr>
        <p:spPr>
          <a:xfrm>
            <a:off x="2530000" y="2617020"/>
            <a:ext cx="1250000" cy="420000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Dog (child)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8" name="Code panel"/>
          <p:cNvSpPr/>
          <p:nvPr/>
        </p:nvSpPr>
        <p:spPr>
          <a:xfrm>
            <a:off x="4300000" y="500000"/>
            <a:ext cx="4350000" cy="2335104"/>
          </a:xfrm>
          <a:prstGeom prst="roundRect">
            <a:avLst>
              <a:gd name="adj" fmla="val 3500"/>
            </a:avLst>
          </a:prstGeom>
          <a:solidFill>
            <a:srgbClr val="0E2455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99" name="Dot 1"/>
          <p:cNvSpPr/>
          <p:nvPr/>
        </p:nvSpPr>
        <p:spPr>
          <a:xfrm>
            <a:off x="4420000" y="605000"/>
            <a:ext cx="70000" cy="7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0" name="Dot 2"/>
          <p:cNvSpPr/>
          <p:nvPr/>
        </p:nvSpPr>
        <p:spPr>
          <a:xfrm>
            <a:off x="4550000" y="605000"/>
            <a:ext cx="70000" cy="700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1" name="Dot 3"/>
          <p:cNvSpPr/>
          <p:nvPr/>
        </p:nvSpPr>
        <p:spPr>
          <a:xfrm>
            <a:off x="4680000" y="605000"/>
            <a:ext cx="70000" cy="70000"/>
          </a:xfrm>
          <a:prstGeom prst="ellipse">
            <a:avLst/>
          </a:prstGeom>
          <a:solidFill>
            <a:srgbClr val="3DAE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2" name="Code label"/>
          <p:cNvSpPr txBox="1"/>
          <p:nvPr/>
        </p:nvSpPr>
        <p:spPr>
          <a:xfrm>
            <a:off x="7650000" y="555000"/>
            <a:ext cx="900000" cy="170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8FA3C4"/>
                </a:solidFill>
                <a:latin typeface="Roboto"/>
                <a:ea typeface="Roboto"/>
                <a:cs typeface="Roboto"/>
                <a:sym typeface="Roboto"/>
              </a:rPr>
              <a:t>JS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3" name="Code"/>
          <p:cNvSpPr txBox="1"/>
          <p:nvPr/>
        </p:nvSpPr>
        <p:spPr>
          <a:xfrm>
            <a:off x="4360000" y="750000"/>
            <a:ext cx="4230000" cy="2055104"/>
          </a:xfrm>
          <a:prstGeom prst="rect">
            <a:avLst/>
          </a:prstGeom>
          <a:noFill/>
        </p:spPr>
        <p:txBody>
          <a:bodyPr spcFirstLastPara="1" wrap="square" lIns="86025" tIns="0" rIns="6000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Animal {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constructor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(name) {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.name = name; }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speak() {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`${this.name} makes a sound`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; }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Dog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extends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Animal {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// override speak()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speak() {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`${this.name} barks`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; }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d =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Dog(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"Bruno"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console.log(d.speak());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4" name="Output panel"/>
          <p:cNvSpPr/>
          <p:nvPr/>
        </p:nvSpPr>
        <p:spPr>
          <a:xfrm>
            <a:off x="4300000" y="2945104"/>
            <a:ext cx="4350000" cy="47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05" name="Output heading"/>
          <p:cNvSpPr txBox="1"/>
          <p:nvPr/>
        </p:nvSpPr>
        <p:spPr>
          <a:xfrm>
            <a:off x="4420000" y="2985104"/>
            <a:ext cx="4110000" cy="200000"/>
          </a:xfrm>
          <a:prstGeom prst="rect">
            <a:avLst/>
          </a:prstGeom>
          <a:noFill/>
        </p:spPr>
        <p:txBody>
          <a:bodyPr spcFirstLastPara="1" wrap="square" lIns="0" tIns="30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Console output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6" name="Output"/>
          <p:cNvSpPr txBox="1"/>
          <p:nvPr/>
        </p:nvSpPr>
        <p:spPr>
          <a:xfrm>
            <a:off x="4420000" y="3195104"/>
            <a:ext cx="4110000" cy="1900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 u="none" strike="noStrike" cap="none" dirty="0">
                <a:solidFill>
                  <a:srgbClr val="0E2455"/>
                </a:solidFill>
                <a:latin typeface="Courier New"/>
                <a:ea typeface="Courier New"/>
                <a:cs typeface="Courier New"/>
                <a:sym typeface="Courier New"/>
              </a:rPr>
              <a:t>Bruno barks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grpSpPr/>
      <p:grpSp>
        <p:nvGrpSpPr>
          <p:cNvPr id="119" name="Google Shape;119;p16"/>
          <p:cNvGrpSpPr/>
          <p:nvPr/>
        </p:nvGrpSpPr>
        <p:grpSpPr>
          <a:xfrm flipH="1">
            <a:off x="5429250" y="-2"/>
            <a:ext cx="3714750" cy="4564828"/>
            <a:chOff x="0" y="-55"/>
            <a:chExt cx="3962400" cy="4869150"/>
          </a:xfrm>
        </p:grpSpPr>
        <p:sp>
          <p:nvSpPr>
            <p:cNvPr id="120" name="Google Shape;120;p16"/>
            <p:cNvSpPr/>
            <p:nvPr/>
          </p:nvSpPr>
          <p:spPr>
            <a:xfrm rot="10800000" flipH="1">
              <a:off x="0" y="-50"/>
              <a:ext cx="3962400" cy="3962400"/>
            </a:xfrm>
            <a:prstGeom prst="rtTriangle">
              <a:avLst/>
            </a:prstGeom>
            <a:solidFill>
              <a:srgbClr val="0053A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6"/>
            <p:cNvSpPr/>
            <p:nvPr/>
          </p:nvSpPr>
          <p:spPr>
            <a:xfrm rot="10800000">
              <a:off x="33807" y="-55"/>
              <a:ext cx="3264300" cy="2341800"/>
            </a:xfrm>
            <a:prstGeom prst="parallelogram">
              <a:avLst>
                <a:gd name="adj" fmla="val 104167"/>
              </a:avLst>
            </a:prstGeom>
            <a:gradFill>
              <a:gsLst>
                <a:gs pos="0">
                  <a:srgbClr val="003E78"/>
                </a:gs>
                <a:gs pos="15000">
                  <a:srgbClr val="003E78"/>
                </a:gs>
                <a:gs pos="64000">
                  <a:srgbClr val="0053A1">
                    <a:alpha val="0"/>
                  </a:srgbClr>
                </a:gs>
                <a:gs pos="100000">
                  <a:srgbClr val="0053A1">
                    <a:alpha val="0"/>
                  </a:srgbClr>
                </a:gs>
              </a:gsLst>
              <a:lin ang="18000042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6"/>
            <p:cNvSpPr/>
            <p:nvPr/>
          </p:nvSpPr>
          <p:spPr>
            <a:xfrm>
              <a:off x="0" y="2671369"/>
              <a:ext cx="2289304" cy="2197726"/>
            </a:xfrm>
            <a:custGeom>
              <a:avLst/>
              <a:gdLst/>
              <a:ahLst/>
              <a:cxnLst/>
              <a:rect l="l" t="t" r="r" b="b"/>
              <a:pathLst>
                <a:path w="2289304" h="2197726" extrusionOk="0">
                  <a:moveTo>
                    <a:pt x="1614108" y="0"/>
                  </a:moveTo>
                  <a:lnTo>
                    <a:pt x="2289304" y="0"/>
                  </a:lnTo>
                  <a:lnTo>
                    <a:pt x="0" y="2197726"/>
                  </a:lnTo>
                  <a:lnTo>
                    <a:pt x="0" y="1549539"/>
                  </a:lnTo>
                  <a:close/>
                </a:path>
              </a:pathLst>
            </a:custGeom>
            <a:gradFill>
              <a:gsLst>
                <a:gs pos="0">
                  <a:srgbClr val="980000"/>
                </a:gs>
                <a:gs pos="15000">
                  <a:srgbClr val="CC0000"/>
                </a:gs>
                <a:gs pos="64000">
                  <a:srgbClr val="0053A1">
                    <a:alpha val="0"/>
                  </a:srgbClr>
                </a:gs>
                <a:gs pos="100000">
                  <a:srgbClr val="0053A1">
                    <a:alpha val="0"/>
                  </a:srgbClr>
                </a:gs>
              </a:gsLst>
              <a:lin ang="18000042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9" name="Google Shape;129;p16" title="Untitled-1-07.png"/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title="powerd by.png"/>
          <p:cNvPicPr preferRelativeResize="0"/>
          <p:nvPr/>
        </p:nvPicPr>
        <p:blipFill rotWithShape="1">
          <a:blip r:embed="rId4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99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8" name="Kicker"/>
          <p:cNvSpPr txBox="1"/>
          <p:nvPr/>
        </p:nvSpPr>
        <p:spPr>
          <a:xfrm>
            <a:off x="675600" y="285000"/>
            <a:ext cx="4150000" cy="2412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3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Promises and Async</a:t>
            </a:r>
            <a:endParaRPr lang="en" sz="1003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9" name="Title"/>
          <p:cNvSpPr txBox="1"/>
          <p:nvPr/>
        </p:nvSpPr>
        <p:spPr>
          <a:xfrm>
            <a:off x="675600" y="520000"/>
            <a:ext cx="4150000" cy="425394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Why </a:t>
            </a:r>
            <a:r>
              <a:rPr lang="en" sz="22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Asynchronous?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0" name="Body"/>
          <p:cNvSpPr txBox="1"/>
          <p:nvPr/>
        </p:nvSpPr>
        <p:spPr>
          <a:xfrm>
            <a:off x="620000" y="1048000"/>
            <a:ext cx="4150000" cy="182336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JavaScript runs </a:t>
            </a:r>
            <a:r>
              <a:rPr lang="en" sz="11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one thing at a time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(single thread)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Some tasks are </a:t>
            </a:r>
            <a:r>
              <a:rPr lang="en" sz="11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slow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: fetching data, timers, reading files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Old solution: </a:t>
            </a:r>
            <a:r>
              <a:rPr lang="en" sz="11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callbacks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- nesting inside nesting is "callback hell"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lang="en" sz="11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Promise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is an object for a </a:t>
            </a:r>
            <a:r>
              <a:rPr lang="en" sz="11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future value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- "I promise an answer later"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7" name="Visual panel"/>
          <p:cNvSpPr/>
          <p:nvPr/>
        </p:nvSpPr>
        <p:spPr>
          <a:xfrm>
            <a:off x="4940000" y="560000"/>
            <a:ext cx="3500000" cy="359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08" name="Panel heading"/>
          <p:cNvSpPr txBox="1"/>
          <p:nvPr/>
        </p:nvSpPr>
        <p:spPr>
          <a:xfrm>
            <a:off x="5070000" y="690000"/>
            <a:ext cx="3240000" cy="270000"/>
          </a:xfrm>
          <a:prstGeom prst="rect">
            <a:avLst/>
          </a:prstGeom>
          <a:noFill/>
        </p:spPr>
        <p:txBody>
          <a:bodyPr spcFirstLastPara="1" wrap="square" lIns="0" tIns="30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Promise lifecycle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9" name="Pending"/>
          <p:cNvSpPr/>
          <p:nvPr/>
        </p:nvSpPr>
        <p:spPr>
          <a:xfrm>
            <a:off x="5870000" y="1150000"/>
            <a:ext cx="1640000" cy="480000"/>
          </a:xfrm>
          <a:prstGeom prst="roundRect">
            <a:avLst>
              <a:gd name="adj" fmla="val 12000"/>
            </a:avLst>
          </a:prstGeom>
          <a:solidFill>
            <a:srgbClr val="0053A1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 dirty="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Pending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0" name="Arrow"/>
          <p:cNvSpPr/>
          <p:nvPr/>
        </p:nvSpPr>
        <p:spPr>
          <a:xfrm>
            <a:off x="5630000" y="1680000"/>
            <a:ext cx="220000" cy="330000"/>
          </a:xfrm>
          <a:prstGeom prst="downArrow">
            <a:avLst/>
          </a:prstGeom>
          <a:solidFill>
            <a:srgbClr val="3DAE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1" name="Arrow"/>
          <p:cNvSpPr/>
          <p:nvPr/>
        </p:nvSpPr>
        <p:spPr>
          <a:xfrm>
            <a:off x="7530000" y="1680000"/>
            <a:ext cx="220000" cy="330000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2" name="Fulfilled"/>
          <p:cNvSpPr/>
          <p:nvPr/>
        </p:nvSpPr>
        <p:spPr>
          <a:xfrm>
            <a:off x="5070000" y="2080000"/>
            <a:ext cx="1560000" cy="700000"/>
          </a:xfrm>
          <a:prstGeom prst="roundRect">
            <a:avLst>
              <a:gd name="adj" fmla="val 10000"/>
            </a:avLst>
          </a:prstGeom>
          <a:solidFill>
            <a:srgbClr val="3DAE5C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1" i="0" u="none" strike="noStrike" cap="none" dirty="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Fulfilled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has a value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3" name="Rejected"/>
          <p:cNvSpPr/>
          <p:nvPr/>
        </p:nvSpPr>
        <p:spPr>
          <a:xfrm>
            <a:off x="6750000" y="2080000"/>
            <a:ext cx="1560000" cy="700000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1" i="0" u="none" strike="noStrike" cap="none" dirty="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Rejected</a:t>
            </a:r>
            <a:endParaRPr lang="en" sz="10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has an error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4" name="Chips heading"/>
          <p:cNvSpPr txBox="1"/>
          <p:nvPr/>
        </p:nvSpPr>
        <p:spPr>
          <a:xfrm>
            <a:off x="5070000" y="2980000"/>
            <a:ext cx="3240000" cy="2200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Slow tasks that return promises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5" name="Chip"/>
          <p:cNvSpPr/>
          <p:nvPr/>
        </p:nvSpPr>
        <p:spPr>
          <a:xfrm>
            <a:off x="5070000" y="3230000"/>
            <a:ext cx="1030000" cy="330000"/>
          </a:xfrm>
          <a:prstGeom prst="roundRect">
            <a:avLst>
              <a:gd name="adj" fmla="val 50000"/>
            </a:avLst>
          </a:prstGeom>
          <a:solidFill>
            <a:srgbClr val="F3F7FC"/>
          </a:solidFill>
          <a:ln w="9525">
            <a:solidFill>
              <a:srgbClr val="D9D9D9"/>
            </a:solidFill>
          </a:ln>
        </p:spPr>
        <p:txBody>
          <a:bodyPr wrap="square" lIns="45720" tIns="45720" rIns="45720" bIns="45720" rtlCol="0" anchor="ctr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E2455"/>
                </a:solidFill>
                <a:latin typeface="Courier New"/>
                <a:ea typeface="Courier New"/>
                <a:cs typeface="Courier New"/>
                <a:sym typeface="Courier New"/>
              </a:rPr>
              <a:t>fetch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6" name="Chip"/>
          <p:cNvSpPr/>
          <p:nvPr/>
        </p:nvSpPr>
        <p:spPr>
          <a:xfrm>
            <a:off x="6160000" y="3230000"/>
            <a:ext cx="1030000" cy="330000"/>
          </a:xfrm>
          <a:prstGeom prst="roundRect">
            <a:avLst>
              <a:gd name="adj" fmla="val 50000"/>
            </a:avLst>
          </a:prstGeom>
          <a:solidFill>
            <a:srgbClr val="F3F7FC"/>
          </a:solidFill>
          <a:ln w="9525">
            <a:solidFill>
              <a:srgbClr val="D9D9D9"/>
            </a:solidFill>
          </a:ln>
        </p:spPr>
        <p:txBody>
          <a:bodyPr wrap="square" lIns="45720" tIns="45720" rIns="45720" bIns="45720" rtlCol="0" anchor="ctr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E2455"/>
                </a:solidFill>
                <a:latin typeface="Courier New"/>
                <a:ea typeface="Courier New"/>
                <a:cs typeface="Courier New"/>
                <a:sym typeface="Courier New"/>
              </a:rPr>
              <a:t>setTimeout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7" name="Chip"/>
          <p:cNvSpPr/>
          <p:nvPr/>
        </p:nvSpPr>
        <p:spPr>
          <a:xfrm>
            <a:off x="7250000" y="3230000"/>
            <a:ext cx="1030000" cy="330000"/>
          </a:xfrm>
          <a:prstGeom prst="roundRect">
            <a:avLst>
              <a:gd name="adj" fmla="val 50000"/>
            </a:avLst>
          </a:prstGeom>
          <a:solidFill>
            <a:srgbClr val="F3F7FC"/>
          </a:solidFill>
          <a:ln w="9525">
            <a:solidFill>
              <a:srgbClr val="D9D9D9"/>
            </a:solidFill>
          </a:ln>
        </p:spPr>
        <p:txBody>
          <a:bodyPr wrap="square" lIns="45720" tIns="45720" rIns="45720" bIns="45720" rtlCol="0" anchor="ctr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E2455"/>
                </a:solidFill>
                <a:latin typeface="Courier New"/>
                <a:ea typeface="Courier New"/>
                <a:cs typeface="Courier New"/>
                <a:sym typeface="Courier New"/>
              </a:rPr>
              <a:t>file read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grpSpPr/>
      <p:pic>
        <p:nvPicPr>
          <p:cNvPr id="110" name="Google Shape;110;p15" title="Untitled-1-07.png"/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powerd by.png"/>
          <p:cNvPicPr preferRelativeResize="0"/>
          <p:nvPr/>
        </p:nvPicPr>
        <p:blipFill rotWithShape="1">
          <a:blip r:embed="rId5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99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Kicker"/>
          <p:cNvSpPr txBox="1"/>
          <p:nvPr/>
        </p:nvSpPr>
        <p:spPr>
          <a:xfrm>
            <a:off x="675600" y="285000"/>
            <a:ext cx="3560000" cy="2412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3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Promises and Async</a:t>
            </a:r>
            <a:endParaRPr lang="en" sz="1003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2" name="Title"/>
          <p:cNvSpPr txBox="1"/>
          <p:nvPr/>
        </p:nvSpPr>
        <p:spPr>
          <a:xfrm>
            <a:off x="675600" y="520000"/>
            <a:ext cx="3560000" cy="763948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Promises: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then, catch, finally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3" name="Body"/>
          <p:cNvSpPr txBox="1"/>
          <p:nvPr/>
        </p:nvSpPr>
        <p:spPr>
          <a:xfrm>
            <a:off x="620000" y="1383000"/>
            <a:ext cx="3560000" cy="123154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.then()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runs on </a:t>
            </a:r>
            <a:r>
              <a:rPr lang="en" sz="11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success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and can chain step by step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.catch()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runs on </a:t>
            </a:r>
            <a:r>
              <a:rPr lang="en" sz="11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error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.finally()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runs </a:t>
            </a:r>
            <a:r>
              <a:rPr lang="en" sz="11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always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(cleanup)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Chains read </a:t>
            </a:r>
            <a:r>
              <a:rPr lang="en" sz="11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top to bottom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- like a recipe.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4" name="Code panel"/>
          <p:cNvSpPr/>
          <p:nvPr/>
        </p:nvSpPr>
        <p:spPr>
          <a:xfrm>
            <a:off x="4300000" y="500000"/>
            <a:ext cx="4350000" cy="1182960"/>
          </a:xfrm>
          <a:prstGeom prst="roundRect">
            <a:avLst>
              <a:gd name="adj" fmla="val 3500"/>
            </a:avLst>
          </a:prstGeom>
          <a:solidFill>
            <a:srgbClr val="0E2455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25" name="Dot 1"/>
          <p:cNvSpPr/>
          <p:nvPr/>
        </p:nvSpPr>
        <p:spPr>
          <a:xfrm>
            <a:off x="4420000" y="605000"/>
            <a:ext cx="70000" cy="7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6" name="Dot 2"/>
          <p:cNvSpPr/>
          <p:nvPr/>
        </p:nvSpPr>
        <p:spPr>
          <a:xfrm>
            <a:off x="4550000" y="605000"/>
            <a:ext cx="70000" cy="700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7" name="Dot 3"/>
          <p:cNvSpPr/>
          <p:nvPr/>
        </p:nvSpPr>
        <p:spPr>
          <a:xfrm>
            <a:off x="4680000" y="605000"/>
            <a:ext cx="70000" cy="70000"/>
          </a:xfrm>
          <a:prstGeom prst="ellipse">
            <a:avLst/>
          </a:prstGeom>
          <a:solidFill>
            <a:srgbClr val="3DAE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8" name="Code label"/>
          <p:cNvSpPr txBox="1"/>
          <p:nvPr/>
        </p:nvSpPr>
        <p:spPr>
          <a:xfrm>
            <a:off x="7650000" y="555000"/>
            <a:ext cx="900000" cy="170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8FA3C4"/>
                </a:solidFill>
                <a:latin typeface="Roboto"/>
                <a:ea typeface="Roboto"/>
                <a:cs typeface="Roboto"/>
                <a:sym typeface="Roboto"/>
              </a:rPr>
              <a:t>JS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9" name="Code"/>
          <p:cNvSpPr txBox="1"/>
          <p:nvPr/>
        </p:nvSpPr>
        <p:spPr>
          <a:xfrm>
            <a:off x="4360000" y="750000"/>
            <a:ext cx="4230000" cy="902960"/>
          </a:xfrm>
          <a:prstGeom prst="rect">
            <a:avLst/>
          </a:prstGeom>
          <a:noFill/>
        </p:spPr>
        <p:txBody>
          <a:bodyPr spcFirstLastPara="1" wrap="square" lIns="86025" tIns="0" rIns="6000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fetch(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"https://api.example.com/user"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.then(res =&gt; res.json())         </a:t>
            </a:r>
            <a:r>
              <a:rPr lang="en" sz="10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// step 1: parse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.then(data =&gt; console.log(data)) </a:t>
            </a:r>
            <a:r>
              <a:rPr lang="en" sz="1000" b="0" i="1" u="none" strike="noStrike" cap="none" dirty="0">
                <a:solidFill>
                  <a:srgbClr val="8FA3C4"/>
                </a:solidFill>
                <a:latin typeface="Courier New"/>
                <a:ea typeface="Courier New"/>
                <a:cs typeface="Courier New"/>
                <a:sym typeface="Courier New"/>
              </a:rPr>
              <a:t>// step 2: use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.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catch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(err =&gt; console.log(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"Error:"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, err))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.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finally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(() =&gt; console.log(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"Done"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));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0" name="Output panel"/>
          <p:cNvSpPr/>
          <p:nvPr/>
        </p:nvSpPr>
        <p:spPr>
          <a:xfrm>
            <a:off x="4300000" y="1792960"/>
            <a:ext cx="4350000" cy="62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31" name="Output heading"/>
          <p:cNvSpPr txBox="1"/>
          <p:nvPr/>
        </p:nvSpPr>
        <p:spPr>
          <a:xfrm>
            <a:off x="4420000" y="1832960"/>
            <a:ext cx="4110000" cy="200000"/>
          </a:xfrm>
          <a:prstGeom prst="rect">
            <a:avLst/>
          </a:prstGeom>
          <a:noFill/>
        </p:spPr>
        <p:txBody>
          <a:bodyPr spcFirstLastPara="1" wrap="square" lIns="0" tIns="30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Console output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2" name="Output"/>
          <p:cNvSpPr txBox="1"/>
          <p:nvPr/>
        </p:nvSpPr>
        <p:spPr>
          <a:xfrm>
            <a:off x="4420000" y="2042960"/>
            <a:ext cx="4110000" cy="340000"/>
          </a:xfrm>
          <a:prstGeom prst="rect">
            <a:avLst/>
          </a:prstGeom>
          <a:noFill/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 u="none" strike="noStrike" cap="none" dirty="0">
                <a:solidFill>
                  <a:srgbClr val="0E2455"/>
                </a:solidFill>
                <a:latin typeface="Courier New"/>
                <a:ea typeface="Courier New"/>
                <a:cs typeface="Courier New"/>
                <a:sym typeface="Courier New"/>
              </a:rPr>
              <a:t>{ name: "Asha", ... }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 u="none" strike="noStrike" cap="none" dirty="0">
                <a:solidFill>
                  <a:srgbClr val="0E2455"/>
                </a:solidFill>
                <a:latin typeface="Courier New"/>
                <a:ea typeface="Courier New"/>
                <a:cs typeface="Courier New"/>
                <a:sym typeface="Courier New"/>
              </a:rPr>
              <a:t>Done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grpSpPr/>
      <p:pic>
        <p:nvPicPr>
          <p:cNvPr id="110" name="Google Shape;110;p15" title="Untitled-1-07.png"/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powerd by.png"/>
          <p:cNvPicPr preferRelativeResize="0"/>
          <p:nvPr/>
        </p:nvPicPr>
        <p:blipFill rotWithShape="1">
          <a:blip r:embed="rId5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99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7868" y="4368945"/>
            <a:ext cx="334175" cy="480903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Kicker"/>
          <p:cNvSpPr txBox="1"/>
          <p:nvPr/>
        </p:nvSpPr>
        <p:spPr>
          <a:xfrm>
            <a:off x="675600" y="285000"/>
            <a:ext cx="3560000" cy="2412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3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Promises and Async</a:t>
            </a:r>
            <a:endParaRPr lang="en" sz="1003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4" name="Title"/>
          <p:cNvSpPr txBox="1"/>
          <p:nvPr/>
        </p:nvSpPr>
        <p:spPr>
          <a:xfrm>
            <a:off x="675600" y="520000"/>
            <a:ext cx="3560000" cy="425394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Async </a:t>
            </a:r>
            <a:r>
              <a:rPr lang="en" sz="22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/ Await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5" name="Body"/>
          <p:cNvSpPr txBox="1"/>
          <p:nvPr/>
        </p:nvSpPr>
        <p:spPr>
          <a:xfrm>
            <a:off x="620000" y="1048000"/>
            <a:ext cx="3560000" cy="247995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The </a:t>
            </a:r>
            <a:r>
              <a:rPr lang="en" sz="11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modern, cleaner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way to consume promises.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async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before a function makes it return a promise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1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pauses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inside the function until the result arrives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Handle errors with </a:t>
            </a: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try...catch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700"/>
              </a:spcBef>
              <a:spcAft>
                <a:spcPts val="200"/>
              </a:spcAft>
              <a:buNone/>
            </a:pPr>
            <a:r>
              <a:rPr lang="en" sz="1129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Note</a:t>
            </a:r>
            <a:endParaRPr lang="en" sz="1129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async/await is </a:t>
            </a:r>
            <a:r>
              <a:rPr lang="en" sz="11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built on promises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- same engine, cleaner syntax.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6" name="Code panel"/>
          <p:cNvSpPr/>
          <p:nvPr/>
        </p:nvSpPr>
        <p:spPr>
          <a:xfrm>
            <a:off x="4300000" y="500000"/>
            <a:ext cx="4350000" cy="2170512"/>
          </a:xfrm>
          <a:prstGeom prst="roundRect">
            <a:avLst>
              <a:gd name="adj" fmla="val 3500"/>
            </a:avLst>
          </a:prstGeom>
          <a:solidFill>
            <a:srgbClr val="0E2455"/>
          </a:solidFill>
          <a:ln>
            <a:noFill/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37" name="Dot 1"/>
          <p:cNvSpPr/>
          <p:nvPr/>
        </p:nvSpPr>
        <p:spPr>
          <a:xfrm>
            <a:off x="4420000" y="605000"/>
            <a:ext cx="70000" cy="7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8" name="Dot 2"/>
          <p:cNvSpPr/>
          <p:nvPr/>
        </p:nvSpPr>
        <p:spPr>
          <a:xfrm>
            <a:off x="4550000" y="605000"/>
            <a:ext cx="70000" cy="70000"/>
          </a:xfrm>
          <a:prstGeom prst="ellipse">
            <a:avLst/>
          </a:prstGeom>
          <a:solidFill>
            <a:srgbClr val="F2B7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9" name="Dot 3"/>
          <p:cNvSpPr/>
          <p:nvPr/>
        </p:nvSpPr>
        <p:spPr>
          <a:xfrm>
            <a:off x="4680000" y="605000"/>
            <a:ext cx="70000" cy="70000"/>
          </a:xfrm>
          <a:prstGeom prst="ellipse">
            <a:avLst/>
          </a:prstGeom>
          <a:solidFill>
            <a:srgbClr val="3DAE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0" name="Code label"/>
          <p:cNvSpPr txBox="1"/>
          <p:nvPr/>
        </p:nvSpPr>
        <p:spPr>
          <a:xfrm>
            <a:off x="7650000" y="555000"/>
            <a:ext cx="900000" cy="170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0" u="none" strike="noStrike" cap="none" dirty="0">
                <a:solidFill>
                  <a:srgbClr val="8FA3C4"/>
                </a:solidFill>
                <a:latin typeface="Roboto"/>
                <a:ea typeface="Roboto"/>
                <a:cs typeface="Roboto"/>
                <a:sym typeface="Roboto"/>
              </a:rPr>
              <a:t>JS</a:t>
            </a:r>
            <a:endParaRPr lang="en" sz="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1" name="Code"/>
          <p:cNvSpPr txBox="1"/>
          <p:nvPr/>
        </p:nvSpPr>
        <p:spPr>
          <a:xfrm>
            <a:off x="4360000" y="750000"/>
            <a:ext cx="4230000" cy="1890512"/>
          </a:xfrm>
          <a:prstGeom prst="rect">
            <a:avLst/>
          </a:prstGeom>
          <a:noFill/>
        </p:spPr>
        <p:txBody>
          <a:bodyPr spcFirstLastPara="1" wrap="square" lIns="86025" tIns="0" rIns="6000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async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getUser() {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try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url  = 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"https://api.example.com/user"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res  =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fetch(url);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data =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res.json();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  console.log(data);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} </a:t>
            </a:r>
            <a:r>
              <a:rPr lang="en" sz="1000" b="0" i="0" u="none" strike="noStrike" cap="none" dirty="0">
                <a:solidFill>
                  <a:srgbClr val="8CC4FF"/>
                </a:solidFill>
                <a:latin typeface="Courier New"/>
                <a:ea typeface="Courier New"/>
                <a:cs typeface="Courier New"/>
                <a:sym typeface="Courier New"/>
              </a:rPr>
              <a:t>catch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(err) {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  console.log(</a:t>
            </a:r>
            <a:r>
              <a:rPr lang="en" sz="1000" b="0" i="0" u="none" strike="noStrike" cap="none" dirty="0">
                <a:solidFill>
                  <a:srgbClr val="FFC878"/>
                </a:solidFill>
                <a:latin typeface="Courier New"/>
                <a:ea typeface="Courier New"/>
                <a:cs typeface="Courier New"/>
                <a:sym typeface="Courier New"/>
              </a:rPr>
              <a:t>"Error:"</a:t>
            </a: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, err);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E6ECF7"/>
                </a:solidFill>
                <a:latin typeface="Courier New"/>
                <a:ea typeface="Courier New"/>
                <a:cs typeface="Courier New"/>
                <a:sym typeface="Courier New"/>
              </a:rPr>
              <a:t>getUser();</a:t>
            </a:r>
            <a:endParaRPr lang="en" sz="10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2" name="Caption"/>
          <p:cNvSpPr/>
          <p:nvPr/>
        </p:nvSpPr>
        <p:spPr>
          <a:xfrm>
            <a:off x="4300000" y="2780512"/>
            <a:ext cx="2300000" cy="280000"/>
          </a:xfrm>
          <a:prstGeom prst="roundRect">
            <a:avLst>
              <a:gd name="adj" fmla="val 12000"/>
            </a:avLst>
          </a:prstGeom>
          <a:solidFill>
            <a:srgbClr val="E6EFFA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Same result, cleaner look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grpSpPr/>
      <p:grpSp>
        <p:nvGrpSpPr>
          <p:cNvPr id="119" name="Google Shape;119;p16"/>
          <p:cNvGrpSpPr/>
          <p:nvPr/>
        </p:nvGrpSpPr>
        <p:grpSpPr>
          <a:xfrm flipH="1">
            <a:off x="5429250" y="-2"/>
            <a:ext cx="3714750" cy="4564828"/>
            <a:chOff x="0" y="-55"/>
            <a:chExt cx="3962400" cy="4869150"/>
          </a:xfrm>
        </p:grpSpPr>
        <p:sp>
          <p:nvSpPr>
            <p:cNvPr id="120" name="Google Shape;120;p16"/>
            <p:cNvSpPr/>
            <p:nvPr/>
          </p:nvSpPr>
          <p:spPr>
            <a:xfrm rot="10800000" flipH="1">
              <a:off x="0" y="-50"/>
              <a:ext cx="3962400" cy="3962400"/>
            </a:xfrm>
            <a:prstGeom prst="rtTriangle">
              <a:avLst/>
            </a:prstGeom>
            <a:solidFill>
              <a:srgbClr val="0053A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6"/>
            <p:cNvSpPr/>
            <p:nvPr/>
          </p:nvSpPr>
          <p:spPr>
            <a:xfrm rot="10800000">
              <a:off x="33807" y="-55"/>
              <a:ext cx="3264300" cy="2341800"/>
            </a:xfrm>
            <a:prstGeom prst="parallelogram">
              <a:avLst>
                <a:gd name="adj" fmla="val 104167"/>
              </a:avLst>
            </a:prstGeom>
            <a:gradFill>
              <a:gsLst>
                <a:gs pos="0">
                  <a:srgbClr val="003E78"/>
                </a:gs>
                <a:gs pos="15000">
                  <a:srgbClr val="003E78"/>
                </a:gs>
                <a:gs pos="64000">
                  <a:srgbClr val="0053A1">
                    <a:alpha val="0"/>
                  </a:srgbClr>
                </a:gs>
                <a:gs pos="100000">
                  <a:srgbClr val="0053A1">
                    <a:alpha val="0"/>
                  </a:srgbClr>
                </a:gs>
              </a:gsLst>
              <a:lin ang="18000042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6"/>
            <p:cNvSpPr/>
            <p:nvPr/>
          </p:nvSpPr>
          <p:spPr>
            <a:xfrm>
              <a:off x="0" y="2671369"/>
              <a:ext cx="2289304" cy="2197726"/>
            </a:xfrm>
            <a:custGeom>
              <a:avLst/>
              <a:gdLst/>
              <a:ahLst/>
              <a:cxnLst/>
              <a:rect l="l" t="t" r="r" b="b"/>
              <a:pathLst>
                <a:path w="2289304" h="2197726" extrusionOk="0">
                  <a:moveTo>
                    <a:pt x="1614108" y="0"/>
                  </a:moveTo>
                  <a:lnTo>
                    <a:pt x="2289304" y="0"/>
                  </a:lnTo>
                  <a:lnTo>
                    <a:pt x="0" y="2197726"/>
                  </a:lnTo>
                  <a:lnTo>
                    <a:pt x="0" y="1549539"/>
                  </a:lnTo>
                  <a:close/>
                </a:path>
              </a:pathLst>
            </a:custGeom>
            <a:gradFill>
              <a:gsLst>
                <a:gs pos="0">
                  <a:srgbClr val="980000"/>
                </a:gs>
                <a:gs pos="15000">
                  <a:srgbClr val="CC0000"/>
                </a:gs>
                <a:gs pos="64000">
                  <a:srgbClr val="0053A1">
                    <a:alpha val="0"/>
                  </a:srgbClr>
                </a:gs>
                <a:gs pos="100000">
                  <a:srgbClr val="0053A1">
                    <a:alpha val="0"/>
                  </a:srgbClr>
                </a:gs>
              </a:gsLst>
              <a:lin ang="18000042" scaled="0"/>
            </a:gra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9" name="Google Shape;129;p16" title="Untitled-1-07.png"/>
          <p:cNvPicPr preferRelativeResize="0"/>
          <p:nvPr/>
        </p:nvPicPr>
        <p:blipFill rotWithShape="1">
          <a:blip r:embed="rId2">
            <a:alphaModFix/>
          </a:blip>
          <a:srcRect l="5100" r="4630" b="15895"/>
          <a:stretch/>
        </p:blipFill>
        <p:spPr>
          <a:xfrm>
            <a:off x="880549" y="4348257"/>
            <a:ext cx="2096958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title="powerd by.png"/>
          <p:cNvPicPr preferRelativeResize="0"/>
          <p:nvPr/>
        </p:nvPicPr>
        <p:blipFill rotWithShape="1">
          <a:blip r:embed="rId4">
            <a:alphaModFix/>
          </a:blip>
          <a:srcRect l="6981" t="44048" r="6714" b="14302"/>
          <a:stretch/>
        </p:blipFill>
        <p:spPr>
          <a:xfrm>
            <a:off x="3537800" y="4500588"/>
            <a:ext cx="2130125" cy="3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998012" y="4596047"/>
            <a:ext cx="24369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1" i="0" u="none" strike="noStrike" cap="none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</a:t>
            </a:r>
            <a:r>
              <a:rPr lang="en" sz="1200" b="1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careercraftacademy.com</a:t>
            </a:r>
            <a:endParaRPr sz="1200" b="1" i="0" u="none" strike="noStrike" cap="none">
              <a:solidFill>
                <a:srgbClr val="0053A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3" name="Kicker"/>
          <p:cNvSpPr txBox="1"/>
          <p:nvPr/>
        </p:nvSpPr>
        <p:spPr>
          <a:xfrm>
            <a:off x="675600" y="285000"/>
            <a:ext cx="4150000" cy="24120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3" b="0" i="0" u="none" strike="noStrike" cap="none" dirty="0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lang="en" sz="1003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4" name="Title"/>
          <p:cNvSpPr txBox="1"/>
          <p:nvPr/>
        </p:nvSpPr>
        <p:spPr>
          <a:xfrm>
            <a:off x="675600" y="520000"/>
            <a:ext cx="4150000" cy="425394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Recap and </a:t>
            </a:r>
            <a:r>
              <a:rPr lang="en" sz="2200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Mini Project</a:t>
            </a:r>
            <a:endParaRPr lang="en" sz="22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5" name="Body"/>
          <p:cNvSpPr txBox="1"/>
          <p:nvPr/>
        </p:nvSpPr>
        <p:spPr>
          <a:xfrm>
            <a:off x="620000" y="1048000"/>
            <a:ext cx="4150000" cy="2195470"/>
          </a:xfrm>
          <a:prstGeom prst="rect">
            <a:avLst/>
          </a:prstGeom>
          <a:noFill/>
        </p:spPr>
        <p:txBody>
          <a:bodyPr spcFirstLastPara="1" wrap="square" lIns="86025" tIns="43000" rIns="86025" bIns="430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700"/>
              </a:spcBef>
              <a:spcAft>
                <a:spcPts val="200"/>
              </a:spcAft>
              <a:buNone/>
            </a:pPr>
            <a:r>
              <a:rPr lang="en" sz="1129" b="1" i="0" u="none" strike="noStrike" cap="none" dirty="0">
                <a:solidFill>
                  <a:srgbClr val="00000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Recap</a:t>
            </a:r>
            <a:endParaRPr lang="en" sz="1129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ECMAScript is the standard behind JavaScript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by default, </a:t>
            </a: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 if it changes, avoid </a:t>
            </a: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var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Arrow functions are short and keep </a:t>
            </a:r>
            <a:r>
              <a:rPr lang="en" sz="1050" b="1" i="0" u="none" strike="noStrike" cap="none" dirty="0">
                <a:solidFill>
                  <a:srgbClr val="0053A1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Template literals build strings easily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Destructuring extracts data in one line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Rest packs, Spread unpacks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Modules split code; classes create blueprints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71450" marR="0" lvl="0" indent="-171450" algn="l" rtl="0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lang="en" sz="1100" b="0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Promises and async/await handle waiting tasks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6" name="Visual panel"/>
          <p:cNvSpPr/>
          <p:nvPr/>
        </p:nvSpPr>
        <p:spPr>
          <a:xfrm>
            <a:off x="4940000" y="560000"/>
            <a:ext cx="3500000" cy="359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>
            <a:outerShdw blurRad="63500" dist="254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47" name="Panel heading"/>
          <p:cNvSpPr txBox="1"/>
          <p:nvPr/>
        </p:nvSpPr>
        <p:spPr>
          <a:xfrm>
            <a:off x="5070000" y="690000"/>
            <a:ext cx="3240000" cy="270000"/>
          </a:xfrm>
          <a:prstGeom prst="rect">
            <a:avLst/>
          </a:prstGeom>
          <a:noFill/>
        </p:spPr>
        <p:txBody>
          <a:bodyPr spcFirstLastPara="1" wrap="square" lIns="0" tIns="30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0" u="none" strike="noStrike" cap="none" dirty="0">
                <a:solidFill>
                  <a:srgbClr val="0053A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Mini Project: Student Profile Card</a:t>
            </a:r>
            <a:endParaRPr lang="en" sz="11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8" name="Intro"/>
          <p:cNvSpPr txBox="1"/>
          <p:nvPr/>
        </p:nvSpPr>
        <p:spPr>
          <a:xfrm>
            <a:off x="5070000" y="1000000"/>
            <a:ext cx="3240000" cy="330000"/>
          </a:xfrm>
          <a:prstGeom prst="rect">
            <a:avLst/>
          </a:prstGeom>
          <a:noFill/>
        </p:spPr>
        <p:txBody>
          <a:bodyPr spcFirstLastPara="1" wrap="square" lIns="0" tIns="300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Create a simple Student Profile page or script with:</a:t>
            </a:r>
            <a:endParaRPr lang="en" sz="9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9" name="Row"/>
          <p:cNvSpPr/>
          <p:nvPr/>
        </p:nvSpPr>
        <p:spPr>
          <a:xfrm>
            <a:off x="5070000" y="1420000"/>
            <a:ext cx="3240000" cy="320000"/>
          </a:xfrm>
          <a:prstGeom prst="roundRect">
            <a:avLst>
              <a:gd name="adj" fmla="val 15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0" name="Icon bg"/>
          <p:cNvSpPr/>
          <p:nvPr/>
        </p:nvSpPr>
        <p:spPr>
          <a:xfrm>
            <a:off x="5140000" y="1410000"/>
            <a:ext cx="340000" cy="340000"/>
          </a:xfrm>
          <a:prstGeom prst="ellipse">
            <a:avLst/>
          </a:prstGeom>
          <a:solidFill>
            <a:srgbClr val="E6EF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71" name="Check icon" descr="check"/>
          <p:cNvPicPr>
            <a:picLocks noChangeAspect="1"/>
          </p:cNvPicPr>
          <p:nvPr/>
        </p:nvPicPr>
        <p:blipFill>
          <a:blip r:embed="rIdChkB"/>
          <a:stretch>
            <a:fillRect/>
          </a:stretch>
        </p:blipFill>
        <p:spPr>
          <a:xfrm>
            <a:off x="5214800" y="1484800"/>
            <a:ext cx="190400" cy="190400"/>
          </a:xfrm>
          <a:prstGeom prst="rect">
            <a:avLst/>
          </a:prstGeom>
        </p:spPr>
      </p:pic>
      <p:sp>
        <p:nvSpPr>
          <p:cNvPr id="651" name="Item"/>
          <p:cNvSpPr txBox="1"/>
          <p:nvPr/>
        </p:nvSpPr>
        <p:spPr>
          <a:xfrm>
            <a:off x="5540000" y="1410000"/>
            <a:ext cx="2740000" cy="340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Correct use of const and let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2" name="Icon bg"/>
          <p:cNvSpPr/>
          <p:nvPr/>
        </p:nvSpPr>
        <p:spPr>
          <a:xfrm>
            <a:off x="5140000" y="1750000"/>
            <a:ext cx="340000" cy="340000"/>
          </a:xfrm>
          <a:prstGeom prst="ellipse">
            <a:avLst/>
          </a:prstGeom>
          <a:solidFill>
            <a:srgbClr val="E6EF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72" name="Check icon" descr="check"/>
          <p:cNvPicPr>
            <a:picLocks noChangeAspect="1"/>
          </p:cNvPicPr>
          <p:nvPr/>
        </p:nvPicPr>
        <p:blipFill>
          <a:blip r:embed="rIdChkR"/>
          <a:stretch>
            <a:fillRect/>
          </a:stretch>
        </p:blipFill>
        <p:spPr>
          <a:xfrm>
            <a:off x="5214800" y="1824800"/>
            <a:ext cx="190400" cy="190400"/>
          </a:xfrm>
          <a:prstGeom prst="rect">
            <a:avLst/>
          </a:prstGeom>
        </p:spPr>
      </p:pic>
      <p:sp>
        <p:nvSpPr>
          <p:cNvPr id="653" name="Item"/>
          <p:cNvSpPr txBox="1"/>
          <p:nvPr/>
        </p:nvSpPr>
        <p:spPr>
          <a:xfrm>
            <a:off x="5540000" y="1750000"/>
            <a:ext cx="2740000" cy="340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At least two arrow functions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4" name="Row"/>
          <p:cNvSpPr/>
          <p:nvPr/>
        </p:nvSpPr>
        <p:spPr>
          <a:xfrm>
            <a:off x="5070000" y="2100000"/>
            <a:ext cx="3240000" cy="320000"/>
          </a:xfrm>
          <a:prstGeom prst="roundRect">
            <a:avLst>
              <a:gd name="adj" fmla="val 15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5" name="Icon bg"/>
          <p:cNvSpPr/>
          <p:nvPr/>
        </p:nvSpPr>
        <p:spPr>
          <a:xfrm>
            <a:off x="5140000" y="2090000"/>
            <a:ext cx="340000" cy="340000"/>
          </a:xfrm>
          <a:prstGeom prst="ellipse">
            <a:avLst/>
          </a:prstGeom>
          <a:solidFill>
            <a:srgbClr val="E6EF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73" name="Check icon" descr="check"/>
          <p:cNvPicPr>
            <a:picLocks noChangeAspect="1"/>
          </p:cNvPicPr>
          <p:nvPr/>
        </p:nvPicPr>
        <p:blipFill>
          <a:blip r:embed="rIdChkB"/>
          <a:stretch>
            <a:fillRect/>
          </a:stretch>
        </p:blipFill>
        <p:spPr>
          <a:xfrm>
            <a:off x="5214800" y="2164800"/>
            <a:ext cx="190400" cy="190400"/>
          </a:xfrm>
          <a:prstGeom prst="rect">
            <a:avLst/>
          </a:prstGeom>
        </p:spPr>
      </p:pic>
      <p:sp>
        <p:nvSpPr>
          <p:cNvPr id="656" name="Item"/>
          <p:cNvSpPr txBox="1"/>
          <p:nvPr/>
        </p:nvSpPr>
        <p:spPr>
          <a:xfrm>
            <a:off x="5540000" y="2090000"/>
            <a:ext cx="2740000" cy="340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greeting built with a template literal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7" name="Icon bg"/>
          <p:cNvSpPr/>
          <p:nvPr/>
        </p:nvSpPr>
        <p:spPr>
          <a:xfrm>
            <a:off x="5140000" y="2430000"/>
            <a:ext cx="340000" cy="340000"/>
          </a:xfrm>
          <a:prstGeom prst="ellipse">
            <a:avLst/>
          </a:prstGeom>
          <a:solidFill>
            <a:srgbClr val="E6EF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74" name="Check icon" descr="check"/>
          <p:cNvPicPr>
            <a:picLocks noChangeAspect="1"/>
          </p:cNvPicPr>
          <p:nvPr/>
        </p:nvPicPr>
        <p:blipFill>
          <a:blip r:embed="rIdChkR"/>
          <a:stretch>
            <a:fillRect/>
          </a:stretch>
        </p:blipFill>
        <p:spPr>
          <a:xfrm>
            <a:off x="5214800" y="2504800"/>
            <a:ext cx="190400" cy="190400"/>
          </a:xfrm>
          <a:prstGeom prst="rect">
            <a:avLst/>
          </a:prstGeom>
        </p:spPr>
      </p:pic>
      <p:sp>
        <p:nvSpPr>
          <p:cNvPr id="658" name="Item"/>
          <p:cNvSpPr txBox="1"/>
          <p:nvPr/>
        </p:nvSpPr>
        <p:spPr>
          <a:xfrm>
            <a:off x="5540000" y="2430000"/>
            <a:ext cx="2740000" cy="340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destructured student object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9" name="Row"/>
          <p:cNvSpPr/>
          <p:nvPr/>
        </p:nvSpPr>
        <p:spPr>
          <a:xfrm>
            <a:off x="5070000" y="2780000"/>
            <a:ext cx="3240000" cy="320000"/>
          </a:xfrm>
          <a:prstGeom prst="roundRect">
            <a:avLst>
              <a:gd name="adj" fmla="val 15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0" name="Icon bg"/>
          <p:cNvSpPr/>
          <p:nvPr/>
        </p:nvSpPr>
        <p:spPr>
          <a:xfrm>
            <a:off x="5140000" y="2770000"/>
            <a:ext cx="340000" cy="340000"/>
          </a:xfrm>
          <a:prstGeom prst="ellipse">
            <a:avLst/>
          </a:prstGeom>
          <a:solidFill>
            <a:srgbClr val="E6EF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75" name="Check icon" descr="check"/>
          <p:cNvPicPr>
            <a:picLocks noChangeAspect="1"/>
          </p:cNvPicPr>
          <p:nvPr/>
        </p:nvPicPr>
        <p:blipFill>
          <a:blip r:embed="rIdChkB"/>
          <a:stretch>
            <a:fillRect/>
          </a:stretch>
        </p:blipFill>
        <p:spPr>
          <a:xfrm>
            <a:off x="5214800" y="2844800"/>
            <a:ext cx="190400" cy="190400"/>
          </a:xfrm>
          <a:prstGeom prst="rect">
            <a:avLst/>
          </a:prstGeom>
        </p:spPr>
      </p:pic>
      <p:sp>
        <p:nvSpPr>
          <p:cNvPr id="661" name="Item"/>
          <p:cNvSpPr txBox="1"/>
          <p:nvPr/>
        </p:nvSpPr>
        <p:spPr>
          <a:xfrm>
            <a:off x="5540000" y="2770000"/>
            <a:ext cx="2740000" cy="340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Spread used to merge profile data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2" name="Icon bg"/>
          <p:cNvSpPr/>
          <p:nvPr/>
        </p:nvSpPr>
        <p:spPr>
          <a:xfrm>
            <a:off x="5140000" y="3110000"/>
            <a:ext cx="340000" cy="340000"/>
          </a:xfrm>
          <a:prstGeom prst="ellipse">
            <a:avLst/>
          </a:prstGeom>
          <a:solidFill>
            <a:srgbClr val="E6EF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76" name="Check icon" descr="check"/>
          <p:cNvPicPr>
            <a:picLocks noChangeAspect="1"/>
          </p:cNvPicPr>
          <p:nvPr/>
        </p:nvPicPr>
        <p:blipFill>
          <a:blip r:embed="rIdChkR"/>
          <a:stretch>
            <a:fillRect/>
          </a:stretch>
        </p:blipFill>
        <p:spPr>
          <a:xfrm>
            <a:off x="5214800" y="3184800"/>
            <a:ext cx="190400" cy="190400"/>
          </a:xfrm>
          <a:prstGeom prst="rect">
            <a:avLst/>
          </a:prstGeom>
        </p:spPr>
      </p:pic>
      <p:sp>
        <p:nvSpPr>
          <p:cNvPr id="663" name="Item"/>
          <p:cNvSpPr txBox="1"/>
          <p:nvPr/>
        </p:nvSpPr>
        <p:spPr>
          <a:xfrm>
            <a:off x="5540000" y="3110000"/>
            <a:ext cx="2740000" cy="340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Student class with one method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4" name="Row"/>
          <p:cNvSpPr/>
          <p:nvPr/>
        </p:nvSpPr>
        <p:spPr>
          <a:xfrm>
            <a:off x="5070000" y="3460000"/>
            <a:ext cx="3240000" cy="320000"/>
          </a:xfrm>
          <a:prstGeom prst="roundRect">
            <a:avLst>
              <a:gd name="adj" fmla="val 15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5" name="Icon bg"/>
          <p:cNvSpPr/>
          <p:nvPr/>
        </p:nvSpPr>
        <p:spPr>
          <a:xfrm>
            <a:off x="5140000" y="3450000"/>
            <a:ext cx="340000" cy="340000"/>
          </a:xfrm>
          <a:prstGeom prst="ellipse">
            <a:avLst/>
          </a:prstGeom>
          <a:solidFill>
            <a:srgbClr val="E6EF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77" name="Check icon" descr="check"/>
          <p:cNvPicPr>
            <a:picLocks noChangeAspect="1"/>
          </p:cNvPicPr>
          <p:nvPr/>
        </p:nvPicPr>
        <p:blipFill>
          <a:blip r:embed="rIdChkB"/>
          <a:stretch>
            <a:fillRect/>
          </a:stretch>
        </p:blipFill>
        <p:spPr>
          <a:xfrm>
            <a:off x="5214800" y="3524800"/>
            <a:ext cx="190400" cy="190400"/>
          </a:xfrm>
          <a:prstGeom prst="rect">
            <a:avLst/>
          </a:prstGeom>
        </p:spPr>
      </p:pic>
      <p:sp>
        <p:nvSpPr>
          <p:cNvPr id="666" name="Item"/>
          <p:cNvSpPr txBox="1"/>
          <p:nvPr/>
        </p:nvSpPr>
        <p:spPr>
          <a:xfrm>
            <a:off x="5540000" y="3450000"/>
            <a:ext cx="2740000" cy="340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One helper file imported as a module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7" name="Icon bg"/>
          <p:cNvSpPr/>
          <p:nvPr/>
        </p:nvSpPr>
        <p:spPr>
          <a:xfrm>
            <a:off x="5140000" y="3790000"/>
            <a:ext cx="340000" cy="340000"/>
          </a:xfrm>
          <a:prstGeom prst="ellipse">
            <a:avLst/>
          </a:prstGeom>
          <a:solidFill>
            <a:srgbClr val="E6EF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78" name="Check icon" descr="check"/>
          <p:cNvPicPr>
            <a:picLocks noChangeAspect="1"/>
          </p:cNvPicPr>
          <p:nvPr/>
        </p:nvPicPr>
        <p:blipFill>
          <a:blip r:embed="rIdChkR"/>
          <a:stretch>
            <a:fillRect/>
          </a:stretch>
        </p:blipFill>
        <p:spPr>
          <a:xfrm>
            <a:off x="5214800" y="3864800"/>
            <a:ext cx="190400" cy="190400"/>
          </a:xfrm>
          <a:prstGeom prst="rect">
            <a:avLst/>
          </a:prstGeom>
        </p:spPr>
      </p:pic>
      <p:sp>
        <p:nvSpPr>
          <p:cNvPr id="668" name="Item"/>
          <p:cNvSpPr txBox="1"/>
          <p:nvPr/>
        </p:nvSpPr>
        <p:spPr>
          <a:xfrm>
            <a:off x="5540000" y="3790000"/>
            <a:ext cx="2740000" cy="3400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Simulated data load with async/await</a:t>
            </a:r>
            <a:endParaRPr lang="en" sz="95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/>
          <p:nvPr/>
        </p:nvSpPr>
        <p:spPr>
          <a:xfrm>
            <a:off x="-3525" y="1895025"/>
            <a:ext cx="9144000" cy="13956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pic>
        <p:nvPicPr>
          <p:cNvPr id="167" name="Google Shape;167;p18" title="Untitled-3-01.png"/>
          <p:cNvPicPr preferRelativeResize="0"/>
          <p:nvPr/>
        </p:nvPicPr>
        <p:blipFill rotWithShape="1">
          <a:blip r:embed="rId3">
            <a:alphaModFix/>
          </a:blip>
          <a:srcRect l="2123"/>
          <a:stretch/>
        </p:blipFill>
        <p:spPr>
          <a:xfrm>
            <a:off x="2954238" y="275375"/>
            <a:ext cx="2820275" cy="813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 title="future-visions-business-technology-concept.jp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4">
            <a:alphaModFix/>
          </a:blip>
          <a:srcRect t="5317" b="5317"/>
          <a:stretch/>
        </p:blipFill>
        <p:spPr>
          <a:xfrm>
            <a:off x="2098625" y="1238350"/>
            <a:ext cx="4531500" cy="2768400"/>
          </a:xfrm>
          <a:prstGeom prst="roundRect">
            <a:avLst>
              <a:gd name="adj" fmla="val 8493"/>
            </a:avLst>
          </a:prstGeom>
          <a:solidFill>
            <a:srgbClr val="7F7F7F"/>
          </a:solidFill>
          <a:ln>
            <a:noFill/>
          </a:ln>
        </p:spPr>
      </p:pic>
      <p:sp>
        <p:nvSpPr>
          <p:cNvPr id="169" name="Google Shape;169;p18"/>
          <p:cNvSpPr/>
          <p:nvPr/>
        </p:nvSpPr>
        <p:spPr>
          <a:xfrm>
            <a:off x="6649170" y="1895025"/>
            <a:ext cx="2497237" cy="1399072"/>
          </a:xfrm>
          <a:custGeom>
            <a:avLst/>
            <a:gdLst/>
            <a:ahLst/>
            <a:cxnLst/>
            <a:rect l="l" t="t" r="r" b="b"/>
            <a:pathLst>
              <a:path w="4459352" h="3633953" extrusionOk="0">
                <a:moveTo>
                  <a:pt x="4395541" y="3495709"/>
                </a:moveTo>
                <a:lnTo>
                  <a:pt x="4373957" y="3521869"/>
                </a:lnTo>
                <a:lnTo>
                  <a:pt x="4342589" y="3547750"/>
                </a:lnTo>
                <a:lnTo>
                  <a:pt x="4302494" y="3546124"/>
                </a:lnTo>
                <a:cubicBezTo>
                  <a:pt x="4276369" y="3548995"/>
                  <a:pt x="4252210" y="3555850"/>
                  <a:pt x="4229834" y="3566602"/>
                </a:cubicBezTo>
                <a:lnTo>
                  <a:pt x="4173156" y="3606724"/>
                </a:lnTo>
                <a:lnTo>
                  <a:pt x="4167795" y="3607264"/>
                </a:lnTo>
                <a:lnTo>
                  <a:pt x="4104815" y="3607264"/>
                </a:lnTo>
                <a:lnTo>
                  <a:pt x="4108284" y="3602053"/>
                </a:lnTo>
                <a:cubicBezTo>
                  <a:pt x="4141467" y="3562062"/>
                  <a:pt x="4183660" y="3530163"/>
                  <a:pt x="4239555" y="3510722"/>
                </a:cubicBezTo>
                <a:cubicBezTo>
                  <a:pt x="4285018" y="3494854"/>
                  <a:pt x="4332466" y="3496413"/>
                  <a:pt x="4379449" y="3496706"/>
                </a:cubicBezTo>
                <a:close/>
                <a:moveTo>
                  <a:pt x="1093783" y="3448548"/>
                </a:moveTo>
                <a:lnTo>
                  <a:pt x="1078538" y="3476636"/>
                </a:lnTo>
                <a:lnTo>
                  <a:pt x="1066943" y="3490690"/>
                </a:lnTo>
                <a:lnTo>
                  <a:pt x="1007696" y="3498768"/>
                </a:lnTo>
                <a:cubicBezTo>
                  <a:pt x="963140" y="3501943"/>
                  <a:pt x="918474" y="3501748"/>
                  <a:pt x="873997" y="3496687"/>
                </a:cubicBezTo>
                <a:cubicBezTo>
                  <a:pt x="762206" y="3483872"/>
                  <a:pt x="681938" y="3519837"/>
                  <a:pt x="620637" y="3591362"/>
                </a:cubicBezTo>
                <a:lnTo>
                  <a:pt x="592149" y="3633953"/>
                </a:lnTo>
                <a:lnTo>
                  <a:pt x="546325" y="3633953"/>
                </a:lnTo>
                <a:lnTo>
                  <a:pt x="576838" y="3583303"/>
                </a:lnTo>
                <a:cubicBezTo>
                  <a:pt x="638051" y="3495494"/>
                  <a:pt x="721389" y="3452593"/>
                  <a:pt x="828353" y="3457848"/>
                </a:cubicBezTo>
                <a:cubicBezTo>
                  <a:pt x="913790" y="3461951"/>
                  <a:pt x="998894" y="3461848"/>
                  <a:pt x="1083198" y="3450486"/>
                </a:cubicBezTo>
                <a:close/>
                <a:moveTo>
                  <a:pt x="4457812" y="3330986"/>
                </a:moveTo>
                <a:lnTo>
                  <a:pt x="4453847" y="3370314"/>
                </a:lnTo>
                <a:lnTo>
                  <a:pt x="4440113" y="3371635"/>
                </a:lnTo>
                <a:cubicBezTo>
                  <a:pt x="4392626" y="3373116"/>
                  <a:pt x="4345035" y="3372353"/>
                  <a:pt x="4297405" y="3371836"/>
                </a:cubicBezTo>
                <a:cubicBezTo>
                  <a:pt x="4248223" y="3371425"/>
                  <a:pt x="4199015" y="3370102"/>
                  <a:pt x="4150087" y="3374010"/>
                </a:cubicBezTo>
                <a:cubicBezTo>
                  <a:pt x="4010911" y="3385094"/>
                  <a:pt x="3912961" y="3447340"/>
                  <a:pt x="3860158" y="3555283"/>
                </a:cubicBezTo>
                <a:lnTo>
                  <a:pt x="3839798" y="3607264"/>
                </a:lnTo>
                <a:lnTo>
                  <a:pt x="3799401" y="3607264"/>
                </a:lnTo>
                <a:lnTo>
                  <a:pt x="3802752" y="3593310"/>
                </a:lnTo>
                <a:cubicBezTo>
                  <a:pt x="3851470" y="3446595"/>
                  <a:pt x="3953651" y="3363648"/>
                  <a:pt x="4105197" y="3340022"/>
                </a:cubicBezTo>
                <a:cubicBezTo>
                  <a:pt x="4184581" y="3327704"/>
                  <a:pt x="4264590" y="3332183"/>
                  <a:pt x="4344377" y="3333257"/>
                </a:cubicBezTo>
                <a:close/>
                <a:moveTo>
                  <a:pt x="1139476" y="3098377"/>
                </a:moveTo>
                <a:lnTo>
                  <a:pt x="1139476" y="3138273"/>
                </a:lnTo>
                <a:lnTo>
                  <a:pt x="1114052" y="3144135"/>
                </a:lnTo>
                <a:cubicBezTo>
                  <a:pt x="1042678" y="3155359"/>
                  <a:pt x="971103" y="3151783"/>
                  <a:pt x="899557" y="3147171"/>
                </a:cubicBezTo>
                <a:cubicBezTo>
                  <a:pt x="846386" y="3143713"/>
                  <a:pt x="793423" y="3141101"/>
                  <a:pt x="740090" y="3144471"/>
                </a:cubicBezTo>
                <a:cubicBezTo>
                  <a:pt x="610627" y="3152811"/>
                  <a:pt x="525858" y="3223110"/>
                  <a:pt x="491761" y="3343431"/>
                </a:cubicBezTo>
                <a:cubicBezTo>
                  <a:pt x="475002" y="3402562"/>
                  <a:pt x="453318" y="3458007"/>
                  <a:pt x="427307" y="3510264"/>
                </a:cubicBezTo>
                <a:lnTo>
                  <a:pt x="351591" y="3633953"/>
                </a:lnTo>
                <a:lnTo>
                  <a:pt x="304596" y="3633953"/>
                </a:lnTo>
                <a:lnTo>
                  <a:pt x="306678" y="3631416"/>
                </a:lnTo>
                <a:cubicBezTo>
                  <a:pt x="353740" y="3567163"/>
                  <a:pt x="393245" y="3497554"/>
                  <a:pt x="422867" y="3420930"/>
                </a:cubicBezTo>
                <a:cubicBezTo>
                  <a:pt x="436548" y="3385547"/>
                  <a:pt x="445856" y="3348589"/>
                  <a:pt x="459478" y="3313329"/>
                </a:cubicBezTo>
                <a:cubicBezTo>
                  <a:pt x="509440" y="3183697"/>
                  <a:pt x="602846" y="3112893"/>
                  <a:pt x="742867" y="3105090"/>
                </a:cubicBezTo>
                <a:cubicBezTo>
                  <a:pt x="819873" y="3100826"/>
                  <a:pt x="896265" y="3108582"/>
                  <a:pt x="972948" y="3111820"/>
                </a:cubicBezTo>
                <a:cubicBezTo>
                  <a:pt x="1021494" y="3113925"/>
                  <a:pt x="1070075" y="3113767"/>
                  <a:pt x="1117427" y="3104367"/>
                </a:cubicBezTo>
                <a:close/>
                <a:moveTo>
                  <a:pt x="4459352" y="2833848"/>
                </a:moveTo>
                <a:lnTo>
                  <a:pt x="4459352" y="2880420"/>
                </a:lnTo>
                <a:lnTo>
                  <a:pt x="4452128" y="2884611"/>
                </a:lnTo>
                <a:cubicBezTo>
                  <a:pt x="4420367" y="2898744"/>
                  <a:pt x="4386378" y="2909906"/>
                  <a:pt x="4350177" y="2918168"/>
                </a:cubicBezTo>
                <a:cubicBezTo>
                  <a:pt x="4279073" y="2934319"/>
                  <a:pt x="4206639" y="2940701"/>
                  <a:pt x="4134441" y="2948843"/>
                </a:cubicBezTo>
                <a:cubicBezTo>
                  <a:pt x="4088593" y="2953877"/>
                  <a:pt x="4042951" y="2959758"/>
                  <a:pt x="3997791" y="2969462"/>
                </a:cubicBezTo>
                <a:cubicBezTo>
                  <a:pt x="3819520" y="3008026"/>
                  <a:pt x="3721588" y="3110648"/>
                  <a:pt x="3692565" y="3290342"/>
                </a:cubicBezTo>
                <a:cubicBezTo>
                  <a:pt x="3675779" y="3394668"/>
                  <a:pt x="3670109" y="3499936"/>
                  <a:pt x="3670051" y="3605404"/>
                </a:cubicBezTo>
                <a:lnTo>
                  <a:pt x="3669966" y="3607264"/>
                </a:lnTo>
                <a:lnTo>
                  <a:pt x="3602029" y="3607264"/>
                </a:lnTo>
                <a:lnTo>
                  <a:pt x="3606586" y="3596261"/>
                </a:lnTo>
                <a:cubicBezTo>
                  <a:pt x="3621952" y="3550168"/>
                  <a:pt x="3631499" y="3500031"/>
                  <a:pt x="3635030" y="3445730"/>
                </a:cubicBezTo>
                <a:cubicBezTo>
                  <a:pt x="3640194" y="3366188"/>
                  <a:pt x="3647250" y="3286770"/>
                  <a:pt x="3670397" y="3209549"/>
                </a:cubicBezTo>
                <a:cubicBezTo>
                  <a:pt x="3710835" y="3075207"/>
                  <a:pt x="3798221" y="2988561"/>
                  <a:pt x="3931185" y="2946728"/>
                </a:cubicBezTo>
                <a:cubicBezTo>
                  <a:pt x="4004999" y="2923427"/>
                  <a:pt x="4081410" y="2915586"/>
                  <a:pt x="4157736" y="2906955"/>
                </a:cubicBezTo>
                <a:cubicBezTo>
                  <a:pt x="4207523" y="2901193"/>
                  <a:pt x="4257292" y="2894823"/>
                  <a:pt x="4306833" y="2886997"/>
                </a:cubicBezTo>
                <a:cubicBezTo>
                  <a:pt x="4347598" y="2880547"/>
                  <a:pt x="4385418" y="2870145"/>
                  <a:pt x="4420361" y="2855870"/>
                </a:cubicBezTo>
                <a:close/>
                <a:moveTo>
                  <a:pt x="1139476" y="2538294"/>
                </a:moveTo>
                <a:lnTo>
                  <a:pt x="1139476" y="2582280"/>
                </a:lnTo>
                <a:lnTo>
                  <a:pt x="1135743" y="2584073"/>
                </a:lnTo>
                <a:cubicBezTo>
                  <a:pt x="1109843" y="2592976"/>
                  <a:pt x="1082195" y="2599215"/>
                  <a:pt x="1052816" y="2602870"/>
                </a:cubicBezTo>
                <a:cubicBezTo>
                  <a:pt x="961098" y="2614279"/>
                  <a:pt x="868798" y="2610412"/>
                  <a:pt x="776794" y="2614337"/>
                </a:cubicBezTo>
                <a:cubicBezTo>
                  <a:pt x="712050" y="2617074"/>
                  <a:pt x="648175" y="2624418"/>
                  <a:pt x="585564" y="2641348"/>
                </a:cubicBezTo>
                <a:cubicBezTo>
                  <a:pt x="424320" y="2684946"/>
                  <a:pt x="334198" y="2794035"/>
                  <a:pt x="322503" y="2960291"/>
                </a:cubicBezTo>
                <a:cubicBezTo>
                  <a:pt x="318313" y="3019576"/>
                  <a:pt x="320164" y="3079108"/>
                  <a:pt x="311639" y="3138038"/>
                </a:cubicBezTo>
                <a:cubicBezTo>
                  <a:pt x="287031" y="3308521"/>
                  <a:pt x="223146" y="3461420"/>
                  <a:pt x="105496" y="3589126"/>
                </a:cubicBezTo>
                <a:lnTo>
                  <a:pt x="59427" y="3633953"/>
                </a:lnTo>
                <a:lnTo>
                  <a:pt x="0" y="3633953"/>
                </a:lnTo>
                <a:lnTo>
                  <a:pt x="59511" y="3579834"/>
                </a:lnTo>
                <a:cubicBezTo>
                  <a:pt x="201405" y="3433749"/>
                  <a:pt x="273901" y="3248719"/>
                  <a:pt x="279643" y="3026284"/>
                </a:cubicBezTo>
                <a:cubicBezTo>
                  <a:pt x="281178" y="2967870"/>
                  <a:pt x="282959" y="2909570"/>
                  <a:pt x="300515" y="2853172"/>
                </a:cubicBezTo>
                <a:cubicBezTo>
                  <a:pt x="345416" y="2709191"/>
                  <a:pt x="451315" y="2634417"/>
                  <a:pt x="590987" y="2598841"/>
                </a:cubicBezTo>
                <a:cubicBezTo>
                  <a:pt x="695287" y="2572248"/>
                  <a:pt x="802151" y="2574154"/>
                  <a:pt x="908580" y="2571807"/>
                </a:cubicBezTo>
                <a:cubicBezTo>
                  <a:pt x="949498" y="2570942"/>
                  <a:pt x="990445" y="2569041"/>
                  <a:pt x="1031231" y="2565866"/>
                </a:cubicBezTo>
                <a:cubicBezTo>
                  <a:pt x="1062884" y="2563376"/>
                  <a:pt x="1092276" y="2557504"/>
                  <a:pt x="1119419" y="2548328"/>
                </a:cubicBezTo>
                <a:close/>
                <a:moveTo>
                  <a:pt x="4459352" y="2485083"/>
                </a:moveTo>
                <a:lnTo>
                  <a:pt x="4459352" y="2539842"/>
                </a:lnTo>
                <a:lnTo>
                  <a:pt x="4425791" y="2568105"/>
                </a:lnTo>
                <a:cubicBezTo>
                  <a:pt x="4362873" y="2613940"/>
                  <a:pt x="4288453" y="2648273"/>
                  <a:pt x="4203932" y="2672337"/>
                </a:cubicBezTo>
                <a:cubicBezTo>
                  <a:pt x="4094405" y="2703412"/>
                  <a:pt x="3980688" y="2714691"/>
                  <a:pt x="3870045" y="2741048"/>
                </a:cubicBezTo>
                <a:cubicBezTo>
                  <a:pt x="3716389" y="2777653"/>
                  <a:pt x="3607425" y="2863912"/>
                  <a:pt x="3552566" y="3015139"/>
                </a:cubicBezTo>
                <a:cubicBezTo>
                  <a:pt x="3533386" y="3068234"/>
                  <a:pt x="3516166" y="3121637"/>
                  <a:pt x="3500552" y="3175783"/>
                </a:cubicBezTo>
                <a:cubicBezTo>
                  <a:pt x="3462206" y="3308844"/>
                  <a:pt x="3421268" y="3440703"/>
                  <a:pt x="3344680" y="3558157"/>
                </a:cubicBezTo>
                <a:lnTo>
                  <a:pt x="3306067" y="3607264"/>
                </a:lnTo>
                <a:lnTo>
                  <a:pt x="3256082" y="3607264"/>
                </a:lnTo>
                <a:lnTo>
                  <a:pt x="3256216" y="3607145"/>
                </a:lnTo>
                <a:cubicBezTo>
                  <a:pt x="3316499" y="3539371"/>
                  <a:pt x="3361889" y="3457780"/>
                  <a:pt x="3396294" y="3365963"/>
                </a:cubicBezTo>
                <a:cubicBezTo>
                  <a:pt x="3434364" y="3264290"/>
                  <a:pt x="3460436" y="3158712"/>
                  <a:pt x="3495120" y="3055920"/>
                </a:cubicBezTo>
                <a:cubicBezTo>
                  <a:pt x="3514076" y="2999419"/>
                  <a:pt x="3536920" y="2944568"/>
                  <a:pt x="3568727" y="2894016"/>
                </a:cubicBezTo>
                <a:cubicBezTo>
                  <a:pt x="3634496" y="2789559"/>
                  <a:pt x="3734890" y="2736398"/>
                  <a:pt x="3850293" y="2706242"/>
                </a:cubicBezTo>
                <a:cubicBezTo>
                  <a:pt x="3961407" y="2677252"/>
                  <a:pt x="4076093" y="2665823"/>
                  <a:pt x="4187064" y="2636166"/>
                </a:cubicBezTo>
                <a:cubicBezTo>
                  <a:pt x="4259504" y="2616807"/>
                  <a:pt x="4325641" y="2588452"/>
                  <a:pt x="4383799" y="2548769"/>
                </a:cubicBezTo>
                <a:close/>
                <a:moveTo>
                  <a:pt x="4188344" y="2480092"/>
                </a:moveTo>
                <a:cubicBezTo>
                  <a:pt x="4188049" y="2480406"/>
                  <a:pt x="4187506" y="2480605"/>
                  <a:pt x="4187145" y="2480737"/>
                </a:cubicBezTo>
                <a:cubicBezTo>
                  <a:pt x="4187839" y="2481509"/>
                  <a:pt x="4188408" y="2482223"/>
                  <a:pt x="4189159" y="2482870"/>
                </a:cubicBezTo>
                <a:cubicBezTo>
                  <a:pt x="4188884" y="2481843"/>
                  <a:pt x="4188552" y="2480938"/>
                  <a:pt x="4188344" y="2480092"/>
                </a:cubicBezTo>
                <a:close/>
                <a:moveTo>
                  <a:pt x="4459352" y="2199617"/>
                </a:moveTo>
                <a:lnTo>
                  <a:pt x="4459352" y="2301753"/>
                </a:lnTo>
                <a:lnTo>
                  <a:pt x="4455307" y="2310449"/>
                </a:lnTo>
                <a:cubicBezTo>
                  <a:pt x="4436434" y="2340071"/>
                  <a:pt x="4413203" y="2366831"/>
                  <a:pt x="4384253" y="2389819"/>
                </a:cubicBezTo>
                <a:cubicBezTo>
                  <a:pt x="4355732" y="2419982"/>
                  <a:pt x="4319559" y="2438799"/>
                  <a:pt x="4282456" y="2455086"/>
                </a:cubicBezTo>
                <a:cubicBezTo>
                  <a:pt x="4238798" y="2474188"/>
                  <a:pt x="4195421" y="2494623"/>
                  <a:pt x="4148322" y="2504631"/>
                </a:cubicBezTo>
                <a:cubicBezTo>
                  <a:pt x="4082514" y="2528786"/>
                  <a:pt x="4014190" y="2544123"/>
                  <a:pt x="3946129" y="2560182"/>
                </a:cubicBezTo>
                <a:cubicBezTo>
                  <a:pt x="3885281" y="2581081"/>
                  <a:pt x="3822416" y="2595644"/>
                  <a:pt x="3762648" y="2620045"/>
                </a:cubicBezTo>
                <a:cubicBezTo>
                  <a:pt x="3558188" y="2703508"/>
                  <a:pt x="3430835" y="2848932"/>
                  <a:pt x="3397977" y="3071270"/>
                </a:cubicBezTo>
                <a:cubicBezTo>
                  <a:pt x="3384095" y="3164783"/>
                  <a:pt x="3337757" y="3244772"/>
                  <a:pt x="3289547" y="3323294"/>
                </a:cubicBezTo>
                <a:cubicBezTo>
                  <a:pt x="3227425" y="3424413"/>
                  <a:pt x="3155577" y="3516639"/>
                  <a:pt x="3065467" y="3591335"/>
                </a:cubicBezTo>
                <a:lnTo>
                  <a:pt x="3043035" y="3607264"/>
                </a:lnTo>
                <a:lnTo>
                  <a:pt x="2974262" y="3607264"/>
                </a:lnTo>
                <a:lnTo>
                  <a:pt x="2994394" y="3594960"/>
                </a:lnTo>
                <a:cubicBezTo>
                  <a:pt x="3112544" y="3511496"/>
                  <a:pt x="3201120" y="3392219"/>
                  <a:pt x="3279379" y="3260663"/>
                </a:cubicBezTo>
                <a:cubicBezTo>
                  <a:pt x="3323169" y="3187147"/>
                  <a:pt x="3351699" y="3108668"/>
                  <a:pt x="3365754" y="3022887"/>
                </a:cubicBezTo>
                <a:cubicBezTo>
                  <a:pt x="3389572" y="2876798"/>
                  <a:pt x="3469153" y="2761629"/>
                  <a:pt x="3585463" y="2672469"/>
                </a:cubicBezTo>
                <a:cubicBezTo>
                  <a:pt x="3688437" y="2593640"/>
                  <a:pt x="3809196" y="2555160"/>
                  <a:pt x="3933396" y="2525775"/>
                </a:cubicBezTo>
                <a:cubicBezTo>
                  <a:pt x="3978142" y="2512427"/>
                  <a:pt x="4022830" y="2499203"/>
                  <a:pt x="4067577" y="2485855"/>
                </a:cubicBezTo>
                <a:cubicBezTo>
                  <a:pt x="4070904" y="2478993"/>
                  <a:pt x="4081371" y="2482638"/>
                  <a:pt x="4086360" y="2478345"/>
                </a:cubicBezTo>
                <a:cubicBezTo>
                  <a:pt x="4074735" y="2480766"/>
                  <a:pt x="4064454" y="2473154"/>
                  <a:pt x="4053279" y="2472332"/>
                </a:cubicBezTo>
                <a:lnTo>
                  <a:pt x="4053403" y="2472390"/>
                </a:lnTo>
                <a:cubicBezTo>
                  <a:pt x="4033811" y="2471273"/>
                  <a:pt x="4014605" y="2466733"/>
                  <a:pt x="3995021" y="2465920"/>
                </a:cubicBezTo>
                <a:cubicBezTo>
                  <a:pt x="3880509" y="2450719"/>
                  <a:pt x="3765127" y="2439017"/>
                  <a:pt x="3658526" y="2496507"/>
                </a:cubicBezTo>
                <a:cubicBezTo>
                  <a:pt x="3529143" y="2566260"/>
                  <a:pt x="3426085" y="2666658"/>
                  <a:pt x="3344633" y="2788465"/>
                </a:cubicBezTo>
                <a:cubicBezTo>
                  <a:pt x="3270583" y="2899141"/>
                  <a:pt x="3229853" y="3021793"/>
                  <a:pt x="3211778" y="3154183"/>
                </a:cubicBezTo>
                <a:cubicBezTo>
                  <a:pt x="3190363" y="3311289"/>
                  <a:pt x="3087953" y="3412887"/>
                  <a:pt x="2958046" y="3489600"/>
                </a:cubicBezTo>
                <a:cubicBezTo>
                  <a:pt x="2826465" y="3567339"/>
                  <a:pt x="2680206" y="3582459"/>
                  <a:pt x="2531124" y="3580665"/>
                </a:cubicBezTo>
                <a:cubicBezTo>
                  <a:pt x="2462494" y="3579803"/>
                  <a:pt x="2393988" y="3579000"/>
                  <a:pt x="2325980" y="3590732"/>
                </a:cubicBezTo>
                <a:lnTo>
                  <a:pt x="2265528" y="3607264"/>
                </a:lnTo>
                <a:lnTo>
                  <a:pt x="2159150" y="3607264"/>
                </a:lnTo>
                <a:lnTo>
                  <a:pt x="2211251" y="3582034"/>
                </a:lnTo>
                <a:cubicBezTo>
                  <a:pt x="2273594" y="3558188"/>
                  <a:pt x="2340020" y="3545011"/>
                  <a:pt x="2410552" y="3542251"/>
                </a:cubicBezTo>
                <a:cubicBezTo>
                  <a:pt x="2513827" y="3538293"/>
                  <a:pt x="2617476" y="3546814"/>
                  <a:pt x="2720177" y="3529834"/>
                </a:cubicBezTo>
                <a:cubicBezTo>
                  <a:pt x="2882722" y="3503198"/>
                  <a:pt x="3018842" y="3432512"/>
                  <a:pt x="3114610" y="3294374"/>
                </a:cubicBezTo>
                <a:cubicBezTo>
                  <a:pt x="3148421" y="3245652"/>
                  <a:pt x="3167869" y="3191329"/>
                  <a:pt x="3175415" y="3132246"/>
                </a:cubicBezTo>
                <a:cubicBezTo>
                  <a:pt x="3211365" y="2852666"/>
                  <a:pt x="3361759" y="2646780"/>
                  <a:pt x="3589000" y="2490129"/>
                </a:cubicBezTo>
                <a:cubicBezTo>
                  <a:pt x="3680445" y="2427123"/>
                  <a:pt x="3782471" y="2409981"/>
                  <a:pt x="3890234" y="2415454"/>
                </a:cubicBezTo>
                <a:cubicBezTo>
                  <a:pt x="3919829" y="2417001"/>
                  <a:pt x="3949405" y="2419890"/>
                  <a:pt x="3978876" y="2423330"/>
                </a:cubicBezTo>
                <a:cubicBezTo>
                  <a:pt x="4049609" y="2431317"/>
                  <a:pt x="4120200" y="2438639"/>
                  <a:pt x="4191556" y="2434909"/>
                </a:cubicBezTo>
                <a:cubicBezTo>
                  <a:pt x="4242228" y="2428207"/>
                  <a:pt x="4288787" y="2410296"/>
                  <a:pt x="4331638" y="2382565"/>
                </a:cubicBezTo>
                <a:cubicBezTo>
                  <a:pt x="4385032" y="2342759"/>
                  <a:pt x="4421126" y="2294455"/>
                  <a:pt x="4445607" y="2240362"/>
                </a:cubicBezTo>
                <a:close/>
                <a:moveTo>
                  <a:pt x="4459352" y="1491993"/>
                </a:moveTo>
                <a:lnTo>
                  <a:pt x="4459352" y="1584830"/>
                </a:lnTo>
                <a:lnTo>
                  <a:pt x="4455129" y="1595140"/>
                </a:lnTo>
                <a:cubicBezTo>
                  <a:pt x="4447807" y="1622325"/>
                  <a:pt x="4443600" y="1651225"/>
                  <a:pt x="4442539" y="1681796"/>
                </a:cubicBezTo>
                <a:cubicBezTo>
                  <a:pt x="4440339" y="1748456"/>
                  <a:pt x="4437085" y="1814477"/>
                  <a:pt x="4415371" y="1878556"/>
                </a:cubicBezTo>
                <a:cubicBezTo>
                  <a:pt x="4371047" y="2009298"/>
                  <a:pt x="4290500" y="2104511"/>
                  <a:pt x="4157062" y="2150928"/>
                </a:cubicBezTo>
                <a:cubicBezTo>
                  <a:pt x="4038041" y="2192464"/>
                  <a:pt x="3914965" y="2220718"/>
                  <a:pt x="3795659" y="2260922"/>
                </a:cubicBezTo>
                <a:cubicBezTo>
                  <a:pt x="3651082" y="2309684"/>
                  <a:pt x="3514439" y="2373074"/>
                  <a:pt x="3394961" y="2470373"/>
                </a:cubicBezTo>
                <a:cubicBezTo>
                  <a:pt x="3258652" y="2581337"/>
                  <a:pt x="3165904" y="2722674"/>
                  <a:pt x="3103339" y="2885036"/>
                </a:cubicBezTo>
                <a:cubicBezTo>
                  <a:pt x="3066770" y="2979904"/>
                  <a:pt x="3028265" y="3073123"/>
                  <a:pt x="2962298" y="3152727"/>
                </a:cubicBezTo>
                <a:cubicBezTo>
                  <a:pt x="2861880" y="3274006"/>
                  <a:pt x="2733720" y="3329768"/>
                  <a:pt x="2577054" y="3322963"/>
                </a:cubicBezTo>
                <a:cubicBezTo>
                  <a:pt x="2485545" y="3319013"/>
                  <a:pt x="2396958" y="3296756"/>
                  <a:pt x="2307192" y="3281908"/>
                </a:cubicBezTo>
                <a:cubicBezTo>
                  <a:pt x="2273938" y="3276267"/>
                  <a:pt x="2240352" y="3271671"/>
                  <a:pt x="2206722" y="3269757"/>
                </a:cubicBezTo>
                <a:cubicBezTo>
                  <a:pt x="2038038" y="3260388"/>
                  <a:pt x="1919809" y="3338457"/>
                  <a:pt x="1859684" y="3496848"/>
                </a:cubicBezTo>
                <a:cubicBezTo>
                  <a:pt x="1849804" y="3522886"/>
                  <a:pt x="1842347" y="3549446"/>
                  <a:pt x="1836523" y="3576369"/>
                </a:cubicBezTo>
                <a:lnTo>
                  <a:pt x="1831470" y="3607264"/>
                </a:lnTo>
                <a:lnTo>
                  <a:pt x="1791643" y="3607264"/>
                </a:lnTo>
                <a:lnTo>
                  <a:pt x="1810490" y="3513726"/>
                </a:lnTo>
                <a:cubicBezTo>
                  <a:pt x="1823939" y="3473171"/>
                  <a:pt x="1842387" y="3434217"/>
                  <a:pt x="1865890" y="3397228"/>
                </a:cubicBezTo>
                <a:cubicBezTo>
                  <a:pt x="1945130" y="3272748"/>
                  <a:pt x="2060939" y="3221620"/>
                  <a:pt x="2205648" y="3229944"/>
                </a:cubicBezTo>
                <a:cubicBezTo>
                  <a:pt x="2303176" y="3235479"/>
                  <a:pt x="2397531" y="3261158"/>
                  <a:pt x="2493613" y="3275328"/>
                </a:cubicBezTo>
                <a:cubicBezTo>
                  <a:pt x="2571152" y="3286767"/>
                  <a:pt x="2648692" y="3290102"/>
                  <a:pt x="2725043" y="3268126"/>
                </a:cubicBezTo>
                <a:cubicBezTo>
                  <a:pt x="2848147" y="3232683"/>
                  <a:pt x="2928673" y="3146915"/>
                  <a:pt x="2990840" y="3040189"/>
                </a:cubicBezTo>
                <a:cubicBezTo>
                  <a:pt x="3017783" y="2993989"/>
                  <a:pt x="3038356" y="2944689"/>
                  <a:pt x="3056163" y="2894559"/>
                </a:cubicBezTo>
                <a:cubicBezTo>
                  <a:pt x="3175888" y="2556225"/>
                  <a:pt x="3418142" y="2347698"/>
                  <a:pt x="3751161" y="2233867"/>
                </a:cubicBezTo>
                <a:cubicBezTo>
                  <a:pt x="3858811" y="2197121"/>
                  <a:pt x="3968764" y="2168043"/>
                  <a:pt x="4077910" y="2136492"/>
                </a:cubicBezTo>
                <a:cubicBezTo>
                  <a:pt x="4184100" y="2105822"/>
                  <a:pt x="4278161" y="2058882"/>
                  <a:pt x="4335557" y="1957602"/>
                </a:cubicBezTo>
                <a:cubicBezTo>
                  <a:pt x="4378427" y="1881860"/>
                  <a:pt x="4400987" y="1801366"/>
                  <a:pt x="4400377" y="1714197"/>
                </a:cubicBezTo>
                <a:cubicBezTo>
                  <a:pt x="4399823" y="1651215"/>
                  <a:pt x="4408447" y="1589480"/>
                  <a:pt x="4435470" y="1531762"/>
                </a:cubicBezTo>
                <a:close/>
                <a:moveTo>
                  <a:pt x="4459352" y="670573"/>
                </a:moveTo>
                <a:lnTo>
                  <a:pt x="4459352" y="710470"/>
                </a:lnTo>
                <a:lnTo>
                  <a:pt x="4380527" y="728216"/>
                </a:lnTo>
                <a:cubicBezTo>
                  <a:pt x="4322424" y="750724"/>
                  <a:pt x="4271759" y="791118"/>
                  <a:pt x="4230399" y="853226"/>
                </a:cubicBezTo>
                <a:cubicBezTo>
                  <a:pt x="4189943" y="914031"/>
                  <a:pt x="4170451" y="983037"/>
                  <a:pt x="4160417" y="1054623"/>
                </a:cubicBezTo>
                <a:cubicBezTo>
                  <a:pt x="4146557" y="1152951"/>
                  <a:pt x="4131527" y="1250885"/>
                  <a:pt x="4093193" y="1343734"/>
                </a:cubicBezTo>
                <a:cubicBezTo>
                  <a:pt x="4054639" y="1437380"/>
                  <a:pt x="4002979" y="1522708"/>
                  <a:pt x="3935988" y="1598689"/>
                </a:cubicBezTo>
                <a:cubicBezTo>
                  <a:pt x="3811075" y="1740140"/>
                  <a:pt x="3654761" y="1805826"/>
                  <a:pt x="3466144" y="1794134"/>
                </a:cubicBezTo>
                <a:cubicBezTo>
                  <a:pt x="3400770" y="1790127"/>
                  <a:pt x="3335381" y="1783564"/>
                  <a:pt x="3270003" y="1783458"/>
                </a:cubicBezTo>
                <a:cubicBezTo>
                  <a:pt x="3113234" y="1783358"/>
                  <a:pt x="3024678" y="1855355"/>
                  <a:pt x="2988145" y="2008162"/>
                </a:cubicBezTo>
                <a:cubicBezTo>
                  <a:pt x="2973254" y="2070146"/>
                  <a:pt x="2968518" y="2133532"/>
                  <a:pt x="2962251" y="2196658"/>
                </a:cubicBezTo>
                <a:cubicBezTo>
                  <a:pt x="2952154" y="2298527"/>
                  <a:pt x="2932785" y="2398055"/>
                  <a:pt x="2868887" y="2481618"/>
                </a:cubicBezTo>
                <a:cubicBezTo>
                  <a:pt x="2769991" y="2610954"/>
                  <a:pt x="2636076" y="2659702"/>
                  <a:pt x="2476709" y="2644143"/>
                </a:cubicBezTo>
                <a:cubicBezTo>
                  <a:pt x="2322355" y="2629104"/>
                  <a:pt x="2171392" y="2641745"/>
                  <a:pt x="2027458" y="2701760"/>
                </a:cubicBezTo>
                <a:cubicBezTo>
                  <a:pt x="1883285" y="2761965"/>
                  <a:pt x="1807026" y="2890377"/>
                  <a:pt x="1806447" y="3051425"/>
                </a:cubicBezTo>
                <a:cubicBezTo>
                  <a:pt x="1810064" y="3048148"/>
                  <a:pt x="1813719" y="3046089"/>
                  <a:pt x="1815939" y="3042915"/>
                </a:cubicBezTo>
                <a:cubicBezTo>
                  <a:pt x="1890504" y="2939228"/>
                  <a:pt x="1995809" y="2899446"/>
                  <a:pt x="2119027" y="2896169"/>
                </a:cubicBezTo>
                <a:cubicBezTo>
                  <a:pt x="2220512" y="2893483"/>
                  <a:pt x="2321265" y="2906966"/>
                  <a:pt x="2422660" y="2907389"/>
                </a:cubicBezTo>
                <a:cubicBezTo>
                  <a:pt x="2503827" y="2907752"/>
                  <a:pt x="2584457" y="2902464"/>
                  <a:pt x="2662419" y="2877334"/>
                </a:cubicBezTo>
                <a:cubicBezTo>
                  <a:pt x="2789621" y="2836284"/>
                  <a:pt x="2868929" y="2742447"/>
                  <a:pt x="2933479" y="2631873"/>
                </a:cubicBezTo>
                <a:cubicBezTo>
                  <a:pt x="2977404" y="2556770"/>
                  <a:pt x="3013392" y="2477092"/>
                  <a:pt x="3063143" y="2405286"/>
                </a:cubicBezTo>
                <a:cubicBezTo>
                  <a:pt x="3150671" y="2278789"/>
                  <a:pt x="3277289" y="2216309"/>
                  <a:pt x="3423243" y="2184992"/>
                </a:cubicBezTo>
                <a:cubicBezTo>
                  <a:pt x="3529364" y="2162244"/>
                  <a:pt x="3637500" y="2149732"/>
                  <a:pt x="3742969" y="2123531"/>
                </a:cubicBezTo>
                <a:cubicBezTo>
                  <a:pt x="3813722" y="2105867"/>
                  <a:pt x="3882951" y="2084046"/>
                  <a:pt x="3948121" y="2050891"/>
                </a:cubicBezTo>
                <a:cubicBezTo>
                  <a:pt x="4105823" y="1970540"/>
                  <a:pt x="4196793" y="1843087"/>
                  <a:pt x="4221056" y="1667192"/>
                </a:cubicBezTo>
                <a:cubicBezTo>
                  <a:pt x="4235771" y="1560857"/>
                  <a:pt x="4237145" y="1452549"/>
                  <a:pt x="4261713" y="1347624"/>
                </a:cubicBezTo>
                <a:cubicBezTo>
                  <a:pt x="4286297" y="1242745"/>
                  <a:pt x="4331738" y="1152253"/>
                  <a:pt x="4409206" y="1085933"/>
                </a:cubicBezTo>
                <a:lnTo>
                  <a:pt x="4459352" y="1053148"/>
                </a:lnTo>
                <a:lnTo>
                  <a:pt x="4459352" y="1098248"/>
                </a:lnTo>
                <a:lnTo>
                  <a:pt x="4434527" y="1116095"/>
                </a:lnTo>
                <a:cubicBezTo>
                  <a:pt x="4386176" y="1158193"/>
                  <a:pt x="4347818" y="1215123"/>
                  <a:pt x="4322876" y="1284553"/>
                </a:cubicBezTo>
                <a:cubicBezTo>
                  <a:pt x="4294031" y="1364686"/>
                  <a:pt x="4285496" y="1447622"/>
                  <a:pt x="4277959" y="1531318"/>
                </a:cubicBezTo>
                <a:cubicBezTo>
                  <a:pt x="4270788" y="1610984"/>
                  <a:pt x="4262390" y="1690381"/>
                  <a:pt x="4240158" y="1767573"/>
                </a:cubicBezTo>
                <a:cubicBezTo>
                  <a:pt x="4190629" y="1940025"/>
                  <a:pt x="4070353" y="2045207"/>
                  <a:pt x="3910604" y="2112156"/>
                </a:cubicBezTo>
                <a:cubicBezTo>
                  <a:pt x="3777031" y="2168263"/>
                  <a:pt x="3634222" y="2186631"/>
                  <a:pt x="3493267" y="2212010"/>
                </a:cubicBezTo>
                <a:cubicBezTo>
                  <a:pt x="3417459" y="2225683"/>
                  <a:pt x="3342937" y="2243703"/>
                  <a:pt x="3272765" y="2276642"/>
                </a:cubicBezTo>
                <a:cubicBezTo>
                  <a:pt x="3163480" y="2327937"/>
                  <a:pt x="3094848" y="2418163"/>
                  <a:pt x="3039324" y="2520910"/>
                </a:cubicBezTo>
                <a:cubicBezTo>
                  <a:pt x="2999844" y="2593869"/>
                  <a:pt x="2962216" y="2667688"/>
                  <a:pt x="2913620" y="2735376"/>
                </a:cubicBezTo>
                <a:cubicBezTo>
                  <a:pt x="2823688" y="2860909"/>
                  <a:pt x="2699684" y="2925199"/>
                  <a:pt x="2548089" y="2941150"/>
                </a:cubicBezTo>
                <a:cubicBezTo>
                  <a:pt x="2442713" y="2952238"/>
                  <a:pt x="2337569" y="2944676"/>
                  <a:pt x="2232347" y="2938579"/>
                </a:cubicBezTo>
                <a:cubicBezTo>
                  <a:pt x="2199328" y="2936647"/>
                  <a:pt x="2166211" y="2935571"/>
                  <a:pt x="2133265" y="2936074"/>
                </a:cubicBezTo>
                <a:cubicBezTo>
                  <a:pt x="1946543" y="2938763"/>
                  <a:pt x="1834386" y="3022193"/>
                  <a:pt x="1783164" y="3203164"/>
                </a:cubicBezTo>
                <a:cubicBezTo>
                  <a:pt x="1750728" y="3317950"/>
                  <a:pt x="1698601" y="3420170"/>
                  <a:pt x="1617950" y="3507832"/>
                </a:cubicBezTo>
                <a:lnTo>
                  <a:pt x="1525477" y="3589635"/>
                </a:lnTo>
                <a:lnTo>
                  <a:pt x="1508459" y="3584352"/>
                </a:lnTo>
                <a:lnTo>
                  <a:pt x="1480389" y="3569116"/>
                </a:lnTo>
                <a:lnTo>
                  <a:pt x="1578031" y="3491564"/>
                </a:lnTo>
                <a:cubicBezTo>
                  <a:pt x="1674435" y="3396301"/>
                  <a:pt x="1732165" y="3276043"/>
                  <a:pt x="1753078" y="3132661"/>
                </a:cubicBezTo>
                <a:cubicBezTo>
                  <a:pt x="1758899" y="3093189"/>
                  <a:pt x="1762027" y="3053370"/>
                  <a:pt x="1766744" y="3013686"/>
                </a:cubicBezTo>
                <a:cubicBezTo>
                  <a:pt x="1790341" y="2813622"/>
                  <a:pt x="1894745" y="2691188"/>
                  <a:pt x="2089450" y="2637872"/>
                </a:cubicBezTo>
                <a:cubicBezTo>
                  <a:pt x="2216053" y="2603298"/>
                  <a:pt x="2344960" y="2590648"/>
                  <a:pt x="2475843" y="2605176"/>
                </a:cubicBezTo>
                <a:cubicBezTo>
                  <a:pt x="2616139" y="2620758"/>
                  <a:pt x="2735008" y="2580202"/>
                  <a:pt x="2826691" y="2470336"/>
                </a:cubicBezTo>
                <a:cubicBezTo>
                  <a:pt x="2886085" y="2399094"/>
                  <a:pt x="2908120" y="2313255"/>
                  <a:pt x="2918336" y="2223445"/>
                </a:cubicBezTo>
                <a:cubicBezTo>
                  <a:pt x="2927439" y="2143173"/>
                  <a:pt x="2931282" y="2062269"/>
                  <a:pt x="2952555" y="1983581"/>
                </a:cubicBezTo>
                <a:cubicBezTo>
                  <a:pt x="2994388" y="1828726"/>
                  <a:pt x="3093691" y="1749398"/>
                  <a:pt x="3253947" y="1743912"/>
                </a:cubicBezTo>
                <a:cubicBezTo>
                  <a:pt x="3303244" y="1742124"/>
                  <a:pt x="3352442" y="1745092"/>
                  <a:pt x="3401006" y="1751371"/>
                </a:cubicBezTo>
                <a:cubicBezTo>
                  <a:pt x="3691294" y="1788827"/>
                  <a:pt x="3885448" y="1654372"/>
                  <a:pt x="4018940" y="1409148"/>
                </a:cubicBezTo>
                <a:cubicBezTo>
                  <a:pt x="4078294" y="1300070"/>
                  <a:pt x="4103248" y="1181670"/>
                  <a:pt x="4118905" y="1060014"/>
                </a:cubicBezTo>
                <a:cubicBezTo>
                  <a:pt x="4130385" y="969745"/>
                  <a:pt x="4154275" y="882812"/>
                  <a:pt x="4211230" y="809388"/>
                </a:cubicBezTo>
                <a:cubicBezTo>
                  <a:pt x="4272597" y="730319"/>
                  <a:pt x="4349772" y="685661"/>
                  <a:pt x="4440036" y="671437"/>
                </a:cubicBezTo>
                <a:close/>
                <a:moveTo>
                  <a:pt x="4459352" y="526157"/>
                </a:moveTo>
                <a:lnTo>
                  <a:pt x="4459352" y="566143"/>
                </a:lnTo>
                <a:lnTo>
                  <a:pt x="4444335" y="568113"/>
                </a:lnTo>
                <a:cubicBezTo>
                  <a:pt x="4384718" y="577280"/>
                  <a:pt x="4325186" y="587234"/>
                  <a:pt x="4267101" y="604760"/>
                </a:cubicBezTo>
                <a:cubicBezTo>
                  <a:pt x="4079926" y="661261"/>
                  <a:pt x="3988891" y="778481"/>
                  <a:pt x="3980784" y="974909"/>
                </a:cubicBezTo>
                <a:cubicBezTo>
                  <a:pt x="3978208" y="1037192"/>
                  <a:pt x="3981005" y="1099864"/>
                  <a:pt x="3967932" y="1161488"/>
                </a:cubicBezTo>
                <a:cubicBezTo>
                  <a:pt x="3919364" y="1390208"/>
                  <a:pt x="3769090" y="1527120"/>
                  <a:pt x="3531789" y="1553811"/>
                </a:cubicBezTo>
                <a:cubicBezTo>
                  <a:pt x="3436209" y="1564484"/>
                  <a:pt x="3339859" y="1567746"/>
                  <a:pt x="3243942" y="1575260"/>
                </a:cubicBezTo>
                <a:cubicBezTo>
                  <a:pt x="3193920" y="1579262"/>
                  <a:pt x="3144387" y="1587392"/>
                  <a:pt x="3095373" y="1598615"/>
                </a:cubicBezTo>
                <a:cubicBezTo>
                  <a:pt x="2951053" y="1631589"/>
                  <a:pt x="2865942" y="1724990"/>
                  <a:pt x="2823227" y="1862629"/>
                </a:cubicBezTo>
                <a:cubicBezTo>
                  <a:pt x="2788016" y="1976282"/>
                  <a:pt x="2772373" y="2094342"/>
                  <a:pt x="2742135" y="2209245"/>
                </a:cubicBezTo>
                <a:cubicBezTo>
                  <a:pt x="2715001" y="2311931"/>
                  <a:pt x="2666366" y="2396560"/>
                  <a:pt x="2565829" y="2442902"/>
                </a:cubicBezTo>
                <a:cubicBezTo>
                  <a:pt x="2538358" y="2461396"/>
                  <a:pt x="2507835" y="2471575"/>
                  <a:pt x="2475245" y="2475844"/>
                </a:cubicBezTo>
                <a:cubicBezTo>
                  <a:pt x="2394793" y="2499222"/>
                  <a:pt x="2312988" y="2499915"/>
                  <a:pt x="2230682" y="2490021"/>
                </a:cubicBezTo>
                <a:cubicBezTo>
                  <a:pt x="2182413" y="2491532"/>
                  <a:pt x="2134868" y="2482726"/>
                  <a:pt x="2086889" y="2479720"/>
                </a:cubicBezTo>
                <a:cubicBezTo>
                  <a:pt x="2046964" y="2477144"/>
                  <a:pt x="2007201" y="2475840"/>
                  <a:pt x="1967204" y="2478932"/>
                </a:cubicBezTo>
                <a:cubicBezTo>
                  <a:pt x="1803753" y="2491646"/>
                  <a:pt x="1698875" y="2580096"/>
                  <a:pt x="1656430" y="2738869"/>
                </a:cubicBezTo>
                <a:cubicBezTo>
                  <a:pt x="1634572" y="2820438"/>
                  <a:pt x="1624706" y="2903656"/>
                  <a:pt x="1615268" y="2986923"/>
                </a:cubicBezTo>
                <a:cubicBezTo>
                  <a:pt x="1594541" y="3171471"/>
                  <a:pt x="1519662" y="3298004"/>
                  <a:pt x="1400605" y="3379566"/>
                </a:cubicBezTo>
                <a:lnTo>
                  <a:pt x="1347315" y="3409908"/>
                </a:lnTo>
                <a:lnTo>
                  <a:pt x="1336313" y="3374466"/>
                </a:lnTo>
                <a:lnTo>
                  <a:pt x="1336060" y="3371956"/>
                </a:lnTo>
                <a:lnTo>
                  <a:pt x="1344201" y="3368168"/>
                </a:lnTo>
                <a:cubicBezTo>
                  <a:pt x="1398007" y="3337237"/>
                  <a:pt x="1445905" y="3296499"/>
                  <a:pt x="1485739" y="3242387"/>
                </a:cubicBezTo>
                <a:cubicBezTo>
                  <a:pt x="1538486" y="3170917"/>
                  <a:pt x="1558900" y="3087930"/>
                  <a:pt x="1571309" y="3002135"/>
                </a:cubicBezTo>
                <a:cubicBezTo>
                  <a:pt x="1584992" y="2908079"/>
                  <a:pt x="1593170" y="2813275"/>
                  <a:pt x="1619529" y="2721336"/>
                </a:cubicBezTo>
                <a:cubicBezTo>
                  <a:pt x="1668446" y="2550852"/>
                  <a:pt x="1785299" y="2453388"/>
                  <a:pt x="1962020" y="2440217"/>
                </a:cubicBezTo>
                <a:cubicBezTo>
                  <a:pt x="2062930" y="2432613"/>
                  <a:pt x="2162930" y="2447398"/>
                  <a:pt x="2263144" y="2457180"/>
                </a:cubicBezTo>
                <a:cubicBezTo>
                  <a:pt x="2267852" y="2457709"/>
                  <a:pt x="2272826" y="2457010"/>
                  <a:pt x="2277696" y="2456864"/>
                </a:cubicBezTo>
                <a:cubicBezTo>
                  <a:pt x="2336903" y="2456365"/>
                  <a:pt x="2396045" y="2453733"/>
                  <a:pt x="2454672" y="2444110"/>
                </a:cubicBezTo>
                <a:cubicBezTo>
                  <a:pt x="2500409" y="2429270"/>
                  <a:pt x="2546032" y="2414678"/>
                  <a:pt x="2586002" y="2386364"/>
                </a:cubicBezTo>
                <a:cubicBezTo>
                  <a:pt x="2654015" y="2338318"/>
                  <a:pt x="2685493" y="2268708"/>
                  <a:pt x="2703446" y="2191033"/>
                </a:cubicBezTo>
                <a:cubicBezTo>
                  <a:pt x="2726401" y="2091215"/>
                  <a:pt x="2746597" y="1990870"/>
                  <a:pt x="2771642" y="1891719"/>
                </a:cubicBezTo>
                <a:cubicBezTo>
                  <a:pt x="2799298" y="1782072"/>
                  <a:pt x="2846656" y="1683348"/>
                  <a:pt x="2945352" y="1618295"/>
                </a:cubicBezTo>
                <a:cubicBezTo>
                  <a:pt x="3013761" y="1573284"/>
                  <a:pt x="3091126" y="1554631"/>
                  <a:pt x="3170708" y="1542856"/>
                </a:cubicBezTo>
                <a:cubicBezTo>
                  <a:pt x="3278315" y="1526947"/>
                  <a:pt x="3387348" y="1528056"/>
                  <a:pt x="3495318" y="1518169"/>
                </a:cubicBezTo>
                <a:cubicBezTo>
                  <a:pt x="3576493" y="1510732"/>
                  <a:pt x="3656364" y="1496390"/>
                  <a:pt x="3726694" y="1452418"/>
                </a:cubicBezTo>
                <a:cubicBezTo>
                  <a:pt x="3868187" y="1363964"/>
                  <a:pt x="3929160" y="1229674"/>
                  <a:pt x="3937218" y="1068035"/>
                </a:cubicBezTo>
                <a:cubicBezTo>
                  <a:pt x="3940852" y="994387"/>
                  <a:pt x="3938818" y="920668"/>
                  <a:pt x="3958649" y="848662"/>
                </a:cubicBezTo>
                <a:cubicBezTo>
                  <a:pt x="3999856" y="699370"/>
                  <a:pt x="4100490" y="611658"/>
                  <a:pt x="4245670" y="568725"/>
                </a:cubicBezTo>
                <a:cubicBezTo>
                  <a:pt x="4300444" y="552516"/>
                  <a:pt x="4356101" y="541369"/>
                  <a:pt x="4412153" y="532487"/>
                </a:cubicBezTo>
                <a:close/>
                <a:moveTo>
                  <a:pt x="4337637" y="187231"/>
                </a:moveTo>
                <a:lnTo>
                  <a:pt x="4459352" y="190782"/>
                </a:lnTo>
                <a:lnTo>
                  <a:pt x="4459352" y="231557"/>
                </a:lnTo>
                <a:lnTo>
                  <a:pt x="4333061" y="226975"/>
                </a:lnTo>
                <a:cubicBezTo>
                  <a:pt x="4125284" y="226520"/>
                  <a:pt x="3994044" y="329777"/>
                  <a:pt x="3922408" y="520807"/>
                </a:cubicBezTo>
                <a:cubicBezTo>
                  <a:pt x="3873442" y="651204"/>
                  <a:pt x="3832180" y="784408"/>
                  <a:pt x="3777237" y="912485"/>
                </a:cubicBezTo>
                <a:cubicBezTo>
                  <a:pt x="3749797" y="976613"/>
                  <a:pt x="3719697" y="1039359"/>
                  <a:pt x="3679188" y="1096386"/>
                </a:cubicBezTo>
                <a:cubicBezTo>
                  <a:pt x="3604011" y="1202039"/>
                  <a:pt x="3498595" y="1256327"/>
                  <a:pt x="3372902" y="1276618"/>
                </a:cubicBezTo>
                <a:cubicBezTo>
                  <a:pt x="3285833" y="1290628"/>
                  <a:pt x="3197567" y="1293282"/>
                  <a:pt x="3110131" y="1303222"/>
                </a:cubicBezTo>
                <a:cubicBezTo>
                  <a:pt x="3044858" y="1310667"/>
                  <a:pt x="2980134" y="1320168"/>
                  <a:pt x="2918266" y="1343596"/>
                </a:cubicBezTo>
                <a:cubicBezTo>
                  <a:pt x="2843990" y="1371784"/>
                  <a:pt x="2789756" y="1422157"/>
                  <a:pt x="2752733" y="1491752"/>
                </a:cubicBezTo>
                <a:cubicBezTo>
                  <a:pt x="2697942" y="1594539"/>
                  <a:pt x="2665891" y="1705902"/>
                  <a:pt x="2629344" y="1815634"/>
                </a:cubicBezTo>
                <a:cubicBezTo>
                  <a:pt x="2601854" y="1898347"/>
                  <a:pt x="2572938" y="1980250"/>
                  <a:pt x="2532872" y="2058039"/>
                </a:cubicBezTo>
                <a:cubicBezTo>
                  <a:pt x="2450841" y="2217393"/>
                  <a:pt x="2319005" y="2300867"/>
                  <a:pt x="2142405" y="2317997"/>
                </a:cubicBezTo>
                <a:cubicBezTo>
                  <a:pt x="2065738" y="2325419"/>
                  <a:pt x="1988872" y="2324195"/>
                  <a:pt x="1912283" y="2322051"/>
                </a:cubicBezTo>
                <a:cubicBezTo>
                  <a:pt x="1717942" y="2316561"/>
                  <a:pt x="1583823" y="2409181"/>
                  <a:pt x="1491656" y="2573896"/>
                </a:cubicBezTo>
                <a:cubicBezTo>
                  <a:pt x="1444535" y="2658175"/>
                  <a:pt x="1415088" y="2746734"/>
                  <a:pt x="1406185" y="2843754"/>
                </a:cubicBezTo>
                <a:cubicBezTo>
                  <a:pt x="1402430" y="2884521"/>
                  <a:pt x="1392686" y="2922037"/>
                  <a:pt x="1377585" y="2955789"/>
                </a:cubicBezTo>
                <a:lnTo>
                  <a:pt x="1330389" y="3025291"/>
                </a:lnTo>
                <a:lnTo>
                  <a:pt x="1330389" y="2958101"/>
                </a:lnTo>
                <a:lnTo>
                  <a:pt x="1350712" y="2922137"/>
                </a:lnTo>
                <a:cubicBezTo>
                  <a:pt x="1360723" y="2894933"/>
                  <a:pt x="1366912" y="2864813"/>
                  <a:pt x="1369022" y="2831650"/>
                </a:cubicBezTo>
                <a:cubicBezTo>
                  <a:pt x="1378916" y="2676415"/>
                  <a:pt x="1445332" y="2546898"/>
                  <a:pt x="1545333" y="2432028"/>
                </a:cubicBezTo>
                <a:cubicBezTo>
                  <a:pt x="1625544" y="2339811"/>
                  <a:pt x="1728336" y="2293461"/>
                  <a:pt x="1849724" y="2286035"/>
                </a:cubicBezTo>
                <a:cubicBezTo>
                  <a:pt x="1910114" y="2282330"/>
                  <a:pt x="1970439" y="2284600"/>
                  <a:pt x="2030854" y="2283758"/>
                </a:cubicBezTo>
                <a:cubicBezTo>
                  <a:pt x="2065569" y="2283323"/>
                  <a:pt x="2100429" y="2281605"/>
                  <a:pt x="2135138" y="2278916"/>
                </a:cubicBezTo>
                <a:cubicBezTo>
                  <a:pt x="2310565" y="2265296"/>
                  <a:pt x="2432754" y="2175106"/>
                  <a:pt x="2508343" y="2018321"/>
                </a:cubicBezTo>
                <a:cubicBezTo>
                  <a:pt x="2551581" y="1928494"/>
                  <a:pt x="2579666" y="1833152"/>
                  <a:pt x="2611260" y="1738983"/>
                </a:cubicBezTo>
                <a:cubicBezTo>
                  <a:pt x="2634414" y="1670170"/>
                  <a:pt x="2658616" y="1601692"/>
                  <a:pt x="2685582" y="1534044"/>
                </a:cubicBezTo>
                <a:cubicBezTo>
                  <a:pt x="2745470" y="1383945"/>
                  <a:pt x="2856067" y="1301293"/>
                  <a:pt x="3013721" y="1276144"/>
                </a:cubicBezTo>
                <a:cubicBezTo>
                  <a:pt x="3103827" y="1261736"/>
                  <a:pt x="3194947" y="1256804"/>
                  <a:pt x="3285512" y="1247563"/>
                </a:cubicBezTo>
                <a:cubicBezTo>
                  <a:pt x="3317035" y="1244299"/>
                  <a:pt x="3348513" y="1239515"/>
                  <a:pt x="3379801" y="1234492"/>
                </a:cubicBezTo>
                <a:cubicBezTo>
                  <a:pt x="3518164" y="1212114"/>
                  <a:pt x="3616741" y="1135003"/>
                  <a:pt x="3683709" y="1013694"/>
                </a:cubicBezTo>
                <a:cubicBezTo>
                  <a:pt x="3748360" y="896415"/>
                  <a:pt x="3788467" y="769272"/>
                  <a:pt x="3833687" y="644051"/>
                </a:cubicBezTo>
                <a:cubicBezTo>
                  <a:pt x="3868382" y="547718"/>
                  <a:pt x="3900058" y="450132"/>
                  <a:pt x="3958774" y="364469"/>
                </a:cubicBezTo>
                <a:cubicBezTo>
                  <a:pt x="4013110" y="285032"/>
                  <a:pt x="4086918" y="233222"/>
                  <a:pt x="4179574" y="208442"/>
                </a:cubicBezTo>
                <a:cubicBezTo>
                  <a:pt x="4231853" y="194379"/>
                  <a:pt x="4284627" y="188650"/>
                  <a:pt x="4337637" y="187231"/>
                </a:cubicBezTo>
                <a:close/>
                <a:moveTo>
                  <a:pt x="4459352" y="0"/>
                </a:moveTo>
                <a:lnTo>
                  <a:pt x="4459352" y="41723"/>
                </a:lnTo>
                <a:lnTo>
                  <a:pt x="4403847" y="54312"/>
                </a:lnTo>
                <a:cubicBezTo>
                  <a:pt x="4302029" y="72301"/>
                  <a:pt x="4199693" y="87196"/>
                  <a:pt x="4097960" y="105974"/>
                </a:cubicBezTo>
                <a:cubicBezTo>
                  <a:pt x="3978781" y="128079"/>
                  <a:pt x="3872508" y="174168"/>
                  <a:pt x="3800709" y="278683"/>
                </a:cubicBezTo>
                <a:cubicBezTo>
                  <a:pt x="3757627" y="341272"/>
                  <a:pt x="3733851" y="411747"/>
                  <a:pt x="3715636" y="484798"/>
                </a:cubicBezTo>
                <a:cubicBezTo>
                  <a:pt x="3690991" y="583085"/>
                  <a:pt x="3679402" y="683963"/>
                  <a:pt x="3653350" y="782047"/>
                </a:cubicBezTo>
                <a:cubicBezTo>
                  <a:pt x="3605800" y="961567"/>
                  <a:pt x="3484775" y="1064150"/>
                  <a:pt x="3313687" y="1116696"/>
                </a:cubicBezTo>
                <a:cubicBezTo>
                  <a:pt x="3202245" y="1150937"/>
                  <a:pt x="3086184" y="1157228"/>
                  <a:pt x="2971296" y="1170065"/>
                </a:cubicBezTo>
                <a:cubicBezTo>
                  <a:pt x="2927453" y="1174978"/>
                  <a:pt x="2884104" y="1182069"/>
                  <a:pt x="2840791" y="1190377"/>
                </a:cubicBezTo>
                <a:cubicBezTo>
                  <a:pt x="2700130" y="1217394"/>
                  <a:pt x="2608812" y="1300867"/>
                  <a:pt x="2560281" y="1433564"/>
                </a:cubicBezTo>
                <a:cubicBezTo>
                  <a:pt x="2535739" y="1500834"/>
                  <a:pt x="2512680" y="1568791"/>
                  <a:pt x="2488632" y="1636291"/>
                </a:cubicBezTo>
                <a:cubicBezTo>
                  <a:pt x="2470101" y="1688636"/>
                  <a:pt x="2447670" y="1739027"/>
                  <a:pt x="2417704" y="1785928"/>
                </a:cubicBezTo>
                <a:cubicBezTo>
                  <a:pt x="2352537" y="1888112"/>
                  <a:pt x="2258669" y="1939493"/>
                  <a:pt x="2138664" y="1944259"/>
                </a:cubicBezTo>
                <a:cubicBezTo>
                  <a:pt x="2081033" y="1946539"/>
                  <a:pt x="2024838" y="1935678"/>
                  <a:pt x="1968143" y="1926538"/>
                </a:cubicBezTo>
                <a:cubicBezTo>
                  <a:pt x="1794639" y="1898730"/>
                  <a:pt x="1634721" y="1923583"/>
                  <a:pt x="1510449" y="2062030"/>
                </a:cubicBezTo>
                <a:cubicBezTo>
                  <a:pt x="1467003" y="2110494"/>
                  <a:pt x="1442326" y="2171249"/>
                  <a:pt x="1416196" y="2230282"/>
                </a:cubicBezTo>
                <a:cubicBezTo>
                  <a:pt x="1401276" y="2263966"/>
                  <a:pt x="1386974" y="2297936"/>
                  <a:pt x="1371668" y="2331442"/>
                </a:cubicBezTo>
                <a:lnTo>
                  <a:pt x="1330389" y="2411767"/>
                </a:lnTo>
                <a:lnTo>
                  <a:pt x="1330389" y="2319304"/>
                </a:lnTo>
                <a:lnTo>
                  <a:pt x="1404269" y="2157831"/>
                </a:lnTo>
                <a:cubicBezTo>
                  <a:pt x="1435507" y="2090360"/>
                  <a:pt x="1473560" y="2026643"/>
                  <a:pt x="1534103" y="1981443"/>
                </a:cubicBezTo>
                <a:cubicBezTo>
                  <a:pt x="1671753" y="1878603"/>
                  <a:pt x="1826702" y="1856702"/>
                  <a:pt x="1991868" y="1890852"/>
                </a:cubicBezTo>
                <a:cubicBezTo>
                  <a:pt x="2035151" y="1899787"/>
                  <a:pt x="2078344" y="1905678"/>
                  <a:pt x="2122750" y="1905378"/>
                </a:cubicBezTo>
                <a:cubicBezTo>
                  <a:pt x="2255544" y="1904432"/>
                  <a:pt x="2347315" y="1840075"/>
                  <a:pt x="2406904" y="1724655"/>
                </a:cubicBezTo>
                <a:cubicBezTo>
                  <a:pt x="2445656" y="1649706"/>
                  <a:pt x="2467883" y="1568311"/>
                  <a:pt x="2495665" y="1489183"/>
                </a:cubicBezTo>
                <a:cubicBezTo>
                  <a:pt x="2517107" y="1428281"/>
                  <a:pt x="2540585" y="1368172"/>
                  <a:pt x="2576173" y="1313669"/>
                </a:cubicBezTo>
                <a:cubicBezTo>
                  <a:pt x="2641347" y="1213738"/>
                  <a:pt x="2739857" y="1168858"/>
                  <a:pt x="2852302" y="1147687"/>
                </a:cubicBezTo>
                <a:cubicBezTo>
                  <a:pt x="2946995" y="1129853"/>
                  <a:pt x="3043556" y="1125488"/>
                  <a:pt x="3138814" y="1112265"/>
                </a:cubicBezTo>
                <a:cubicBezTo>
                  <a:pt x="3199609" y="1103797"/>
                  <a:pt x="3259968" y="1093026"/>
                  <a:pt x="3318731" y="1073712"/>
                </a:cubicBezTo>
                <a:cubicBezTo>
                  <a:pt x="3484639" y="1019069"/>
                  <a:pt x="3587288" y="909178"/>
                  <a:pt x="3623520" y="736273"/>
                </a:cubicBezTo>
                <a:cubicBezTo>
                  <a:pt x="3645098" y="633267"/>
                  <a:pt x="3660421" y="528864"/>
                  <a:pt x="3689046" y="427170"/>
                </a:cubicBezTo>
                <a:cubicBezTo>
                  <a:pt x="3742829" y="236130"/>
                  <a:pt x="3862429" y="116528"/>
                  <a:pt x="4058309" y="73960"/>
                </a:cubicBezTo>
                <a:cubicBezTo>
                  <a:pt x="4159645" y="52149"/>
                  <a:pt x="4262586" y="41133"/>
                  <a:pt x="4364186" y="21995"/>
                </a:cubicBezTo>
                <a:cubicBezTo>
                  <a:pt x="4380786" y="18876"/>
                  <a:pt x="4397626" y="16131"/>
                  <a:pt x="4414216" y="12669"/>
                </a:cubicBezTo>
                <a:close/>
              </a:path>
            </a:pathLst>
          </a:custGeom>
          <a:solidFill>
            <a:srgbClr val="FFFFFF">
              <a:alpha val="298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 flipH="1">
            <a:off x="-5172" y="1875125"/>
            <a:ext cx="2084747" cy="1399072"/>
          </a:xfrm>
          <a:custGeom>
            <a:avLst/>
            <a:gdLst/>
            <a:ahLst/>
            <a:cxnLst/>
            <a:rect l="l" t="t" r="r" b="b"/>
            <a:pathLst>
              <a:path w="4459352" h="3633953" extrusionOk="0">
                <a:moveTo>
                  <a:pt x="4395541" y="3495709"/>
                </a:moveTo>
                <a:lnTo>
                  <a:pt x="4373957" y="3521869"/>
                </a:lnTo>
                <a:lnTo>
                  <a:pt x="4342589" y="3547750"/>
                </a:lnTo>
                <a:lnTo>
                  <a:pt x="4302494" y="3546124"/>
                </a:lnTo>
                <a:cubicBezTo>
                  <a:pt x="4276369" y="3548995"/>
                  <a:pt x="4252210" y="3555850"/>
                  <a:pt x="4229834" y="3566602"/>
                </a:cubicBezTo>
                <a:lnTo>
                  <a:pt x="4173156" y="3606724"/>
                </a:lnTo>
                <a:lnTo>
                  <a:pt x="4167795" y="3607264"/>
                </a:lnTo>
                <a:lnTo>
                  <a:pt x="4104815" y="3607264"/>
                </a:lnTo>
                <a:lnTo>
                  <a:pt x="4108284" y="3602053"/>
                </a:lnTo>
                <a:cubicBezTo>
                  <a:pt x="4141467" y="3562062"/>
                  <a:pt x="4183660" y="3530163"/>
                  <a:pt x="4239555" y="3510722"/>
                </a:cubicBezTo>
                <a:cubicBezTo>
                  <a:pt x="4285018" y="3494854"/>
                  <a:pt x="4332466" y="3496413"/>
                  <a:pt x="4379449" y="3496706"/>
                </a:cubicBezTo>
                <a:close/>
                <a:moveTo>
                  <a:pt x="1093783" y="3448548"/>
                </a:moveTo>
                <a:lnTo>
                  <a:pt x="1078538" y="3476636"/>
                </a:lnTo>
                <a:lnTo>
                  <a:pt x="1066943" y="3490690"/>
                </a:lnTo>
                <a:lnTo>
                  <a:pt x="1007696" y="3498768"/>
                </a:lnTo>
                <a:cubicBezTo>
                  <a:pt x="963140" y="3501943"/>
                  <a:pt x="918474" y="3501748"/>
                  <a:pt x="873997" y="3496687"/>
                </a:cubicBezTo>
                <a:cubicBezTo>
                  <a:pt x="762206" y="3483872"/>
                  <a:pt x="681938" y="3519837"/>
                  <a:pt x="620637" y="3591362"/>
                </a:cubicBezTo>
                <a:lnTo>
                  <a:pt x="592149" y="3633953"/>
                </a:lnTo>
                <a:lnTo>
                  <a:pt x="546325" y="3633953"/>
                </a:lnTo>
                <a:lnTo>
                  <a:pt x="576838" y="3583303"/>
                </a:lnTo>
                <a:cubicBezTo>
                  <a:pt x="638051" y="3495494"/>
                  <a:pt x="721389" y="3452593"/>
                  <a:pt x="828353" y="3457848"/>
                </a:cubicBezTo>
                <a:cubicBezTo>
                  <a:pt x="913790" y="3461951"/>
                  <a:pt x="998894" y="3461848"/>
                  <a:pt x="1083198" y="3450486"/>
                </a:cubicBezTo>
                <a:close/>
                <a:moveTo>
                  <a:pt x="4457812" y="3330986"/>
                </a:moveTo>
                <a:lnTo>
                  <a:pt x="4453847" y="3370314"/>
                </a:lnTo>
                <a:lnTo>
                  <a:pt x="4440113" y="3371635"/>
                </a:lnTo>
                <a:cubicBezTo>
                  <a:pt x="4392626" y="3373116"/>
                  <a:pt x="4345035" y="3372353"/>
                  <a:pt x="4297405" y="3371836"/>
                </a:cubicBezTo>
                <a:cubicBezTo>
                  <a:pt x="4248223" y="3371425"/>
                  <a:pt x="4199015" y="3370102"/>
                  <a:pt x="4150087" y="3374010"/>
                </a:cubicBezTo>
                <a:cubicBezTo>
                  <a:pt x="4010911" y="3385094"/>
                  <a:pt x="3912961" y="3447340"/>
                  <a:pt x="3860158" y="3555283"/>
                </a:cubicBezTo>
                <a:lnTo>
                  <a:pt x="3839798" y="3607264"/>
                </a:lnTo>
                <a:lnTo>
                  <a:pt x="3799401" y="3607264"/>
                </a:lnTo>
                <a:lnTo>
                  <a:pt x="3802752" y="3593310"/>
                </a:lnTo>
                <a:cubicBezTo>
                  <a:pt x="3851470" y="3446595"/>
                  <a:pt x="3953651" y="3363648"/>
                  <a:pt x="4105197" y="3340022"/>
                </a:cubicBezTo>
                <a:cubicBezTo>
                  <a:pt x="4184581" y="3327704"/>
                  <a:pt x="4264590" y="3332183"/>
                  <a:pt x="4344377" y="3333257"/>
                </a:cubicBezTo>
                <a:close/>
                <a:moveTo>
                  <a:pt x="1139476" y="3098377"/>
                </a:moveTo>
                <a:lnTo>
                  <a:pt x="1139476" y="3138273"/>
                </a:lnTo>
                <a:lnTo>
                  <a:pt x="1114052" y="3144135"/>
                </a:lnTo>
                <a:cubicBezTo>
                  <a:pt x="1042678" y="3155359"/>
                  <a:pt x="971103" y="3151783"/>
                  <a:pt x="899557" y="3147171"/>
                </a:cubicBezTo>
                <a:cubicBezTo>
                  <a:pt x="846386" y="3143713"/>
                  <a:pt x="793423" y="3141101"/>
                  <a:pt x="740090" y="3144471"/>
                </a:cubicBezTo>
                <a:cubicBezTo>
                  <a:pt x="610627" y="3152811"/>
                  <a:pt x="525858" y="3223110"/>
                  <a:pt x="491761" y="3343431"/>
                </a:cubicBezTo>
                <a:cubicBezTo>
                  <a:pt x="475002" y="3402562"/>
                  <a:pt x="453318" y="3458007"/>
                  <a:pt x="427307" y="3510264"/>
                </a:cubicBezTo>
                <a:lnTo>
                  <a:pt x="351591" y="3633953"/>
                </a:lnTo>
                <a:lnTo>
                  <a:pt x="304596" y="3633953"/>
                </a:lnTo>
                <a:lnTo>
                  <a:pt x="306678" y="3631416"/>
                </a:lnTo>
                <a:cubicBezTo>
                  <a:pt x="353740" y="3567163"/>
                  <a:pt x="393245" y="3497554"/>
                  <a:pt x="422867" y="3420930"/>
                </a:cubicBezTo>
                <a:cubicBezTo>
                  <a:pt x="436548" y="3385547"/>
                  <a:pt x="445856" y="3348589"/>
                  <a:pt x="459478" y="3313329"/>
                </a:cubicBezTo>
                <a:cubicBezTo>
                  <a:pt x="509440" y="3183697"/>
                  <a:pt x="602846" y="3112893"/>
                  <a:pt x="742867" y="3105090"/>
                </a:cubicBezTo>
                <a:cubicBezTo>
                  <a:pt x="819873" y="3100826"/>
                  <a:pt x="896265" y="3108582"/>
                  <a:pt x="972948" y="3111820"/>
                </a:cubicBezTo>
                <a:cubicBezTo>
                  <a:pt x="1021494" y="3113925"/>
                  <a:pt x="1070075" y="3113767"/>
                  <a:pt x="1117427" y="3104367"/>
                </a:cubicBezTo>
                <a:close/>
                <a:moveTo>
                  <a:pt x="4459352" y="2833848"/>
                </a:moveTo>
                <a:lnTo>
                  <a:pt x="4459352" y="2880420"/>
                </a:lnTo>
                <a:lnTo>
                  <a:pt x="4452128" y="2884611"/>
                </a:lnTo>
                <a:cubicBezTo>
                  <a:pt x="4420367" y="2898744"/>
                  <a:pt x="4386378" y="2909906"/>
                  <a:pt x="4350177" y="2918168"/>
                </a:cubicBezTo>
                <a:cubicBezTo>
                  <a:pt x="4279073" y="2934319"/>
                  <a:pt x="4206639" y="2940701"/>
                  <a:pt x="4134441" y="2948843"/>
                </a:cubicBezTo>
                <a:cubicBezTo>
                  <a:pt x="4088593" y="2953877"/>
                  <a:pt x="4042951" y="2959758"/>
                  <a:pt x="3997791" y="2969462"/>
                </a:cubicBezTo>
                <a:cubicBezTo>
                  <a:pt x="3819520" y="3008026"/>
                  <a:pt x="3721588" y="3110648"/>
                  <a:pt x="3692565" y="3290342"/>
                </a:cubicBezTo>
                <a:cubicBezTo>
                  <a:pt x="3675779" y="3394668"/>
                  <a:pt x="3670109" y="3499936"/>
                  <a:pt x="3670051" y="3605404"/>
                </a:cubicBezTo>
                <a:lnTo>
                  <a:pt x="3669966" y="3607264"/>
                </a:lnTo>
                <a:lnTo>
                  <a:pt x="3602029" y="3607264"/>
                </a:lnTo>
                <a:lnTo>
                  <a:pt x="3606586" y="3596261"/>
                </a:lnTo>
                <a:cubicBezTo>
                  <a:pt x="3621952" y="3550168"/>
                  <a:pt x="3631499" y="3500031"/>
                  <a:pt x="3635030" y="3445730"/>
                </a:cubicBezTo>
                <a:cubicBezTo>
                  <a:pt x="3640194" y="3366188"/>
                  <a:pt x="3647250" y="3286770"/>
                  <a:pt x="3670397" y="3209549"/>
                </a:cubicBezTo>
                <a:cubicBezTo>
                  <a:pt x="3710835" y="3075207"/>
                  <a:pt x="3798221" y="2988561"/>
                  <a:pt x="3931185" y="2946728"/>
                </a:cubicBezTo>
                <a:cubicBezTo>
                  <a:pt x="4004999" y="2923427"/>
                  <a:pt x="4081410" y="2915586"/>
                  <a:pt x="4157736" y="2906955"/>
                </a:cubicBezTo>
                <a:cubicBezTo>
                  <a:pt x="4207523" y="2901193"/>
                  <a:pt x="4257292" y="2894823"/>
                  <a:pt x="4306833" y="2886997"/>
                </a:cubicBezTo>
                <a:cubicBezTo>
                  <a:pt x="4347598" y="2880547"/>
                  <a:pt x="4385418" y="2870145"/>
                  <a:pt x="4420361" y="2855870"/>
                </a:cubicBezTo>
                <a:close/>
                <a:moveTo>
                  <a:pt x="1139476" y="2538294"/>
                </a:moveTo>
                <a:lnTo>
                  <a:pt x="1139476" y="2582280"/>
                </a:lnTo>
                <a:lnTo>
                  <a:pt x="1135743" y="2584073"/>
                </a:lnTo>
                <a:cubicBezTo>
                  <a:pt x="1109843" y="2592976"/>
                  <a:pt x="1082195" y="2599215"/>
                  <a:pt x="1052816" y="2602870"/>
                </a:cubicBezTo>
                <a:cubicBezTo>
                  <a:pt x="961098" y="2614279"/>
                  <a:pt x="868798" y="2610412"/>
                  <a:pt x="776794" y="2614337"/>
                </a:cubicBezTo>
                <a:cubicBezTo>
                  <a:pt x="712050" y="2617074"/>
                  <a:pt x="648175" y="2624418"/>
                  <a:pt x="585564" y="2641348"/>
                </a:cubicBezTo>
                <a:cubicBezTo>
                  <a:pt x="424320" y="2684946"/>
                  <a:pt x="334198" y="2794035"/>
                  <a:pt x="322503" y="2960291"/>
                </a:cubicBezTo>
                <a:cubicBezTo>
                  <a:pt x="318313" y="3019576"/>
                  <a:pt x="320164" y="3079108"/>
                  <a:pt x="311639" y="3138038"/>
                </a:cubicBezTo>
                <a:cubicBezTo>
                  <a:pt x="287031" y="3308521"/>
                  <a:pt x="223146" y="3461420"/>
                  <a:pt x="105496" y="3589126"/>
                </a:cubicBezTo>
                <a:lnTo>
                  <a:pt x="59427" y="3633953"/>
                </a:lnTo>
                <a:lnTo>
                  <a:pt x="0" y="3633953"/>
                </a:lnTo>
                <a:lnTo>
                  <a:pt x="59511" y="3579834"/>
                </a:lnTo>
                <a:cubicBezTo>
                  <a:pt x="201405" y="3433749"/>
                  <a:pt x="273901" y="3248719"/>
                  <a:pt x="279643" y="3026284"/>
                </a:cubicBezTo>
                <a:cubicBezTo>
                  <a:pt x="281178" y="2967870"/>
                  <a:pt x="282959" y="2909570"/>
                  <a:pt x="300515" y="2853172"/>
                </a:cubicBezTo>
                <a:cubicBezTo>
                  <a:pt x="345416" y="2709191"/>
                  <a:pt x="451315" y="2634417"/>
                  <a:pt x="590987" y="2598841"/>
                </a:cubicBezTo>
                <a:cubicBezTo>
                  <a:pt x="695287" y="2572248"/>
                  <a:pt x="802151" y="2574154"/>
                  <a:pt x="908580" y="2571807"/>
                </a:cubicBezTo>
                <a:cubicBezTo>
                  <a:pt x="949498" y="2570942"/>
                  <a:pt x="990445" y="2569041"/>
                  <a:pt x="1031231" y="2565866"/>
                </a:cubicBezTo>
                <a:cubicBezTo>
                  <a:pt x="1062884" y="2563376"/>
                  <a:pt x="1092276" y="2557504"/>
                  <a:pt x="1119419" y="2548328"/>
                </a:cubicBezTo>
                <a:close/>
                <a:moveTo>
                  <a:pt x="4459352" y="2485083"/>
                </a:moveTo>
                <a:lnTo>
                  <a:pt x="4459352" y="2539842"/>
                </a:lnTo>
                <a:lnTo>
                  <a:pt x="4425791" y="2568105"/>
                </a:lnTo>
                <a:cubicBezTo>
                  <a:pt x="4362873" y="2613940"/>
                  <a:pt x="4288453" y="2648273"/>
                  <a:pt x="4203932" y="2672337"/>
                </a:cubicBezTo>
                <a:cubicBezTo>
                  <a:pt x="4094405" y="2703412"/>
                  <a:pt x="3980688" y="2714691"/>
                  <a:pt x="3870045" y="2741048"/>
                </a:cubicBezTo>
                <a:cubicBezTo>
                  <a:pt x="3716389" y="2777653"/>
                  <a:pt x="3607425" y="2863912"/>
                  <a:pt x="3552566" y="3015139"/>
                </a:cubicBezTo>
                <a:cubicBezTo>
                  <a:pt x="3533386" y="3068234"/>
                  <a:pt x="3516166" y="3121637"/>
                  <a:pt x="3500552" y="3175783"/>
                </a:cubicBezTo>
                <a:cubicBezTo>
                  <a:pt x="3462206" y="3308844"/>
                  <a:pt x="3421268" y="3440703"/>
                  <a:pt x="3344680" y="3558157"/>
                </a:cubicBezTo>
                <a:lnTo>
                  <a:pt x="3306067" y="3607264"/>
                </a:lnTo>
                <a:lnTo>
                  <a:pt x="3256082" y="3607264"/>
                </a:lnTo>
                <a:lnTo>
                  <a:pt x="3256216" y="3607145"/>
                </a:lnTo>
                <a:cubicBezTo>
                  <a:pt x="3316499" y="3539371"/>
                  <a:pt x="3361889" y="3457780"/>
                  <a:pt x="3396294" y="3365963"/>
                </a:cubicBezTo>
                <a:cubicBezTo>
                  <a:pt x="3434364" y="3264290"/>
                  <a:pt x="3460436" y="3158712"/>
                  <a:pt x="3495120" y="3055920"/>
                </a:cubicBezTo>
                <a:cubicBezTo>
                  <a:pt x="3514076" y="2999419"/>
                  <a:pt x="3536920" y="2944568"/>
                  <a:pt x="3568727" y="2894016"/>
                </a:cubicBezTo>
                <a:cubicBezTo>
                  <a:pt x="3634496" y="2789559"/>
                  <a:pt x="3734890" y="2736398"/>
                  <a:pt x="3850293" y="2706242"/>
                </a:cubicBezTo>
                <a:cubicBezTo>
                  <a:pt x="3961407" y="2677252"/>
                  <a:pt x="4076093" y="2665823"/>
                  <a:pt x="4187064" y="2636166"/>
                </a:cubicBezTo>
                <a:cubicBezTo>
                  <a:pt x="4259504" y="2616807"/>
                  <a:pt x="4325641" y="2588452"/>
                  <a:pt x="4383799" y="2548769"/>
                </a:cubicBezTo>
                <a:close/>
                <a:moveTo>
                  <a:pt x="4188344" y="2480092"/>
                </a:moveTo>
                <a:cubicBezTo>
                  <a:pt x="4188049" y="2480406"/>
                  <a:pt x="4187506" y="2480605"/>
                  <a:pt x="4187145" y="2480737"/>
                </a:cubicBezTo>
                <a:cubicBezTo>
                  <a:pt x="4187839" y="2481509"/>
                  <a:pt x="4188408" y="2482223"/>
                  <a:pt x="4189159" y="2482870"/>
                </a:cubicBezTo>
                <a:cubicBezTo>
                  <a:pt x="4188884" y="2481843"/>
                  <a:pt x="4188552" y="2480938"/>
                  <a:pt x="4188344" y="2480092"/>
                </a:cubicBezTo>
                <a:close/>
                <a:moveTo>
                  <a:pt x="4459352" y="2199617"/>
                </a:moveTo>
                <a:lnTo>
                  <a:pt x="4459352" y="2301753"/>
                </a:lnTo>
                <a:lnTo>
                  <a:pt x="4455307" y="2310449"/>
                </a:lnTo>
                <a:cubicBezTo>
                  <a:pt x="4436434" y="2340071"/>
                  <a:pt x="4413203" y="2366831"/>
                  <a:pt x="4384253" y="2389819"/>
                </a:cubicBezTo>
                <a:cubicBezTo>
                  <a:pt x="4355732" y="2419982"/>
                  <a:pt x="4319559" y="2438799"/>
                  <a:pt x="4282456" y="2455086"/>
                </a:cubicBezTo>
                <a:cubicBezTo>
                  <a:pt x="4238798" y="2474188"/>
                  <a:pt x="4195421" y="2494623"/>
                  <a:pt x="4148322" y="2504631"/>
                </a:cubicBezTo>
                <a:cubicBezTo>
                  <a:pt x="4082514" y="2528786"/>
                  <a:pt x="4014190" y="2544123"/>
                  <a:pt x="3946129" y="2560182"/>
                </a:cubicBezTo>
                <a:cubicBezTo>
                  <a:pt x="3885281" y="2581081"/>
                  <a:pt x="3822416" y="2595644"/>
                  <a:pt x="3762648" y="2620045"/>
                </a:cubicBezTo>
                <a:cubicBezTo>
                  <a:pt x="3558188" y="2703508"/>
                  <a:pt x="3430835" y="2848932"/>
                  <a:pt x="3397977" y="3071270"/>
                </a:cubicBezTo>
                <a:cubicBezTo>
                  <a:pt x="3384095" y="3164783"/>
                  <a:pt x="3337757" y="3244772"/>
                  <a:pt x="3289547" y="3323294"/>
                </a:cubicBezTo>
                <a:cubicBezTo>
                  <a:pt x="3227425" y="3424413"/>
                  <a:pt x="3155577" y="3516639"/>
                  <a:pt x="3065467" y="3591335"/>
                </a:cubicBezTo>
                <a:lnTo>
                  <a:pt x="3043035" y="3607264"/>
                </a:lnTo>
                <a:lnTo>
                  <a:pt x="2974262" y="3607264"/>
                </a:lnTo>
                <a:lnTo>
                  <a:pt x="2994394" y="3594960"/>
                </a:lnTo>
                <a:cubicBezTo>
                  <a:pt x="3112544" y="3511496"/>
                  <a:pt x="3201120" y="3392219"/>
                  <a:pt x="3279379" y="3260663"/>
                </a:cubicBezTo>
                <a:cubicBezTo>
                  <a:pt x="3323169" y="3187147"/>
                  <a:pt x="3351699" y="3108668"/>
                  <a:pt x="3365754" y="3022887"/>
                </a:cubicBezTo>
                <a:cubicBezTo>
                  <a:pt x="3389572" y="2876798"/>
                  <a:pt x="3469153" y="2761629"/>
                  <a:pt x="3585463" y="2672469"/>
                </a:cubicBezTo>
                <a:cubicBezTo>
                  <a:pt x="3688437" y="2593640"/>
                  <a:pt x="3809196" y="2555160"/>
                  <a:pt x="3933396" y="2525775"/>
                </a:cubicBezTo>
                <a:cubicBezTo>
                  <a:pt x="3978142" y="2512427"/>
                  <a:pt x="4022830" y="2499203"/>
                  <a:pt x="4067577" y="2485855"/>
                </a:cubicBezTo>
                <a:cubicBezTo>
                  <a:pt x="4070904" y="2478993"/>
                  <a:pt x="4081371" y="2482638"/>
                  <a:pt x="4086360" y="2478345"/>
                </a:cubicBezTo>
                <a:cubicBezTo>
                  <a:pt x="4074735" y="2480766"/>
                  <a:pt x="4064454" y="2473154"/>
                  <a:pt x="4053279" y="2472332"/>
                </a:cubicBezTo>
                <a:lnTo>
                  <a:pt x="4053403" y="2472390"/>
                </a:lnTo>
                <a:cubicBezTo>
                  <a:pt x="4033811" y="2471273"/>
                  <a:pt x="4014605" y="2466733"/>
                  <a:pt x="3995021" y="2465920"/>
                </a:cubicBezTo>
                <a:cubicBezTo>
                  <a:pt x="3880509" y="2450719"/>
                  <a:pt x="3765127" y="2439017"/>
                  <a:pt x="3658526" y="2496507"/>
                </a:cubicBezTo>
                <a:cubicBezTo>
                  <a:pt x="3529143" y="2566260"/>
                  <a:pt x="3426085" y="2666658"/>
                  <a:pt x="3344633" y="2788465"/>
                </a:cubicBezTo>
                <a:cubicBezTo>
                  <a:pt x="3270583" y="2899141"/>
                  <a:pt x="3229853" y="3021793"/>
                  <a:pt x="3211778" y="3154183"/>
                </a:cubicBezTo>
                <a:cubicBezTo>
                  <a:pt x="3190363" y="3311289"/>
                  <a:pt x="3087953" y="3412887"/>
                  <a:pt x="2958046" y="3489600"/>
                </a:cubicBezTo>
                <a:cubicBezTo>
                  <a:pt x="2826465" y="3567339"/>
                  <a:pt x="2680206" y="3582459"/>
                  <a:pt x="2531124" y="3580665"/>
                </a:cubicBezTo>
                <a:cubicBezTo>
                  <a:pt x="2462494" y="3579803"/>
                  <a:pt x="2393988" y="3579000"/>
                  <a:pt x="2325980" y="3590732"/>
                </a:cubicBezTo>
                <a:lnTo>
                  <a:pt x="2265528" y="3607264"/>
                </a:lnTo>
                <a:lnTo>
                  <a:pt x="2159150" y="3607264"/>
                </a:lnTo>
                <a:lnTo>
                  <a:pt x="2211251" y="3582034"/>
                </a:lnTo>
                <a:cubicBezTo>
                  <a:pt x="2273594" y="3558188"/>
                  <a:pt x="2340020" y="3545011"/>
                  <a:pt x="2410552" y="3542251"/>
                </a:cubicBezTo>
                <a:cubicBezTo>
                  <a:pt x="2513827" y="3538293"/>
                  <a:pt x="2617476" y="3546814"/>
                  <a:pt x="2720177" y="3529834"/>
                </a:cubicBezTo>
                <a:cubicBezTo>
                  <a:pt x="2882722" y="3503198"/>
                  <a:pt x="3018842" y="3432512"/>
                  <a:pt x="3114610" y="3294374"/>
                </a:cubicBezTo>
                <a:cubicBezTo>
                  <a:pt x="3148421" y="3245652"/>
                  <a:pt x="3167869" y="3191329"/>
                  <a:pt x="3175415" y="3132246"/>
                </a:cubicBezTo>
                <a:cubicBezTo>
                  <a:pt x="3211365" y="2852666"/>
                  <a:pt x="3361759" y="2646780"/>
                  <a:pt x="3589000" y="2490129"/>
                </a:cubicBezTo>
                <a:cubicBezTo>
                  <a:pt x="3680445" y="2427123"/>
                  <a:pt x="3782471" y="2409981"/>
                  <a:pt x="3890234" y="2415454"/>
                </a:cubicBezTo>
                <a:cubicBezTo>
                  <a:pt x="3919829" y="2417001"/>
                  <a:pt x="3949405" y="2419890"/>
                  <a:pt x="3978876" y="2423330"/>
                </a:cubicBezTo>
                <a:cubicBezTo>
                  <a:pt x="4049609" y="2431317"/>
                  <a:pt x="4120200" y="2438639"/>
                  <a:pt x="4191556" y="2434909"/>
                </a:cubicBezTo>
                <a:cubicBezTo>
                  <a:pt x="4242228" y="2428207"/>
                  <a:pt x="4288787" y="2410296"/>
                  <a:pt x="4331638" y="2382565"/>
                </a:cubicBezTo>
                <a:cubicBezTo>
                  <a:pt x="4385032" y="2342759"/>
                  <a:pt x="4421126" y="2294455"/>
                  <a:pt x="4445607" y="2240362"/>
                </a:cubicBezTo>
                <a:close/>
                <a:moveTo>
                  <a:pt x="4459352" y="1491993"/>
                </a:moveTo>
                <a:lnTo>
                  <a:pt x="4459352" y="1584830"/>
                </a:lnTo>
                <a:lnTo>
                  <a:pt x="4455129" y="1595140"/>
                </a:lnTo>
                <a:cubicBezTo>
                  <a:pt x="4447807" y="1622325"/>
                  <a:pt x="4443600" y="1651225"/>
                  <a:pt x="4442539" y="1681796"/>
                </a:cubicBezTo>
                <a:cubicBezTo>
                  <a:pt x="4440339" y="1748456"/>
                  <a:pt x="4437085" y="1814477"/>
                  <a:pt x="4415371" y="1878556"/>
                </a:cubicBezTo>
                <a:cubicBezTo>
                  <a:pt x="4371047" y="2009298"/>
                  <a:pt x="4290500" y="2104511"/>
                  <a:pt x="4157062" y="2150928"/>
                </a:cubicBezTo>
                <a:cubicBezTo>
                  <a:pt x="4038041" y="2192464"/>
                  <a:pt x="3914965" y="2220718"/>
                  <a:pt x="3795659" y="2260922"/>
                </a:cubicBezTo>
                <a:cubicBezTo>
                  <a:pt x="3651082" y="2309684"/>
                  <a:pt x="3514439" y="2373074"/>
                  <a:pt x="3394961" y="2470373"/>
                </a:cubicBezTo>
                <a:cubicBezTo>
                  <a:pt x="3258652" y="2581337"/>
                  <a:pt x="3165904" y="2722674"/>
                  <a:pt x="3103339" y="2885036"/>
                </a:cubicBezTo>
                <a:cubicBezTo>
                  <a:pt x="3066770" y="2979904"/>
                  <a:pt x="3028265" y="3073123"/>
                  <a:pt x="2962298" y="3152727"/>
                </a:cubicBezTo>
                <a:cubicBezTo>
                  <a:pt x="2861880" y="3274006"/>
                  <a:pt x="2733720" y="3329768"/>
                  <a:pt x="2577054" y="3322963"/>
                </a:cubicBezTo>
                <a:cubicBezTo>
                  <a:pt x="2485545" y="3319013"/>
                  <a:pt x="2396958" y="3296756"/>
                  <a:pt x="2307192" y="3281908"/>
                </a:cubicBezTo>
                <a:cubicBezTo>
                  <a:pt x="2273938" y="3276267"/>
                  <a:pt x="2240352" y="3271671"/>
                  <a:pt x="2206722" y="3269757"/>
                </a:cubicBezTo>
                <a:cubicBezTo>
                  <a:pt x="2038038" y="3260388"/>
                  <a:pt x="1919809" y="3338457"/>
                  <a:pt x="1859684" y="3496848"/>
                </a:cubicBezTo>
                <a:cubicBezTo>
                  <a:pt x="1849804" y="3522886"/>
                  <a:pt x="1842347" y="3549446"/>
                  <a:pt x="1836523" y="3576369"/>
                </a:cubicBezTo>
                <a:lnTo>
                  <a:pt x="1831470" y="3607264"/>
                </a:lnTo>
                <a:lnTo>
                  <a:pt x="1791643" y="3607264"/>
                </a:lnTo>
                <a:lnTo>
                  <a:pt x="1810490" y="3513726"/>
                </a:lnTo>
                <a:cubicBezTo>
                  <a:pt x="1823939" y="3473171"/>
                  <a:pt x="1842387" y="3434217"/>
                  <a:pt x="1865890" y="3397228"/>
                </a:cubicBezTo>
                <a:cubicBezTo>
                  <a:pt x="1945130" y="3272748"/>
                  <a:pt x="2060939" y="3221620"/>
                  <a:pt x="2205648" y="3229944"/>
                </a:cubicBezTo>
                <a:cubicBezTo>
                  <a:pt x="2303176" y="3235479"/>
                  <a:pt x="2397531" y="3261158"/>
                  <a:pt x="2493613" y="3275328"/>
                </a:cubicBezTo>
                <a:cubicBezTo>
                  <a:pt x="2571152" y="3286767"/>
                  <a:pt x="2648692" y="3290102"/>
                  <a:pt x="2725043" y="3268126"/>
                </a:cubicBezTo>
                <a:cubicBezTo>
                  <a:pt x="2848147" y="3232683"/>
                  <a:pt x="2928673" y="3146915"/>
                  <a:pt x="2990840" y="3040189"/>
                </a:cubicBezTo>
                <a:cubicBezTo>
                  <a:pt x="3017783" y="2993989"/>
                  <a:pt x="3038356" y="2944689"/>
                  <a:pt x="3056163" y="2894559"/>
                </a:cubicBezTo>
                <a:cubicBezTo>
                  <a:pt x="3175888" y="2556225"/>
                  <a:pt x="3418142" y="2347698"/>
                  <a:pt x="3751161" y="2233867"/>
                </a:cubicBezTo>
                <a:cubicBezTo>
                  <a:pt x="3858811" y="2197121"/>
                  <a:pt x="3968764" y="2168043"/>
                  <a:pt x="4077910" y="2136492"/>
                </a:cubicBezTo>
                <a:cubicBezTo>
                  <a:pt x="4184100" y="2105822"/>
                  <a:pt x="4278161" y="2058882"/>
                  <a:pt x="4335557" y="1957602"/>
                </a:cubicBezTo>
                <a:cubicBezTo>
                  <a:pt x="4378427" y="1881860"/>
                  <a:pt x="4400987" y="1801366"/>
                  <a:pt x="4400377" y="1714197"/>
                </a:cubicBezTo>
                <a:cubicBezTo>
                  <a:pt x="4399823" y="1651215"/>
                  <a:pt x="4408447" y="1589480"/>
                  <a:pt x="4435470" y="1531762"/>
                </a:cubicBezTo>
                <a:close/>
                <a:moveTo>
                  <a:pt x="4459352" y="670573"/>
                </a:moveTo>
                <a:lnTo>
                  <a:pt x="4459352" y="710470"/>
                </a:lnTo>
                <a:lnTo>
                  <a:pt x="4380527" y="728216"/>
                </a:lnTo>
                <a:cubicBezTo>
                  <a:pt x="4322424" y="750724"/>
                  <a:pt x="4271759" y="791118"/>
                  <a:pt x="4230399" y="853226"/>
                </a:cubicBezTo>
                <a:cubicBezTo>
                  <a:pt x="4189943" y="914031"/>
                  <a:pt x="4170451" y="983037"/>
                  <a:pt x="4160417" y="1054623"/>
                </a:cubicBezTo>
                <a:cubicBezTo>
                  <a:pt x="4146557" y="1152951"/>
                  <a:pt x="4131527" y="1250885"/>
                  <a:pt x="4093193" y="1343734"/>
                </a:cubicBezTo>
                <a:cubicBezTo>
                  <a:pt x="4054639" y="1437380"/>
                  <a:pt x="4002979" y="1522708"/>
                  <a:pt x="3935988" y="1598689"/>
                </a:cubicBezTo>
                <a:cubicBezTo>
                  <a:pt x="3811075" y="1740140"/>
                  <a:pt x="3654761" y="1805826"/>
                  <a:pt x="3466144" y="1794134"/>
                </a:cubicBezTo>
                <a:cubicBezTo>
                  <a:pt x="3400770" y="1790127"/>
                  <a:pt x="3335381" y="1783564"/>
                  <a:pt x="3270003" y="1783458"/>
                </a:cubicBezTo>
                <a:cubicBezTo>
                  <a:pt x="3113234" y="1783358"/>
                  <a:pt x="3024678" y="1855355"/>
                  <a:pt x="2988145" y="2008162"/>
                </a:cubicBezTo>
                <a:cubicBezTo>
                  <a:pt x="2973254" y="2070146"/>
                  <a:pt x="2968518" y="2133532"/>
                  <a:pt x="2962251" y="2196658"/>
                </a:cubicBezTo>
                <a:cubicBezTo>
                  <a:pt x="2952154" y="2298527"/>
                  <a:pt x="2932785" y="2398055"/>
                  <a:pt x="2868887" y="2481618"/>
                </a:cubicBezTo>
                <a:cubicBezTo>
                  <a:pt x="2769991" y="2610954"/>
                  <a:pt x="2636076" y="2659702"/>
                  <a:pt x="2476709" y="2644143"/>
                </a:cubicBezTo>
                <a:cubicBezTo>
                  <a:pt x="2322355" y="2629104"/>
                  <a:pt x="2171392" y="2641745"/>
                  <a:pt x="2027458" y="2701760"/>
                </a:cubicBezTo>
                <a:cubicBezTo>
                  <a:pt x="1883285" y="2761965"/>
                  <a:pt x="1807026" y="2890377"/>
                  <a:pt x="1806447" y="3051425"/>
                </a:cubicBezTo>
                <a:cubicBezTo>
                  <a:pt x="1810064" y="3048148"/>
                  <a:pt x="1813719" y="3046089"/>
                  <a:pt x="1815939" y="3042915"/>
                </a:cubicBezTo>
                <a:cubicBezTo>
                  <a:pt x="1890504" y="2939228"/>
                  <a:pt x="1995809" y="2899446"/>
                  <a:pt x="2119027" y="2896169"/>
                </a:cubicBezTo>
                <a:cubicBezTo>
                  <a:pt x="2220512" y="2893483"/>
                  <a:pt x="2321265" y="2906966"/>
                  <a:pt x="2422660" y="2907389"/>
                </a:cubicBezTo>
                <a:cubicBezTo>
                  <a:pt x="2503827" y="2907752"/>
                  <a:pt x="2584457" y="2902464"/>
                  <a:pt x="2662419" y="2877334"/>
                </a:cubicBezTo>
                <a:cubicBezTo>
                  <a:pt x="2789621" y="2836284"/>
                  <a:pt x="2868929" y="2742447"/>
                  <a:pt x="2933479" y="2631873"/>
                </a:cubicBezTo>
                <a:cubicBezTo>
                  <a:pt x="2977404" y="2556770"/>
                  <a:pt x="3013392" y="2477092"/>
                  <a:pt x="3063143" y="2405286"/>
                </a:cubicBezTo>
                <a:cubicBezTo>
                  <a:pt x="3150671" y="2278789"/>
                  <a:pt x="3277289" y="2216309"/>
                  <a:pt x="3423243" y="2184992"/>
                </a:cubicBezTo>
                <a:cubicBezTo>
                  <a:pt x="3529364" y="2162244"/>
                  <a:pt x="3637500" y="2149732"/>
                  <a:pt x="3742969" y="2123531"/>
                </a:cubicBezTo>
                <a:cubicBezTo>
                  <a:pt x="3813722" y="2105867"/>
                  <a:pt x="3882951" y="2084046"/>
                  <a:pt x="3948121" y="2050891"/>
                </a:cubicBezTo>
                <a:cubicBezTo>
                  <a:pt x="4105823" y="1970540"/>
                  <a:pt x="4196793" y="1843087"/>
                  <a:pt x="4221056" y="1667192"/>
                </a:cubicBezTo>
                <a:cubicBezTo>
                  <a:pt x="4235771" y="1560857"/>
                  <a:pt x="4237145" y="1452549"/>
                  <a:pt x="4261713" y="1347624"/>
                </a:cubicBezTo>
                <a:cubicBezTo>
                  <a:pt x="4286297" y="1242745"/>
                  <a:pt x="4331738" y="1152253"/>
                  <a:pt x="4409206" y="1085933"/>
                </a:cubicBezTo>
                <a:lnTo>
                  <a:pt x="4459352" y="1053148"/>
                </a:lnTo>
                <a:lnTo>
                  <a:pt x="4459352" y="1098248"/>
                </a:lnTo>
                <a:lnTo>
                  <a:pt x="4434527" y="1116095"/>
                </a:lnTo>
                <a:cubicBezTo>
                  <a:pt x="4386176" y="1158193"/>
                  <a:pt x="4347818" y="1215123"/>
                  <a:pt x="4322876" y="1284553"/>
                </a:cubicBezTo>
                <a:cubicBezTo>
                  <a:pt x="4294031" y="1364686"/>
                  <a:pt x="4285496" y="1447622"/>
                  <a:pt x="4277959" y="1531318"/>
                </a:cubicBezTo>
                <a:cubicBezTo>
                  <a:pt x="4270788" y="1610984"/>
                  <a:pt x="4262390" y="1690381"/>
                  <a:pt x="4240158" y="1767573"/>
                </a:cubicBezTo>
                <a:cubicBezTo>
                  <a:pt x="4190629" y="1940025"/>
                  <a:pt x="4070353" y="2045207"/>
                  <a:pt x="3910604" y="2112156"/>
                </a:cubicBezTo>
                <a:cubicBezTo>
                  <a:pt x="3777031" y="2168263"/>
                  <a:pt x="3634222" y="2186631"/>
                  <a:pt x="3493267" y="2212010"/>
                </a:cubicBezTo>
                <a:cubicBezTo>
                  <a:pt x="3417459" y="2225683"/>
                  <a:pt x="3342937" y="2243703"/>
                  <a:pt x="3272765" y="2276642"/>
                </a:cubicBezTo>
                <a:cubicBezTo>
                  <a:pt x="3163480" y="2327937"/>
                  <a:pt x="3094848" y="2418163"/>
                  <a:pt x="3039324" y="2520910"/>
                </a:cubicBezTo>
                <a:cubicBezTo>
                  <a:pt x="2999844" y="2593869"/>
                  <a:pt x="2962216" y="2667688"/>
                  <a:pt x="2913620" y="2735376"/>
                </a:cubicBezTo>
                <a:cubicBezTo>
                  <a:pt x="2823688" y="2860909"/>
                  <a:pt x="2699684" y="2925199"/>
                  <a:pt x="2548089" y="2941150"/>
                </a:cubicBezTo>
                <a:cubicBezTo>
                  <a:pt x="2442713" y="2952238"/>
                  <a:pt x="2337569" y="2944676"/>
                  <a:pt x="2232347" y="2938579"/>
                </a:cubicBezTo>
                <a:cubicBezTo>
                  <a:pt x="2199328" y="2936647"/>
                  <a:pt x="2166211" y="2935571"/>
                  <a:pt x="2133265" y="2936074"/>
                </a:cubicBezTo>
                <a:cubicBezTo>
                  <a:pt x="1946543" y="2938763"/>
                  <a:pt x="1834386" y="3022193"/>
                  <a:pt x="1783164" y="3203164"/>
                </a:cubicBezTo>
                <a:cubicBezTo>
                  <a:pt x="1750728" y="3317950"/>
                  <a:pt x="1698601" y="3420170"/>
                  <a:pt x="1617950" y="3507832"/>
                </a:cubicBezTo>
                <a:lnTo>
                  <a:pt x="1525477" y="3589635"/>
                </a:lnTo>
                <a:lnTo>
                  <a:pt x="1508459" y="3584352"/>
                </a:lnTo>
                <a:lnTo>
                  <a:pt x="1480389" y="3569116"/>
                </a:lnTo>
                <a:lnTo>
                  <a:pt x="1578031" y="3491564"/>
                </a:lnTo>
                <a:cubicBezTo>
                  <a:pt x="1674435" y="3396301"/>
                  <a:pt x="1732165" y="3276043"/>
                  <a:pt x="1753078" y="3132661"/>
                </a:cubicBezTo>
                <a:cubicBezTo>
                  <a:pt x="1758899" y="3093189"/>
                  <a:pt x="1762027" y="3053370"/>
                  <a:pt x="1766744" y="3013686"/>
                </a:cubicBezTo>
                <a:cubicBezTo>
                  <a:pt x="1790341" y="2813622"/>
                  <a:pt x="1894745" y="2691188"/>
                  <a:pt x="2089450" y="2637872"/>
                </a:cubicBezTo>
                <a:cubicBezTo>
                  <a:pt x="2216053" y="2603298"/>
                  <a:pt x="2344960" y="2590648"/>
                  <a:pt x="2475843" y="2605176"/>
                </a:cubicBezTo>
                <a:cubicBezTo>
                  <a:pt x="2616139" y="2620758"/>
                  <a:pt x="2735008" y="2580202"/>
                  <a:pt x="2826691" y="2470336"/>
                </a:cubicBezTo>
                <a:cubicBezTo>
                  <a:pt x="2886085" y="2399094"/>
                  <a:pt x="2908120" y="2313255"/>
                  <a:pt x="2918336" y="2223445"/>
                </a:cubicBezTo>
                <a:cubicBezTo>
                  <a:pt x="2927439" y="2143173"/>
                  <a:pt x="2931282" y="2062269"/>
                  <a:pt x="2952555" y="1983581"/>
                </a:cubicBezTo>
                <a:cubicBezTo>
                  <a:pt x="2994388" y="1828726"/>
                  <a:pt x="3093691" y="1749398"/>
                  <a:pt x="3253947" y="1743912"/>
                </a:cubicBezTo>
                <a:cubicBezTo>
                  <a:pt x="3303244" y="1742124"/>
                  <a:pt x="3352442" y="1745092"/>
                  <a:pt x="3401006" y="1751371"/>
                </a:cubicBezTo>
                <a:cubicBezTo>
                  <a:pt x="3691294" y="1788827"/>
                  <a:pt x="3885448" y="1654372"/>
                  <a:pt x="4018940" y="1409148"/>
                </a:cubicBezTo>
                <a:cubicBezTo>
                  <a:pt x="4078294" y="1300070"/>
                  <a:pt x="4103248" y="1181670"/>
                  <a:pt x="4118905" y="1060014"/>
                </a:cubicBezTo>
                <a:cubicBezTo>
                  <a:pt x="4130385" y="969745"/>
                  <a:pt x="4154275" y="882812"/>
                  <a:pt x="4211230" y="809388"/>
                </a:cubicBezTo>
                <a:cubicBezTo>
                  <a:pt x="4272597" y="730319"/>
                  <a:pt x="4349772" y="685661"/>
                  <a:pt x="4440036" y="671437"/>
                </a:cubicBezTo>
                <a:close/>
                <a:moveTo>
                  <a:pt x="4459352" y="526157"/>
                </a:moveTo>
                <a:lnTo>
                  <a:pt x="4459352" y="566143"/>
                </a:lnTo>
                <a:lnTo>
                  <a:pt x="4444335" y="568113"/>
                </a:lnTo>
                <a:cubicBezTo>
                  <a:pt x="4384718" y="577280"/>
                  <a:pt x="4325186" y="587234"/>
                  <a:pt x="4267101" y="604760"/>
                </a:cubicBezTo>
                <a:cubicBezTo>
                  <a:pt x="4079926" y="661261"/>
                  <a:pt x="3988891" y="778481"/>
                  <a:pt x="3980784" y="974909"/>
                </a:cubicBezTo>
                <a:cubicBezTo>
                  <a:pt x="3978208" y="1037192"/>
                  <a:pt x="3981005" y="1099864"/>
                  <a:pt x="3967932" y="1161488"/>
                </a:cubicBezTo>
                <a:cubicBezTo>
                  <a:pt x="3919364" y="1390208"/>
                  <a:pt x="3769090" y="1527120"/>
                  <a:pt x="3531789" y="1553811"/>
                </a:cubicBezTo>
                <a:cubicBezTo>
                  <a:pt x="3436209" y="1564484"/>
                  <a:pt x="3339859" y="1567746"/>
                  <a:pt x="3243942" y="1575260"/>
                </a:cubicBezTo>
                <a:cubicBezTo>
                  <a:pt x="3193920" y="1579262"/>
                  <a:pt x="3144387" y="1587392"/>
                  <a:pt x="3095373" y="1598615"/>
                </a:cubicBezTo>
                <a:cubicBezTo>
                  <a:pt x="2951053" y="1631589"/>
                  <a:pt x="2865942" y="1724990"/>
                  <a:pt x="2823227" y="1862629"/>
                </a:cubicBezTo>
                <a:cubicBezTo>
                  <a:pt x="2788016" y="1976282"/>
                  <a:pt x="2772373" y="2094342"/>
                  <a:pt x="2742135" y="2209245"/>
                </a:cubicBezTo>
                <a:cubicBezTo>
                  <a:pt x="2715001" y="2311931"/>
                  <a:pt x="2666366" y="2396560"/>
                  <a:pt x="2565829" y="2442902"/>
                </a:cubicBezTo>
                <a:cubicBezTo>
                  <a:pt x="2538358" y="2461396"/>
                  <a:pt x="2507835" y="2471575"/>
                  <a:pt x="2475245" y="2475844"/>
                </a:cubicBezTo>
                <a:cubicBezTo>
                  <a:pt x="2394793" y="2499222"/>
                  <a:pt x="2312988" y="2499915"/>
                  <a:pt x="2230682" y="2490021"/>
                </a:cubicBezTo>
                <a:cubicBezTo>
                  <a:pt x="2182413" y="2491532"/>
                  <a:pt x="2134868" y="2482726"/>
                  <a:pt x="2086889" y="2479720"/>
                </a:cubicBezTo>
                <a:cubicBezTo>
                  <a:pt x="2046964" y="2477144"/>
                  <a:pt x="2007201" y="2475840"/>
                  <a:pt x="1967204" y="2478932"/>
                </a:cubicBezTo>
                <a:cubicBezTo>
                  <a:pt x="1803753" y="2491646"/>
                  <a:pt x="1698875" y="2580096"/>
                  <a:pt x="1656430" y="2738869"/>
                </a:cubicBezTo>
                <a:cubicBezTo>
                  <a:pt x="1634572" y="2820438"/>
                  <a:pt x="1624706" y="2903656"/>
                  <a:pt x="1615268" y="2986923"/>
                </a:cubicBezTo>
                <a:cubicBezTo>
                  <a:pt x="1594541" y="3171471"/>
                  <a:pt x="1519662" y="3298004"/>
                  <a:pt x="1400605" y="3379566"/>
                </a:cubicBezTo>
                <a:lnTo>
                  <a:pt x="1347315" y="3409908"/>
                </a:lnTo>
                <a:lnTo>
                  <a:pt x="1336313" y="3374466"/>
                </a:lnTo>
                <a:lnTo>
                  <a:pt x="1336060" y="3371956"/>
                </a:lnTo>
                <a:lnTo>
                  <a:pt x="1344201" y="3368168"/>
                </a:lnTo>
                <a:cubicBezTo>
                  <a:pt x="1398007" y="3337237"/>
                  <a:pt x="1445905" y="3296499"/>
                  <a:pt x="1485739" y="3242387"/>
                </a:cubicBezTo>
                <a:cubicBezTo>
                  <a:pt x="1538486" y="3170917"/>
                  <a:pt x="1558900" y="3087930"/>
                  <a:pt x="1571309" y="3002135"/>
                </a:cubicBezTo>
                <a:cubicBezTo>
                  <a:pt x="1584992" y="2908079"/>
                  <a:pt x="1593170" y="2813275"/>
                  <a:pt x="1619529" y="2721336"/>
                </a:cubicBezTo>
                <a:cubicBezTo>
                  <a:pt x="1668446" y="2550852"/>
                  <a:pt x="1785299" y="2453388"/>
                  <a:pt x="1962020" y="2440217"/>
                </a:cubicBezTo>
                <a:cubicBezTo>
                  <a:pt x="2062930" y="2432613"/>
                  <a:pt x="2162930" y="2447398"/>
                  <a:pt x="2263144" y="2457180"/>
                </a:cubicBezTo>
                <a:cubicBezTo>
                  <a:pt x="2267852" y="2457709"/>
                  <a:pt x="2272826" y="2457010"/>
                  <a:pt x="2277696" y="2456864"/>
                </a:cubicBezTo>
                <a:cubicBezTo>
                  <a:pt x="2336903" y="2456365"/>
                  <a:pt x="2396045" y="2453733"/>
                  <a:pt x="2454672" y="2444110"/>
                </a:cubicBezTo>
                <a:cubicBezTo>
                  <a:pt x="2500409" y="2429270"/>
                  <a:pt x="2546032" y="2414678"/>
                  <a:pt x="2586002" y="2386364"/>
                </a:cubicBezTo>
                <a:cubicBezTo>
                  <a:pt x="2654015" y="2338318"/>
                  <a:pt x="2685493" y="2268708"/>
                  <a:pt x="2703446" y="2191033"/>
                </a:cubicBezTo>
                <a:cubicBezTo>
                  <a:pt x="2726401" y="2091215"/>
                  <a:pt x="2746597" y="1990870"/>
                  <a:pt x="2771642" y="1891719"/>
                </a:cubicBezTo>
                <a:cubicBezTo>
                  <a:pt x="2799298" y="1782072"/>
                  <a:pt x="2846656" y="1683348"/>
                  <a:pt x="2945352" y="1618295"/>
                </a:cubicBezTo>
                <a:cubicBezTo>
                  <a:pt x="3013761" y="1573284"/>
                  <a:pt x="3091126" y="1554631"/>
                  <a:pt x="3170708" y="1542856"/>
                </a:cubicBezTo>
                <a:cubicBezTo>
                  <a:pt x="3278315" y="1526947"/>
                  <a:pt x="3387348" y="1528056"/>
                  <a:pt x="3495318" y="1518169"/>
                </a:cubicBezTo>
                <a:cubicBezTo>
                  <a:pt x="3576493" y="1510732"/>
                  <a:pt x="3656364" y="1496390"/>
                  <a:pt x="3726694" y="1452418"/>
                </a:cubicBezTo>
                <a:cubicBezTo>
                  <a:pt x="3868187" y="1363964"/>
                  <a:pt x="3929160" y="1229674"/>
                  <a:pt x="3937218" y="1068035"/>
                </a:cubicBezTo>
                <a:cubicBezTo>
                  <a:pt x="3940852" y="994387"/>
                  <a:pt x="3938818" y="920668"/>
                  <a:pt x="3958649" y="848662"/>
                </a:cubicBezTo>
                <a:cubicBezTo>
                  <a:pt x="3999856" y="699370"/>
                  <a:pt x="4100490" y="611658"/>
                  <a:pt x="4245670" y="568725"/>
                </a:cubicBezTo>
                <a:cubicBezTo>
                  <a:pt x="4300444" y="552516"/>
                  <a:pt x="4356101" y="541369"/>
                  <a:pt x="4412153" y="532487"/>
                </a:cubicBezTo>
                <a:close/>
                <a:moveTo>
                  <a:pt x="4337637" y="187231"/>
                </a:moveTo>
                <a:lnTo>
                  <a:pt x="4459352" y="190782"/>
                </a:lnTo>
                <a:lnTo>
                  <a:pt x="4459352" y="231557"/>
                </a:lnTo>
                <a:lnTo>
                  <a:pt x="4333061" y="226975"/>
                </a:lnTo>
                <a:cubicBezTo>
                  <a:pt x="4125284" y="226520"/>
                  <a:pt x="3994044" y="329777"/>
                  <a:pt x="3922408" y="520807"/>
                </a:cubicBezTo>
                <a:cubicBezTo>
                  <a:pt x="3873442" y="651204"/>
                  <a:pt x="3832180" y="784408"/>
                  <a:pt x="3777237" y="912485"/>
                </a:cubicBezTo>
                <a:cubicBezTo>
                  <a:pt x="3749797" y="976613"/>
                  <a:pt x="3719697" y="1039359"/>
                  <a:pt x="3679188" y="1096386"/>
                </a:cubicBezTo>
                <a:cubicBezTo>
                  <a:pt x="3604011" y="1202039"/>
                  <a:pt x="3498595" y="1256327"/>
                  <a:pt x="3372902" y="1276618"/>
                </a:cubicBezTo>
                <a:cubicBezTo>
                  <a:pt x="3285833" y="1290628"/>
                  <a:pt x="3197567" y="1293282"/>
                  <a:pt x="3110131" y="1303222"/>
                </a:cubicBezTo>
                <a:cubicBezTo>
                  <a:pt x="3044858" y="1310667"/>
                  <a:pt x="2980134" y="1320168"/>
                  <a:pt x="2918266" y="1343596"/>
                </a:cubicBezTo>
                <a:cubicBezTo>
                  <a:pt x="2843990" y="1371784"/>
                  <a:pt x="2789756" y="1422157"/>
                  <a:pt x="2752733" y="1491752"/>
                </a:cubicBezTo>
                <a:cubicBezTo>
                  <a:pt x="2697942" y="1594539"/>
                  <a:pt x="2665891" y="1705902"/>
                  <a:pt x="2629344" y="1815634"/>
                </a:cubicBezTo>
                <a:cubicBezTo>
                  <a:pt x="2601854" y="1898347"/>
                  <a:pt x="2572938" y="1980250"/>
                  <a:pt x="2532872" y="2058039"/>
                </a:cubicBezTo>
                <a:cubicBezTo>
                  <a:pt x="2450841" y="2217393"/>
                  <a:pt x="2319005" y="2300867"/>
                  <a:pt x="2142405" y="2317997"/>
                </a:cubicBezTo>
                <a:cubicBezTo>
                  <a:pt x="2065738" y="2325419"/>
                  <a:pt x="1988872" y="2324195"/>
                  <a:pt x="1912283" y="2322051"/>
                </a:cubicBezTo>
                <a:cubicBezTo>
                  <a:pt x="1717942" y="2316561"/>
                  <a:pt x="1583823" y="2409181"/>
                  <a:pt x="1491656" y="2573896"/>
                </a:cubicBezTo>
                <a:cubicBezTo>
                  <a:pt x="1444535" y="2658175"/>
                  <a:pt x="1415088" y="2746734"/>
                  <a:pt x="1406185" y="2843754"/>
                </a:cubicBezTo>
                <a:cubicBezTo>
                  <a:pt x="1402430" y="2884521"/>
                  <a:pt x="1392686" y="2922037"/>
                  <a:pt x="1377585" y="2955789"/>
                </a:cubicBezTo>
                <a:lnTo>
                  <a:pt x="1330389" y="3025291"/>
                </a:lnTo>
                <a:lnTo>
                  <a:pt x="1330389" y="2958101"/>
                </a:lnTo>
                <a:lnTo>
                  <a:pt x="1350712" y="2922137"/>
                </a:lnTo>
                <a:cubicBezTo>
                  <a:pt x="1360723" y="2894933"/>
                  <a:pt x="1366912" y="2864813"/>
                  <a:pt x="1369022" y="2831650"/>
                </a:cubicBezTo>
                <a:cubicBezTo>
                  <a:pt x="1378916" y="2676415"/>
                  <a:pt x="1445332" y="2546898"/>
                  <a:pt x="1545333" y="2432028"/>
                </a:cubicBezTo>
                <a:cubicBezTo>
                  <a:pt x="1625544" y="2339811"/>
                  <a:pt x="1728336" y="2293461"/>
                  <a:pt x="1849724" y="2286035"/>
                </a:cubicBezTo>
                <a:cubicBezTo>
                  <a:pt x="1910114" y="2282330"/>
                  <a:pt x="1970439" y="2284600"/>
                  <a:pt x="2030854" y="2283758"/>
                </a:cubicBezTo>
                <a:cubicBezTo>
                  <a:pt x="2065569" y="2283323"/>
                  <a:pt x="2100429" y="2281605"/>
                  <a:pt x="2135138" y="2278916"/>
                </a:cubicBezTo>
                <a:cubicBezTo>
                  <a:pt x="2310565" y="2265296"/>
                  <a:pt x="2432754" y="2175106"/>
                  <a:pt x="2508343" y="2018321"/>
                </a:cubicBezTo>
                <a:cubicBezTo>
                  <a:pt x="2551581" y="1928494"/>
                  <a:pt x="2579666" y="1833152"/>
                  <a:pt x="2611260" y="1738983"/>
                </a:cubicBezTo>
                <a:cubicBezTo>
                  <a:pt x="2634414" y="1670170"/>
                  <a:pt x="2658616" y="1601692"/>
                  <a:pt x="2685582" y="1534044"/>
                </a:cubicBezTo>
                <a:cubicBezTo>
                  <a:pt x="2745470" y="1383945"/>
                  <a:pt x="2856067" y="1301293"/>
                  <a:pt x="3013721" y="1276144"/>
                </a:cubicBezTo>
                <a:cubicBezTo>
                  <a:pt x="3103827" y="1261736"/>
                  <a:pt x="3194947" y="1256804"/>
                  <a:pt x="3285512" y="1247563"/>
                </a:cubicBezTo>
                <a:cubicBezTo>
                  <a:pt x="3317035" y="1244299"/>
                  <a:pt x="3348513" y="1239515"/>
                  <a:pt x="3379801" y="1234492"/>
                </a:cubicBezTo>
                <a:cubicBezTo>
                  <a:pt x="3518164" y="1212114"/>
                  <a:pt x="3616741" y="1135003"/>
                  <a:pt x="3683709" y="1013694"/>
                </a:cubicBezTo>
                <a:cubicBezTo>
                  <a:pt x="3748360" y="896415"/>
                  <a:pt x="3788467" y="769272"/>
                  <a:pt x="3833687" y="644051"/>
                </a:cubicBezTo>
                <a:cubicBezTo>
                  <a:pt x="3868382" y="547718"/>
                  <a:pt x="3900058" y="450132"/>
                  <a:pt x="3958774" y="364469"/>
                </a:cubicBezTo>
                <a:cubicBezTo>
                  <a:pt x="4013110" y="285032"/>
                  <a:pt x="4086918" y="233222"/>
                  <a:pt x="4179574" y="208442"/>
                </a:cubicBezTo>
                <a:cubicBezTo>
                  <a:pt x="4231853" y="194379"/>
                  <a:pt x="4284627" y="188650"/>
                  <a:pt x="4337637" y="187231"/>
                </a:cubicBezTo>
                <a:close/>
                <a:moveTo>
                  <a:pt x="4459352" y="0"/>
                </a:moveTo>
                <a:lnTo>
                  <a:pt x="4459352" y="41723"/>
                </a:lnTo>
                <a:lnTo>
                  <a:pt x="4403847" y="54312"/>
                </a:lnTo>
                <a:cubicBezTo>
                  <a:pt x="4302029" y="72301"/>
                  <a:pt x="4199693" y="87196"/>
                  <a:pt x="4097960" y="105974"/>
                </a:cubicBezTo>
                <a:cubicBezTo>
                  <a:pt x="3978781" y="128079"/>
                  <a:pt x="3872508" y="174168"/>
                  <a:pt x="3800709" y="278683"/>
                </a:cubicBezTo>
                <a:cubicBezTo>
                  <a:pt x="3757627" y="341272"/>
                  <a:pt x="3733851" y="411747"/>
                  <a:pt x="3715636" y="484798"/>
                </a:cubicBezTo>
                <a:cubicBezTo>
                  <a:pt x="3690991" y="583085"/>
                  <a:pt x="3679402" y="683963"/>
                  <a:pt x="3653350" y="782047"/>
                </a:cubicBezTo>
                <a:cubicBezTo>
                  <a:pt x="3605800" y="961567"/>
                  <a:pt x="3484775" y="1064150"/>
                  <a:pt x="3313687" y="1116696"/>
                </a:cubicBezTo>
                <a:cubicBezTo>
                  <a:pt x="3202245" y="1150937"/>
                  <a:pt x="3086184" y="1157228"/>
                  <a:pt x="2971296" y="1170065"/>
                </a:cubicBezTo>
                <a:cubicBezTo>
                  <a:pt x="2927453" y="1174978"/>
                  <a:pt x="2884104" y="1182069"/>
                  <a:pt x="2840791" y="1190377"/>
                </a:cubicBezTo>
                <a:cubicBezTo>
                  <a:pt x="2700130" y="1217394"/>
                  <a:pt x="2608812" y="1300867"/>
                  <a:pt x="2560281" y="1433564"/>
                </a:cubicBezTo>
                <a:cubicBezTo>
                  <a:pt x="2535739" y="1500834"/>
                  <a:pt x="2512680" y="1568791"/>
                  <a:pt x="2488632" y="1636291"/>
                </a:cubicBezTo>
                <a:cubicBezTo>
                  <a:pt x="2470101" y="1688636"/>
                  <a:pt x="2447670" y="1739027"/>
                  <a:pt x="2417704" y="1785928"/>
                </a:cubicBezTo>
                <a:cubicBezTo>
                  <a:pt x="2352537" y="1888112"/>
                  <a:pt x="2258669" y="1939493"/>
                  <a:pt x="2138664" y="1944259"/>
                </a:cubicBezTo>
                <a:cubicBezTo>
                  <a:pt x="2081033" y="1946539"/>
                  <a:pt x="2024838" y="1935678"/>
                  <a:pt x="1968143" y="1926538"/>
                </a:cubicBezTo>
                <a:cubicBezTo>
                  <a:pt x="1794639" y="1898730"/>
                  <a:pt x="1634721" y="1923583"/>
                  <a:pt x="1510449" y="2062030"/>
                </a:cubicBezTo>
                <a:cubicBezTo>
                  <a:pt x="1467003" y="2110494"/>
                  <a:pt x="1442326" y="2171249"/>
                  <a:pt x="1416196" y="2230282"/>
                </a:cubicBezTo>
                <a:cubicBezTo>
                  <a:pt x="1401276" y="2263966"/>
                  <a:pt x="1386974" y="2297936"/>
                  <a:pt x="1371668" y="2331442"/>
                </a:cubicBezTo>
                <a:lnTo>
                  <a:pt x="1330389" y="2411767"/>
                </a:lnTo>
                <a:lnTo>
                  <a:pt x="1330389" y="2319304"/>
                </a:lnTo>
                <a:lnTo>
                  <a:pt x="1404269" y="2157831"/>
                </a:lnTo>
                <a:cubicBezTo>
                  <a:pt x="1435507" y="2090360"/>
                  <a:pt x="1473560" y="2026643"/>
                  <a:pt x="1534103" y="1981443"/>
                </a:cubicBezTo>
                <a:cubicBezTo>
                  <a:pt x="1671753" y="1878603"/>
                  <a:pt x="1826702" y="1856702"/>
                  <a:pt x="1991868" y="1890852"/>
                </a:cubicBezTo>
                <a:cubicBezTo>
                  <a:pt x="2035151" y="1899787"/>
                  <a:pt x="2078344" y="1905678"/>
                  <a:pt x="2122750" y="1905378"/>
                </a:cubicBezTo>
                <a:cubicBezTo>
                  <a:pt x="2255544" y="1904432"/>
                  <a:pt x="2347315" y="1840075"/>
                  <a:pt x="2406904" y="1724655"/>
                </a:cubicBezTo>
                <a:cubicBezTo>
                  <a:pt x="2445656" y="1649706"/>
                  <a:pt x="2467883" y="1568311"/>
                  <a:pt x="2495665" y="1489183"/>
                </a:cubicBezTo>
                <a:cubicBezTo>
                  <a:pt x="2517107" y="1428281"/>
                  <a:pt x="2540585" y="1368172"/>
                  <a:pt x="2576173" y="1313669"/>
                </a:cubicBezTo>
                <a:cubicBezTo>
                  <a:pt x="2641347" y="1213738"/>
                  <a:pt x="2739857" y="1168858"/>
                  <a:pt x="2852302" y="1147687"/>
                </a:cubicBezTo>
                <a:cubicBezTo>
                  <a:pt x="2946995" y="1129853"/>
                  <a:pt x="3043556" y="1125488"/>
                  <a:pt x="3138814" y="1112265"/>
                </a:cubicBezTo>
                <a:cubicBezTo>
                  <a:pt x="3199609" y="1103797"/>
                  <a:pt x="3259968" y="1093026"/>
                  <a:pt x="3318731" y="1073712"/>
                </a:cubicBezTo>
                <a:cubicBezTo>
                  <a:pt x="3484639" y="1019069"/>
                  <a:pt x="3587288" y="909178"/>
                  <a:pt x="3623520" y="736273"/>
                </a:cubicBezTo>
                <a:cubicBezTo>
                  <a:pt x="3645098" y="633267"/>
                  <a:pt x="3660421" y="528864"/>
                  <a:pt x="3689046" y="427170"/>
                </a:cubicBezTo>
                <a:cubicBezTo>
                  <a:pt x="3742829" y="236130"/>
                  <a:pt x="3862429" y="116528"/>
                  <a:pt x="4058309" y="73960"/>
                </a:cubicBezTo>
                <a:cubicBezTo>
                  <a:pt x="4159645" y="52149"/>
                  <a:pt x="4262586" y="41133"/>
                  <a:pt x="4364186" y="21995"/>
                </a:cubicBezTo>
                <a:cubicBezTo>
                  <a:pt x="4380786" y="18876"/>
                  <a:pt x="4397626" y="16131"/>
                  <a:pt x="4414216" y="12669"/>
                </a:cubicBezTo>
                <a:close/>
              </a:path>
            </a:pathLst>
          </a:custGeom>
          <a:solidFill>
            <a:srgbClr val="FFFFFF">
              <a:alpha val="29800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764050" y="4290875"/>
            <a:ext cx="779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53A1"/>
                </a:solidFill>
                <a:latin typeface="Roboto"/>
                <a:ea typeface="Roboto"/>
                <a:cs typeface="Roboto"/>
                <a:sym typeface="Roboto"/>
              </a:rPr>
              <a:t>www.careercraftacademy.com             info@careercraftacademy.com             +91-9442639366 , +91-9600344633</a:t>
            </a:r>
            <a:endParaRPr sz="1200">
              <a:solidFill>
                <a:srgbClr val="0053A1"/>
              </a:solidFill>
            </a:endParaRPr>
          </a:p>
        </p:txBody>
      </p:sp>
      <p:pic>
        <p:nvPicPr>
          <p:cNvPr id="172" name="Google Shape;172;p18" title="email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36075" y="4385887"/>
            <a:ext cx="179300" cy="17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 title="phone-cal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18725" y="4404200"/>
            <a:ext cx="133875" cy="13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 title="world-wide-web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10800000" flipH="1">
            <a:off x="666150" y="4414075"/>
            <a:ext cx="133875" cy="13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</TotalTime>
  <Words>1042</Words>
  <Application>Microsoft Office PowerPoint</Application>
  <PresentationFormat>On-screen Show (16:9)</PresentationFormat>
  <Paragraphs>100</Paragraphs>
  <Slides>14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Roboto</vt:lpstr>
      <vt:lpstr>Arial</vt:lpstr>
      <vt:lpstr>Calibri</vt:lpstr>
      <vt:lpstr>Poppins SemiBold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THILAK</dc:creator>
  <cp:lastModifiedBy>Rajesh Vengadesan</cp:lastModifiedBy>
  <cp:revision>10</cp:revision>
  <dcterms:modified xsi:type="dcterms:W3CDTF">2026-07-02T12:59:53Z</dcterms:modified>
</cp:coreProperties>
</file>